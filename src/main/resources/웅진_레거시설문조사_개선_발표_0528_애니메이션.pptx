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comment1.xml" ContentType="application/vnd.openxmlformats-officedocument.presentationml.comments+xml"/>
  <Override PartName="/ppt/notesSlides/notesSlide2.xml" ContentType="application/vnd.openxmlformats-officedocument.presentationml.notesSlide+xml"/>
  <Override PartName="/ppt/comments/comment2.xml" ContentType="application/vnd.openxmlformats-officedocument.presentationml.comments+xml"/>
  <Override PartName="/ppt/notesSlides/notesSlide3.xml" ContentType="application/vnd.openxmlformats-officedocument.presentationml.notesSlide+xml"/>
  <Override PartName="/ppt/comments/comment3.xml" ContentType="application/vnd.openxmlformats-officedocument.presentationml.comments+xml"/>
  <Override PartName="/ppt/notesSlides/notesSlide4.xml" ContentType="application/vnd.openxmlformats-officedocument.presentationml.notesSlide+xml"/>
  <Override PartName="/ppt/comments/comment4.xml" ContentType="application/vnd.openxmlformats-officedocument.presentationml.comments+xml"/>
  <Override PartName="/ppt/notesSlides/notesSlide5.xml" ContentType="application/vnd.openxmlformats-officedocument.presentationml.notesSlide+xml"/>
  <Override PartName="/ppt/comments/comment5.xml" ContentType="application/vnd.openxmlformats-officedocument.presentationml.comments+xml"/>
  <Override PartName="/ppt/notesSlides/notesSlide6.xml" ContentType="application/vnd.openxmlformats-officedocument.presentationml.notesSlide+xml"/>
  <Override PartName="/ppt/comments/comment6.xml" ContentType="application/vnd.openxmlformats-officedocument.presentationml.comments+xml"/>
  <Override PartName="/ppt/notesSlides/notesSlide7.xml" ContentType="application/vnd.openxmlformats-officedocument.presentationml.notesSlide+xml"/>
  <Override PartName="/ppt/comments/comment7.xml" ContentType="application/vnd.openxmlformats-officedocument.presentationml.comments+xml"/>
  <Override PartName="/ppt/notesSlides/notesSlide8.xml" ContentType="application/vnd.openxmlformats-officedocument.presentationml.notesSlide+xml"/>
  <Override PartName="/ppt/comments/comment8.xml" ContentType="application/vnd.openxmlformats-officedocument.presentationml.comments+xml"/>
  <Override PartName="/ppt/notesSlides/notesSlide9.xml" ContentType="application/vnd.openxmlformats-officedocument.presentationml.notesSlide+xml"/>
  <Override PartName="/ppt/comments/comment9.xml" ContentType="application/vnd.openxmlformats-officedocument.presentationml.comments+xml"/>
  <Override PartName="/ppt/notesSlides/notesSlide10.xml" ContentType="application/vnd.openxmlformats-officedocument.presentationml.notesSlide+xml"/>
  <Override PartName="/ppt/comments/comment10.xml" ContentType="application/vnd.openxmlformats-officedocument.presentationml.comments+xml"/>
  <Override PartName="/ppt/notesSlides/notesSlide11.xml" ContentType="application/vnd.openxmlformats-officedocument.presentationml.notesSlide+xml"/>
  <Override PartName="/ppt/comments/comment11.xml" ContentType="application/vnd.openxmlformats-officedocument.presentationml.comments+xml"/>
  <Override PartName="/ppt/notesSlides/notesSlide12.xml" ContentType="application/vnd.openxmlformats-officedocument.presentationml.notesSlide+xml"/>
  <Override PartName="/ppt/comments/comment12.xml" ContentType="application/vnd.openxmlformats-officedocument.presentationml.comments+xml"/>
  <Override PartName="/ppt/notesSlides/notesSlide13.xml" ContentType="application/vnd.openxmlformats-officedocument.presentationml.notesSlide+xml"/>
  <Override PartName="/ppt/comments/comment13.xml" ContentType="application/vnd.openxmlformats-officedocument.presentationml.comments+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17"/>
  </p:notesMasterIdLst>
  <p:sldIdLst>
    <p:sldId id="273" r:id="rId2"/>
    <p:sldId id="274" r:id="rId3"/>
    <p:sldId id="256" r:id="rId4"/>
    <p:sldId id="258" r:id="rId5"/>
    <p:sldId id="257" r:id="rId6"/>
    <p:sldId id="259" r:id="rId7"/>
    <p:sldId id="260" r:id="rId8"/>
    <p:sldId id="261" r:id="rId9"/>
    <p:sldId id="262" r:id="rId10"/>
    <p:sldId id="263" r:id="rId11"/>
    <p:sldId id="264" r:id="rId12"/>
    <p:sldId id="269" r:id="rId13"/>
    <p:sldId id="270" r:id="rId14"/>
    <p:sldId id="278" r:id="rId15"/>
    <p:sldId id="276" r:id="rId16"/>
  </p:sldIdLst>
  <p:sldSz cx="12192000" cy="6858000"/>
  <p:notesSz cx="6858000" cy="12192000"/>
  <p:embeddedFontLst>
    <p:embeddedFont>
      <p:font typeface="Calibri" panose="020F0502020204030204" pitchFamily="34" charset="0"/>
      <p:regular r:id="rId18"/>
      <p:bold r:id="rId19"/>
      <p:italic r:id="rId20"/>
      <p:boldItalic r:id="rId21"/>
    </p:embeddedFont>
    <p:embeddedFont>
      <p:font typeface="Pretendard" panose="02000503000000020004" pitchFamily="50" charset="-127"/>
      <p:regular r:id="rId22"/>
      <p:bold r:id="rId23"/>
    </p:embeddedFont>
    <p:embeddedFont>
      <p:font typeface="맑은 고딕" panose="020B0503020000020004" pitchFamily="50" charset="-127"/>
      <p:regular r:id="rId24"/>
      <p:bold r:id="rId2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FAMILY" initials="F" lastIdx="20" clrIdx="0">
    <p:extLst>
      <p:ext uri="{19B8F6BF-5375-455C-9EA6-DF929625EA0E}">
        <p15:presenceInfo xmlns:p15="http://schemas.microsoft.com/office/powerpoint/2012/main" userId="FAMILY" providerId="None"/>
      </p:ext>
    </p:extLst>
  </p:cmAuthor>
  <p:cmAuthor id="2" name="user" initials="u" lastIdx="2" clrIdx="1">
    <p:extLst>
      <p:ext uri="{19B8F6BF-5375-455C-9EA6-DF929625EA0E}">
        <p15:presenceInfo xmlns:p15="http://schemas.microsoft.com/office/powerpoint/2012/main" userId="us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456F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256" autoAdjust="0"/>
    <p:restoredTop sz="94610"/>
  </p:normalViewPr>
  <p:slideViewPr>
    <p:cSldViewPr snapToGrid="0" snapToObjects="1">
      <p:cViewPr varScale="1">
        <p:scale>
          <a:sx n="89" d="100"/>
          <a:sy n="89" d="100"/>
        </p:scale>
        <p:origin x="120" y="2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presProps" Target="presProps.xml"/><Relationship Id="rId30" Type="http://schemas.openxmlformats.org/officeDocument/2006/relationships/tableStyles" Target="tableStyle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6-05-26T23:35:42.300" idx="3">
    <p:pos x="10" y="10"/>
    <p:text>안녕하세요. 레거시 설문조사 서비스 개선 프로젝트를 진행하게 된 CIT사업본부 그룹IT혁신팀 채종윤입니다. 
이번 PPT를 통해 기존 설문 조사 서비스 시스템을 어떻게 개선하였는지, 그 개선 과정과 실제 업무에 가져올 기대효과에 대해서 설명드리도록 하겠습니다.</p:text>
    <p:extLst mod="1">
      <p:ext uri="{C676402C-5697-4E1C-873F-D02D1690AC5C}">
        <p15:threadingInfo xmlns:p15="http://schemas.microsoft.com/office/powerpoint/2012/main" timeZoneBias="-54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1" dt="2026-05-26T23:38:17.731" idx="4">
    <p:pos x="10" y="10"/>
    <p:text>발표는 프로젝트 개요를 시작으로, 
기존 레거시 서비스의 한계점과 이를 해결하기 위한 개선 목표를 먼저 말씀드리겠습니다.
이어서 주요 개선 기능과 시스템 아키텍처와 기술 스택을 기반으로 제가 작업한 핵심 구현 내용'과 그에 따른 기대효과에 대해 말씀드리겠습니다</p:text>
    <p:extLst mod="1">
      <p:ext uri="{C676402C-5697-4E1C-873F-D02D1690AC5C}">
        <p15:threadingInfo xmlns:p15="http://schemas.microsoft.com/office/powerpoint/2012/main" timeZoneBias="-540"/>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1" dt="2026-05-26T23:35:20.408" idx="2">
    <p:pos x="10" y="10"/>
    <p:text>먼저 프로젝트 개요입니다. 
웅진씽크빅은 전국 지국의 영업조직원분들을 대상으로 만족도나 제품 피드백을 수집하기 위해 설문조사 서비스를 다방면으로 적극 활용하고 있습니다. 
하지만 기존 시스템은 관리자 측면에서 데이터 분석 효율이 떨어졌고, 사용자는 UI가 직관적이지 않아 참여에 부담이 있었습니다.
 또한, 시스템적으로도 노후화된 레거시 구조라 유지보수가 어려웠습니다.
 이에 저희는 핵심 기능은 유지하되, '설문 관리 효율성', '참여 편의성', 그리고 'Java/Spring 기반 재구현을 통한 유지보수성 향상'이라는 3가지 방향을 목표로 고도화를 추진했습니다.</p:text>
    <p:extLst mod="1">
      <p:ext uri="{C676402C-5697-4E1C-873F-D02D1690AC5C}">
        <p15:threadingInfo xmlns:p15="http://schemas.microsoft.com/office/powerpoint/2012/main" timeZoneBias="-540"/>
      </p:ext>
    </p:extLst>
  </p:cm>
</p:cmLst>
</file>

<file path=ppt/comments/comment4.xml><?xml version="1.0" encoding="utf-8"?>
<p:cmLst xmlns:a="http://schemas.openxmlformats.org/drawingml/2006/main" xmlns:r="http://schemas.openxmlformats.org/officeDocument/2006/relationships" xmlns:p="http://schemas.openxmlformats.org/presentationml/2006/main">
  <p:cm authorId="1" dt="2026-05-26T23:47:38.472" idx="6">
    <p:pos x="10" y="10"/>
    <p:text>다음으로 기존 레거시 서비스의 한계점을 관리자 측면에서 살펴보겠습니다.
 첫째, 통계 화면에서 미응답자 수나 응답률 정보가 제공되지 않아 설문이 얼마나 진행되었는지 현황 파악이 어려웠습니다. 
둘째, 문항 결과가 단순히 텍스트 형태로만 나열되어 응답 분포를 한눈에 직관적으로 보기 힘들었습니다.
 마지막으로, 통계 파일을 다운로드할 때 데이터의 이력이 남지 않아, 누가 언제 데이터를 확보했는지 추적 관리하는 데 한계가 있었습니다.</p:text>
    <p:extLst mod="1">
      <p:ext uri="{C676402C-5697-4E1C-873F-D02D1690AC5C}">
        <p15:threadingInfo xmlns:p15="http://schemas.microsoft.com/office/powerpoint/2012/main" timeZoneBias="-540"/>
      </p:ext>
    </p:extLst>
  </p:cm>
  <p:cm authorId="1" dt="2026-05-27T23:21:49.311" idx="20">
    <p:pos x="10" y="106"/>
    <p:text>애니메이션 추가 : 붉은색 박스</p:text>
    <p:extLst>
      <p:ext uri="{C676402C-5697-4E1C-873F-D02D1690AC5C}">
        <p15:threadingInfo xmlns:p15="http://schemas.microsoft.com/office/powerpoint/2012/main" timeZoneBias="-540">
          <p15:parentCm authorId="1" idx="6"/>
        </p15:threadingInfo>
      </p:ext>
    </p:extLst>
  </p:cm>
</p:cmLst>
</file>

<file path=ppt/comments/comment5.xml><?xml version="1.0" encoding="utf-8"?>
<p:cmLst xmlns:a="http://schemas.openxmlformats.org/drawingml/2006/main" xmlns:r="http://schemas.openxmlformats.org/officeDocument/2006/relationships" xmlns:p="http://schemas.openxmlformats.org/presentationml/2006/main">
  <p:cm authorId="1" dt="2026-05-26T23:47:57.633" idx="7">
    <p:pos x="10" y="10"/>
    <p:text>사용자 측면에서도 4가지 명확한 불편 요소가 있었습니다.
 화면을 보시면 기존 설문 응답 UI인데요, 순위 선택형 문항의 경우 우선순위를 지정하는 방식이 직관적이지 않아 응답법을 인지하는 데 시간이 걸렸습니다.
 특정 문항을 선택했을 때 나타나는 조건 분기 흐름도 파악하기 힘들었습니다.
 무엇보다 가장 큰 문제는 작성 중에 화면을 벗어나면 입력했던 내용이 모두 유실되어 처음부터 다시 작성해야 하는 큰 부담이 있었고, 남은 문항 수가 표시되지 않아 완료 시점을 예측하기 어려웠습니다.</p:text>
    <p:extLst mod="1">
      <p:ext uri="{C676402C-5697-4E1C-873F-D02D1690AC5C}">
        <p15:threadingInfo xmlns:p15="http://schemas.microsoft.com/office/powerpoint/2012/main" timeZoneBias="-540"/>
      </p:ext>
    </p:extLst>
  </p:cm>
</p:cmLst>
</file>

<file path=ppt/comments/comment6.xml><?xml version="1.0" encoding="utf-8"?>
<p:cmLst xmlns:a="http://schemas.openxmlformats.org/drawingml/2006/main" xmlns:r="http://schemas.openxmlformats.org/officeDocument/2006/relationships" xmlns:p="http://schemas.openxmlformats.org/presentationml/2006/main">
  <p:cm authorId="1" dt="2026-05-26T23:48:19.963" idx="8">
    <p:pos x="10" y="10"/>
    <p:text>이번 개선은 기존 기능은 유지하되, 불편했던 부분을 관리자, 사용자, 시스템 세 관점에서 개선하는 데 초점을 맞췄습니다.
먼저 관리자 측면에서는 설문 결과를 더 쉽게 분석할 수 있도록 전체 응답률과 문항별 통계를 시각화했고, 엑셀 다운로드 이력도 관리할 수 있게 했습니다.
사용자 측면에서는 설문 응답 화면의 UI·UX를 개선해 문항을 더 직관적으로 이해할 수 있도록 했고, 진행률 표시와 임시저장 기능을 통해 중간에 이탈하더라도 이어서 작성할 수 있게 했습니다.
마지막으로 시스템 측면에서는 기존 .NET 기반 구조를 Java/Spring 기반으로 재구현하여 유지보수성과 확장성을 높였습니다.</p:text>
    <p:extLst mod="1">
      <p:ext uri="{C676402C-5697-4E1C-873F-D02D1690AC5C}">
        <p15:threadingInfo xmlns:p15="http://schemas.microsoft.com/office/powerpoint/2012/main" timeZoneBias="-540"/>
      </p:ext>
    </p:extLst>
  </p:cm>
</p:cmLst>
</file>

<file path=ppt/comments/comment7.xml><?xml version="1.0" encoding="utf-8"?>
<p:cmLst xmlns:a="http://schemas.openxmlformats.org/drawingml/2006/main" xmlns:r="http://schemas.openxmlformats.org/officeDocument/2006/relationships" xmlns:p="http://schemas.openxmlformats.org/presentationml/2006/main">
  <p:cm authorId="1" dt="2026-05-26T23:48:54.427" idx="9">
    <p:pos x="10" y="10"/>
    <p:text>다음은 주요 개선 기능 중 UI 및 UX 개선입니다.
먼저 카드형 레이아웃을 적용했습니다. 문항 단위로 영역을 분리해서 사용자가 질문과 선택지를 더 쉽게 구분할 수 있도록 했습니다.
두 번째로, 조건분기 흐름 안내를 개선했습니다. 특정 답변을 선택했을 때 추가 문항이 자연스럽게 연결되도록 보여주어, 사용자가 현재 어떤 흐름으로 응답하고 있는지 이해하기 쉽게 했습니다.
마지막으로 순위선택형 문항에는 Drag &amp; Drop 기능을 적용했습니다. 기존처럼 선택 박스로 순위를 지정하는 방식보다, 항목을 직접 이동하면서 순서를 정할 수 있어 응답 편의성을 높였습니다.
즉, 이번 UI/UX 개선은 설문 참여자가 더 적은 부담으로, 더 직관적으로 응답할 수 있도록 하는 데 초점을 맞췄습니다.</p:text>
    <p:extLst mod="1">
      <p:ext uri="{C676402C-5697-4E1C-873F-D02D1690AC5C}">
        <p15:threadingInfo xmlns:p15="http://schemas.microsoft.com/office/powerpoint/2012/main" timeZoneBias="-540"/>
      </p:ext>
    </p:extLst>
  </p:cm>
</p:cmLst>
</file>

<file path=ppt/comments/comment8.xml><?xml version="1.0" encoding="utf-8"?>
<p:cmLst xmlns:a="http://schemas.openxmlformats.org/drawingml/2006/main" xmlns:r="http://schemas.openxmlformats.org/officeDocument/2006/relationships" xmlns:p="http://schemas.openxmlformats.org/presentationml/2006/main">
  <p:cm authorId="2" dt="2026-05-27T10:10:59.122" idx="1">
    <p:pos x="10" y="10"/>
    <p:text>다음은 진행률 표시와 설문 이어하기 기능입니다.
설문 응답 화면 상단에 사진과 같이 실시간 진행률 표시를 추가했습니다. 전체 문항 대비 완료한 문항 수를 시각적으로 보여주어, 사용자가 설문 완료 시점을 쉽게 예측할 수 있도록 했습니다.
다음은 진행률 표시와 설문 이어하기 기능입니다.
이 기능은 사용자가 설문을 응답하는 흐름에 맞춰 개선했습니다.
먼저 사용자가 설문에 응답하면 분마다 자동 저장되도록 구현했습니다.
만약 사용자가 설문 도중 페이지를 닫거나 네트워크가 끊겨 이탈하더라도, 작성 중이던 응답 데이터는 저장됩니다.
이후 사용자가 다시 설문에 접속하면, 이전에 저장된 응답을 기반으로 중단했던 지점부터 이어서 작성할 수 있습니다.
즉, 사용자의 재작성 부담을 줄이고 설문 완료율을 높일 수 있도록 개선했습니다.</p:text>
    <p:extLst>
      <p:ext uri="{C676402C-5697-4E1C-873F-D02D1690AC5C}">
        <p15:threadingInfo xmlns:p15="http://schemas.microsoft.com/office/powerpoint/2012/main" timeZoneBias="-540"/>
      </p:ext>
    </p:extLst>
  </p:cm>
</p:cmLst>
</file>

<file path=ppt/comments/comment9.xml><?xml version="1.0" encoding="utf-8"?>
<p:cmLst xmlns:a="http://schemas.openxmlformats.org/drawingml/2006/main" xmlns:r="http://schemas.openxmlformats.org/officeDocument/2006/relationships" xmlns:p="http://schemas.openxmlformats.org/presentationml/2006/main">
  <p:cm authorId="1" dt="2026-05-26T23:50:35.665" idx="14">
    <p:pos x="10" y="10"/>
    <p:text>통계페이지에서는 총 4가지 유형의 통계를 확인할 수 있는데 그 중 2가지 유형 먼저 설명드리도록 하겠습니다. 
첫번째는 설문 응답 현황을 추가하였습니다.
상단에 총 대상자, 응답 완료자, 미응답자 수와 응답률을 깔끔한 카드 UI로 배치해 전반적인 설문 진행 상황을 빠르게 파악할 수 있습니다. 
또한, 우측의 조직별 현황 영역을 보시면 트리 구조와 프로그레스 바를 적용하여 본부부터 하위 유닛까지 조직별 참여도를 한눈에 비교할 수 있으며, 참여율이 저조한 조직은 색상으로 구분되어 독려 대상을 빠르게 파악할 수 있습니다.</p:text>
    <p:extLst mod="1">
      <p:ext uri="{C676402C-5697-4E1C-873F-D02D1690AC5C}">
        <p15:threadingInfo xmlns:p15="http://schemas.microsoft.com/office/powerpoint/2012/main" timeZoneBias="-540"/>
      </p:ext>
    </p:extLst>
  </p:cm>
</p:cmLst>
</file>

<file path=ppt/comments/comment10.xml><?xml version="1.0" encoding="utf-8"?>
<p:cmLst xmlns:a="http://schemas.openxmlformats.org/drawingml/2006/main" xmlns:r="http://schemas.openxmlformats.org/officeDocument/2006/relationships" xmlns:p="http://schemas.openxmlformats.org/presentationml/2006/main">
  <p:cm authorId="1" dt="2026-05-26T23:49:36.527" idx="11">
    <p:pos x="10" y="10"/>
    <p:text>다음은 문항 및 응답자 별 답변 현황을 개선하였습니다.
왼쪽 화면처럼 보기별 응답 수와 비율을 프로그레스 바 그래프로 시각화해 문항별 결과를 직관적으로 비교할 수 있으며, 실시간 갱신 버튼을 통해 언제든 최신 데이터를 확인할 수 있습니다. 
아울러 오른쪽 화면처럼 응답자별 답변 내역을 표(Grid) 형태로 제공하여, 어떤 직원이 문항별로 어떻게 답변했는지 상세한 개별 데이터까지 완벽하게 조회가 가능합니다.</p:text>
    <p:extLst mod="1">
      <p:ext uri="{C676402C-5697-4E1C-873F-D02D1690AC5C}">
        <p15:threadingInfo xmlns:p15="http://schemas.microsoft.com/office/powerpoint/2012/main" timeZoneBias="-540"/>
      </p:ext>
    </p:extLst>
  </p:cm>
</p:cmLst>
</file>

<file path=ppt/comments/comment11.xml><?xml version="1.0" encoding="utf-8"?>
<p:cmLst xmlns:a="http://schemas.openxmlformats.org/drawingml/2006/main" xmlns:r="http://schemas.openxmlformats.org/officeDocument/2006/relationships" xmlns:p="http://schemas.openxmlformats.org/presentationml/2006/main">
  <p:cm authorId="1" dt="2026-05-26T23:49:52.363" idx="12">
    <p:pos x="10" y="10"/>
    <p:text>마지막으로 엑셀 내보내기 및 이력관리를 추가하였습니다.
수집된 통계 데이터의 활용성과 보안도 강화1했습니다.  엑셀 파일 하나에 '설문 요약', '조직별 현황', '문항별 분석', '응답자별 상세 내역'을 각각 독립된 시트로 분리하여 다운로드할 수 있게 했습니다. 관리자가 데이터를 재가공하기 매우 편리해진 것이죠. 
동시에 사진처럼 어떤 관리자가, 언제, 어떤 설문 파일을 다운로드했는지 조회하는 팝업창을 만들어 데이터 관리 안정성을 높였습니다.</p:text>
    <p:extLst mod="1">
      <p:ext uri="{C676402C-5697-4E1C-873F-D02D1690AC5C}">
        <p15:threadingInfo xmlns:p15="http://schemas.microsoft.com/office/powerpoint/2012/main" timeZoneBias="-540"/>
      </p:ext>
    </p:extLst>
  </p:cm>
</p:cmLst>
</file>

<file path=ppt/comments/comment12.xml><?xml version="1.0" encoding="utf-8"?>
<p:cmLst xmlns:a="http://schemas.openxmlformats.org/drawingml/2006/main" xmlns:r="http://schemas.openxmlformats.org/officeDocument/2006/relationships" xmlns:p="http://schemas.openxmlformats.org/presentationml/2006/main">
  <p:cm authorId="1" dt="2026-05-26T23:54:27.203" idx="17">
    <p:pos x="10" y="10"/>
    <p:text>다음은 배치 기반 통계 집계 최적화입니다.
설문 통계는 응답 데이터가 누적될수록 계산해야 할 데이터가 많아지기 때문에, 조회 시점마다 계산하면 성능 부담이 커질 수 있습니다.
그래서 통계 데이터는 배치를 통해 미리 집계하고, 화면에서는 집계된 결과를 조회하는 방식으로 구성했습니다.
배치는 매일 오전 8시에 실행되며, Reader 단계에서 응답 데이터를 조회하고, Processor 단계에서 문항 유형별 통계를 계산한 뒤, Writer 단계에서 통계 테이블을 갱신합니다.
특히 응답 JSON을 문항 유형별로 분기 처리하고, 통계 갱신은 Delete 후 Insert 방식으로 단순화해 데이터 정합성을 유지했습니다.
또한 배치 실행은 비동기로 처리하고, 클라이언트는 주기적으로 완료 여부를 확인하도록 구성했습니다.
즉, 관리자 화면에서 안정적으로 통계 데이터를 조회할 수 있도록 개선했습니다.</p:text>
    <p:extLst mod="1">
      <p:ext uri="{C676402C-5697-4E1C-873F-D02D1690AC5C}">
        <p15:threadingInfo xmlns:p15="http://schemas.microsoft.com/office/powerpoint/2012/main" timeZoneBias="-540"/>
      </p:ext>
    </p:extLst>
  </p:cm>
</p:cmLst>
</file>

<file path=ppt/comments/comment13.xml><?xml version="1.0" encoding="utf-8"?>
<p:cmLst xmlns:a="http://schemas.openxmlformats.org/drawingml/2006/main" xmlns:r="http://schemas.openxmlformats.org/officeDocument/2006/relationships" xmlns:p="http://schemas.openxmlformats.org/presentationml/2006/main">
  <p:cm authorId="1" dt="2026-05-26T23:52:24.723" idx="16">
    <p:pos x="10" y="10"/>
    <p:text>다음은 설문 참여 인증 플로우입니다.
이 기능은 외부 사이트의 iframe에서 설문에 진입한 사용자가, 최종 제출까지 안전하게 인증 상태를 유지할 수 있도록 설계한 구조입니다.
먼저 외부 사이트에서 진입할 때, 서버 간 API Key를 검증해서 정상적인 요청인지 확인합니다.
검증이 완료되면 Redis에 일회용 토큰을 발급하고, 외부사이트에서 iframe을 호출할때 쿼리스트링에 임시토큰을 첨부한 채 호출하면 클라이언트 전용 JWT토큰을 생성합니다.
이후 발급된 클라이언트 토큰은 쿠키에 저장해 관리하고, 설문 응답 과정에서는 이 토큰을 활용해 참여 권한을 확인하도록 했습니다, 
설문 응답 중에는 Redis를 활용해 임시저장과 이어하기를 지원했습니다.
마지막 제출 시에는 메인서버로 postmessage를 보내 iframe을 종료하는것으로 마무리 됩니다.</p:text>
    <p:extLst mod="1">
      <p:ext uri="{C676402C-5697-4E1C-873F-D02D1690AC5C}">
        <p15:threadingInfo xmlns:p15="http://schemas.microsoft.com/office/powerpoint/2012/main" timeZoneBias="-540"/>
      </p:ext>
    </p:extLst>
  </p:cm>
  <p:cm authorId="2" dt="2026-05-27T10:44:15.714" idx="2">
    <p:pos x="10" y="106"/>
    <p:text>.</p:text>
    <p:extLst>
      <p:ext uri="{C676402C-5697-4E1C-873F-D02D1690AC5C}">
        <p15:threadingInfo xmlns:p15="http://schemas.microsoft.com/office/powerpoint/2012/main" timeZoneBias="-540">
          <p15:parentCm authorId="1" idx="16"/>
        </p15:threadingInfo>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45380275"/>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6823147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42005311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20540338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comments" Target="../comments/commen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comments" Target="../comments/commen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comments" Target="../comments/comment3.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comments" Target="../comments/comment4.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comments" Target="../comments/comment5.xml"/><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comments" Target="../comments/comment6.xml"/></Relationships>
</file>

<file path=ppt/slides/_rels/slide7.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1.png"/><Relationship Id="rId7"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 Id="rId9" Type="http://schemas.openxmlformats.org/officeDocument/2006/relationships/comments" Target="../comments/comment7.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comments" Target="../comments/comment8.xml"/><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comments" Target="../comments/comment9.xml"/><Relationship Id="rId5" Type="http://schemas.openxmlformats.org/officeDocument/2006/relationships/image" Target="../media/image15.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8" Type="http://schemas.openxmlformats.org/officeDocument/2006/relationships/comments" Target="../comments/comment10.xml"/><Relationship Id="rId3" Type="http://schemas.openxmlformats.org/officeDocument/2006/relationships/image" Target="../media/image1.png"/><Relationship Id="rId7"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comments" Target="../comments/comment11.xml"/><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8" Type="http://schemas.openxmlformats.org/officeDocument/2006/relationships/comments" Target="../comments/comment12.xml"/><Relationship Id="rId3" Type="http://schemas.openxmlformats.org/officeDocument/2006/relationships/image" Target="../media/image1.png"/><Relationship Id="rId7" Type="http://schemas.openxmlformats.org/officeDocument/2006/relationships/image" Target="../media/image25.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24.png"/><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8" Type="http://schemas.openxmlformats.org/officeDocument/2006/relationships/comments" Target="../comments/comment13.xml"/><Relationship Id="rId3" Type="http://schemas.openxmlformats.org/officeDocument/2006/relationships/image" Target="../media/image1.png"/><Relationship Id="rId7" Type="http://schemas.openxmlformats.org/officeDocument/2006/relationships/image" Target="../media/image29.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33.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Woongjin_logo_transparent.png"/>
          <p:cNvPicPr>
            <a:picLocks noChangeAspect="1"/>
          </p:cNvPicPr>
          <p:nvPr/>
        </p:nvPicPr>
        <p:blipFill>
          <a:blip r:embed="rId3"/>
          <a:stretch>
            <a:fillRect/>
          </a:stretch>
        </p:blipFill>
        <p:spPr>
          <a:xfrm>
            <a:off x="10911535" y="262890"/>
            <a:ext cx="822960" cy="480060"/>
          </a:xfrm>
          <a:prstGeom prst="rect">
            <a:avLst/>
          </a:prstGeom>
        </p:spPr>
      </p:pic>
      <p:sp>
        <p:nvSpPr>
          <p:cNvPr id="4" name="Shape 1"/>
          <p:cNvSpPr/>
          <p:nvPr/>
        </p:nvSpPr>
        <p:spPr>
          <a:xfrm>
            <a:off x="457200" y="2743200"/>
            <a:ext cx="73152" cy="1554480"/>
          </a:xfrm>
          <a:prstGeom prst="rect">
            <a:avLst/>
          </a:prstGeom>
          <a:solidFill>
            <a:srgbClr val="1456F0"/>
          </a:solidFill>
          <a:ln w="12700">
            <a:solidFill>
              <a:srgbClr val="1456F0"/>
            </a:solidFill>
            <a:prstDash val="solid"/>
          </a:ln>
        </p:spPr>
      </p:sp>
      <p:sp>
        <p:nvSpPr>
          <p:cNvPr id="5" name="Text 2"/>
          <p:cNvSpPr/>
          <p:nvPr/>
        </p:nvSpPr>
        <p:spPr>
          <a:xfrm>
            <a:off x="685800" y="2743200"/>
            <a:ext cx="10972800" cy="777240"/>
          </a:xfrm>
          <a:prstGeom prst="rect">
            <a:avLst/>
          </a:prstGeom>
          <a:noFill/>
          <a:ln/>
        </p:spPr>
        <p:txBody>
          <a:bodyPr wrap="square" lIns="0" tIns="0" rIns="0" bIns="0" rtlCol="0" anchor="t"/>
          <a:lstStyle/>
          <a:p>
            <a:pPr marL="0" indent="0" algn="l">
              <a:buNone/>
            </a:pPr>
            <a:r>
              <a:rPr lang="en-US" sz="4800" b="1" kern="0" spc="-100"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레거시 설문조사 서비스 개선</a:t>
            </a:r>
            <a:endParaRPr lang="en-US" sz="48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6" name="Text 3"/>
          <p:cNvSpPr/>
          <p:nvPr/>
        </p:nvSpPr>
        <p:spPr>
          <a:xfrm>
            <a:off x="761695" y="4924044"/>
            <a:ext cx="10972800" cy="713232"/>
          </a:xfrm>
          <a:prstGeom prst="rect">
            <a:avLst/>
          </a:prstGeom>
          <a:noFill/>
          <a:ln/>
        </p:spPr>
        <p:txBody>
          <a:bodyPr wrap="square" lIns="0" tIns="0" rIns="0" bIns="0" rtlCol="0" anchor="t"/>
          <a:lstStyle/>
          <a:p>
            <a:pPr marL="0" indent="0" algn="r">
              <a:buNone/>
            </a:pPr>
            <a:r>
              <a:rPr lang="en-US" sz="1800" kern="0" spc="-20" dirty="0">
                <a:solidFill>
                  <a:srgbClr val="45515E"/>
                </a:solidFill>
                <a:latin typeface="Pretendard" panose="02000503000000020004" pitchFamily="50" charset="-127"/>
                <a:ea typeface="Pretendard" panose="02000503000000020004" pitchFamily="50" charset="-127"/>
                <a:cs typeface="Pretendard" panose="02000503000000020004" pitchFamily="50" charset="-127"/>
              </a:rPr>
              <a:t>CIT</a:t>
            </a:r>
            <a:r>
              <a:rPr lang="ko-KR" altLang="en-US" sz="1800" kern="0" spc="-20" dirty="0">
                <a:solidFill>
                  <a:srgbClr val="45515E"/>
                </a:solidFill>
                <a:latin typeface="Pretendard" panose="02000503000000020004" pitchFamily="50" charset="-127"/>
                <a:ea typeface="Pretendard" panose="02000503000000020004" pitchFamily="50" charset="-127"/>
                <a:cs typeface="Pretendard" panose="02000503000000020004" pitchFamily="50" charset="-127"/>
              </a:rPr>
              <a:t>사업본부 </a:t>
            </a:r>
            <a:r>
              <a:rPr lang="ko-KR" altLang="en-US" kern="0" spc="-20" dirty="0">
                <a:solidFill>
                  <a:srgbClr val="45515E"/>
                </a:solidFill>
                <a:latin typeface="Pretendard" panose="02000503000000020004" pitchFamily="50" charset="-127"/>
                <a:ea typeface="Pretendard" panose="02000503000000020004" pitchFamily="50" charset="-127"/>
                <a:cs typeface="Pretendard" panose="02000503000000020004" pitchFamily="50" charset="-127"/>
              </a:rPr>
              <a:t>그룹</a:t>
            </a:r>
            <a:r>
              <a:rPr lang="en-US" altLang="ko-KR" kern="0" spc="-20" dirty="0">
                <a:solidFill>
                  <a:srgbClr val="45515E"/>
                </a:solidFill>
                <a:latin typeface="Pretendard" panose="02000503000000020004" pitchFamily="50" charset="-127"/>
                <a:ea typeface="Pretendard" panose="02000503000000020004" pitchFamily="50" charset="-127"/>
                <a:cs typeface="Pretendard" panose="02000503000000020004" pitchFamily="50" charset="-127"/>
              </a:rPr>
              <a:t>IT</a:t>
            </a:r>
            <a:r>
              <a:rPr lang="ko-KR" altLang="en-US" kern="0" spc="-20" dirty="0" err="1">
                <a:solidFill>
                  <a:srgbClr val="45515E"/>
                </a:solidFill>
                <a:latin typeface="Pretendard" panose="02000503000000020004" pitchFamily="50" charset="-127"/>
                <a:ea typeface="Pretendard" panose="02000503000000020004" pitchFamily="50" charset="-127"/>
                <a:cs typeface="Pretendard" panose="02000503000000020004" pitchFamily="50" charset="-127"/>
              </a:rPr>
              <a:t>혁신팀</a:t>
            </a:r>
            <a:endParaRPr lang="en-US" altLang="ko-KR" kern="0" spc="-20" dirty="0">
              <a:solidFill>
                <a:srgbClr val="45515E"/>
              </a:solidFill>
              <a:latin typeface="Pretendard" panose="02000503000000020004" pitchFamily="50" charset="-127"/>
              <a:ea typeface="Pretendard" panose="02000503000000020004" pitchFamily="50" charset="-127"/>
              <a:cs typeface="Pretendard" panose="02000503000000020004" pitchFamily="50" charset="-127"/>
            </a:endParaRPr>
          </a:p>
          <a:p>
            <a:pPr marL="0" indent="0" algn="r">
              <a:buNone/>
            </a:pPr>
            <a:r>
              <a:rPr lang="ko-KR" altLang="en-US" kern="0" spc="-20" dirty="0" err="1">
                <a:solidFill>
                  <a:srgbClr val="45515E"/>
                </a:solidFill>
                <a:latin typeface="Pretendard" panose="02000503000000020004" pitchFamily="50" charset="-127"/>
                <a:ea typeface="Pretendard" panose="02000503000000020004" pitchFamily="50" charset="-127"/>
                <a:cs typeface="Pretendard" panose="02000503000000020004" pitchFamily="50" charset="-127"/>
              </a:rPr>
              <a:t>채종윤</a:t>
            </a:r>
            <a:r>
              <a:rPr lang="ko-KR" altLang="en-US" kern="0" spc="-20" dirty="0">
                <a:solidFill>
                  <a:srgbClr val="45515E"/>
                </a:solidFill>
                <a:latin typeface="Pretendard" panose="02000503000000020004" pitchFamily="50" charset="-127"/>
                <a:ea typeface="Pretendard" panose="02000503000000020004" pitchFamily="50" charset="-127"/>
                <a:cs typeface="Pretendard" panose="02000503000000020004" pitchFamily="50" charset="-127"/>
              </a:rPr>
              <a:t> 인턴</a:t>
            </a:r>
            <a:endParaRPr lang="en-US" sz="18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8" name="Shape 5"/>
          <p:cNvSpPr/>
          <p:nvPr/>
        </p:nvSpPr>
        <p:spPr>
          <a:xfrm>
            <a:off x="457200" y="6263640"/>
            <a:ext cx="11277295" cy="0"/>
          </a:xfrm>
          <a:prstGeom prst="line">
            <a:avLst/>
          </a:prstGeom>
          <a:noFill/>
          <a:ln w="6350">
            <a:solidFill>
              <a:srgbClr val="E5E7EB"/>
            </a:solidFill>
            <a:prstDash val="solid"/>
          </a:ln>
        </p:spPr>
      </p:sp>
    </p:spTree>
    <p:extLst>
      <p:ext uri="{BB962C8B-B14F-4D97-AF65-F5344CB8AC3E}">
        <p14:creationId xmlns:p14="http://schemas.microsoft.com/office/powerpoint/2010/main" val="36011524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365760"/>
            <a:ext cx="5486400" cy="274320"/>
          </a:xfrm>
          <a:prstGeom prst="rect">
            <a:avLst/>
          </a:prstGeom>
          <a:noFill/>
          <a:ln/>
        </p:spPr>
        <p:txBody>
          <a:bodyPr wrap="square" lIns="0" tIns="0" rIns="0" bIns="0" rtlCol="0" anchor="ctr"/>
          <a:lstStyle/>
          <a:p>
            <a:pPr marL="0" indent="0" algn="l">
              <a:buNone/>
            </a:pPr>
            <a:r>
              <a:rPr lang="en-US" sz="12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CONTENTS</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pic>
        <p:nvPicPr>
          <p:cNvPr id="3" name="Image 0" descr="Woongjin_logo_transparent.png"/>
          <p:cNvPicPr>
            <a:picLocks noChangeAspect="1"/>
          </p:cNvPicPr>
          <p:nvPr/>
        </p:nvPicPr>
        <p:blipFill>
          <a:blip r:embed="rId3"/>
          <a:stretch>
            <a:fillRect/>
          </a:stretch>
        </p:blipFill>
        <p:spPr>
          <a:xfrm>
            <a:off x="10911535" y="262890"/>
            <a:ext cx="822960" cy="480060"/>
          </a:xfrm>
          <a:prstGeom prst="rect">
            <a:avLst/>
          </a:prstGeom>
        </p:spPr>
      </p:pic>
      <p:sp>
        <p:nvSpPr>
          <p:cNvPr id="6" name="Text 3"/>
          <p:cNvSpPr/>
          <p:nvPr/>
        </p:nvSpPr>
        <p:spPr>
          <a:xfrm>
            <a:off x="457200" y="914400"/>
            <a:ext cx="11277295" cy="685800"/>
          </a:xfrm>
          <a:prstGeom prst="rect">
            <a:avLst/>
          </a:prstGeom>
          <a:noFill/>
          <a:ln/>
        </p:spPr>
        <p:txBody>
          <a:bodyPr wrap="square" lIns="0" tIns="0" rIns="0" bIns="0" rtlCol="0" anchor="t"/>
          <a:lstStyle/>
          <a:p>
            <a:pPr marL="0" indent="0" algn="l">
              <a:buNone/>
            </a:pPr>
            <a:r>
              <a:rPr lang="en-US" sz="2400" b="1" kern="0" spc="-50" dirty="0">
                <a:solidFill>
                  <a:srgbClr val="222222"/>
                </a:solidFill>
                <a:latin typeface="Pretendard" pitchFamily="34" charset="0"/>
                <a:ea typeface="Pretendard" pitchFamily="34" charset="-122"/>
                <a:cs typeface="Pretendard" pitchFamily="34" charset="-120"/>
              </a:rPr>
              <a:t>목차</a:t>
            </a:r>
            <a:endParaRPr lang="en-US" sz="2400" dirty="0"/>
          </a:p>
        </p:txBody>
      </p:sp>
      <p:sp>
        <p:nvSpPr>
          <p:cNvPr id="8" name="Text 5"/>
          <p:cNvSpPr/>
          <p:nvPr/>
        </p:nvSpPr>
        <p:spPr>
          <a:xfrm>
            <a:off x="594360" y="2283035"/>
            <a:ext cx="868680" cy="566928"/>
          </a:xfrm>
          <a:prstGeom prst="rect">
            <a:avLst/>
          </a:prstGeom>
          <a:noFill/>
          <a:ln/>
        </p:spPr>
        <p:txBody>
          <a:bodyPr wrap="square" lIns="0" tIns="0" rIns="0" bIns="0" rtlCol="0" anchor="ctr"/>
          <a:lstStyle/>
          <a:p>
            <a:pPr marL="0" indent="0" algn="l">
              <a:buNone/>
            </a:pPr>
            <a:r>
              <a:rPr lang="en-US" sz="3000" b="1" kern="0" spc="-100" dirty="0">
                <a:solidFill>
                  <a:srgbClr val="1456F0"/>
                </a:solidFill>
                <a:latin typeface="Pretendard" panose="02000503000000020004" pitchFamily="50" charset="-127"/>
                <a:ea typeface="Pretendard" panose="02000503000000020004" pitchFamily="50" charset="-127"/>
                <a:cs typeface="Pretendard" panose="02000503000000020004" pitchFamily="50" charset="-127"/>
              </a:rPr>
              <a:t>01</a:t>
            </a:r>
            <a:endParaRPr lang="en-US" sz="3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9" name="Shape 6"/>
          <p:cNvSpPr/>
          <p:nvPr/>
        </p:nvSpPr>
        <p:spPr>
          <a:xfrm>
            <a:off x="1417320" y="2392763"/>
            <a:ext cx="36576" cy="347472"/>
          </a:xfrm>
          <a:prstGeom prst="rect">
            <a:avLst/>
          </a:prstGeom>
          <a:solidFill>
            <a:srgbClr val="1456F0"/>
          </a:solidFill>
          <a:ln w="12700">
            <a:solidFill>
              <a:srgbClr val="1456F0"/>
            </a:solidFill>
            <a:prstDash val="solid"/>
          </a:ln>
        </p:spPr>
      </p:sp>
      <p:sp>
        <p:nvSpPr>
          <p:cNvPr id="11" name="Text 8"/>
          <p:cNvSpPr/>
          <p:nvPr/>
        </p:nvSpPr>
        <p:spPr>
          <a:xfrm>
            <a:off x="1600200" y="2462023"/>
            <a:ext cx="6400800" cy="292608"/>
          </a:xfrm>
          <a:prstGeom prst="rect">
            <a:avLst/>
          </a:prstGeom>
          <a:noFill/>
          <a:ln/>
        </p:spPr>
        <p:txBody>
          <a:bodyPr wrap="square" lIns="0" tIns="0" rIns="0" bIns="0" rtlCol="0" anchor="t"/>
          <a:lstStyle/>
          <a:p>
            <a:pPr marL="0" indent="0" algn="l">
              <a:buNone/>
            </a:pPr>
            <a:r>
              <a:rPr lang="ko-KR" altLang="en-US" b="1" kern="0" spc="-30"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프로젝트 개요</a:t>
            </a:r>
            <a:endParaRPr lang="en-US"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5" name="Shape 12"/>
          <p:cNvSpPr/>
          <p:nvPr/>
        </p:nvSpPr>
        <p:spPr>
          <a:xfrm>
            <a:off x="594360" y="2895683"/>
            <a:ext cx="11002975" cy="0"/>
          </a:xfrm>
          <a:prstGeom prst="line">
            <a:avLst/>
          </a:prstGeom>
          <a:noFill/>
          <a:ln w="6350">
            <a:solidFill>
              <a:srgbClr val="F2F3F5"/>
            </a:solidFill>
            <a:prstDash val="solid"/>
          </a:ln>
        </p:spPr>
      </p:sp>
      <p:sp>
        <p:nvSpPr>
          <p:cNvPr id="16" name="Text 13"/>
          <p:cNvSpPr/>
          <p:nvPr/>
        </p:nvSpPr>
        <p:spPr>
          <a:xfrm>
            <a:off x="594360" y="2941403"/>
            <a:ext cx="868680" cy="566928"/>
          </a:xfrm>
          <a:prstGeom prst="rect">
            <a:avLst/>
          </a:prstGeom>
          <a:noFill/>
          <a:ln/>
        </p:spPr>
        <p:txBody>
          <a:bodyPr wrap="square" lIns="0" tIns="0" rIns="0" bIns="0" rtlCol="0" anchor="ctr"/>
          <a:lstStyle/>
          <a:p>
            <a:r>
              <a:rPr lang="en-US" altLang="ko-KR" sz="3000" b="1" kern="0" spc="-100" dirty="0">
                <a:solidFill>
                  <a:srgbClr val="1456F0"/>
                </a:solidFill>
                <a:latin typeface="Pretendard" panose="02000503000000020004" pitchFamily="50" charset="-127"/>
                <a:ea typeface="Pretendard" panose="02000503000000020004" pitchFamily="50" charset="-127"/>
                <a:cs typeface="Pretendard" panose="02000503000000020004" pitchFamily="50" charset="-127"/>
              </a:rPr>
              <a:t>02</a:t>
            </a:r>
            <a:endParaRPr lang="en-US" altLang="ko-KR" sz="3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3" name="Shape 20"/>
          <p:cNvSpPr/>
          <p:nvPr/>
        </p:nvSpPr>
        <p:spPr>
          <a:xfrm>
            <a:off x="594360" y="3554051"/>
            <a:ext cx="11002975" cy="0"/>
          </a:xfrm>
          <a:prstGeom prst="line">
            <a:avLst/>
          </a:prstGeom>
          <a:noFill/>
          <a:ln w="6350">
            <a:solidFill>
              <a:srgbClr val="F2F3F5"/>
            </a:solidFill>
            <a:prstDash val="solid"/>
          </a:ln>
        </p:spPr>
      </p:sp>
      <p:sp>
        <p:nvSpPr>
          <p:cNvPr id="24" name="Text 21"/>
          <p:cNvSpPr/>
          <p:nvPr/>
        </p:nvSpPr>
        <p:spPr>
          <a:xfrm>
            <a:off x="594360" y="3599771"/>
            <a:ext cx="868680" cy="566928"/>
          </a:xfrm>
          <a:prstGeom prst="rect">
            <a:avLst/>
          </a:prstGeom>
          <a:noFill/>
          <a:ln/>
        </p:spPr>
        <p:txBody>
          <a:bodyPr wrap="square" lIns="0" tIns="0" rIns="0" bIns="0" rtlCol="0" anchor="ctr"/>
          <a:lstStyle/>
          <a:p>
            <a:pPr marL="0" indent="0" algn="l">
              <a:buNone/>
            </a:pPr>
            <a:r>
              <a:rPr lang="en-US" sz="3000" b="1" kern="0" spc="-100" dirty="0">
                <a:solidFill>
                  <a:srgbClr val="1456F0"/>
                </a:solidFill>
                <a:latin typeface="Pretendard" panose="02000503000000020004" pitchFamily="50" charset="-127"/>
                <a:ea typeface="Pretendard" panose="02000503000000020004" pitchFamily="50" charset="-127"/>
                <a:cs typeface="Pretendard" panose="02000503000000020004" pitchFamily="50" charset="-127"/>
              </a:rPr>
              <a:t>03</a:t>
            </a:r>
            <a:endParaRPr lang="en-US" sz="3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5" name="Shape 22"/>
          <p:cNvSpPr/>
          <p:nvPr/>
        </p:nvSpPr>
        <p:spPr>
          <a:xfrm>
            <a:off x="1417320" y="3709499"/>
            <a:ext cx="36576" cy="347472"/>
          </a:xfrm>
          <a:prstGeom prst="rect">
            <a:avLst/>
          </a:prstGeom>
          <a:solidFill>
            <a:srgbClr val="1456F0"/>
          </a:solidFill>
          <a:ln w="12700">
            <a:solidFill>
              <a:srgbClr val="1456F0"/>
            </a:solidFill>
            <a:prstDash val="solid"/>
          </a:ln>
        </p:spPr>
      </p:sp>
      <p:sp>
        <p:nvSpPr>
          <p:cNvPr id="27" name="Text 24"/>
          <p:cNvSpPr/>
          <p:nvPr/>
        </p:nvSpPr>
        <p:spPr>
          <a:xfrm>
            <a:off x="1600200" y="3746076"/>
            <a:ext cx="6400800" cy="292608"/>
          </a:xfrm>
          <a:prstGeom prst="rect">
            <a:avLst/>
          </a:prstGeom>
          <a:noFill/>
          <a:ln/>
        </p:spPr>
        <p:txBody>
          <a:bodyPr wrap="square" lIns="0" tIns="0" rIns="0" bIns="0" rtlCol="0" anchor="t"/>
          <a:lstStyle/>
          <a:p>
            <a:pPr marL="0" indent="0" algn="l">
              <a:buNone/>
            </a:pPr>
            <a:r>
              <a:rPr lang="ko-KR" altLang="en-US" b="1" kern="0" spc="-30"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개선 목표 및 방향 </a:t>
            </a:r>
            <a:r>
              <a:rPr lang="en-US" b="1" kern="0" spc="-30"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(TO – BE)</a:t>
            </a:r>
            <a:endParaRPr lang="en-US"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1" name="Shape 28"/>
          <p:cNvSpPr/>
          <p:nvPr/>
        </p:nvSpPr>
        <p:spPr>
          <a:xfrm>
            <a:off x="594360" y="4212419"/>
            <a:ext cx="11002975" cy="0"/>
          </a:xfrm>
          <a:prstGeom prst="line">
            <a:avLst/>
          </a:prstGeom>
          <a:noFill/>
          <a:ln w="6350">
            <a:solidFill>
              <a:srgbClr val="F2F3F5"/>
            </a:solidFill>
            <a:prstDash val="solid"/>
          </a:ln>
        </p:spPr>
      </p:sp>
      <p:sp>
        <p:nvSpPr>
          <p:cNvPr id="33" name="Text 30"/>
          <p:cNvSpPr/>
          <p:nvPr/>
        </p:nvSpPr>
        <p:spPr>
          <a:xfrm>
            <a:off x="594360" y="4258139"/>
            <a:ext cx="868680" cy="566928"/>
          </a:xfrm>
          <a:prstGeom prst="rect">
            <a:avLst/>
          </a:prstGeom>
          <a:noFill/>
          <a:ln/>
        </p:spPr>
        <p:txBody>
          <a:bodyPr wrap="square" lIns="0" tIns="0" rIns="0" bIns="0" rtlCol="0" anchor="ctr"/>
          <a:lstStyle/>
          <a:p>
            <a:pPr marL="0" indent="0" algn="l">
              <a:buNone/>
            </a:pPr>
            <a:r>
              <a:rPr lang="en-US" sz="3000" b="1" kern="0" spc="-100" dirty="0">
                <a:solidFill>
                  <a:srgbClr val="1456F0"/>
                </a:solidFill>
                <a:latin typeface="Pretendard" panose="02000503000000020004" pitchFamily="50" charset="-127"/>
                <a:ea typeface="Pretendard" panose="02000503000000020004" pitchFamily="50" charset="-127"/>
                <a:cs typeface="Pretendard" panose="02000503000000020004" pitchFamily="50" charset="-127"/>
              </a:rPr>
              <a:t>04</a:t>
            </a:r>
            <a:endParaRPr lang="en-US" sz="3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5" name="Text 32"/>
          <p:cNvSpPr/>
          <p:nvPr/>
        </p:nvSpPr>
        <p:spPr>
          <a:xfrm>
            <a:off x="1600200" y="4331291"/>
            <a:ext cx="6400800" cy="182880"/>
          </a:xfrm>
          <a:prstGeom prst="rect">
            <a:avLst/>
          </a:prstGeom>
          <a:noFill/>
          <a:ln/>
        </p:spPr>
        <p:txBody>
          <a:bodyPr wrap="square" lIns="0" tIns="0" rIns="0" bIns="0" rtlCol="0" anchor="t"/>
          <a:lstStyle/>
          <a:p>
            <a:pPr marL="0" indent="0" algn="l">
              <a:buNone/>
            </a:pPr>
            <a:endParaRPr lang="en-US"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6" name="Text 33"/>
          <p:cNvSpPr/>
          <p:nvPr/>
        </p:nvSpPr>
        <p:spPr>
          <a:xfrm>
            <a:off x="1600200" y="4436447"/>
            <a:ext cx="6400800" cy="292608"/>
          </a:xfrm>
          <a:prstGeom prst="rect">
            <a:avLst/>
          </a:prstGeom>
          <a:noFill/>
          <a:ln/>
        </p:spPr>
        <p:txBody>
          <a:bodyPr wrap="square" lIns="0" tIns="0" rIns="0" bIns="0" rtlCol="0" anchor="t"/>
          <a:lstStyle/>
          <a:p>
            <a:pPr marL="0" indent="0" algn="l">
              <a:buNone/>
            </a:pPr>
            <a:r>
              <a:rPr lang="ko-KR" altLang="en-US" b="1" kern="0" spc="-30"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주요 개선 기능</a:t>
            </a:r>
            <a:endParaRPr lang="en-US"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0" name="Text 37"/>
          <p:cNvSpPr/>
          <p:nvPr/>
        </p:nvSpPr>
        <p:spPr>
          <a:xfrm>
            <a:off x="594360" y="4916507"/>
            <a:ext cx="868680" cy="566928"/>
          </a:xfrm>
          <a:prstGeom prst="rect">
            <a:avLst/>
          </a:prstGeom>
          <a:noFill/>
          <a:ln/>
        </p:spPr>
        <p:txBody>
          <a:bodyPr wrap="square" lIns="0" tIns="0" rIns="0" bIns="0" rtlCol="0" anchor="ctr"/>
          <a:lstStyle/>
          <a:p>
            <a:r>
              <a:rPr lang="en-US" altLang="ko-KR" sz="3000" b="1" kern="0" spc="-100" dirty="0">
                <a:solidFill>
                  <a:srgbClr val="1456F0"/>
                </a:solidFill>
                <a:latin typeface="Pretendard" panose="02000503000000020004" pitchFamily="50" charset="-127"/>
                <a:ea typeface="Pretendard" panose="02000503000000020004" pitchFamily="50" charset="-127"/>
                <a:cs typeface="Pretendard" panose="02000503000000020004" pitchFamily="50" charset="-127"/>
              </a:rPr>
              <a:t>05</a:t>
            </a:r>
            <a:endParaRPr lang="en-US" altLang="ko-KR" sz="3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3" name="Text 40"/>
          <p:cNvSpPr/>
          <p:nvPr/>
        </p:nvSpPr>
        <p:spPr>
          <a:xfrm>
            <a:off x="1600200" y="5067383"/>
            <a:ext cx="6400800" cy="292608"/>
          </a:xfrm>
          <a:prstGeom prst="rect">
            <a:avLst/>
          </a:prstGeom>
          <a:noFill/>
          <a:ln/>
        </p:spPr>
        <p:txBody>
          <a:bodyPr wrap="square" lIns="0" tIns="0" rIns="0" bIns="0" rtlCol="0" anchor="t"/>
          <a:lstStyle/>
          <a:p>
            <a:pPr marL="0" indent="0" algn="l">
              <a:buNone/>
            </a:pPr>
            <a:r>
              <a:rPr lang="ko-KR" altLang="en-US" b="1" kern="0" spc="-30"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핵심 구현 및 시스템 개선</a:t>
            </a:r>
            <a:endParaRPr lang="en-US"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7" name="Shape 44"/>
          <p:cNvSpPr/>
          <p:nvPr/>
        </p:nvSpPr>
        <p:spPr>
          <a:xfrm>
            <a:off x="594360" y="5529155"/>
            <a:ext cx="11002975" cy="0"/>
          </a:xfrm>
          <a:prstGeom prst="line">
            <a:avLst/>
          </a:prstGeom>
          <a:noFill/>
          <a:ln w="6350">
            <a:solidFill>
              <a:srgbClr val="F2F3F5"/>
            </a:solidFill>
            <a:prstDash val="solid"/>
          </a:ln>
        </p:spPr>
        <p:txBody>
          <a:bodyPr/>
          <a:lstStyle/>
          <a:p>
            <a:endParaRPr lang="ko-KR" altLang="en-US" dirty="0"/>
          </a:p>
        </p:txBody>
      </p:sp>
      <p:sp>
        <p:nvSpPr>
          <p:cNvPr id="56" name="Shape 22">
            <a:extLst>
              <a:ext uri="{FF2B5EF4-FFF2-40B4-BE49-F238E27FC236}">
                <a16:creationId xmlns:a16="http://schemas.microsoft.com/office/drawing/2014/main" id="{ACEC23A1-FA94-4A7E-AEF5-790AE8574C91}"/>
              </a:ext>
            </a:extLst>
          </p:cNvPr>
          <p:cNvSpPr/>
          <p:nvPr/>
        </p:nvSpPr>
        <p:spPr>
          <a:xfrm>
            <a:off x="1417320" y="3059011"/>
            <a:ext cx="36576" cy="347472"/>
          </a:xfrm>
          <a:prstGeom prst="rect">
            <a:avLst/>
          </a:prstGeom>
          <a:solidFill>
            <a:srgbClr val="1456F0"/>
          </a:solidFill>
          <a:ln w="12700">
            <a:solidFill>
              <a:srgbClr val="1456F0"/>
            </a:solidFill>
            <a:prstDash val="solid"/>
          </a:ln>
        </p:spPr>
      </p:sp>
      <p:sp>
        <p:nvSpPr>
          <p:cNvPr id="63" name="Shape 22">
            <a:extLst>
              <a:ext uri="{FF2B5EF4-FFF2-40B4-BE49-F238E27FC236}">
                <a16:creationId xmlns:a16="http://schemas.microsoft.com/office/drawing/2014/main" id="{79D0AE60-0049-4667-A9DD-C5DAFDE20A69}"/>
              </a:ext>
            </a:extLst>
          </p:cNvPr>
          <p:cNvSpPr/>
          <p:nvPr/>
        </p:nvSpPr>
        <p:spPr>
          <a:xfrm>
            <a:off x="1417320" y="4381583"/>
            <a:ext cx="36576" cy="347472"/>
          </a:xfrm>
          <a:prstGeom prst="rect">
            <a:avLst/>
          </a:prstGeom>
          <a:solidFill>
            <a:srgbClr val="1456F0"/>
          </a:solidFill>
          <a:ln w="12700">
            <a:solidFill>
              <a:srgbClr val="1456F0"/>
            </a:solidFill>
            <a:prstDash val="solid"/>
          </a:ln>
        </p:spPr>
      </p:sp>
      <p:sp>
        <p:nvSpPr>
          <p:cNvPr id="64" name="Shape 22">
            <a:extLst>
              <a:ext uri="{FF2B5EF4-FFF2-40B4-BE49-F238E27FC236}">
                <a16:creationId xmlns:a16="http://schemas.microsoft.com/office/drawing/2014/main" id="{C6326832-1B6D-43AD-8EF4-5DE182EEF19E}"/>
              </a:ext>
            </a:extLst>
          </p:cNvPr>
          <p:cNvSpPr/>
          <p:nvPr/>
        </p:nvSpPr>
        <p:spPr>
          <a:xfrm>
            <a:off x="1417320" y="5014562"/>
            <a:ext cx="36576" cy="347472"/>
          </a:xfrm>
          <a:prstGeom prst="rect">
            <a:avLst/>
          </a:prstGeom>
          <a:solidFill>
            <a:srgbClr val="1456F0"/>
          </a:solidFill>
          <a:ln w="12700">
            <a:solidFill>
              <a:srgbClr val="1456F0"/>
            </a:solidFill>
            <a:prstDash val="solid"/>
          </a:ln>
        </p:spPr>
      </p:sp>
      <p:sp>
        <p:nvSpPr>
          <p:cNvPr id="68" name="Text 24">
            <a:extLst>
              <a:ext uri="{FF2B5EF4-FFF2-40B4-BE49-F238E27FC236}">
                <a16:creationId xmlns:a16="http://schemas.microsoft.com/office/drawing/2014/main" id="{D4F03CE6-2814-499F-B753-8A8232394B86}"/>
              </a:ext>
            </a:extLst>
          </p:cNvPr>
          <p:cNvSpPr/>
          <p:nvPr/>
        </p:nvSpPr>
        <p:spPr>
          <a:xfrm>
            <a:off x="1600200" y="3111735"/>
            <a:ext cx="6400800" cy="292608"/>
          </a:xfrm>
          <a:prstGeom prst="rect">
            <a:avLst/>
          </a:prstGeom>
          <a:noFill/>
          <a:ln/>
        </p:spPr>
        <p:txBody>
          <a:bodyPr wrap="square" lIns="0" tIns="0" rIns="0" bIns="0" rtlCol="0" anchor="t"/>
          <a:lstStyle/>
          <a:p>
            <a:r>
              <a:rPr lang="ko-KR" altLang="en-US" b="1" kern="0" spc="-30"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기존 서비스 한계 </a:t>
            </a:r>
            <a:r>
              <a:rPr lang="en-US" b="1" kern="0" spc="-30"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a:t>
            </a:r>
            <a:r>
              <a:rPr lang="en-US" altLang="ko-KR" b="1" kern="0" spc="-30"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AS – IS</a:t>
            </a:r>
            <a:r>
              <a:rPr lang="en-US" b="1" kern="0" spc="-30"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a:t>
            </a:r>
            <a:endParaRPr lang="en-US"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2" name="Shape 28">
            <a:extLst>
              <a:ext uri="{FF2B5EF4-FFF2-40B4-BE49-F238E27FC236}">
                <a16:creationId xmlns:a16="http://schemas.microsoft.com/office/drawing/2014/main" id="{13F9F4D6-AA46-42BE-9933-9BDA97B55833}"/>
              </a:ext>
            </a:extLst>
          </p:cNvPr>
          <p:cNvSpPr/>
          <p:nvPr/>
        </p:nvSpPr>
        <p:spPr>
          <a:xfrm>
            <a:off x="594360" y="4886408"/>
            <a:ext cx="11002975" cy="0"/>
          </a:xfrm>
          <a:prstGeom prst="line">
            <a:avLst/>
          </a:prstGeom>
          <a:noFill/>
          <a:ln w="6350">
            <a:solidFill>
              <a:srgbClr val="F2F3F5"/>
            </a:solidFill>
            <a:prstDash val="solid"/>
          </a:ln>
        </p:spPr>
      </p:sp>
    </p:spTree>
    <p:extLst>
      <p:ext uri="{BB962C8B-B14F-4D97-AF65-F5344CB8AC3E}">
        <p14:creationId xmlns:p14="http://schemas.microsoft.com/office/powerpoint/2010/main" val="2038046453"/>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5486400" cy="274320"/>
          </a:xfrm>
          <a:prstGeom prst="rect">
            <a:avLst/>
          </a:prstGeom>
          <a:noFill/>
          <a:ln/>
        </p:spPr>
        <p:txBody>
          <a:bodyPr wrap="square" lIns="0" tIns="0" rIns="0" bIns="0" rtlCol="0" anchor="ctr"/>
          <a:lstStyle/>
          <a:p>
            <a:pPr marL="0" indent="0" algn="l">
              <a:buNone/>
            </a:pPr>
            <a:r>
              <a:rPr lang="en-US" sz="12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01. 프로젝트 개요</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pic>
        <p:nvPicPr>
          <p:cNvPr id="3" name="Image 0" descr="Woongjin_logo_transparent.png"/>
          <p:cNvPicPr>
            <a:picLocks noChangeAspect="1"/>
          </p:cNvPicPr>
          <p:nvPr/>
        </p:nvPicPr>
        <p:blipFill>
          <a:blip r:embed="rId3"/>
          <a:stretch>
            <a:fillRect/>
          </a:stretch>
        </p:blipFill>
        <p:spPr>
          <a:xfrm>
            <a:off x="10911535" y="262890"/>
            <a:ext cx="822960" cy="480060"/>
          </a:xfrm>
          <a:prstGeom prst="rect">
            <a:avLst/>
          </a:prstGeom>
        </p:spPr>
      </p:pic>
      <p:sp>
        <p:nvSpPr>
          <p:cNvPr id="6" name="Text 3"/>
          <p:cNvSpPr/>
          <p:nvPr/>
        </p:nvSpPr>
        <p:spPr>
          <a:xfrm>
            <a:off x="457200" y="914400"/>
            <a:ext cx="11277295" cy="685800"/>
          </a:xfrm>
          <a:prstGeom prst="rect">
            <a:avLst/>
          </a:prstGeom>
          <a:noFill/>
          <a:ln/>
        </p:spPr>
        <p:txBody>
          <a:bodyPr wrap="square" lIns="0" tIns="0" rIns="0" bIns="0" rtlCol="0" anchor="t"/>
          <a:lstStyle/>
          <a:p>
            <a:pPr marL="0" indent="0" algn="l">
              <a:buNone/>
            </a:pPr>
            <a:r>
              <a:rPr lang="en-US" sz="2400" b="1" kern="0" spc="-50"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프로젝트 배경 및 목적</a:t>
            </a:r>
            <a:endParaRPr lang="en-US" sz="24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7" name="Text 4"/>
          <p:cNvSpPr/>
          <p:nvPr/>
        </p:nvSpPr>
        <p:spPr>
          <a:xfrm>
            <a:off x="488230" y="1364008"/>
            <a:ext cx="11277295" cy="292608"/>
          </a:xfrm>
          <a:prstGeom prst="rect">
            <a:avLst/>
          </a:prstGeom>
          <a:noFill/>
          <a:ln/>
        </p:spPr>
        <p:txBody>
          <a:bodyPr wrap="square" lIns="0" tIns="0" rIns="0" bIns="0" rtlCol="0" anchor="t"/>
          <a:lstStyle/>
          <a:p>
            <a:r>
              <a:rPr lang="ko-KR" altLang="en-US" sz="1600" dirty="0" err="1">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rPr>
              <a:t>웅진씽크빅은</a:t>
            </a:r>
            <a:r>
              <a:rPr lang="ko-KR" altLang="en-US" sz="1600" dirty="0">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rPr>
              <a:t> 전국 지국 영업조직원을 대상으로 업무 만족도 및 제품 피드백 수집을 위해 설문조사 서비스를 적극 활용하고 있습니다</a:t>
            </a:r>
            <a:r>
              <a:rPr lang="en-US" altLang="ko-KR" sz="1600" dirty="0">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rPr>
              <a:t>.</a:t>
            </a:r>
            <a:endParaRPr lang="en-US" sz="1600" dirty="0">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endParaRPr>
          </a:p>
        </p:txBody>
      </p:sp>
      <p:sp>
        <p:nvSpPr>
          <p:cNvPr id="9" name="Text 6"/>
          <p:cNvSpPr/>
          <p:nvPr/>
        </p:nvSpPr>
        <p:spPr>
          <a:xfrm>
            <a:off x="457200" y="2234152"/>
            <a:ext cx="7315200" cy="365760"/>
          </a:xfrm>
          <a:prstGeom prst="rect">
            <a:avLst/>
          </a:prstGeom>
          <a:noFill/>
          <a:ln/>
        </p:spPr>
        <p:txBody>
          <a:bodyPr wrap="square" lIns="0" tIns="0" rIns="0" bIns="0" rtlCol="0" anchor="t"/>
          <a:lstStyle/>
          <a:p>
            <a:pPr marL="0" indent="0" algn="l">
              <a:buNone/>
            </a:pPr>
            <a:r>
              <a:rPr lang="en-US" b="1"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프로젝트 배경</a:t>
            </a:r>
            <a:endParaRPr lang="en-US"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0" name="Shape 7"/>
          <p:cNvSpPr/>
          <p:nvPr/>
        </p:nvSpPr>
        <p:spPr>
          <a:xfrm>
            <a:off x="457200" y="2615184"/>
            <a:ext cx="4661306" cy="1399032"/>
          </a:xfrm>
          <a:prstGeom prst="roundRect">
            <a:avLst>
              <a:gd name="adj" fmla="val 9286"/>
            </a:avLst>
          </a:prstGeom>
          <a:solidFill>
            <a:srgbClr val="FFFFFF"/>
          </a:solidFill>
          <a:ln w="9525">
            <a:solidFill>
              <a:srgbClr val="E5E7EB"/>
            </a:solidFill>
            <a:prstDash val="solid"/>
          </a:ln>
          <a:effectLst>
            <a:outerShdw blurRad="76200" dist="25400" dir="5400000" algn="bl" rotWithShape="0">
              <a:srgbClr val="000000">
                <a:alpha val="8000"/>
              </a:srgbClr>
            </a:outerShdw>
          </a:effectLst>
        </p:spPr>
      </p:sp>
      <p:sp>
        <p:nvSpPr>
          <p:cNvPr id="14" name="Text 11"/>
          <p:cNvSpPr/>
          <p:nvPr/>
        </p:nvSpPr>
        <p:spPr>
          <a:xfrm>
            <a:off x="658368" y="2781864"/>
            <a:ext cx="2338220" cy="161814"/>
          </a:xfrm>
          <a:prstGeom prst="rect">
            <a:avLst/>
          </a:prstGeom>
          <a:noFill/>
          <a:ln/>
        </p:spPr>
        <p:txBody>
          <a:bodyPr wrap="square" lIns="0" tIns="0" rIns="0" bIns="0" rtlCol="0" anchor="t"/>
          <a:lstStyle/>
          <a:p>
            <a:r>
              <a:rPr lang="ko-KR" altLang="en-US" sz="1400" b="1" dirty="0">
                <a:latin typeface="Pretendard" panose="02000503000000020004" pitchFamily="50" charset="-127"/>
                <a:ea typeface="Pretendard" panose="02000503000000020004" pitchFamily="50" charset="-127"/>
                <a:cs typeface="Pretendard" panose="02000503000000020004" pitchFamily="50" charset="-127"/>
              </a:rPr>
              <a:t>전국 영업조직원 대상 설문 운영</a:t>
            </a:r>
            <a:endParaRPr lang="en-US" sz="1400" b="1"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5" name="Text 12"/>
          <p:cNvSpPr/>
          <p:nvPr/>
        </p:nvSpPr>
        <p:spPr>
          <a:xfrm>
            <a:off x="658368" y="3199710"/>
            <a:ext cx="4288205" cy="171409"/>
          </a:xfrm>
          <a:prstGeom prst="rect">
            <a:avLst/>
          </a:prstGeom>
          <a:noFill/>
          <a:ln/>
        </p:spPr>
        <p:txBody>
          <a:bodyPr wrap="square" lIns="0" tIns="0" rIns="0" bIns="0" rtlCol="0" anchor="t"/>
          <a:lstStyle/>
          <a:p>
            <a:r>
              <a:rPr lang="en-US" altLang="ko-KR" sz="1200" b="1" dirty="0">
                <a:solidFill>
                  <a:srgbClr val="D9472B"/>
                </a:solidFill>
                <a:latin typeface="Pretendard" panose="02000503000000020004" pitchFamily="50" charset="-127"/>
                <a:ea typeface="Pretendard" panose="02000503000000020004" pitchFamily="50" charset="-127"/>
                <a:cs typeface="Pretendard" panose="02000503000000020004" pitchFamily="50" charset="-127"/>
              </a:rPr>
              <a:t>•</a:t>
            </a:r>
            <a:r>
              <a:rPr lang="en-US" sz="1200" b="1" dirty="0">
                <a:solidFill>
                  <a:srgbClr val="1456F0"/>
                </a:solidFill>
                <a:latin typeface="Pretendard" panose="02000503000000020004" pitchFamily="50" charset="-127"/>
                <a:ea typeface="Pretendard" panose="02000503000000020004" pitchFamily="50" charset="-127"/>
                <a:cs typeface="Pretendard" panose="02000503000000020004" pitchFamily="50" charset="-127"/>
              </a:rPr>
              <a:t>  </a:t>
            </a:r>
            <a:r>
              <a:rPr lang="ko-KR" altLang="en-US" sz="1200" dirty="0">
                <a:latin typeface="Pretendard" panose="02000503000000020004" pitchFamily="50" charset="-127"/>
                <a:ea typeface="Pretendard" panose="02000503000000020004" pitchFamily="50" charset="-127"/>
                <a:cs typeface="Pretendard" panose="02000503000000020004" pitchFamily="50" charset="-127"/>
              </a:rPr>
              <a:t>전국 지국 영업조직원을 대상으로 업무 만족도 및 제품 피드백 수집</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7" name="Shape 14"/>
          <p:cNvSpPr/>
          <p:nvPr/>
        </p:nvSpPr>
        <p:spPr>
          <a:xfrm>
            <a:off x="6187288" y="2615184"/>
            <a:ext cx="5547208" cy="1399032"/>
          </a:xfrm>
          <a:prstGeom prst="roundRect">
            <a:avLst>
              <a:gd name="adj" fmla="val 9286"/>
            </a:avLst>
          </a:prstGeom>
          <a:solidFill>
            <a:srgbClr val="FFFFFF"/>
          </a:solidFill>
          <a:ln w="9525">
            <a:solidFill>
              <a:srgbClr val="E5E7EB"/>
            </a:solidFill>
            <a:prstDash val="solid"/>
          </a:ln>
          <a:effectLst>
            <a:outerShdw blurRad="76200" dist="25400" dir="5400000" algn="bl" rotWithShape="0">
              <a:srgbClr val="000000">
                <a:alpha val="8000"/>
              </a:srgbClr>
            </a:outerShdw>
          </a:effectLst>
        </p:spPr>
        <p:txBody>
          <a:bodyPr/>
          <a:lstStyle/>
          <a:p>
            <a:endParaRPr lang="ko-KR" altLang="en-US"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8" name="Shape 15"/>
          <p:cNvSpPr/>
          <p:nvPr/>
        </p:nvSpPr>
        <p:spPr>
          <a:xfrm>
            <a:off x="6187288" y="2670048"/>
            <a:ext cx="64008" cy="1280160"/>
          </a:xfrm>
          <a:prstGeom prst="rect">
            <a:avLst/>
          </a:prstGeom>
          <a:solidFill>
            <a:srgbClr val="D9472B"/>
          </a:solidFill>
          <a:ln w="12700">
            <a:solidFill>
              <a:srgbClr val="D9472B"/>
            </a:solidFill>
            <a:prstDash val="solid"/>
          </a:ln>
        </p:spPr>
        <p:txBody>
          <a:bodyPr/>
          <a:lstStyle/>
          <a:p>
            <a:endParaRPr lang="ko-KR" altLang="en-US" dirty="0"/>
          </a:p>
        </p:txBody>
      </p:sp>
      <p:sp>
        <p:nvSpPr>
          <p:cNvPr id="21" name="Text 18"/>
          <p:cNvSpPr/>
          <p:nvPr/>
        </p:nvSpPr>
        <p:spPr>
          <a:xfrm>
            <a:off x="6502288" y="2794032"/>
            <a:ext cx="5181448" cy="292608"/>
          </a:xfrm>
          <a:prstGeom prst="rect">
            <a:avLst/>
          </a:prstGeom>
          <a:noFill/>
          <a:ln/>
        </p:spPr>
        <p:txBody>
          <a:bodyPr wrap="square" lIns="0" tIns="0" rIns="0" bIns="0" rtlCol="0" anchor="t"/>
          <a:lstStyle/>
          <a:p>
            <a:r>
              <a:rPr lang="en-US" altLang="ko-KR" sz="1400" b="1" dirty="0">
                <a:latin typeface="Pretendard" panose="02000503000000020004" pitchFamily="50" charset="-127"/>
                <a:ea typeface="Pretendard" panose="02000503000000020004" pitchFamily="50" charset="-127"/>
                <a:cs typeface="Pretendard" panose="02000503000000020004" pitchFamily="50" charset="-127"/>
              </a:rPr>
              <a:t>3</a:t>
            </a:r>
            <a:r>
              <a:rPr lang="ko-KR" altLang="en-US" sz="1400" b="1" dirty="0">
                <a:latin typeface="Pretendard" panose="02000503000000020004" pitchFamily="50" charset="-127"/>
                <a:ea typeface="Pretendard" panose="02000503000000020004" pitchFamily="50" charset="-127"/>
                <a:cs typeface="Pretendard" panose="02000503000000020004" pitchFamily="50" charset="-127"/>
              </a:rPr>
              <a:t>가지 측면에서 개선 필요</a:t>
            </a:r>
            <a:endParaRPr lang="en-US" sz="1400" b="1"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2" name="Text 19"/>
          <p:cNvSpPr/>
          <p:nvPr/>
        </p:nvSpPr>
        <p:spPr>
          <a:xfrm>
            <a:off x="6388456" y="3127288"/>
            <a:ext cx="5181448" cy="164592"/>
          </a:xfrm>
          <a:prstGeom prst="rect">
            <a:avLst/>
          </a:prstGeom>
          <a:noFill/>
          <a:ln/>
        </p:spPr>
        <p:txBody>
          <a:bodyPr wrap="square" lIns="0" tIns="0" rIns="0" bIns="0" rtlCol="0" anchor="t"/>
          <a:lstStyle/>
          <a:p>
            <a:r>
              <a:rPr lang="en-US" altLang="ko-KR" sz="1200" b="1" dirty="0">
                <a:solidFill>
                  <a:srgbClr val="D9472B"/>
                </a:solidFill>
                <a:latin typeface="Pretendard" panose="02000503000000020004" pitchFamily="50" charset="-127"/>
                <a:ea typeface="Pretendard" panose="02000503000000020004" pitchFamily="50" charset="-127"/>
                <a:cs typeface="Pretendard" panose="02000503000000020004" pitchFamily="50" charset="-127"/>
              </a:rPr>
              <a:t>•</a:t>
            </a:r>
            <a:r>
              <a:rPr lang="en-US" sz="1200" b="1" dirty="0">
                <a:solidFill>
                  <a:srgbClr val="D9472B"/>
                </a:solidFill>
                <a:latin typeface="Pretendard" panose="02000503000000020004" pitchFamily="50" charset="-127"/>
                <a:ea typeface="Pretendard" panose="02000503000000020004" pitchFamily="50" charset="-127"/>
                <a:cs typeface="Pretendard" panose="02000503000000020004" pitchFamily="50" charset="-127"/>
              </a:rPr>
              <a:t>  </a:t>
            </a:r>
            <a:r>
              <a:rPr lang="ko-KR" altLang="en-US" sz="1200" b="1" dirty="0">
                <a:latin typeface="Pretendard" panose="02000503000000020004" pitchFamily="50" charset="-127"/>
                <a:ea typeface="Pretendard" panose="02000503000000020004" pitchFamily="50" charset="-127"/>
                <a:cs typeface="Pretendard" panose="02000503000000020004" pitchFamily="50" charset="-127"/>
              </a:rPr>
              <a:t>관리자 </a:t>
            </a:r>
            <a:r>
              <a:rPr lang="en-US" altLang="ko-KR" sz="1200" dirty="0">
                <a:latin typeface="Pretendard" panose="02000503000000020004" pitchFamily="50" charset="-127"/>
                <a:ea typeface="Pretendard" panose="02000503000000020004" pitchFamily="50" charset="-127"/>
                <a:cs typeface="Pretendard" panose="02000503000000020004" pitchFamily="50" charset="-127"/>
              </a:rPr>
              <a:t>: </a:t>
            </a:r>
            <a:r>
              <a:rPr lang="ko-KR" altLang="en-US" sz="1200" b="1" dirty="0">
                <a:solidFill>
                  <a:srgbClr val="1456F0"/>
                </a:solidFill>
                <a:latin typeface="Pretendard" panose="02000503000000020004" pitchFamily="50" charset="-127"/>
                <a:ea typeface="Pretendard" panose="02000503000000020004" pitchFamily="50" charset="-127"/>
                <a:cs typeface="Pretendard" panose="02000503000000020004" pitchFamily="50" charset="-127"/>
              </a:rPr>
              <a:t>통계 확인</a:t>
            </a:r>
            <a:r>
              <a:rPr lang="ko-KR" altLang="en-US" sz="1200" dirty="0">
                <a:latin typeface="Pretendard" panose="02000503000000020004" pitchFamily="50" charset="-127"/>
                <a:ea typeface="Pretendard" panose="02000503000000020004" pitchFamily="50" charset="-127"/>
                <a:cs typeface="Pretendard" panose="02000503000000020004" pitchFamily="50" charset="-127"/>
              </a:rPr>
              <a:t>과 데이터 관리가 번거로움</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3" name="Text 20"/>
          <p:cNvSpPr/>
          <p:nvPr/>
        </p:nvSpPr>
        <p:spPr>
          <a:xfrm>
            <a:off x="6388456" y="3361050"/>
            <a:ext cx="5181448" cy="164592"/>
          </a:xfrm>
          <a:prstGeom prst="rect">
            <a:avLst/>
          </a:prstGeom>
          <a:noFill/>
          <a:ln/>
        </p:spPr>
        <p:txBody>
          <a:bodyPr wrap="square" lIns="0" tIns="0" rIns="0" bIns="0" rtlCol="0" anchor="t"/>
          <a:lstStyle/>
          <a:p>
            <a:r>
              <a:rPr lang="en-US" sz="1200" b="1" dirty="0">
                <a:solidFill>
                  <a:srgbClr val="D9472B"/>
                </a:solidFill>
                <a:latin typeface="Pretendard" panose="02000503000000020004" pitchFamily="50" charset="-127"/>
                <a:ea typeface="Pretendard" panose="02000503000000020004" pitchFamily="50" charset="-127"/>
                <a:cs typeface="Pretendard" panose="02000503000000020004" pitchFamily="50" charset="-127"/>
              </a:rPr>
              <a:t>•  </a:t>
            </a:r>
            <a:r>
              <a:rPr lang="ko-KR" altLang="en-US" sz="1200" b="1" dirty="0">
                <a:latin typeface="Pretendard" panose="02000503000000020004" pitchFamily="50" charset="-127"/>
                <a:ea typeface="Pretendard" panose="02000503000000020004" pitchFamily="50" charset="-127"/>
                <a:cs typeface="Pretendard" panose="02000503000000020004" pitchFamily="50" charset="-127"/>
              </a:rPr>
              <a:t>사용자 </a:t>
            </a:r>
            <a:r>
              <a:rPr lang="en-US" altLang="ko-KR" sz="1200" dirty="0">
                <a:latin typeface="Pretendard" panose="02000503000000020004" pitchFamily="50" charset="-127"/>
                <a:ea typeface="Pretendard" panose="02000503000000020004" pitchFamily="50" charset="-127"/>
                <a:cs typeface="Pretendard" panose="02000503000000020004" pitchFamily="50" charset="-127"/>
              </a:rPr>
              <a:t>: </a:t>
            </a:r>
            <a:r>
              <a:rPr lang="ko-KR" altLang="en-US" sz="1200" dirty="0">
                <a:latin typeface="Pretendard" panose="02000503000000020004" pitchFamily="50" charset="-127"/>
                <a:ea typeface="Pretendard" panose="02000503000000020004" pitchFamily="50" charset="-127"/>
                <a:cs typeface="Pretendard" panose="02000503000000020004" pitchFamily="50" charset="-127"/>
              </a:rPr>
              <a:t>설문 화면이 </a:t>
            </a:r>
            <a:r>
              <a:rPr lang="ko-KR" altLang="en-US" sz="1200" b="1" dirty="0">
                <a:solidFill>
                  <a:srgbClr val="1456F0"/>
                </a:solidFill>
                <a:latin typeface="Pretendard" panose="02000503000000020004" pitchFamily="50" charset="-127"/>
                <a:ea typeface="Pretendard" panose="02000503000000020004" pitchFamily="50" charset="-127"/>
                <a:cs typeface="Pretendard" panose="02000503000000020004" pitchFamily="50" charset="-127"/>
              </a:rPr>
              <a:t>직관적</a:t>
            </a:r>
            <a:r>
              <a:rPr lang="ko-KR" altLang="en-US" sz="1200" dirty="0">
                <a:latin typeface="Pretendard" panose="02000503000000020004" pitchFamily="50" charset="-127"/>
                <a:ea typeface="Pretendard" panose="02000503000000020004" pitchFamily="50" charset="-127"/>
                <a:cs typeface="Pretendard" panose="02000503000000020004" pitchFamily="50" charset="-127"/>
              </a:rPr>
              <a:t>이지 않아 응답 부담 발생</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8" name="Text 5"/>
          <p:cNvSpPr/>
          <p:nvPr/>
        </p:nvSpPr>
        <p:spPr>
          <a:xfrm>
            <a:off x="457200" y="1996408"/>
            <a:ext cx="5486400" cy="201168"/>
          </a:xfrm>
          <a:prstGeom prst="rect">
            <a:avLst/>
          </a:prstGeom>
          <a:noFill/>
          <a:ln/>
        </p:spPr>
        <p:txBody>
          <a:bodyPr wrap="square" lIns="0" tIns="0" rIns="0" bIns="0" rtlCol="0" anchor="t"/>
          <a:lstStyle/>
          <a:p>
            <a:pPr marL="0" indent="0" algn="l">
              <a:buNone/>
            </a:pPr>
            <a:r>
              <a:rPr lang="en-US" sz="1000" b="1" kern="0" spc="200" dirty="0">
                <a:solidFill>
                  <a:srgbClr val="D9472B"/>
                </a:solidFill>
                <a:latin typeface="Pretendard" panose="02000503000000020004" pitchFamily="50" charset="-127"/>
                <a:ea typeface="Pretendard" panose="02000503000000020004" pitchFamily="50" charset="-127"/>
                <a:cs typeface="Pretendard" panose="02000503000000020004" pitchFamily="50" charset="-127"/>
              </a:rPr>
              <a:t>BACKGROUND</a:t>
            </a:r>
            <a:endParaRPr lang="en-US" sz="1000" dirty="0">
              <a:latin typeface="Pretendard" panose="02000503000000020004" pitchFamily="50" charset="-127"/>
              <a:ea typeface="Pretendard" panose="02000503000000020004" pitchFamily="50" charset="-127"/>
              <a:cs typeface="Pretendard" panose="02000503000000020004" pitchFamily="50" charset="-127"/>
            </a:endParaRPr>
          </a:p>
        </p:txBody>
      </p:sp>
      <p:grpSp>
        <p:nvGrpSpPr>
          <p:cNvPr id="4" name="그룹 3"/>
          <p:cNvGrpSpPr/>
          <p:nvPr/>
        </p:nvGrpSpPr>
        <p:grpSpPr>
          <a:xfrm>
            <a:off x="457199" y="4270248"/>
            <a:ext cx="11277296" cy="1911096"/>
            <a:chOff x="457199" y="4270248"/>
            <a:chExt cx="11277296" cy="1911096"/>
          </a:xfrm>
        </p:grpSpPr>
        <p:sp>
          <p:nvSpPr>
            <p:cNvPr id="52" name="Shape 30"/>
            <p:cNvSpPr/>
            <p:nvPr/>
          </p:nvSpPr>
          <p:spPr>
            <a:xfrm>
              <a:off x="457199" y="4928616"/>
              <a:ext cx="3637178" cy="1252728"/>
            </a:xfrm>
            <a:prstGeom prst="roundRect">
              <a:avLst>
                <a:gd name="adj" fmla="val 11679"/>
              </a:avLst>
            </a:prstGeom>
            <a:solidFill>
              <a:srgbClr val="FFFFFF"/>
            </a:solidFill>
            <a:ln w="9525">
              <a:solidFill>
                <a:srgbClr val="E5E7EB"/>
              </a:solidFill>
              <a:prstDash val="solid"/>
            </a:ln>
            <a:effectLst>
              <a:outerShdw blurRad="76200" dist="25400" dir="5400000" algn="bl" rotWithShape="0">
                <a:srgbClr val="000000">
                  <a:alpha val="8000"/>
                </a:srgbClr>
              </a:outerShdw>
            </a:effectLst>
          </p:spPr>
        </p:sp>
        <p:sp>
          <p:nvSpPr>
            <p:cNvPr id="25" name="Text 22"/>
            <p:cNvSpPr/>
            <p:nvPr/>
          </p:nvSpPr>
          <p:spPr>
            <a:xfrm>
              <a:off x="457200" y="4507992"/>
              <a:ext cx="11277295" cy="329184"/>
            </a:xfrm>
            <a:prstGeom prst="rect">
              <a:avLst/>
            </a:prstGeom>
            <a:noFill/>
            <a:ln/>
          </p:spPr>
          <p:txBody>
            <a:bodyPr wrap="square" lIns="0" tIns="0" rIns="0" bIns="0" rtlCol="0" anchor="t"/>
            <a:lstStyle/>
            <a:p>
              <a:pPr marL="0" indent="0" algn="l">
                <a:buNone/>
              </a:pPr>
              <a:r>
                <a:rPr lang="en-US" b="1"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프로젝트</a:t>
              </a:r>
              <a:r>
                <a:rPr lang="en-US" sz="1800" b="1"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 </a:t>
              </a:r>
              <a:r>
                <a:rPr lang="en-US" b="1"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목적</a:t>
              </a:r>
              <a:r>
                <a:rPr lang="en-US" sz="1200" b="1" dirty="0">
                  <a:solidFill>
                    <a:srgbClr val="45515E"/>
                  </a:solidFill>
                  <a:latin typeface="Pretendard" panose="02000503000000020004" pitchFamily="50" charset="-127"/>
                  <a:ea typeface="Pretendard" panose="02000503000000020004" pitchFamily="50" charset="-127"/>
                  <a:cs typeface="Pretendard" panose="02000503000000020004" pitchFamily="50" charset="-127"/>
                </a:rPr>
                <a:t>    기존 핵심 기능은 유지하면서 3가지 방향으로 고도화</a:t>
              </a:r>
              <a:endParaRPr lang="en-US" sz="18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7" name="Shape 24"/>
            <p:cNvSpPr/>
            <p:nvPr/>
          </p:nvSpPr>
          <p:spPr>
            <a:xfrm>
              <a:off x="457200" y="4928616"/>
              <a:ext cx="3637178" cy="54864"/>
            </a:xfrm>
            <a:prstGeom prst="rect">
              <a:avLst/>
            </a:prstGeom>
            <a:solidFill>
              <a:srgbClr val="1456F0"/>
            </a:solidFill>
            <a:ln w="12700">
              <a:solidFill>
                <a:srgbClr val="1456F0"/>
              </a:solidFill>
              <a:prstDash val="solid"/>
            </a:ln>
          </p:spPr>
        </p:sp>
        <p:sp>
          <p:nvSpPr>
            <p:cNvPr id="28" name="Text 25"/>
            <p:cNvSpPr/>
            <p:nvPr/>
          </p:nvSpPr>
          <p:spPr>
            <a:xfrm>
              <a:off x="658368" y="5074920"/>
              <a:ext cx="640080" cy="384048"/>
            </a:xfrm>
            <a:prstGeom prst="rect">
              <a:avLst/>
            </a:prstGeom>
            <a:noFill/>
            <a:ln/>
          </p:spPr>
          <p:txBody>
            <a:bodyPr wrap="square" lIns="0" tIns="0" rIns="0" bIns="0" rtlCol="0" anchor="t"/>
            <a:lstStyle/>
            <a:p>
              <a:pPr marL="0" indent="0" algn="l">
                <a:buNone/>
              </a:pPr>
              <a:r>
                <a:rPr lang="en-US" sz="2200" b="1" kern="0" spc="-50" dirty="0">
                  <a:solidFill>
                    <a:srgbClr val="1456F0"/>
                  </a:solidFill>
                  <a:latin typeface="Pretendard" panose="02000503000000020004" pitchFamily="50" charset="-127"/>
                  <a:ea typeface="Pretendard" panose="02000503000000020004" pitchFamily="50" charset="-127"/>
                  <a:cs typeface="Pretendard" panose="02000503000000020004" pitchFamily="50" charset="-127"/>
                </a:rPr>
                <a:t>01</a:t>
              </a:r>
              <a:endParaRPr lang="en-US" sz="22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9" name="Shape 26"/>
            <p:cNvSpPr/>
            <p:nvPr/>
          </p:nvSpPr>
          <p:spPr>
            <a:xfrm>
              <a:off x="3134258" y="5129784"/>
              <a:ext cx="777240" cy="256032"/>
            </a:xfrm>
            <a:prstGeom prst="roundRect">
              <a:avLst>
                <a:gd name="adj" fmla="val 50000"/>
              </a:avLst>
            </a:prstGeom>
            <a:solidFill>
              <a:srgbClr val="1456F0"/>
            </a:solidFill>
            <a:ln w="12700">
              <a:solidFill>
                <a:srgbClr val="1456F0"/>
              </a:solidFill>
              <a:prstDash val="solid"/>
            </a:ln>
          </p:spPr>
        </p:sp>
        <p:sp>
          <p:nvSpPr>
            <p:cNvPr id="30" name="Text 27"/>
            <p:cNvSpPr/>
            <p:nvPr/>
          </p:nvSpPr>
          <p:spPr>
            <a:xfrm>
              <a:off x="3134258" y="5129784"/>
              <a:ext cx="777240"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Pretendard" panose="02000503000000020004" pitchFamily="50" charset="-127"/>
                  <a:ea typeface="Pretendard" panose="02000503000000020004" pitchFamily="50" charset="-127"/>
                  <a:cs typeface="Pretendard" panose="02000503000000020004" pitchFamily="50" charset="-127"/>
                </a:rPr>
                <a:t>관리자</a:t>
              </a:r>
              <a:endParaRPr lang="en-US" sz="1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1" name="Text 28"/>
            <p:cNvSpPr/>
            <p:nvPr/>
          </p:nvSpPr>
          <p:spPr>
            <a:xfrm>
              <a:off x="658368" y="5577840"/>
              <a:ext cx="3271418" cy="292608"/>
            </a:xfrm>
            <a:prstGeom prst="rect">
              <a:avLst/>
            </a:prstGeom>
            <a:noFill/>
            <a:ln/>
          </p:spPr>
          <p:txBody>
            <a:bodyPr wrap="square" lIns="0" tIns="0" rIns="0" bIns="0" rtlCol="0" anchor="t"/>
            <a:lstStyle/>
            <a:p>
              <a:pPr algn="ctr"/>
              <a:r>
                <a:rPr lang="ko-KR" altLang="en-US" sz="1400" b="1" dirty="0">
                  <a:latin typeface="Pretendard" panose="02000503000000020004" pitchFamily="50" charset="-127"/>
                  <a:ea typeface="Pretendard" panose="02000503000000020004" pitchFamily="50" charset="-127"/>
                  <a:cs typeface="Pretendard" panose="02000503000000020004" pitchFamily="50" charset="-127"/>
                </a:rPr>
                <a:t>통계</a:t>
              </a:r>
              <a:r>
                <a:rPr lang="en-US" altLang="ko-KR" sz="1400" b="1" dirty="0">
                  <a:latin typeface="Pretendard" panose="02000503000000020004" pitchFamily="50" charset="-127"/>
                  <a:ea typeface="Pretendard" panose="02000503000000020004" pitchFamily="50" charset="-127"/>
                  <a:cs typeface="Pretendard" panose="02000503000000020004" pitchFamily="50" charset="-127"/>
                </a:rPr>
                <a:t> </a:t>
              </a:r>
              <a:r>
                <a:rPr lang="ko-KR" altLang="en-US" sz="1400" b="1" dirty="0">
                  <a:latin typeface="Pretendard" panose="02000503000000020004" pitchFamily="50" charset="-127"/>
                  <a:ea typeface="Pretendard" panose="02000503000000020004" pitchFamily="50" charset="-127"/>
                  <a:cs typeface="Pretendard" panose="02000503000000020004" pitchFamily="50" charset="-127"/>
                </a:rPr>
                <a:t>및 이력 관리 개선</a:t>
              </a:r>
              <a:endParaRPr lang="en-US" sz="1350" b="1"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2" name="Text 29"/>
            <p:cNvSpPr/>
            <p:nvPr/>
          </p:nvSpPr>
          <p:spPr>
            <a:xfrm>
              <a:off x="658368" y="5797296"/>
              <a:ext cx="3271418" cy="365760"/>
            </a:xfrm>
            <a:prstGeom prst="rect">
              <a:avLst/>
            </a:prstGeom>
            <a:noFill/>
            <a:ln/>
          </p:spPr>
          <p:txBody>
            <a:bodyPr wrap="square" lIns="0" tIns="0" rIns="0" bIns="0" rtlCol="0" anchor="t"/>
            <a:lstStyle/>
            <a:p>
              <a:pPr marL="0" indent="0" algn="l">
                <a:buNone/>
              </a:pPr>
              <a:endParaRPr lang="en-US" sz="105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3" name="Shape 30"/>
            <p:cNvSpPr/>
            <p:nvPr/>
          </p:nvSpPr>
          <p:spPr>
            <a:xfrm>
              <a:off x="4277258" y="4928616"/>
              <a:ext cx="3637178" cy="1252728"/>
            </a:xfrm>
            <a:prstGeom prst="roundRect">
              <a:avLst>
                <a:gd name="adj" fmla="val 11679"/>
              </a:avLst>
            </a:prstGeom>
            <a:solidFill>
              <a:srgbClr val="FFFFFF"/>
            </a:solidFill>
            <a:ln w="9525">
              <a:solidFill>
                <a:srgbClr val="E5E7EB"/>
              </a:solidFill>
              <a:prstDash val="solid"/>
            </a:ln>
            <a:effectLst>
              <a:outerShdw blurRad="76200" dist="25400" dir="5400000" algn="bl" rotWithShape="0">
                <a:srgbClr val="000000">
                  <a:alpha val="8000"/>
                </a:srgbClr>
              </a:outerShdw>
            </a:effectLst>
          </p:spPr>
        </p:sp>
        <p:sp>
          <p:nvSpPr>
            <p:cNvPr id="34" name="Shape 31"/>
            <p:cNvSpPr/>
            <p:nvPr/>
          </p:nvSpPr>
          <p:spPr>
            <a:xfrm>
              <a:off x="4277258" y="4928616"/>
              <a:ext cx="3637178" cy="54864"/>
            </a:xfrm>
            <a:prstGeom prst="rect">
              <a:avLst/>
            </a:prstGeom>
            <a:solidFill>
              <a:srgbClr val="EA5EC1"/>
            </a:solidFill>
            <a:ln w="12700">
              <a:solidFill>
                <a:srgbClr val="EA5EC1"/>
              </a:solidFill>
              <a:prstDash val="solid"/>
            </a:ln>
          </p:spPr>
        </p:sp>
        <p:sp>
          <p:nvSpPr>
            <p:cNvPr id="35" name="Text 32"/>
            <p:cNvSpPr/>
            <p:nvPr/>
          </p:nvSpPr>
          <p:spPr>
            <a:xfrm>
              <a:off x="4478426" y="5074920"/>
              <a:ext cx="640080" cy="384048"/>
            </a:xfrm>
            <a:prstGeom prst="rect">
              <a:avLst/>
            </a:prstGeom>
            <a:noFill/>
            <a:ln/>
          </p:spPr>
          <p:txBody>
            <a:bodyPr wrap="square" lIns="0" tIns="0" rIns="0" bIns="0" rtlCol="0" anchor="t"/>
            <a:lstStyle/>
            <a:p>
              <a:pPr marL="0" indent="0" algn="l">
                <a:buNone/>
              </a:pPr>
              <a:r>
                <a:rPr lang="en-US" sz="2200" b="1" kern="0" spc="-50" dirty="0">
                  <a:solidFill>
                    <a:srgbClr val="EA5EC1"/>
                  </a:solidFill>
                  <a:latin typeface="Pretendard" panose="02000503000000020004" pitchFamily="50" charset="-127"/>
                  <a:ea typeface="Pretendard" panose="02000503000000020004" pitchFamily="50" charset="-127"/>
                  <a:cs typeface="Pretendard" panose="02000503000000020004" pitchFamily="50" charset="-127"/>
                </a:rPr>
                <a:t>02</a:t>
              </a:r>
              <a:endParaRPr lang="en-US" sz="22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6" name="Shape 33"/>
            <p:cNvSpPr/>
            <p:nvPr/>
          </p:nvSpPr>
          <p:spPr>
            <a:xfrm>
              <a:off x="6954317" y="5129784"/>
              <a:ext cx="777240" cy="256032"/>
            </a:xfrm>
            <a:prstGeom prst="roundRect">
              <a:avLst>
                <a:gd name="adj" fmla="val 50000"/>
              </a:avLst>
            </a:prstGeom>
            <a:solidFill>
              <a:srgbClr val="EA5EC1"/>
            </a:solidFill>
            <a:ln w="12700">
              <a:solidFill>
                <a:srgbClr val="EA5EC1"/>
              </a:solidFill>
              <a:prstDash val="solid"/>
            </a:ln>
          </p:spPr>
        </p:sp>
        <p:sp>
          <p:nvSpPr>
            <p:cNvPr id="37" name="Text 34"/>
            <p:cNvSpPr/>
            <p:nvPr/>
          </p:nvSpPr>
          <p:spPr>
            <a:xfrm>
              <a:off x="6954317" y="5129784"/>
              <a:ext cx="777240"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Pretendard" panose="02000503000000020004" pitchFamily="50" charset="-127"/>
                  <a:ea typeface="Pretendard" panose="02000503000000020004" pitchFamily="50" charset="-127"/>
                  <a:cs typeface="Pretendard" panose="02000503000000020004" pitchFamily="50" charset="-127"/>
                </a:rPr>
                <a:t>사용자</a:t>
              </a:r>
              <a:endParaRPr lang="en-US" sz="1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8" name="Text 35"/>
            <p:cNvSpPr/>
            <p:nvPr/>
          </p:nvSpPr>
          <p:spPr>
            <a:xfrm>
              <a:off x="4460139" y="5584207"/>
              <a:ext cx="3271418" cy="292608"/>
            </a:xfrm>
            <a:prstGeom prst="rect">
              <a:avLst/>
            </a:prstGeom>
            <a:noFill/>
            <a:ln/>
          </p:spPr>
          <p:txBody>
            <a:bodyPr wrap="square" lIns="0" tIns="0" rIns="0" bIns="0" rtlCol="0" anchor="t"/>
            <a:lstStyle/>
            <a:p>
              <a:pPr marL="0" indent="0" algn="ctr">
                <a:buNone/>
              </a:pPr>
              <a:r>
                <a:rPr lang="ko-KR" altLang="en-US" sz="1350" b="1" kern="0" spc="-20"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설문 </a:t>
              </a:r>
              <a:r>
                <a:rPr lang="en-US" sz="1350" b="1" kern="0" spc="-20" dirty="0" err="1">
                  <a:solidFill>
                    <a:srgbClr val="222222"/>
                  </a:solidFill>
                  <a:latin typeface="Pretendard" panose="02000503000000020004" pitchFamily="50" charset="-127"/>
                  <a:ea typeface="Pretendard" panose="02000503000000020004" pitchFamily="50" charset="-127"/>
                  <a:cs typeface="Pretendard" panose="02000503000000020004" pitchFamily="50" charset="-127"/>
                </a:rPr>
                <a:t>참여</a:t>
              </a:r>
              <a:r>
                <a:rPr lang="en-US" sz="1350" b="1" kern="0" spc="-20"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 편의성 향상</a:t>
              </a:r>
              <a:endParaRPr lang="en-US" sz="135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9" name="Text 36"/>
            <p:cNvSpPr/>
            <p:nvPr/>
          </p:nvSpPr>
          <p:spPr>
            <a:xfrm>
              <a:off x="4478426" y="5797296"/>
              <a:ext cx="3271418" cy="365760"/>
            </a:xfrm>
            <a:prstGeom prst="rect">
              <a:avLst/>
            </a:prstGeom>
            <a:noFill/>
            <a:ln/>
          </p:spPr>
          <p:txBody>
            <a:bodyPr wrap="square" lIns="0" tIns="0" rIns="0" bIns="0" rtlCol="0" anchor="t"/>
            <a:lstStyle/>
            <a:p>
              <a:pPr marL="0" indent="0" algn="l">
                <a:buNone/>
              </a:pPr>
              <a:endParaRPr lang="en-US" sz="105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0" name="Shape 37"/>
            <p:cNvSpPr/>
            <p:nvPr/>
          </p:nvSpPr>
          <p:spPr>
            <a:xfrm>
              <a:off x="8097317" y="4928616"/>
              <a:ext cx="3637178" cy="1252728"/>
            </a:xfrm>
            <a:prstGeom prst="roundRect">
              <a:avLst>
                <a:gd name="adj" fmla="val 11679"/>
              </a:avLst>
            </a:prstGeom>
            <a:solidFill>
              <a:srgbClr val="FFFFFF"/>
            </a:solidFill>
            <a:ln w="9525">
              <a:solidFill>
                <a:srgbClr val="E5E7EB"/>
              </a:solidFill>
              <a:prstDash val="solid"/>
            </a:ln>
            <a:effectLst>
              <a:outerShdw blurRad="76200" dist="25400" dir="5400000" algn="bl" rotWithShape="0">
                <a:srgbClr val="000000">
                  <a:alpha val="8000"/>
                </a:srgbClr>
              </a:outerShdw>
            </a:effectLst>
          </p:spPr>
        </p:sp>
        <p:sp>
          <p:nvSpPr>
            <p:cNvPr id="41" name="Shape 38"/>
            <p:cNvSpPr/>
            <p:nvPr/>
          </p:nvSpPr>
          <p:spPr>
            <a:xfrm>
              <a:off x="8097317" y="4928616"/>
              <a:ext cx="3637178" cy="54864"/>
            </a:xfrm>
            <a:prstGeom prst="rect">
              <a:avLst/>
            </a:prstGeom>
            <a:solidFill>
              <a:srgbClr val="18181B"/>
            </a:solidFill>
            <a:ln w="12700">
              <a:solidFill>
                <a:srgbClr val="18181B"/>
              </a:solidFill>
              <a:prstDash val="solid"/>
            </a:ln>
          </p:spPr>
        </p:sp>
        <p:sp>
          <p:nvSpPr>
            <p:cNvPr id="42" name="Text 39"/>
            <p:cNvSpPr/>
            <p:nvPr/>
          </p:nvSpPr>
          <p:spPr>
            <a:xfrm>
              <a:off x="8298485" y="5074920"/>
              <a:ext cx="640080" cy="384048"/>
            </a:xfrm>
            <a:prstGeom prst="rect">
              <a:avLst/>
            </a:prstGeom>
            <a:noFill/>
            <a:ln/>
          </p:spPr>
          <p:txBody>
            <a:bodyPr wrap="square" lIns="0" tIns="0" rIns="0" bIns="0" rtlCol="0" anchor="t"/>
            <a:lstStyle/>
            <a:p>
              <a:pPr marL="0" indent="0" algn="l">
                <a:buNone/>
              </a:pPr>
              <a:r>
                <a:rPr lang="en-US" sz="2200" b="1" kern="0" spc="-50" dirty="0">
                  <a:solidFill>
                    <a:srgbClr val="18181B"/>
                  </a:solidFill>
                  <a:latin typeface="Pretendard" panose="02000503000000020004" pitchFamily="50" charset="-127"/>
                  <a:ea typeface="Pretendard" panose="02000503000000020004" pitchFamily="50" charset="-127"/>
                  <a:cs typeface="Pretendard" panose="02000503000000020004" pitchFamily="50" charset="-127"/>
                </a:rPr>
                <a:t>03</a:t>
              </a:r>
              <a:endParaRPr lang="en-US" sz="22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3" name="Shape 40"/>
            <p:cNvSpPr/>
            <p:nvPr/>
          </p:nvSpPr>
          <p:spPr>
            <a:xfrm>
              <a:off x="10774375" y="5129784"/>
              <a:ext cx="777240" cy="256032"/>
            </a:xfrm>
            <a:prstGeom prst="roundRect">
              <a:avLst>
                <a:gd name="adj" fmla="val 50000"/>
              </a:avLst>
            </a:prstGeom>
            <a:solidFill>
              <a:srgbClr val="18181B"/>
            </a:solidFill>
            <a:ln w="12700">
              <a:solidFill>
                <a:srgbClr val="18181B"/>
              </a:solidFill>
              <a:prstDash val="solid"/>
            </a:ln>
          </p:spPr>
        </p:sp>
        <p:sp>
          <p:nvSpPr>
            <p:cNvPr id="44" name="Text 41"/>
            <p:cNvSpPr/>
            <p:nvPr/>
          </p:nvSpPr>
          <p:spPr>
            <a:xfrm>
              <a:off x="10774375" y="5129784"/>
              <a:ext cx="777240"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Pretendard" panose="02000503000000020004" pitchFamily="50" charset="-127"/>
                  <a:ea typeface="Pretendard" panose="02000503000000020004" pitchFamily="50" charset="-127"/>
                  <a:cs typeface="Pretendard" panose="02000503000000020004" pitchFamily="50" charset="-127"/>
                </a:rPr>
                <a:t>시스템</a:t>
              </a:r>
              <a:endParaRPr lang="en-US" sz="1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5" name="Text 42"/>
            <p:cNvSpPr/>
            <p:nvPr/>
          </p:nvSpPr>
          <p:spPr>
            <a:xfrm>
              <a:off x="8298485" y="5554596"/>
              <a:ext cx="3271418" cy="425580"/>
            </a:xfrm>
            <a:prstGeom prst="rect">
              <a:avLst/>
            </a:prstGeom>
            <a:noFill/>
            <a:ln/>
          </p:spPr>
          <p:txBody>
            <a:bodyPr wrap="square" lIns="0" tIns="0" rIns="0" bIns="0" rtlCol="0" anchor="t"/>
            <a:lstStyle/>
            <a:p>
              <a:pPr algn="ctr"/>
              <a:r>
                <a:rPr lang="en-US" altLang="ko-KR" sz="1400" b="1" dirty="0">
                  <a:latin typeface="Pretendard" panose="02000503000000020004" pitchFamily="50" charset="-127"/>
                  <a:ea typeface="Pretendard" panose="02000503000000020004" pitchFamily="50" charset="-127"/>
                  <a:cs typeface="Pretendard" panose="02000503000000020004" pitchFamily="50" charset="-127"/>
                </a:rPr>
                <a:t>Java/Spring </a:t>
              </a:r>
              <a:r>
                <a:rPr lang="ko-KR" altLang="en-US" sz="1400" b="1" dirty="0">
                  <a:latin typeface="Pretendard" panose="02000503000000020004" pitchFamily="50" charset="-127"/>
                  <a:ea typeface="Pretendard" panose="02000503000000020004" pitchFamily="50" charset="-127"/>
                  <a:cs typeface="Pretendard" panose="02000503000000020004" pitchFamily="50" charset="-127"/>
                </a:rPr>
                <a:t>기반 </a:t>
              </a:r>
              <a:r>
                <a:rPr lang="ko-KR" altLang="en-US" sz="1400" b="1" dirty="0" err="1">
                  <a:latin typeface="Pretendard" panose="02000503000000020004" pitchFamily="50" charset="-127"/>
                  <a:ea typeface="Pretendard" panose="02000503000000020004" pitchFamily="50" charset="-127"/>
                  <a:cs typeface="Pretendard" panose="02000503000000020004" pitchFamily="50" charset="-127"/>
                </a:rPr>
                <a:t>재구현</a:t>
              </a:r>
              <a:endParaRPr lang="en-US" sz="1350" b="1"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6" name="Text 43"/>
            <p:cNvSpPr/>
            <p:nvPr/>
          </p:nvSpPr>
          <p:spPr>
            <a:xfrm>
              <a:off x="8298485" y="5797296"/>
              <a:ext cx="3271418" cy="365760"/>
            </a:xfrm>
            <a:prstGeom prst="rect">
              <a:avLst/>
            </a:prstGeom>
            <a:noFill/>
            <a:ln/>
          </p:spPr>
          <p:txBody>
            <a:bodyPr wrap="square" lIns="0" tIns="0" rIns="0" bIns="0" rtlCol="0" anchor="t"/>
            <a:lstStyle/>
            <a:p>
              <a:pPr marL="0" indent="0" algn="l">
                <a:buNone/>
              </a:pPr>
              <a:endParaRPr lang="en-US" sz="105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50" name="Text 21"/>
            <p:cNvSpPr/>
            <p:nvPr/>
          </p:nvSpPr>
          <p:spPr>
            <a:xfrm>
              <a:off x="457200" y="4270248"/>
              <a:ext cx="5486400" cy="201168"/>
            </a:xfrm>
            <a:prstGeom prst="rect">
              <a:avLst/>
            </a:prstGeom>
            <a:noFill/>
            <a:ln/>
          </p:spPr>
          <p:txBody>
            <a:bodyPr wrap="square" lIns="0" tIns="0" rIns="0" bIns="0" rtlCol="0" anchor="t"/>
            <a:lstStyle/>
            <a:p>
              <a:pPr marL="0" indent="0" algn="l">
                <a:buNone/>
              </a:pPr>
              <a:r>
                <a:rPr lang="en-US" sz="1000" b="1" kern="0" spc="200" dirty="0">
                  <a:solidFill>
                    <a:srgbClr val="1456F0"/>
                  </a:solidFill>
                  <a:latin typeface="Pretendard" panose="02000503000000020004" pitchFamily="50" charset="-127"/>
                  <a:ea typeface="Pretendard" panose="02000503000000020004" pitchFamily="50" charset="-127"/>
                  <a:cs typeface="Pretendard" panose="02000503000000020004" pitchFamily="50" charset="-127"/>
                </a:rPr>
                <a:t>OBJECTIVE</a:t>
              </a:r>
              <a:endParaRPr lang="en-US" sz="1000" dirty="0">
                <a:latin typeface="Pretendard" panose="02000503000000020004" pitchFamily="50" charset="-127"/>
                <a:ea typeface="Pretendard" panose="02000503000000020004" pitchFamily="50" charset="-127"/>
                <a:cs typeface="Pretendard" panose="02000503000000020004" pitchFamily="50" charset="-127"/>
              </a:endParaRPr>
            </a:p>
          </p:txBody>
        </p:sp>
      </p:grpSp>
      <p:sp>
        <p:nvSpPr>
          <p:cNvPr id="49" name="Text 20">
            <a:extLst>
              <a:ext uri="{FF2B5EF4-FFF2-40B4-BE49-F238E27FC236}">
                <a16:creationId xmlns:a16="http://schemas.microsoft.com/office/drawing/2014/main" id="{DCFE9A50-C47F-4166-BC8C-B0741817BCC2}"/>
              </a:ext>
            </a:extLst>
          </p:cNvPr>
          <p:cNvSpPr/>
          <p:nvPr/>
        </p:nvSpPr>
        <p:spPr>
          <a:xfrm>
            <a:off x="6388456" y="3596945"/>
            <a:ext cx="5181448" cy="164592"/>
          </a:xfrm>
          <a:prstGeom prst="rect">
            <a:avLst/>
          </a:prstGeom>
          <a:noFill/>
          <a:ln/>
        </p:spPr>
        <p:txBody>
          <a:bodyPr wrap="square" lIns="0" tIns="0" rIns="0" bIns="0" rtlCol="0" anchor="t"/>
          <a:lstStyle/>
          <a:p>
            <a:r>
              <a:rPr lang="en-US" sz="1200" b="1" dirty="0">
                <a:solidFill>
                  <a:srgbClr val="D9472B"/>
                </a:solidFill>
                <a:latin typeface="Pretendard" panose="02000503000000020004" pitchFamily="50" charset="-127"/>
                <a:ea typeface="Pretendard" panose="02000503000000020004" pitchFamily="50" charset="-127"/>
                <a:cs typeface="Pretendard" panose="02000503000000020004" pitchFamily="50" charset="-127"/>
              </a:rPr>
              <a:t>•  </a:t>
            </a:r>
            <a:r>
              <a:rPr lang="ko-KR" altLang="en-US" sz="1200" b="1" dirty="0">
                <a:latin typeface="Pretendard" panose="02000503000000020004" pitchFamily="50" charset="-127"/>
                <a:ea typeface="Pretendard" panose="02000503000000020004" pitchFamily="50" charset="-127"/>
                <a:cs typeface="Pretendard" panose="02000503000000020004" pitchFamily="50" charset="-127"/>
              </a:rPr>
              <a:t>시스템</a:t>
            </a:r>
            <a:r>
              <a:rPr lang="en-US" sz="1200" dirty="0">
                <a:solidFill>
                  <a:srgbClr val="45515E"/>
                </a:solidFill>
                <a:latin typeface="Pretendard" panose="02000503000000020004" pitchFamily="50" charset="-127"/>
                <a:ea typeface="Pretendard" panose="02000503000000020004" pitchFamily="50" charset="-127"/>
                <a:cs typeface="Pretendard" panose="02000503000000020004" pitchFamily="50" charset="-127"/>
              </a:rPr>
              <a:t> : </a:t>
            </a:r>
            <a:r>
              <a:rPr lang="ko-KR" altLang="en-US" sz="1200" b="1" dirty="0" err="1">
                <a:solidFill>
                  <a:srgbClr val="1456F0"/>
                </a:solidFill>
                <a:latin typeface="Pretendard" panose="02000503000000020004" pitchFamily="50" charset="-127"/>
                <a:ea typeface="Pretendard" panose="02000503000000020004" pitchFamily="50" charset="-127"/>
                <a:cs typeface="Pretendard" panose="02000503000000020004" pitchFamily="50" charset="-127"/>
              </a:rPr>
              <a:t>레거시</a:t>
            </a:r>
            <a:r>
              <a:rPr lang="ko-KR" altLang="en-US" sz="1200" b="1" dirty="0">
                <a:solidFill>
                  <a:srgbClr val="1456F0"/>
                </a:solidFill>
                <a:latin typeface="Pretendard" panose="02000503000000020004" pitchFamily="50" charset="-127"/>
                <a:ea typeface="Pretendard" panose="02000503000000020004" pitchFamily="50" charset="-127"/>
                <a:cs typeface="Pretendard" panose="02000503000000020004" pitchFamily="50" charset="-127"/>
              </a:rPr>
              <a:t> 구조</a:t>
            </a:r>
            <a:r>
              <a:rPr lang="ko-KR" altLang="en-US" sz="1200" dirty="0">
                <a:latin typeface="Pretendard" panose="02000503000000020004" pitchFamily="50" charset="-127"/>
                <a:ea typeface="Pretendard" panose="02000503000000020004" pitchFamily="50" charset="-127"/>
                <a:cs typeface="Pretendard" panose="02000503000000020004" pitchFamily="50" charset="-127"/>
              </a:rPr>
              <a:t>로 인한 유지보수 한계</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51" name="Shape 15">
            <a:extLst>
              <a:ext uri="{FF2B5EF4-FFF2-40B4-BE49-F238E27FC236}">
                <a16:creationId xmlns:a16="http://schemas.microsoft.com/office/drawing/2014/main" id="{3BA8D4D0-9033-40BE-B7AB-EA4F1B33CB85}"/>
              </a:ext>
            </a:extLst>
          </p:cNvPr>
          <p:cNvSpPr/>
          <p:nvPr/>
        </p:nvSpPr>
        <p:spPr>
          <a:xfrm>
            <a:off x="475488" y="2670048"/>
            <a:ext cx="64008" cy="1280160"/>
          </a:xfrm>
          <a:prstGeom prst="rect">
            <a:avLst/>
          </a:prstGeom>
          <a:solidFill>
            <a:srgbClr val="D9472B"/>
          </a:solidFill>
          <a:ln w="12700">
            <a:solidFill>
              <a:srgbClr val="D9472B"/>
            </a:solidFill>
            <a:prstDash val="solid"/>
          </a:ln>
        </p:spPr>
      </p:sp>
      <p:sp>
        <p:nvSpPr>
          <p:cNvPr id="47" name="Text 1">
            <a:extLst>
              <a:ext uri="{FF2B5EF4-FFF2-40B4-BE49-F238E27FC236}">
                <a16:creationId xmlns:a16="http://schemas.microsoft.com/office/drawing/2014/main" id="{34FE67D7-3672-4199-982E-4B83D2AC0524}"/>
              </a:ext>
            </a:extLst>
          </p:cNvPr>
          <p:cNvSpPr/>
          <p:nvPr/>
        </p:nvSpPr>
        <p:spPr>
          <a:xfrm>
            <a:off x="457200" y="6446520"/>
            <a:ext cx="2743200" cy="228600"/>
          </a:xfrm>
          <a:prstGeom prst="rect">
            <a:avLst/>
          </a:prstGeom>
          <a:noFill/>
          <a:ln/>
        </p:spPr>
        <p:txBody>
          <a:bodyPr wrap="square" lIns="0" tIns="0" rIns="0" bIns="0" rtlCol="0" anchor="ctr"/>
          <a:lstStyle/>
          <a:p>
            <a:pPr marL="0" indent="0" algn="l">
              <a:buNone/>
            </a:pPr>
            <a:r>
              <a:rPr lang="en-US" sz="10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03</a:t>
            </a:r>
            <a:endParaRPr lang="en-US" sz="1000" dirty="0">
              <a:latin typeface="Pretendard" panose="02000503000000020004" pitchFamily="50" charset="-127"/>
              <a:ea typeface="Pretendard" panose="02000503000000020004" pitchFamily="50" charset="-127"/>
              <a:cs typeface="Pretendard" panose="02000503000000020004" pitchFamily="50" charset="-127"/>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5486400" cy="274320"/>
          </a:xfrm>
          <a:prstGeom prst="rect">
            <a:avLst/>
          </a:prstGeom>
          <a:noFill/>
          <a:ln/>
        </p:spPr>
        <p:txBody>
          <a:bodyPr wrap="square" lIns="0" tIns="0" rIns="0" bIns="0" rtlCol="0" anchor="ctr"/>
          <a:lstStyle/>
          <a:p>
            <a:pPr marL="0" indent="0" algn="l">
              <a:buNone/>
            </a:pPr>
            <a:r>
              <a:rPr lang="en-US" sz="12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02. </a:t>
            </a:r>
            <a:r>
              <a:rPr lang="en-US" sz="1200" dirty="0" err="1">
                <a:solidFill>
                  <a:srgbClr val="8E8E93"/>
                </a:solidFill>
                <a:latin typeface="Pretendard" panose="02000503000000020004" pitchFamily="50" charset="-127"/>
                <a:ea typeface="Pretendard" panose="02000503000000020004" pitchFamily="50" charset="-127"/>
                <a:cs typeface="Pretendard" panose="02000503000000020004" pitchFamily="50" charset="-127"/>
              </a:rPr>
              <a:t>기존</a:t>
            </a:r>
            <a:r>
              <a:rPr lang="en-US" sz="12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 </a:t>
            </a:r>
            <a:r>
              <a:rPr lang="ko-KR" altLang="en-US" sz="12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서비스 한계</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pic>
        <p:nvPicPr>
          <p:cNvPr id="3" name="Image 0" descr="Woongjin_logo_transparent.png"/>
          <p:cNvPicPr>
            <a:picLocks noChangeAspect="1"/>
          </p:cNvPicPr>
          <p:nvPr/>
        </p:nvPicPr>
        <p:blipFill>
          <a:blip r:embed="rId3"/>
          <a:stretch>
            <a:fillRect/>
          </a:stretch>
        </p:blipFill>
        <p:spPr>
          <a:xfrm>
            <a:off x="10911535" y="262890"/>
            <a:ext cx="822960" cy="480060"/>
          </a:xfrm>
          <a:prstGeom prst="rect">
            <a:avLst/>
          </a:prstGeom>
        </p:spPr>
      </p:pic>
      <p:sp>
        <p:nvSpPr>
          <p:cNvPr id="4" name="Text 1"/>
          <p:cNvSpPr/>
          <p:nvPr/>
        </p:nvSpPr>
        <p:spPr>
          <a:xfrm>
            <a:off x="457200" y="6446520"/>
            <a:ext cx="2743200" cy="228600"/>
          </a:xfrm>
          <a:prstGeom prst="rect">
            <a:avLst/>
          </a:prstGeom>
          <a:noFill/>
          <a:ln/>
        </p:spPr>
        <p:txBody>
          <a:bodyPr wrap="square" lIns="0" tIns="0" rIns="0" bIns="0" rtlCol="0" anchor="ctr"/>
          <a:lstStyle/>
          <a:p>
            <a:pPr marL="0" indent="0" algn="l">
              <a:buNone/>
            </a:pPr>
            <a:r>
              <a:rPr lang="en-US" sz="10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04</a:t>
            </a:r>
            <a:endParaRPr lang="en-US" sz="1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6" name="Text 3"/>
          <p:cNvSpPr/>
          <p:nvPr/>
        </p:nvSpPr>
        <p:spPr>
          <a:xfrm>
            <a:off x="457200" y="914400"/>
            <a:ext cx="11277295" cy="685800"/>
          </a:xfrm>
          <a:prstGeom prst="rect">
            <a:avLst/>
          </a:prstGeom>
          <a:noFill/>
          <a:ln/>
        </p:spPr>
        <p:txBody>
          <a:bodyPr wrap="square" lIns="0" tIns="0" rIns="0" bIns="0" rtlCol="0" anchor="t"/>
          <a:lstStyle/>
          <a:p>
            <a:pPr marL="0" indent="0" algn="l">
              <a:buNone/>
            </a:pPr>
            <a:r>
              <a:rPr lang="en-US" sz="2400" b="1" kern="0" spc="-50" dirty="0" err="1">
                <a:solidFill>
                  <a:srgbClr val="222222"/>
                </a:solidFill>
                <a:latin typeface="Pretendard" panose="02000503000000020004" pitchFamily="50" charset="-127"/>
                <a:ea typeface="Pretendard" panose="02000503000000020004" pitchFamily="50" charset="-127"/>
                <a:cs typeface="Pretendard" panose="02000503000000020004" pitchFamily="50" charset="-127"/>
              </a:rPr>
              <a:t>기존</a:t>
            </a:r>
            <a:r>
              <a:rPr lang="en-US" sz="2400" b="1" kern="0" spc="-50"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 </a:t>
            </a:r>
            <a:r>
              <a:rPr lang="ko-KR" altLang="en-US" sz="2400" b="1" kern="0" spc="-50"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서비스</a:t>
            </a:r>
            <a:r>
              <a:rPr lang="en-US" sz="2400" b="1" kern="0" spc="-50"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의 </a:t>
            </a:r>
            <a:r>
              <a:rPr lang="en-US" sz="2400" b="1" kern="0" spc="-50" dirty="0" err="1">
                <a:solidFill>
                  <a:srgbClr val="222222"/>
                </a:solidFill>
                <a:latin typeface="Pretendard" panose="02000503000000020004" pitchFamily="50" charset="-127"/>
                <a:ea typeface="Pretendard" panose="02000503000000020004" pitchFamily="50" charset="-127"/>
                <a:cs typeface="Pretendard" panose="02000503000000020004" pitchFamily="50" charset="-127"/>
              </a:rPr>
              <a:t>한계점</a:t>
            </a:r>
            <a:r>
              <a:rPr lang="en-US" sz="2400" b="1" kern="0" spc="-50"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 - </a:t>
            </a:r>
            <a:r>
              <a:rPr lang="en-US" sz="2400" b="1" kern="0" spc="-50" dirty="0" err="1">
                <a:solidFill>
                  <a:srgbClr val="222222"/>
                </a:solidFill>
                <a:latin typeface="Pretendard" panose="02000503000000020004" pitchFamily="50" charset="-127"/>
                <a:ea typeface="Pretendard" panose="02000503000000020004" pitchFamily="50" charset="-127"/>
                <a:cs typeface="Pretendard" panose="02000503000000020004" pitchFamily="50" charset="-127"/>
              </a:rPr>
              <a:t>관리자</a:t>
            </a:r>
            <a:r>
              <a:rPr lang="en-US" sz="2400" b="1" kern="0" spc="-50"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 측면</a:t>
            </a:r>
            <a:endParaRPr lang="en-US" sz="24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7" name="Text 4"/>
          <p:cNvSpPr/>
          <p:nvPr/>
        </p:nvSpPr>
        <p:spPr>
          <a:xfrm>
            <a:off x="457199" y="1364742"/>
            <a:ext cx="11277295" cy="292608"/>
          </a:xfrm>
          <a:prstGeom prst="rect">
            <a:avLst/>
          </a:prstGeom>
          <a:noFill/>
          <a:ln/>
        </p:spPr>
        <p:txBody>
          <a:bodyPr wrap="square" lIns="0" tIns="0" rIns="0" bIns="0" rtlCol="0" anchor="t"/>
          <a:lstStyle/>
          <a:p>
            <a:r>
              <a:rPr lang="ko-KR" altLang="en-US" sz="1600" dirty="0">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rPr>
              <a:t>설문 관리 측면에서 관리자가 겪는 </a:t>
            </a:r>
            <a:r>
              <a:rPr lang="en-US" altLang="ko-KR" sz="1600" dirty="0">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rPr>
              <a:t>3</a:t>
            </a:r>
            <a:r>
              <a:rPr lang="ko-KR" altLang="en-US" sz="1600" dirty="0">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rPr>
              <a:t>가지 불편 요소</a:t>
            </a:r>
            <a:endParaRPr lang="en-US" altLang="ko-KR" sz="1600" dirty="0">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endParaRPr>
          </a:p>
        </p:txBody>
      </p:sp>
      <p:sp>
        <p:nvSpPr>
          <p:cNvPr id="8" name="Shape 5"/>
          <p:cNvSpPr/>
          <p:nvPr/>
        </p:nvSpPr>
        <p:spPr>
          <a:xfrm>
            <a:off x="304178" y="2227990"/>
            <a:ext cx="4999342" cy="4058510"/>
          </a:xfrm>
          <a:prstGeom prst="roundRect">
            <a:avLst>
              <a:gd name="adj" fmla="val 0"/>
            </a:avLst>
          </a:prstGeom>
          <a:solidFill>
            <a:srgbClr val="F8F9FB"/>
          </a:solidFill>
          <a:ln w="12700">
            <a:solidFill>
              <a:srgbClr val="E5E7EB"/>
            </a:solidFill>
            <a:prstDash val="solid"/>
          </a:ln>
          <a:effectLst>
            <a:outerShdw blurRad="76200" dist="25400" dir="5400000" algn="bl" rotWithShape="0">
              <a:srgbClr val="000000">
                <a:alpha val="8000"/>
              </a:srgbClr>
            </a:outerShdw>
          </a:effectLst>
        </p:spPr>
        <p:txBody>
          <a:bodyPr/>
          <a:lstStyle/>
          <a:p>
            <a:endParaRPr lang="ko-KR" altLang="en-US"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9" name="Shape 6"/>
          <p:cNvSpPr/>
          <p:nvPr/>
        </p:nvSpPr>
        <p:spPr>
          <a:xfrm>
            <a:off x="304178" y="1904870"/>
            <a:ext cx="4999342" cy="384048"/>
          </a:xfrm>
          <a:prstGeom prst="rect">
            <a:avLst/>
          </a:prstGeom>
          <a:solidFill>
            <a:srgbClr val="EEF0F3"/>
          </a:solidFill>
          <a:ln w="12700">
            <a:solidFill>
              <a:srgbClr val="E5E7EB"/>
            </a:solidFill>
            <a:prstDash val="solid"/>
          </a:ln>
        </p:spPr>
      </p:sp>
      <p:sp>
        <p:nvSpPr>
          <p:cNvPr id="10" name="Shape 7"/>
          <p:cNvSpPr/>
          <p:nvPr/>
        </p:nvSpPr>
        <p:spPr>
          <a:xfrm>
            <a:off x="384048" y="1984952"/>
            <a:ext cx="128016" cy="128016"/>
          </a:xfrm>
          <a:prstGeom prst="ellipse">
            <a:avLst/>
          </a:prstGeom>
          <a:solidFill>
            <a:srgbClr val="E0826B"/>
          </a:solidFill>
          <a:ln w="12700">
            <a:solidFill>
              <a:srgbClr val="E0826B"/>
            </a:solidFill>
            <a:prstDash val="solid"/>
          </a:ln>
        </p:spPr>
      </p:sp>
      <p:sp>
        <p:nvSpPr>
          <p:cNvPr id="11" name="Shape 8"/>
          <p:cNvSpPr/>
          <p:nvPr/>
        </p:nvSpPr>
        <p:spPr>
          <a:xfrm>
            <a:off x="566928" y="1984952"/>
            <a:ext cx="128016" cy="128016"/>
          </a:xfrm>
          <a:prstGeom prst="ellipse">
            <a:avLst/>
          </a:prstGeom>
          <a:solidFill>
            <a:srgbClr val="E3C66D"/>
          </a:solidFill>
          <a:ln w="12700">
            <a:solidFill>
              <a:srgbClr val="E3C66D"/>
            </a:solidFill>
            <a:prstDash val="solid"/>
          </a:ln>
        </p:spPr>
      </p:sp>
      <p:sp>
        <p:nvSpPr>
          <p:cNvPr id="12" name="Shape 9"/>
          <p:cNvSpPr/>
          <p:nvPr/>
        </p:nvSpPr>
        <p:spPr>
          <a:xfrm>
            <a:off x="749808" y="1984952"/>
            <a:ext cx="128016" cy="128016"/>
          </a:xfrm>
          <a:prstGeom prst="ellipse">
            <a:avLst/>
          </a:prstGeom>
          <a:solidFill>
            <a:srgbClr val="9DC97A"/>
          </a:solidFill>
          <a:ln w="12700">
            <a:solidFill>
              <a:srgbClr val="9DC97A"/>
            </a:solidFill>
            <a:prstDash val="solid"/>
          </a:ln>
        </p:spPr>
      </p:sp>
      <p:sp>
        <p:nvSpPr>
          <p:cNvPr id="15" name="Text 12"/>
          <p:cNvSpPr/>
          <p:nvPr/>
        </p:nvSpPr>
        <p:spPr>
          <a:xfrm>
            <a:off x="457200" y="3961298"/>
            <a:ext cx="4846320" cy="365760"/>
          </a:xfrm>
          <a:prstGeom prst="rect">
            <a:avLst/>
          </a:prstGeom>
          <a:noFill/>
          <a:ln/>
        </p:spPr>
        <p:txBody>
          <a:bodyPr wrap="square" lIns="0" tIns="0" rIns="0" bIns="0" rtlCol="0" anchor="ctr"/>
          <a:lstStyle/>
          <a:p>
            <a:pPr marL="0" indent="0" algn="ctr">
              <a:buNone/>
            </a:pPr>
            <a:r>
              <a:rPr lang="en-US" sz="1400" b="1" kern="0" spc="1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UI 화면 캡처 영역</a:t>
            </a:r>
            <a:endParaRPr lang="en-US" sz="14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6" name="Text 13"/>
          <p:cNvSpPr/>
          <p:nvPr/>
        </p:nvSpPr>
        <p:spPr>
          <a:xfrm>
            <a:off x="457200" y="3822192"/>
            <a:ext cx="4846320" cy="274320"/>
          </a:xfrm>
          <a:prstGeom prst="rect">
            <a:avLst/>
          </a:prstGeom>
          <a:noFill/>
          <a:ln/>
        </p:spPr>
        <p:txBody>
          <a:bodyPr wrap="square" lIns="0" tIns="0" rIns="0" bIns="0" rtlCol="0" anchor="ctr"/>
          <a:lstStyle/>
          <a:p>
            <a:pPr marL="0" indent="0" algn="ctr">
              <a:buNone/>
            </a:pPr>
            <a:endParaRPr lang="en-US" sz="1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8" name="Text 15"/>
          <p:cNvSpPr/>
          <p:nvPr/>
        </p:nvSpPr>
        <p:spPr>
          <a:xfrm>
            <a:off x="640080" y="5148072"/>
            <a:ext cx="777240" cy="274320"/>
          </a:xfrm>
          <a:prstGeom prst="rect">
            <a:avLst/>
          </a:prstGeom>
          <a:noFill/>
          <a:ln/>
        </p:spPr>
        <p:txBody>
          <a:bodyPr wrap="square" lIns="0" tIns="0" rIns="0" bIns="0" rtlCol="0" anchor="ctr"/>
          <a:lstStyle/>
          <a:p>
            <a:pPr marL="0" indent="0" algn="ctr">
              <a:buNone/>
            </a:pPr>
            <a:r>
              <a:rPr lang="en-US" sz="900" b="1" kern="0" spc="100" dirty="0">
                <a:solidFill>
                  <a:srgbClr val="FFFFFF"/>
                </a:solidFill>
                <a:latin typeface="Pretendard" panose="02000503000000020004" pitchFamily="50" charset="-127"/>
                <a:ea typeface="Pretendard" panose="02000503000000020004" pitchFamily="50" charset="-127"/>
                <a:cs typeface="Pretendard" panose="02000503000000020004" pitchFamily="50" charset="-127"/>
              </a:rPr>
              <a:t>BEFORE</a:t>
            </a:r>
            <a:endParaRPr lang="en-US" sz="9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1" name="Text 18"/>
          <p:cNvSpPr/>
          <p:nvPr/>
        </p:nvSpPr>
        <p:spPr>
          <a:xfrm>
            <a:off x="5577840" y="2249424"/>
            <a:ext cx="6156655" cy="292608"/>
          </a:xfrm>
          <a:prstGeom prst="rect">
            <a:avLst/>
          </a:prstGeom>
          <a:noFill/>
          <a:ln/>
        </p:spPr>
        <p:txBody>
          <a:bodyPr wrap="square" lIns="0" tIns="0" rIns="0" bIns="0" rtlCol="0" anchor="t"/>
          <a:lstStyle/>
          <a:p>
            <a:pPr marL="0" indent="0" algn="l">
              <a:buNone/>
            </a:pPr>
            <a:r>
              <a:rPr lang="ko-KR" altLang="en-US" sz="1600" b="1"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통계페이지에서 </a:t>
            </a:r>
            <a:r>
              <a:rPr lang="en-US" sz="1600" b="1" dirty="0" err="1">
                <a:solidFill>
                  <a:srgbClr val="222222"/>
                </a:solidFill>
                <a:latin typeface="Pretendard" panose="02000503000000020004" pitchFamily="50" charset="-127"/>
                <a:ea typeface="Pretendard" panose="02000503000000020004" pitchFamily="50" charset="-127"/>
                <a:cs typeface="Pretendard" panose="02000503000000020004" pitchFamily="50" charset="-127"/>
              </a:rPr>
              <a:t>관리자가</a:t>
            </a:r>
            <a:r>
              <a:rPr lang="en-US" sz="1600" b="1"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 겪는 3가지 불편</a:t>
            </a:r>
            <a:endParaRPr lang="en-US" sz="1600" dirty="0">
              <a:latin typeface="Pretendard" panose="02000503000000020004" pitchFamily="50" charset="-127"/>
              <a:ea typeface="Pretendard" panose="02000503000000020004" pitchFamily="50" charset="-127"/>
              <a:cs typeface="Pretendard" panose="02000503000000020004" pitchFamily="50" charset="-127"/>
            </a:endParaRPr>
          </a:p>
        </p:txBody>
      </p:sp>
      <p:grpSp>
        <p:nvGrpSpPr>
          <p:cNvPr id="14" name="그룹 13"/>
          <p:cNvGrpSpPr/>
          <p:nvPr/>
        </p:nvGrpSpPr>
        <p:grpSpPr>
          <a:xfrm>
            <a:off x="5577840" y="2615184"/>
            <a:ext cx="6156655" cy="1060704"/>
            <a:chOff x="5577840" y="2615184"/>
            <a:chExt cx="6156655" cy="1060704"/>
          </a:xfrm>
        </p:grpSpPr>
        <p:sp>
          <p:nvSpPr>
            <p:cNvPr id="22" name="Shape 19"/>
            <p:cNvSpPr/>
            <p:nvPr/>
          </p:nvSpPr>
          <p:spPr>
            <a:xfrm>
              <a:off x="5577840" y="2615184"/>
              <a:ext cx="6156655" cy="1051560"/>
            </a:xfrm>
            <a:prstGeom prst="roundRect">
              <a:avLst>
                <a:gd name="adj" fmla="val 11304"/>
              </a:avLst>
            </a:prstGeom>
            <a:solidFill>
              <a:srgbClr val="FFFFFF"/>
            </a:solidFill>
            <a:ln w="9525">
              <a:solidFill>
                <a:srgbClr val="E5E7EB"/>
              </a:solidFill>
              <a:prstDash val="solid"/>
            </a:ln>
            <a:effectLst>
              <a:outerShdw blurRad="76200" dist="25400" dir="5400000" algn="bl" rotWithShape="0">
                <a:srgbClr val="000000">
                  <a:alpha val="8000"/>
                </a:srgbClr>
              </a:outerShdw>
            </a:effectLst>
          </p:spPr>
        </p:sp>
        <p:sp>
          <p:nvSpPr>
            <p:cNvPr id="23" name="Shape 20"/>
            <p:cNvSpPr/>
            <p:nvPr/>
          </p:nvSpPr>
          <p:spPr>
            <a:xfrm>
              <a:off x="5577840" y="2615184"/>
              <a:ext cx="64008" cy="1051560"/>
            </a:xfrm>
            <a:prstGeom prst="rect">
              <a:avLst/>
            </a:prstGeom>
            <a:solidFill>
              <a:srgbClr val="D9472B"/>
            </a:solidFill>
            <a:ln w="12700">
              <a:solidFill>
                <a:srgbClr val="D9472B"/>
              </a:solidFill>
              <a:prstDash val="solid"/>
            </a:ln>
          </p:spPr>
        </p:sp>
        <p:sp>
          <p:nvSpPr>
            <p:cNvPr id="24" name="Text 21"/>
            <p:cNvSpPr/>
            <p:nvPr/>
          </p:nvSpPr>
          <p:spPr>
            <a:xfrm>
              <a:off x="5779008" y="2779776"/>
              <a:ext cx="457200" cy="274320"/>
            </a:xfrm>
            <a:prstGeom prst="rect">
              <a:avLst/>
            </a:prstGeom>
            <a:noFill/>
            <a:ln/>
          </p:spPr>
          <p:txBody>
            <a:bodyPr wrap="square" lIns="0" tIns="0" rIns="0" bIns="0" rtlCol="0" anchor="t"/>
            <a:lstStyle/>
            <a:p>
              <a:pPr marL="0" indent="0" algn="l">
                <a:buNone/>
              </a:pPr>
              <a:r>
                <a:rPr lang="en-US" sz="1200" b="1" dirty="0">
                  <a:solidFill>
                    <a:srgbClr val="D9472B"/>
                  </a:solidFill>
                  <a:latin typeface="Pretendard" panose="02000503000000020004" pitchFamily="50" charset="-127"/>
                  <a:ea typeface="Pretendard" panose="02000503000000020004" pitchFamily="50" charset="-127"/>
                  <a:cs typeface="Pretendard" panose="02000503000000020004" pitchFamily="50" charset="-127"/>
                </a:rPr>
                <a:t>01</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7" name="Text 24"/>
            <p:cNvSpPr/>
            <p:nvPr/>
          </p:nvSpPr>
          <p:spPr>
            <a:xfrm>
              <a:off x="5779008" y="3026664"/>
              <a:ext cx="5790895" cy="292608"/>
            </a:xfrm>
            <a:prstGeom prst="rect">
              <a:avLst/>
            </a:prstGeom>
            <a:noFill/>
            <a:ln/>
          </p:spPr>
          <p:txBody>
            <a:bodyPr wrap="square" lIns="0" tIns="0" rIns="0" bIns="0" rtlCol="0" anchor="t"/>
            <a:lstStyle/>
            <a:p>
              <a:r>
                <a:rPr lang="ko-KR" altLang="en-US" sz="1400" b="1" dirty="0">
                  <a:latin typeface="Pretendard" panose="02000503000000020004" pitchFamily="50" charset="-127"/>
                  <a:ea typeface="Pretendard" panose="02000503000000020004" pitchFamily="50" charset="-127"/>
                  <a:cs typeface="Pretendard" panose="02000503000000020004" pitchFamily="50" charset="-127"/>
                </a:rPr>
                <a:t>설문 진행 현황 파악 어려움</a:t>
              </a:r>
              <a:endParaRPr lang="en-US" sz="14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8" name="Text 25"/>
            <p:cNvSpPr/>
            <p:nvPr/>
          </p:nvSpPr>
          <p:spPr>
            <a:xfrm>
              <a:off x="5779008" y="3401568"/>
              <a:ext cx="5790895" cy="274320"/>
            </a:xfrm>
            <a:prstGeom prst="rect">
              <a:avLst/>
            </a:prstGeom>
            <a:noFill/>
            <a:ln/>
          </p:spPr>
          <p:txBody>
            <a:bodyPr wrap="square" lIns="0" tIns="0" rIns="0" bIns="0" rtlCol="0" anchor="t"/>
            <a:lstStyle/>
            <a:p>
              <a:r>
                <a:rPr lang="en-US" altLang="ko-KR" sz="1200" b="1" dirty="0">
                  <a:solidFill>
                    <a:srgbClr val="D9472B"/>
                  </a:solidFill>
                  <a:latin typeface="Pretendard" panose="02000503000000020004" pitchFamily="50" charset="-127"/>
                  <a:ea typeface="Pretendard" panose="02000503000000020004" pitchFamily="50" charset="-127"/>
                  <a:cs typeface="Pretendard" panose="02000503000000020004" pitchFamily="50" charset="-127"/>
                </a:rPr>
                <a:t>• </a:t>
              </a:r>
              <a:r>
                <a:rPr lang="ko-KR" altLang="en-US" sz="1200" dirty="0">
                  <a:latin typeface="Pretendard" panose="02000503000000020004" pitchFamily="50" charset="-127"/>
                  <a:ea typeface="Pretendard" panose="02000503000000020004" pitchFamily="50" charset="-127"/>
                  <a:cs typeface="Pretendard" panose="02000503000000020004" pitchFamily="50" charset="-127"/>
                </a:rPr>
                <a:t>응답률</a:t>
              </a:r>
              <a:r>
                <a:rPr lang="en-US" altLang="ko-KR" sz="1200" dirty="0">
                  <a:latin typeface="Pretendard" panose="02000503000000020004" pitchFamily="50" charset="-127"/>
                  <a:ea typeface="Pretendard" panose="02000503000000020004" pitchFamily="50" charset="-127"/>
                  <a:cs typeface="Pretendard" panose="02000503000000020004" pitchFamily="50" charset="-127"/>
                </a:rPr>
                <a:t>, </a:t>
              </a:r>
              <a:r>
                <a:rPr lang="ko-KR" altLang="en-US" sz="1200" dirty="0">
                  <a:latin typeface="Pretendard" panose="02000503000000020004" pitchFamily="50" charset="-127"/>
                  <a:ea typeface="Pretendard" panose="02000503000000020004" pitchFamily="50" charset="-127"/>
                  <a:cs typeface="Pretendard" panose="02000503000000020004" pitchFamily="50" charset="-127"/>
                </a:rPr>
                <a:t>미응답자 수와 같은 정보가 제공되지 않아 설문 진행 상황을 정확히 파악하기 어려움</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grpSp>
      <p:grpSp>
        <p:nvGrpSpPr>
          <p:cNvPr id="17" name="그룹 16"/>
          <p:cNvGrpSpPr/>
          <p:nvPr/>
        </p:nvGrpSpPr>
        <p:grpSpPr>
          <a:xfrm>
            <a:off x="5577840" y="3831336"/>
            <a:ext cx="6156655" cy="1051560"/>
            <a:chOff x="5577840" y="3831336"/>
            <a:chExt cx="6156655" cy="1051560"/>
          </a:xfrm>
        </p:grpSpPr>
        <p:sp>
          <p:nvSpPr>
            <p:cNvPr id="29" name="Shape 26"/>
            <p:cNvSpPr/>
            <p:nvPr/>
          </p:nvSpPr>
          <p:spPr>
            <a:xfrm>
              <a:off x="5577840" y="3831336"/>
              <a:ext cx="6156655" cy="1051560"/>
            </a:xfrm>
            <a:prstGeom prst="roundRect">
              <a:avLst>
                <a:gd name="adj" fmla="val 11304"/>
              </a:avLst>
            </a:prstGeom>
            <a:solidFill>
              <a:srgbClr val="FFFFFF"/>
            </a:solidFill>
            <a:ln w="9525">
              <a:solidFill>
                <a:srgbClr val="E5E7EB"/>
              </a:solidFill>
              <a:prstDash val="solid"/>
            </a:ln>
            <a:effectLst>
              <a:outerShdw blurRad="76200" dist="25400" dir="5400000" algn="bl" rotWithShape="0">
                <a:srgbClr val="000000">
                  <a:alpha val="8000"/>
                </a:srgbClr>
              </a:outerShdw>
            </a:effectLst>
          </p:spPr>
        </p:sp>
        <p:sp>
          <p:nvSpPr>
            <p:cNvPr id="30" name="Shape 27"/>
            <p:cNvSpPr/>
            <p:nvPr/>
          </p:nvSpPr>
          <p:spPr>
            <a:xfrm>
              <a:off x="5577840" y="3831336"/>
              <a:ext cx="64008" cy="1051560"/>
            </a:xfrm>
            <a:prstGeom prst="rect">
              <a:avLst/>
            </a:prstGeom>
            <a:solidFill>
              <a:srgbClr val="D9472B"/>
            </a:solidFill>
            <a:ln w="12700">
              <a:solidFill>
                <a:srgbClr val="D9472B"/>
              </a:solidFill>
              <a:prstDash val="solid"/>
            </a:ln>
          </p:spPr>
        </p:sp>
        <p:sp>
          <p:nvSpPr>
            <p:cNvPr id="31" name="Text 28"/>
            <p:cNvSpPr/>
            <p:nvPr/>
          </p:nvSpPr>
          <p:spPr>
            <a:xfrm>
              <a:off x="5779008" y="3995928"/>
              <a:ext cx="457200" cy="274320"/>
            </a:xfrm>
            <a:prstGeom prst="rect">
              <a:avLst/>
            </a:prstGeom>
            <a:noFill/>
            <a:ln/>
          </p:spPr>
          <p:txBody>
            <a:bodyPr wrap="square" lIns="0" tIns="0" rIns="0" bIns="0" rtlCol="0" anchor="t"/>
            <a:lstStyle/>
            <a:p>
              <a:pPr marL="0" indent="0" algn="l">
                <a:buNone/>
              </a:pPr>
              <a:r>
                <a:rPr lang="en-US" sz="1200" b="1" dirty="0">
                  <a:solidFill>
                    <a:srgbClr val="D9472B"/>
                  </a:solidFill>
                  <a:latin typeface="Pretendard" panose="02000503000000020004" pitchFamily="50" charset="-127"/>
                  <a:ea typeface="Pretendard" panose="02000503000000020004" pitchFamily="50" charset="-127"/>
                  <a:cs typeface="Pretendard" panose="02000503000000020004" pitchFamily="50" charset="-127"/>
                </a:rPr>
                <a:t>02</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4" name="Text 31"/>
            <p:cNvSpPr/>
            <p:nvPr/>
          </p:nvSpPr>
          <p:spPr>
            <a:xfrm>
              <a:off x="5779008" y="4233477"/>
              <a:ext cx="5790895" cy="292608"/>
            </a:xfrm>
            <a:prstGeom prst="rect">
              <a:avLst/>
            </a:prstGeom>
            <a:noFill/>
            <a:ln/>
          </p:spPr>
          <p:txBody>
            <a:bodyPr wrap="square" lIns="0" tIns="0" rIns="0" bIns="0" rtlCol="0" anchor="t"/>
            <a:lstStyle/>
            <a:p>
              <a:r>
                <a:rPr lang="ko-KR" altLang="en-US" sz="1400" b="1" dirty="0">
                  <a:latin typeface="Pretendard" panose="02000503000000020004" pitchFamily="50" charset="-127"/>
                  <a:ea typeface="Pretendard" panose="02000503000000020004" pitchFamily="50" charset="-127"/>
                  <a:cs typeface="Pretendard" panose="02000503000000020004" pitchFamily="50" charset="-127"/>
                </a:rPr>
                <a:t>응답 결과의 시각적인 파악 어려움</a:t>
              </a:r>
              <a:endParaRPr lang="en-US" sz="1400" b="1"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5" name="Text 32"/>
            <p:cNvSpPr/>
            <p:nvPr/>
          </p:nvSpPr>
          <p:spPr>
            <a:xfrm>
              <a:off x="5779008" y="4550794"/>
              <a:ext cx="5790895" cy="274320"/>
            </a:xfrm>
            <a:prstGeom prst="rect">
              <a:avLst/>
            </a:prstGeom>
            <a:noFill/>
            <a:ln/>
          </p:spPr>
          <p:txBody>
            <a:bodyPr wrap="square" lIns="0" tIns="0" rIns="0" bIns="0" rtlCol="0" anchor="t"/>
            <a:lstStyle/>
            <a:p>
              <a:r>
                <a:rPr lang="en-US" altLang="ko-KR" sz="1200" b="1" dirty="0">
                  <a:solidFill>
                    <a:srgbClr val="D9472B"/>
                  </a:solidFill>
                  <a:latin typeface="Pretendard" panose="02000503000000020004" pitchFamily="50" charset="-127"/>
                  <a:ea typeface="Pretendard" panose="02000503000000020004" pitchFamily="50" charset="-127"/>
                  <a:cs typeface="Pretendard" panose="02000503000000020004" pitchFamily="50" charset="-127"/>
                </a:rPr>
                <a:t>• </a:t>
              </a:r>
              <a:r>
                <a:rPr lang="ko-KR" altLang="en-US" sz="1200" dirty="0">
                  <a:latin typeface="Pretendard" panose="02000503000000020004" pitchFamily="50" charset="-127"/>
                  <a:ea typeface="Pretendard" panose="02000503000000020004" pitchFamily="50" charset="-127"/>
                  <a:cs typeface="Pretendard" panose="02000503000000020004" pitchFamily="50" charset="-127"/>
                </a:rPr>
                <a:t>텍스트 형태로 제공된 문항 응답 분포를 직관적으로 파악하기 어려움</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grpSp>
      <p:grpSp>
        <p:nvGrpSpPr>
          <p:cNvPr id="19" name="그룹 18"/>
          <p:cNvGrpSpPr/>
          <p:nvPr/>
        </p:nvGrpSpPr>
        <p:grpSpPr>
          <a:xfrm>
            <a:off x="5577840" y="5047488"/>
            <a:ext cx="6156655" cy="1060704"/>
            <a:chOff x="5577840" y="5047488"/>
            <a:chExt cx="6156655" cy="1060704"/>
          </a:xfrm>
        </p:grpSpPr>
        <p:sp>
          <p:nvSpPr>
            <p:cNvPr id="36" name="Shape 33"/>
            <p:cNvSpPr/>
            <p:nvPr/>
          </p:nvSpPr>
          <p:spPr>
            <a:xfrm>
              <a:off x="5577840" y="5047488"/>
              <a:ext cx="6156655" cy="1051560"/>
            </a:xfrm>
            <a:prstGeom prst="roundRect">
              <a:avLst>
                <a:gd name="adj" fmla="val 11304"/>
              </a:avLst>
            </a:prstGeom>
            <a:solidFill>
              <a:srgbClr val="FFFFFF"/>
            </a:solidFill>
            <a:ln w="9525">
              <a:solidFill>
                <a:srgbClr val="E5E7EB"/>
              </a:solidFill>
              <a:prstDash val="solid"/>
            </a:ln>
            <a:effectLst>
              <a:outerShdw blurRad="76200" dist="25400" dir="5400000" algn="bl" rotWithShape="0">
                <a:srgbClr val="000000">
                  <a:alpha val="8000"/>
                </a:srgbClr>
              </a:outerShdw>
            </a:effectLst>
          </p:spPr>
        </p:sp>
        <p:sp>
          <p:nvSpPr>
            <p:cNvPr id="37" name="Shape 34"/>
            <p:cNvSpPr/>
            <p:nvPr/>
          </p:nvSpPr>
          <p:spPr>
            <a:xfrm>
              <a:off x="5577840" y="5047488"/>
              <a:ext cx="64008" cy="1051560"/>
            </a:xfrm>
            <a:prstGeom prst="rect">
              <a:avLst/>
            </a:prstGeom>
            <a:solidFill>
              <a:srgbClr val="D9472B"/>
            </a:solidFill>
            <a:ln w="12700">
              <a:solidFill>
                <a:srgbClr val="D9472B"/>
              </a:solidFill>
              <a:prstDash val="solid"/>
            </a:ln>
          </p:spPr>
        </p:sp>
        <p:sp>
          <p:nvSpPr>
            <p:cNvPr id="38" name="Text 35"/>
            <p:cNvSpPr/>
            <p:nvPr/>
          </p:nvSpPr>
          <p:spPr>
            <a:xfrm>
              <a:off x="5779008" y="5212080"/>
              <a:ext cx="457200" cy="274320"/>
            </a:xfrm>
            <a:prstGeom prst="rect">
              <a:avLst/>
            </a:prstGeom>
            <a:noFill/>
            <a:ln/>
          </p:spPr>
          <p:txBody>
            <a:bodyPr wrap="square" lIns="0" tIns="0" rIns="0" bIns="0" rtlCol="0" anchor="t"/>
            <a:lstStyle/>
            <a:p>
              <a:pPr marL="0" indent="0" algn="l">
                <a:buNone/>
              </a:pPr>
              <a:r>
                <a:rPr lang="en-US" sz="1200" b="1" dirty="0">
                  <a:solidFill>
                    <a:srgbClr val="D9472B"/>
                  </a:solidFill>
                  <a:latin typeface="Pretendard" panose="02000503000000020004" pitchFamily="50" charset="-127"/>
                  <a:ea typeface="Pretendard" panose="02000503000000020004" pitchFamily="50" charset="-127"/>
                  <a:cs typeface="Pretendard" panose="02000503000000020004" pitchFamily="50" charset="-127"/>
                </a:rPr>
                <a:t>03</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1" name="Text 38"/>
            <p:cNvSpPr/>
            <p:nvPr/>
          </p:nvSpPr>
          <p:spPr>
            <a:xfrm>
              <a:off x="5779008" y="5426964"/>
              <a:ext cx="5790895" cy="292608"/>
            </a:xfrm>
            <a:prstGeom prst="rect">
              <a:avLst/>
            </a:prstGeom>
            <a:noFill/>
            <a:ln/>
          </p:spPr>
          <p:txBody>
            <a:bodyPr wrap="square" lIns="0" tIns="0" rIns="0" bIns="0" rtlCol="0" anchor="t"/>
            <a:lstStyle/>
            <a:p>
              <a:r>
                <a:rPr lang="ko-KR" altLang="en-US" sz="1400" b="1" dirty="0">
                  <a:latin typeface="Pretendard" panose="02000503000000020004" pitchFamily="50" charset="-127"/>
                  <a:ea typeface="Pretendard" panose="02000503000000020004" pitchFamily="50" charset="-127"/>
                  <a:cs typeface="Pretendard" panose="02000503000000020004" pitchFamily="50" charset="-127"/>
                </a:rPr>
                <a:t>엑셀 다운로드 이력 관리 부재</a:t>
              </a:r>
              <a:r>
                <a:rPr lang="ko-KR" altLang="en-US" sz="1400" dirty="0">
                  <a:latin typeface="Pretendard" panose="02000503000000020004" pitchFamily="50" charset="-127"/>
                  <a:ea typeface="Pretendard" panose="02000503000000020004" pitchFamily="50" charset="-127"/>
                  <a:cs typeface="Pretendard" panose="02000503000000020004" pitchFamily="50" charset="-127"/>
                </a:rPr>
                <a:t> </a:t>
              </a:r>
              <a:endParaRPr lang="en-US" sz="14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2" name="Text 39"/>
            <p:cNvSpPr/>
            <p:nvPr/>
          </p:nvSpPr>
          <p:spPr>
            <a:xfrm>
              <a:off x="5779008" y="5833872"/>
              <a:ext cx="5790895" cy="274320"/>
            </a:xfrm>
            <a:prstGeom prst="rect">
              <a:avLst/>
            </a:prstGeom>
            <a:noFill/>
            <a:ln/>
          </p:spPr>
          <p:txBody>
            <a:bodyPr wrap="square" lIns="0" tIns="0" rIns="0" bIns="0" rtlCol="0" anchor="t"/>
            <a:lstStyle/>
            <a:p>
              <a:r>
                <a:rPr lang="en-US" altLang="ko-KR" sz="1200" b="1" dirty="0">
                  <a:solidFill>
                    <a:srgbClr val="D9472B"/>
                  </a:solidFill>
                  <a:latin typeface="Pretendard" panose="02000503000000020004" pitchFamily="50" charset="-127"/>
                  <a:ea typeface="Pretendard" panose="02000503000000020004" pitchFamily="50" charset="-127"/>
                  <a:cs typeface="Pretendard" panose="02000503000000020004" pitchFamily="50" charset="-127"/>
                </a:rPr>
                <a:t>• </a:t>
              </a:r>
              <a:r>
                <a:rPr lang="ko-KR" altLang="en-US" sz="1200" dirty="0">
                  <a:latin typeface="Pretendard" panose="02000503000000020004" pitchFamily="50" charset="-127"/>
                  <a:ea typeface="Pretendard" panose="02000503000000020004" pitchFamily="50" charset="-127"/>
                  <a:cs typeface="Pretendard" panose="02000503000000020004" pitchFamily="50" charset="-127"/>
                </a:rPr>
                <a:t>통계 파일 다운로드 이력이 남지 않아 추적성 한계 </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grpSp>
      <p:sp>
        <p:nvSpPr>
          <p:cNvPr id="43" name="Text 17">
            <a:extLst>
              <a:ext uri="{FF2B5EF4-FFF2-40B4-BE49-F238E27FC236}">
                <a16:creationId xmlns:a16="http://schemas.microsoft.com/office/drawing/2014/main" id="{17FA2E85-F28A-42DB-997E-598CA4ACF1A2}"/>
              </a:ext>
            </a:extLst>
          </p:cNvPr>
          <p:cNvSpPr/>
          <p:nvPr/>
        </p:nvSpPr>
        <p:spPr>
          <a:xfrm>
            <a:off x="5577840" y="2039112"/>
            <a:ext cx="6156655" cy="201168"/>
          </a:xfrm>
          <a:prstGeom prst="rect">
            <a:avLst/>
          </a:prstGeom>
          <a:noFill/>
          <a:ln/>
        </p:spPr>
        <p:txBody>
          <a:bodyPr wrap="square" lIns="0" tIns="0" rIns="0" bIns="0" rtlCol="0" anchor="t"/>
          <a:lstStyle/>
          <a:p>
            <a:pPr marL="0" indent="0" algn="l">
              <a:buNone/>
            </a:pPr>
            <a:r>
              <a:rPr lang="en-US" sz="1000" b="1" kern="0" spc="200" dirty="0">
                <a:solidFill>
                  <a:srgbClr val="D9472B"/>
                </a:solidFill>
                <a:latin typeface="Pretendard" panose="02000503000000020004" pitchFamily="50" charset="-127"/>
                <a:ea typeface="Pretendard" panose="02000503000000020004" pitchFamily="50" charset="-127"/>
                <a:cs typeface="Pretendard" panose="02000503000000020004" pitchFamily="50" charset="-127"/>
              </a:rPr>
              <a:t>Problem</a:t>
            </a:r>
            <a:endParaRPr lang="en-US" sz="1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9" name="Shape 10">
            <a:extLst>
              <a:ext uri="{FF2B5EF4-FFF2-40B4-BE49-F238E27FC236}">
                <a16:creationId xmlns:a16="http://schemas.microsoft.com/office/drawing/2014/main" id="{518A9E28-3925-479E-ABE1-67E734A7217D}"/>
              </a:ext>
            </a:extLst>
          </p:cNvPr>
          <p:cNvSpPr/>
          <p:nvPr/>
        </p:nvSpPr>
        <p:spPr>
          <a:xfrm>
            <a:off x="1011935" y="1968223"/>
            <a:ext cx="4259580" cy="237727"/>
          </a:xfrm>
          <a:prstGeom prst="roundRect">
            <a:avLst>
              <a:gd name="adj" fmla="val 20000"/>
            </a:avLst>
          </a:prstGeom>
          <a:solidFill>
            <a:srgbClr val="FFFFFF"/>
          </a:solidFill>
          <a:ln w="6350">
            <a:solidFill>
              <a:srgbClr val="E5E7EB"/>
            </a:solidFill>
            <a:prstDash val="solid"/>
          </a:ln>
        </p:spPr>
      </p:sp>
      <p:sp>
        <p:nvSpPr>
          <p:cNvPr id="40" name="Text 11">
            <a:extLst>
              <a:ext uri="{FF2B5EF4-FFF2-40B4-BE49-F238E27FC236}">
                <a16:creationId xmlns:a16="http://schemas.microsoft.com/office/drawing/2014/main" id="{BDC84961-1EE7-4F49-ABDA-E36F431DCF73}"/>
              </a:ext>
            </a:extLst>
          </p:cNvPr>
          <p:cNvSpPr/>
          <p:nvPr/>
        </p:nvSpPr>
        <p:spPr>
          <a:xfrm>
            <a:off x="1057655" y="2004800"/>
            <a:ext cx="4183516" cy="182880"/>
          </a:xfrm>
          <a:prstGeom prst="rect">
            <a:avLst/>
          </a:prstGeom>
          <a:noFill/>
          <a:ln/>
        </p:spPr>
        <p:txBody>
          <a:bodyPr wrap="square" lIns="0" tIns="0" rIns="0" bIns="0" rtlCol="0" anchor="ctr"/>
          <a:lstStyle/>
          <a:p>
            <a:pPr marL="0" indent="0" algn="l">
              <a:buNone/>
            </a:pPr>
            <a:r>
              <a:rPr lang="en-US" sz="900" dirty="0" err="1">
                <a:solidFill>
                  <a:srgbClr val="8E8E93"/>
                </a:solidFill>
                <a:latin typeface="Pretendard" panose="02000503000000020004" pitchFamily="50" charset="-127"/>
                <a:ea typeface="Pretendard" panose="02000503000000020004" pitchFamily="50" charset="-127"/>
                <a:cs typeface="Pretendard" panose="02000503000000020004" pitchFamily="50" charset="-127"/>
              </a:rPr>
              <a:t>설문</a:t>
            </a:r>
            <a:r>
              <a:rPr lang="en-US" sz="9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 </a:t>
            </a:r>
            <a:r>
              <a:rPr lang="ko-KR" altLang="en-US" sz="9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통계 </a:t>
            </a:r>
            <a:r>
              <a:rPr lang="en-US" sz="9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 화면 — </a:t>
            </a:r>
            <a:r>
              <a:rPr lang="ko-KR" altLang="en-US" sz="9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기존</a:t>
            </a:r>
            <a:endParaRPr lang="en-US" sz="900" dirty="0">
              <a:latin typeface="Pretendard" panose="02000503000000020004" pitchFamily="50" charset="-127"/>
              <a:ea typeface="Pretendard" panose="02000503000000020004" pitchFamily="50" charset="-127"/>
              <a:cs typeface="Pretendard" panose="02000503000000020004" pitchFamily="50" charset="-127"/>
            </a:endParaRPr>
          </a:p>
        </p:txBody>
      </p:sp>
      <p:pic>
        <p:nvPicPr>
          <p:cNvPr id="44" name="그림 43">
            <a:extLst>
              <a:ext uri="{FF2B5EF4-FFF2-40B4-BE49-F238E27FC236}">
                <a16:creationId xmlns:a16="http://schemas.microsoft.com/office/drawing/2014/main" id="{C405CFDD-2A81-48E3-98C8-AF917414877B}"/>
              </a:ext>
            </a:extLst>
          </p:cNvPr>
          <p:cNvPicPr>
            <a:picLocks noChangeAspect="1"/>
          </p:cNvPicPr>
          <p:nvPr/>
        </p:nvPicPr>
        <p:blipFill>
          <a:blip r:embed="rId4"/>
          <a:stretch>
            <a:fillRect/>
          </a:stretch>
        </p:blipFill>
        <p:spPr>
          <a:xfrm>
            <a:off x="336182" y="2310956"/>
            <a:ext cx="4935333" cy="3953505"/>
          </a:xfrm>
          <a:prstGeom prst="roundRect">
            <a:avLst>
              <a:gd name="adj" fmla="val 2465"/>
            </a:avLst>
          </a:prstGeom>
        </p:spPr>
      </p:pic>
      <p:sp>
        <p:nvSpPr>
          <p:cNvPr id="20" name="직사각형 19"/>
          <p:cNvSpPr/>
          <p:nvPr/>
        </p:nvSpPr>
        <p:spPr>
          <a:xfrm>
            <a:off x="566928" y="3401568"/>
            <a:ext cx="4674243" cy="694944"/>
          </a:xfrm>
          <a:prstGeom prst="rect">
            <a:avLst/>
          </a:prstGeom>
          <a:noFill/>
          <a:ln w="44450" cmpd="sng">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5486400" cy="274320"/>
          </a:xfrm>
          <a:prstGeom prst="rect">
            <a:avLst/>
          </a:prstGeom>
          <a:noFill/>
          <a:ln/>
        </p:spPr>
        <p:txBody>
          <a:bodyPr wrap="square" lIns="0" tIns="0" rIns="0" bIns="0" rtlCol="0" anchor="ctr"/>
          <a:lstStyle/>
          <a:p>
            <a:pPr marL="0" indent="0" algn="l">
              <a:buNone/>
            </a:pPr>
            <a:r>
              <a:rPr lang="en-US" sz="12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02. </a:t>
            </a:r>
            <a:r>
              <a:rPr lang="en-US" sz="1200" dirty="0" err="1">
                <a:solidFill>
                  <a:srgbClr val="8E8E93"/>
                </a:solidFill>
                <a:latin typeface="Pretendard" panose="02000503000000020004" pitchFamily="50" charset="-127"/>
                <a:ea typeface="Pretendard" panose="02000503000000020004" pitchFamily="50" charset="-127"/>
                <a:cs typeface="Pretendard" panose="02000503000000020004" pitchFamily="50" charset="-127"/>
              </a:rPr>
              <a:t>기존</a:t>
            </a:r>
            <a:r>
              <a:rPr lang="en-US" sz="12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 </a:t>
            </a:r>
            <a:r>
              <a:rPr lang="ko-KR" altLang="en-US" sz="12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서비스 한계</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pic>
        <p:nvPicPr>
          <p:cNvPr id="3" name="Image 0" descr="Woongjin_logo_transparent.png"/>
          <p:cNvPicPr>
            <a:picLocks noChangeAspect="1"/>
          </p:cNvPicPr>
          <p:nvPr/>
        </p:nvPicPr>
        <p:blipFill>
          <a:blip r:embed="rId3"/>
          <a:stretch>
            <a:fillRect/>
          </a:stretch>
        </p:blipFill>
        <p:spPr>
          <a:xfrm>
            <a:off x="10911535" y="262890"/>
            <a:ext cx="822960" cy="480060"/>
          </a:xfrm>
          <a:prstGeom prst="rect">
            <a:avLst/>
          </a:prstGeom>
        </p:spPr>
      </p:pic>
      <p:sp>
        <p:nvSpPr>
          <p:cNvPr id="4" name="Text 1"/>
          <p:cNvSpPr/>
          <p:nvPr/>
        </p:nvSpPr>
        <p:spPr>
          <a:xfrm>
            <a:off x="457200" y="6446520"/>
            <a:ext cx="2743200" cy="228600"/>
          </a:xfrm>
          <a:prstGeom prst="rect">
            <a:avLst/>
          </a:prstGeom>
          <a:noFill/>
          <a:ln/>
        </p:spPr>
        <p:txBody>
          <a:bodyPr wrap="square" lIns="0" tIns="0" rIns="0" bIns="0" rtlCol="0" anchor="ctr"/>
          <a:lstStyle/>
          <a:p>
            <a:pPr marL="0" indent="0" algn="l">
              <a:buNone/>
            </a:pPr>
            <a:r>
              <a:rPr lang="en-US" sz="10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05</a:t>
            </a:r>
            <a:endParaRPr lang="en-US" sz="1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6" name="Text 3"/>
          <p:cNvSpPr/>
          <p:nvPr/>
        </p:nvSpPr>
        <p:spPr>
          <a:xfrm>
            <a:off x="457200" y="914400"/>
            <a:ext cx="11277295" cy="685800"/>
          </a:xfrm>
          <a:prstGeom prst="rect">
            <a:avLst/>
          </a:prstGeom>
          <a:noFill/>
          <a:ln/>
        </p:spPr>
        <p:txBody>
          <a:bodyPr wrap="square" lIns="0" tIns="0" rIns="0" bIns="0" rtlCol="0" anchor="t"/>
          <a:lstStyle/>
          <a:p>
            <a:pPr marL="0" indent="0" algn="l">
              <a:buNone/>
            </a:pPr>
            <a:r>
              <a:rPr lang="en-US" sz="2400" b="1" kern="0" spc="-50" dirty="0" err="1">
                <a:solidFill>
                  <a:srgbClr val="222222"/>
                </a:solidFill>
                <a:latin typeface="Pretendard" panose="02000503000000020004" pitchFamily="50" charset="-127"/>
                <a:ea typeface="Pretendard" panose="02000503000000020004" pitchFamily="50" charset="-127"/>
                <a:cs typeface="Pretendard" panose="02000503000000020004" pitchFamily="50" charset="-127"/>
              </a:rPr>
              <a:t>기존</a:t>
            </a:r>
            <a:r>
              <a:rPr lang="en-US" sz="2400" b="1" kern="0" spc="-50"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 </a:t>
            </a:r>
            <a:r>
              <a:rPr lang="ko-KR" altLang="en-US" sz="2400" b="1" kern="0" spc="-50"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서비스</a:t>
            </a:r>
            <a:r>
              <a:rPr lang="en-US" sz="2400" b="1" kern="0" spc="-50"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의 </a:t>
            </a:r>
            <a:r>
              <a:rPr lang="en-US" sz="2400" b="1" kern="0" spc="-50" dirty="0" err="1">
                <a:solidFill>
                  <a:srgbClr val="222222"/>
                </a:solidFill>
                <a:latin typeface="Pretendard" panose="02000503000000020004" pitchFamily="50" charset="-127"/>
                <a:ea typeface="Pretendard" panose="02000503000000020004" pitchFamily="50" charset="-127"/>
                <a:cs typeface="Pretendard" panose="02000503000000020004" pitchFamily="50" charset="-127"/>
              </a:rPr>
              <a:t>한계점</a:t>
            </a:r>
            <a:r>
              <a:rPr lang="en-US" sz="2400" b="1" kern="0" spc="-50"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 - 사용자 측면</a:t>
            </a:r>
            <a:endParaRPr lang="en-US" sz="24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7" name="Text 4"/>
          <p:cNvSpPr/>
          <p:nvPr/>
        </p:nvSpPr>
        <p:spPr>
          <a:xfrm>
            <a:off x="457199" y="1394460"/>
            <a:ext cx="11277295" cy="292608"/>
          </a:xfrm>
          <a:prstGeom prst="rect">
            <a:avLst/>
          </a:prstGeom>
          <a:noFill/>
          <a:ln/>
        </p:spPr>
        <p:txBody>
          <a:bodyPr wrap="square" lIns="0" tIns="0" rIns="0" bIns="0" rtlCol="0" anchor="t"/>
          <a:lstStyle/>
          <a:p>
            <a:r>
              <a:rPr lang="ko-KR" altLang="en-US" sz="1600" dirty="0">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rPr>
              <a:t>설문 응답 과정에서 사용자가 겪는 </a:t>
            </a:r>
            <a:r>
              <a:rPr lang="en-US" altLang="ko-KR" sz="1600" dirty="0">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rPr>
              <a:t>3</a:t>
            </a:r>
            <a:r>
              <a:rPr lang="ko-KR" altLang="en-US" sz="1600" dirty="0">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rPr>
              <a:t>가지 불편 요소</a:t>
            </a:r>
            <a:endParaRPr lang="en-US" sz="1600" dirty="0">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endParaRPr>
          </a:p>
        </p:txBody>
      </p:sp>
      <p:sp>
        <p:nvSpPr>
          <p:cNvPr id="8" name="Shape 5"/>
          <p:cNvSpPr/>
          <p:nvPr/>
        </p:nvSpPr>
        <p:spPr>
          <a:xfrm>
            <a:off x="352424" y="2112264"/>
            <a:ext cx="5006338" cy="3995928"/>
          </a:xfrm>
          <a:prstGeom prst="roundRect">
            <a:avLst>
              <a:gd name="adj" fmla="val 4051"/>
            </a:avLst>
          </a:prstGeom>
          <a:solidFill>
            <a:srgbClr val="F8F9FB"/>
          </a:solidFill>
          <a:ln w="12700">
            <a:solidFill>
              <a:srgbClr val="E5E7EB"/>
            </a:solidFill>
            <a:prstDash val="solid"/>
          </a:ln>
          <a:effectLst>
            <a:outerShdw blurRad="76200" dist="25400" dir="5400000" algn="bl" rotWithShape="0">
              <a:srgbClr val="000000">
                <a:alpha val="8000"/>
              </a:srgbClr>
            </a:outerShdw>
          </a:effectLst>
        </p:spPr>
      </p:sp>
      <p:sp>
        <p:nvSpPr>
          <p:cNvPr id="9" name="Shape 6"/>
          <p:cNvSpPr/>
          <p:nvPr/>
        </p:nvSpPr>
        <p:spPr>
          <a:xfrm>
            <a:off x="352424" y="1998946"/>
            <a:ext cx="5010149" cy="292608"/>
          </a:xfrm>
          <a:prstGeom prst="rect">
            <a:avLst/>
          </a:prstGeom>
          <a:solidFill>
            <a:srgbClr val="EEF0F3"/>
          </a:solidFill>
          <a:ln w="12700">
            <a:solidFill>
              <a:srgbClr val="E5E7EB"/>
            </a:solidFill>
            <a:prstDash val="solid"/>
          </a:ln>
        </p:spPr>
      </p:sp>
      <p:sp>
        <p:nvSpPr>
          <p:cNvPr id="10" name="Shape 7"/>
          <p:cNvSpPr/>
          <p:nvPr/>
        </p:nvSpPr>
        <p:spPr>
          <a:xfrm>
            <a:off x="413008" y="2077975"/>
            <a:ext cx="128016" cy="128016"/>
          </a:xfrm>
          <a:prstGeom prst="ellipse">
            <a:avLst/>
          </a:prstGeom>
          <a:solidFill>
            <a:srgbClr val="E0826B"/>
          </a:solidFill>
          <a:ln w="12700">
            <a:solidFill>
              <a:srgbClr val="E0826B"/>
            </a:solidFill>
            <a:prstDash val="solid"/>
          </a:ln>
        </p:spPr>
      </p:sp>
      <p:sp>
        <p:nvSpPr>
          <p:cNvPr id="11" name="Shape 8"/>
          <p:cNvSpPr/>
          <p:nvPr/>
        </p:nvSpPr>
        <p:spPr>
          <a:xfrm>
            <a:off x="595888" y="2077975"/>
            <a:ext cx="128016" cy="128016"/>
          </a:xfrm>
          <a:prstGeom prst="ellipse">
            <a:avLst/>
          </a:prstGeom>
          <a:solidFill>
            <a:srgbClr val="E3C66D"/>
          </a:solidFill>
          <a:ln w="12700">
            <a:solidFill>
              <a:srgbClr val="E3C66D"/>
            </a:solidFill>
            <a:prstDash val="solid"/>
          </a:ln>
        </p:spPr>
      </p:sp>
      <p:sp>
        <p:nvSpPr>
          <p:cNvPr id="12" name="Shape 9"/>
          <p:cNvSpPr/>
          <p:nvPr/>
        </p:nvSpPr>
        <p:spPr>
          <a:xfrm>
            <a:off x="778768" y="2077975"/>
            <a:ext cx="128016" cy="128016"/>
          </a:xfrm>
          <a:prstGeom prst="ellipse">
            <a:avLst/>
          </a:prstGeom>
          <a:solidFill>
            <a:srgbClr val="9DC97A"/>
          </a:solidFill>
          <a:ln w="12700">
            <a:solidFill>
              <a:srgbClr val="9DC97A"/>
            </a:solidFill>
            <a:prstDash val="solid"/>
          </a:ln>
        </p:spPr>
      </p:sp>
      <p:sp>
        <p:nvSpPr>
          <p:cNvPr id="15" name="Text 12"/>
          <p:cNvSpPr/>
          <p:nvPr/>
        </p:nvSpPr>
        <p:spPr>
          <a:xfrm>
            <a:off x="457200" y="3860616"/>
            <a:ext cx="4846320" cy="365760"/>
          </a:xfrm>
          <a:prstGeom prst="rect">
            <a:avLst/>
          </a:prstGeom>
          <a:noFill/>
          <a:ln/>
        </p:spPr>
        <p:txBody>
          <a:bodyPr wrap="square" lIns="0" tIns="0" rIns="0" bIns="0" rtlCol="0" anchor="ctr"/>
          <a:lstStyle/>
          <a:p>
            <a:pPr marL="0" indent="0" algn="ctr">
              <a:buNone/>
            </a:pPr>
            <a:r>
              <a:rPr lang="en-US" sz="1400" b="1" kern="0" spc="1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UI 화면 캡처 영역</a:t>
            </a:r>
            <a:endParaRPr lang="en-US" sz="14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6" name="Text 13"/>
          <p:cNvSpPr/>
          <p:nvPr/>
        </p:nvSpPr>
        <p:spPr>
          <a:xfrm>
            <a:off x="457200" y="3895344"/>
            <a:ext cx="4846320" cy="274320"/>
          </a:xfrm>
          <a:prstGeom prst="rect">
            <a:avLst/>
          </a:prstGeom>
          <a:noFill/>
          <a:ln/>
        </p:spPr>
        <p:txBody>
          <a:bodyPr wrap="square" lIns="0" tIns="0" rIns="0" bIns="0" rtlCol="0" anchor="ctr"/>
          <a:lstStyle/>
          <a:p>
            <a:pPr marL="0" indent="0" algn="ctr">
              <a:buNone/>
            </a:pPr>
            <a:endParaRPr lang="en-US" sz="1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0" name="Text 17"/>
          <p:cNvSpPr/>
          <p:nvPr/>
        </p:nvSpPr>
        <p:spPr>
          <a:xfrm>
            <a:off x="5577840" y="1998946"/>
            <a:ext cx="6156655" cy="201168"/>
          </a:xfrm>
          <a:prstGeom prst="rect">
            <a:avLst/>
          </a:prstGeom>
          <a:noFill/>
          <a:ln/>
        </p:spPr>
        <p:txBody>
          <a:bodyPr wrap="square" lIns="0" tIns="0" rIns="0" bIns="0" rtlCol="0" anchor="t"/>
          <a:lstStyle/>
          <a:p>
            <a:pPr marL="0" indent="0" algn="l">
              <a:buNone/>
            </a:pPr>
            <a:r>
              <a:rPr lang="en-US" sz="1000" b="1" kern="0" spc="200" dirty="0">
                <a:solidFill>
                  <a:srgbClr val="D9472B"/>
                </a:solidFill>
                <a:latin typeface="Pretendard" panose="02000503000000020004" pitchFamily="50" charset="-127"/>
                <a:ea typeface="Pretendard" panose="02000503000000020004" pitchFamily="50" charset="-127"/>
                <a:cs typeface="Pretendard" panose="02000503000000020004" pitchFamily="50" charset="-127"/>
              </a:rPr>
              <a:t>Problem</a:t>
            </a:r>
            <a:endParaRPr lang="en-US" sz="1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1" name="Text 18"/>
          <p:cNvSpPr/>
          <p:nvPr/>
        </p:nvSpPr>
        <p:spPr>
          <a:xfrm>
            <a:off x="5577840" y="2208276"/>
            <a:ext cx="6156655" cy="292608"/>
          </a:xfrm>
          <a:prstGeom prst="rect">
            <a:avLst/>
          </a:prstGeom>
          <a:noFill/>
          <a:ln/>
        </p:spPr>
        <p:txBody>
          <a:bodyPr wrap="square" lIns="0" tIns="0" rIns="0" bIns="0" rtlCol="0" anchor="t"/>
          <a:lstStyle/>
          <a:p>
            <a:pPr marL="0" indent="0" algn="l">
              <a:buNone/>
            </a:pPr>
            <a:r>
              <a:rPr lang="ko-KR" altLang="en-US" sz="1600" b="1"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설문 </a:t>
            </a:r>
            <a:r>
              <a:rPr lang="en-US" sz="1600" b="1" dirty="0" err="1">
                <a:solidFill>
                  <a:srgbClr val="222222"/>
                </a:solidFill>
                <a:latin typeface="Pretendard" panose="02000503000000020004" pitchFamily="50" charset="-127"/>
                <a:ea typeface="Pretendard" panose="02000503000000020004" pitchFamily="50" charset="-127"/>
                <a:cs typeface="Pretendard" panose="02000503000000020004" pitchFamily="50" charset="-127"/>
              </a:rPr>
              <a:t>응답</a:t>
            </a:r>
            <a:r>
              <a:rPr lang="en-US" sz="1600" b="1"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 </a:t>
            </a:r>
            <a:r>
              <a:rPr lang="en-US" sz="1600" b="1" dirty="0" err="1">
                <a:solidFill>
                  <a:srgbClr val="222222"/>
                </a:solidFill>
                <a:latin typeface="Pretendard" panose="02000503000000020004" pitchFamily="50" charset="-127"/>
                <a:ea typeface="Pretendard" panose="02000503000000020004" pitchFamily="50" charset="-127"/>
                <a:cs typeface="Pretendard" panose="02000503000000020004" pitchFamily="50" charset="-127"/>
              </a:rPr>
              <a:t>과정에서</a:t>
            </a:r>
            <a:r>
              <a:rPr lang="en-US" sz="1600" b="1"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 사용자가 </a:t>
            </a:r>
            <a:r>
              <a:rPr lang="en-US" sz="1600" b="1" dirty="0" err="1">
                <a:solidFill>
                  <a:srgbClr val="222222"/>
                </a:solidFill>
                <a:latin typeface="Pretendard" panose="02000503000000020004" pitchFamily="50" charset="-127"/>
                <a:ea typeface="Pretendard" panose="02000503000000020004" pitchFamily="50" charset="-127"/>
                <a:cs typeface="Pretendard" panose="02000503000000020004" pitchFamily="50" charset="-127"/>
              </a:rPr>
              <a:t>겪는</a:t>
            </a:r>
            <a:r>
              <a:rPr lang="en-US" sz="1600" b="1"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 3가지 불편</a:t>
            </a:r>
            <a:endParaRPr lang="en-US" sz="1600" dirty="0">
              <a:latin typeface="Pretendard" panose="02000503000000020004" pitchFamily="50" charset="-127"/>
              <a:ea typeface="Pretendard" panose="02000503000000020004" pitchFamily="50" charset="-127"/>
              <a:cs typeface="Pretendard" panose="02000503000000020004" pitchFamily="50" charset="-127"/>
            </a:endParaRPr>
          </a:p>
        </p:txBody>
      </p:sp>
      <p:pic>
        <p:nvPicPr>
          <p:cNvPr id="18" name="그림 17">
            <a:extLst>
              <a:ext uri="{FF2B5EF4-FFF2-40B4-BE49-F238E27FC236}">
                <a16:creationId xmlns:a16="http://schemas.microsoft.com/office/drawing/2014/main" id="{A9B0A036-D014-4B86-8C98-52239C0A2520}"/>
              </a:ext>
            </a:extLst>
          </p:cNvPr>
          <p:cNvPicPr>
            <a:picLocks noChangeAspect="1"/>
          </p:cNvPicPr>
          <p:nvPr/>
        </p:nvPicPr>
        <p:blipFill>
          <a:blip r:embed="rId4"/>
          <a:stretch>
            <a:fillRect/>
          </a:stretch>
        </p:blipFill>
        <p:spPr>
          <a:xfrm>
            <a:off x="388618" y="2334900"/>
            <a:ext cx="4916807" cy="3764148"/>
          </a:xfrm>
          <a:prstGeom prst="roundRect">
            <a:avLst>
              <a:gd name="adj" fmla="val 2040"/>
            </a:avLst>
          </a:prstGeom>
        </p:spPr>
      </p:pic>
      <p:sp>
        <p:nvSpPr>
          <p:cNvPr id="47" name="Shape 10">
            <a:extLst>
              <a:ext uri="{FF2B5EF4-FFF2-40B4-BE49-F238E27FC236}">
                <a16:creationId xmlns:a16="http://schemas.microsoft.com/office/drawing/2014/main" id="{93B50E5C-368C-4093-B8E4-633211903B3A}"/>
              </a:ext>
            </a:extLst>
          </p:cNvPr>
          <p:cNvSpPr/>
          <p:nvPr/>
        </p:nvSpPr>
        <p:spPr>
          <a:xfrm>
            <a:off x="1045845" y="2034956"/>
            <a:ext cx="4259580" cy="256597"/>
          </a:xfrm>
          <a:prstGeom prst="roundRect">
            <a:avLst>
              <a:gd name="adj" fmla="val 20000"/>
            </a:avLst>
          </a:prstGeom>
          <a:solidFill>
            <a:srgbClr val="FFFFFF"/>
          </a:solidFill>
          <a:ln w="6350">
            <a:solidFill>
              <a:srgbClr val="E5E7EB"/>
            </a:solidFill>
            <a:prstDash val="solid"/>
          </a:ln>
        </p:spPr>
      </p:sp>
      <p:sp>
        <p:nvSpPr>
          <p:cNvPr id="50" name="Text 11">
            <a:extLst>
              <a:ext uri="{FF2B5EF4-FFF2-40B4-BE49-F238E27FC236}">
                <a16:creationId xmlns:a16="http://schemas.microsoft.com/office/drawing/2014/main" id="{8B02CFF7-3B7D-4444-A244-AEA1FAA689EE}"/>
              </a:ext>
            </a:extLst>
          </p:cNvPr>
          <p:cNvSpPr/>
          <p:nvPr/>
        </p:nvSpPr>
        <p:spPr>
          <a:xfrm>
            <a:off x="1091565" y="2071533"/>
            <a:ext cx="4183516" cy="182880"/>
          </a:xfrm>
          <a:prstGeom prst="rect">
            <a:avLst/>
          </a:prstGeom>
          <a:noFill/>
          <a:ln/>
        </p:spPr>
        <p:txBody>
          <a:bodyPr wrap="square" lIns="0" tIns="0" rIns="0" bIns="0" rtlCol="0" anchor="ctr"/>
          <a:lstStyle/>
          <a:p>
            <a:pPr marL="0" indent="0" algn="l">
              <a:buNone/>
            </a:pPr>
            <a:r>
              <a:rPr lang="en-US" sz="9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설문 응답 화면 — </a:t>
            </a:r>
            <a:r>
              <a:rPr lang="ko-KR" altLang="en-US" sz="9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기존</a:t>
            </a:r>
            <a:endParaRPr lang="en-US" sz="9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0" name="Shape 19">
            <a:extLst>
              <a:ext uri="{FF2B5EF4-FFF2-40B4-BE49-F238E27FC236}">
                <a16:creationId xmlns:a16="http://schemas.microsoft.com/office/drawing/2014/main" id="{EA894835-3950-4CD5-B7B1-744FE421EBA2}"/>
              </a:ext>
            </a:extLst>
          </p:cNvPr>
          <p:cNvSpPr/>
          <p:nvPr/>
        </p:nvSpPr>
        <p:spPr>
          <a:xfrm>
            <a:off x="5577840" y="2672334"/>
            <a:ext cx="6156655" cy="1223010"/>
          </a:xfrm>
          <a:prstGeom prst="roundRect">
            <a:avLst>
              <a:gd name="adj" fmla="val 11304"/>
            </a:avLst>
          </a:prstGeom>
          <a:solidFill>
            <a:srgbClr val="FFFFFF"/>
          </a:solidFill>
          <a:ln w="9525">
            <a:solidFill>
              <a:srgbClr val="E5E7EB"/>
            </a:solidFill>
            <a:prstDash val="solid"/>
          </a:ln>
          <a:effectLst>
            <a:outerShdw blurRad="76200" dist="25400" dir="5400000" algn="bl" rotWithShape="0">
              <a:srgbClr val="000000">
                <a:alpha val="8000"/>
              </a:srgbClr>
            </a:outerShdw>
          </a:effectLst>
        </p:spPr>
      </p:sp>
      <p:sp>
        <p:nvSpPr>
          <p:cNvPr id="46" name="Shape 20">
            <a:extLst>
              <a:ext uri="{FF2B5EF4-FFF2-40B4-BE49-F238E27FC236}">
                <a16:creationId xmlns:a16="http://schemas.microsoft.com/office/drawing/2014/main" id="{61A170D3-C99D-4CA4-8717-5AED7112550A}"/>
              </a:ext>
            </a:extLst>
          </p:cNvPr>
          <p:cNvSpPr/>
          <p:nvPr/>
        </p:nvSpPr>
        <p:spPr>
          <a:xfrm>
            <a:off x="5582412" y="2672334"/>
            <a:ext cx="64008" cy="1165860"/>
          </a:xfrm>
          <a:prstGeom prst="rect">
            <a:avLst/>
          </a:prstGeom>
          <a:solidFill>
            <a:srgbClr val="D9472B"/>
          </a:solidFill>
          <a:ln w="12700">
            <a:solidFill>
              <a:srgbClr val="D9472B"/>
            </a:solidFill>
            <a:prstDash val="solid"/>
          </a:ln>
        </p:spPr>
      </p:sp>
      <p:sp>
        <p:nvSpPr>
          <p:cNvPr id="51" name="Text 21">
            <a:extLst>
              <a:ext uri="{FF2B5EF4-FFF2-40B4-BE49-F238E27FC236}">
                <a16:creationId xmlns:a16="http://schemas.microsoft.com/office/drawing/2014/main" id="{9CAA5A19-311E-48B8-81D2-E32B4B294173}"/>
              </a:ext>
            </a:extLst>
          </p:cNvPr>
          <p:cNvSpPr/>
          <p:nvPr/>
        </p:nvSpPr>
        <p:spPr>
          <a:xfrm>
            <a:off x="5779008" y="2779776"/>
            <a:ext cx="457200" cy="274320"/>
          </a:xfrm>
          <a:prstGeom prst="rect">
            <a:avLst/>
          </a:prstGeom>
          <a:noFill/>
          <a:ln/>
        </p:spPr>
        <p:txBody>
          <a:bodyPr wrap="square" lIns="0" tIns="0" rIns="0" bIns="0" rtlCol="0" anchor="t"/>
          <a:lstStyle/>
          <a:p>
            <a:pPr marL="0" indent="0" algn="l">
              <a:buNone/>
            </a:pPr>
            <a:r>
              <a:rPr lang="en-US" sz="1200" b="1" dirty="0">
                <a:solidFill>
                  <a:srgbClr val="D9472B"/>
                </a:solidFill>
                <a:latin typeface="Pretendard" panose="02000503000000020004" pitchFamily="50" charset="-127"/>
                <a:ea typeface="Pretendard" panose="02000503000000020004" pitchFamily="50" charset="-127"/>
                <a:cs typeface="Pretendard" panose="02000503000000020004" pitchFamily="50" charset="-127"/>
              </a:rPr>
              <a:t>01</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52" name="Text 24">
            <a:extLst>
              <a:ext uri="{FF2B5EF4-FFF2-40B4-BE49-F238E27FC236}">
                <a16:creationId xmlns:a16="http://schemas.microsoft.com/office/drawing/2014/main" id="{CC7EEF24-47A4-4D8A-A8D3-0ADB0960EC78}"/>
              </a:ext>
            </a:extLst>
          </p:cNvPr>
          <p:cNvSpPr/>
          <p:nvPr/>
        </p:nvSpPr>
        <p:spPr>
          <a:xfrm>
            <a:off x="5779008" y="3026664"/>
            <a:ext cx="5790895" cy="292608"/>
          </a:xfrm>
          <a:prstGeom prst="rect">
            <a:avLst/>
          </a:prstGeom>
          <a:noFill/>
          <a:ln/>
        </p:spPr>
        <p:txBody>
          <a:bodyPr wrap="square" lIns="0" tIns="0" rIns="0" bIns="0" rtlCol="0" anchor="t"/>
          <a:lstStyle/>
          <a:p>
            <a:r>
              <a:rPr lang="ko-KR" altLang="en-US" sz="1400" b="1" dirty="0">
                <a:latin typeface="Pretendard" panose="02000503000000020004" pitchFamily="50" charset="-127"/>
                <a:ea typeface="Pretendard" panose="02000503000000020004" pitchFamily="50" charset="-127"/>
                <a:cs typeface="Pretendard" panose="02000503000000020004" pitchFamily="50" charset="-127"/>
              </a:rPr>
              <a:t>응답 화면이 직관적이지 않음</a:t>
            </a:r>
            <a:endParaRPr lang="en-US" sz="1400" b="1"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53" name="Text 25">
            <a:extLst>
              <a:ext uri="{FF2B5EF4-FFF2-40B4-BE49-F238E27FC236}">
                <a16:creationId xmlns:a16="http://schemas.microsoft.com/office/drawing/2014/main" id="{993FCE5F-33E7-4A39-BF34-AB926048651E}"/>
              </a:ext>
            </a:extLst>
          </p:cNvPr>
          <p:cNvSpPr/>
          <p:nvPr/>
        </p:nvSpPr>
        <p:spPr>
          <a:xfrm>
            <a:off x="5779008" y="3319077"/>
            <a:ext cx="2375947" cy="274320"/>
          </a:xfrm>
          <a:prstGeom prst="rect">
            <a:avLst/>
          </a:prstGeom>
          <a:noFill/>
          <a:ln/>
        </p:spPr>
        <p:txBody>
          <a:bodyPr wrap="square" lIns="0" tIns="0" rIns="0" bIns="0" rtlCol="0" anchor="t"/>
          <a:lstStyle/>
          <a:p>
            <a:r>
              <a:rPr lang="en-US" altLang="ko-KR" sz="1200" b="1" dirty="0">
                <a:solidFill>
                  <a:srgbClr val="D9472B"/>
                </a:solidFill>
                <a:latin typeface="Pretendard" panose="02000503000000020004" pitchFamily="50" charset="-127"/>
                <a:ea typeface="Pretendard" panose="02000503000000020004" pitchFamily="50" charset="-127"/>
                <a:cs typeface="Pretendard" panose="02000503000000020004" pitchFamily="50" charset="-127"/>
              </a:rPr>
              <a:t>• </a:t>
            </a:r>
            <a:r>
              <a:rPr lang="ko-KR" altLang="en-US" sz="1200" dirty="0">
                <a:latin typeface="Pretendard" panose="02000503000000020004" pitchFamily="50" charset="-127"/>
                <a:ea typeface="Pretendard" panose="02000503000000020004" pitchFamily="50" charset="-127"/>
                <a:cs typeface="Pretendard" panose="02000503000000020004" pitchFamily="50" charset="-127"/>
              </a:rPr>
              <a:t>문항 유형별 응답 방식 구분이 어려움</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67" name="Text 25">
            <a:extLst>
              <a:ext uri="{FF2B5EF4-FFF2-40B4-BE49-F238E27FC236}">
                <a16:creationId xmlns:a16="http://schemas.microsoft.com/office/drawing/2014/main" id="{EE73FF01-D532-46ED-8AC3-739346357406}"/>
              </a:ext>
            </a:extLst>
          </p:cNvPr>
          <p:cNvSpPr/>
          <p:nvPr/>
        </p:nvSpPr>
        <p:spPr>
          <a:xfrm>
            <a:off x="5779008" y="3570537"/>
            <a:ext cx="2915394" cy="274320"/>
          </a:xfrm>
          <a:prstGeom prst="rect">
            <a:avLst/>
          </a:prstGeom>
          <a:noFill/>
          <a:ln/>
        </p:spPr>
        <p:txBody>
          <a:bodyPr wrap="square" lIns="0" tIns="0" rIns="0" bIns="0" rtlCol="0" anchor="t"/>
          <a:lstStyle/>
          <a:p>
            <a:r>
              <a:rPr lang="en-US" altLang="ko-KR" sz="1200" b="1" dirty="0">
                <a:solidFill>
                  <a:srgbClr val="D9472B"/>
                </a:solidFill>
                <a:latin typeface="Pretendard" panose="02000503000000020004" pitchFamily="50" charset="-127"/>
                <a:ea typeface="Pretendard" panose="02000503000000020004" pitchFamily="50" charset="-127"/>
                <a:cs typeface="Pretendard" panose="02000503000000020004" pitchFamily="50" charset="-127"/>
              </a:rPr>
              <a:t>• </a:t>
            </a:r>
            <a:r>
              <a:rPr lang="ko-KR" altLang="en-US" sz="1200" dirty="0">
                <a:latin typeface="Pretendard" panose="02000503000000020004" pitchFamily="50" charset="-127"/>
                <a:ea typeface="Pretendard" panose="02000503000000020004" pitchFamily="50" charset="-127"/>
                <a:cs typeface="Pretendard" panose="02000503000000020004" pitchFamily="50" charset="-127"/>
              </a:rPr>
              <a:t>조건에 따라 이어지는 문항 흐름 파악이 어려움</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68" name="Shape 19">
            <a:extLst>
              <a:ext uri="{FF2B5EF4-FFF2-40B4-BE49-F238E27FC236}">
                <a16:creationId xmlns:a16="http://schemas.microsoft.com/office/drawing/2014/main" id="{068C9880-28BF-4704-930B-3C2C0869F68F}"/>
              </a:ext>
            </a:extLst>
          </p:cNvPr>
          <p:cNvSpPr/>
          <p:nvPr/>
        </p:nvSpPr>
        <p:spPr>
          <a:xfrm>
            <a:off x="5577839" y="3987755"/>
            <a:ext cx="6156655" cy="1001463"/>
          </a:xfrm>
          <a:prstGeom prst="roundRect">
            <a:avLst>
              <a:gd name="adj" fmla="val 11304"/>
            </a:avLst>
          </a:prstGeom>
          <a:solidFill>
            <a:srgbClr val="FFFFFF"/>
          </a:solidFill>
          <a:ln w="9525">
            <a:solidFill>
              <a:srgbClr val="E5E7EB"/>
            </a:solidFill>
            <a:prstDash val="solid"/>
          </a:ln>
          <a:effectLst>
            <a:outerShdw blurRad="76200" dist="25400" dir="5400000" algn="bl" rotWithShape="0">
              <a:srgbClr val="000000">
                <a:alpha val="8000"/>
              </a:srgbClr>
            </a:outerShdw>
          </a:effectLst>
        </p:spPr>
      </p:sp>
      <p:sp>
        <p:nvSpPr>
          <p:cNvPr id="70" name="Text 21">
            <a:extLst>
              <a:ext uri="{FF2B5EF4-FFF2-40B4-BE49-F238E27FC236}">
                <a16:creationId xmlns:a16="http://schemas.microsoft.com/office/drawing/2014/main" id="{8F862882-08E4-4998-90D4-F9148D09FBEB}"/>
              </a:ext>
            </a:extLst>
          </p:cNvPr>
          <p:cNvSpPr/>
          <p:nvPr/>
        </p:nvSpPr>
        <p:spPr>
          <a:xfrm>
            <a:off x="5779008" y="4066599"/>
            <a:ext cx="457200" cy="274320"/>
          </a:xfrm>
          <a:prstGeom prst="rect">
            <a:avLst/>
          </a:prstGeom>
          <a:noFill/>
          <a:ln/>
        </p:spPr>
        <p:txBody>
          <a:bodyPr wrap="square" lIns="0" tIns="0" rIns="0" bIns="0" rtlCol="0" anchor="t"/>
          <a:lstStyle/>
          <a:p>
            <a:pPr marL="0" indent="0" algn="l">
              <a:buNone/>
            </a:pPr>
            <a:r>
              <a:rPr lang="en-US" sz="1200" b="1" dirty="0">
                <a:solidFill>
                  <a:srgbClr val="D9472B"/>
                </a:solidFill>
                <a:latin typeface="Pretendard" panose="02000503000000020004" pitchFamily="50" charset="-127"/>
                <a:ea typeface="Pretendard" panose="02000503000000020004" pitchFamily="50" charset="-127"/>
                <a:cs typeface="Pretendard" panose="02000503000000020004" pitchFamily="50" charset="-127"/>
              </a:rPr>
              <a:t>02</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71" name="Text 24">
            <a:extLst>
              <a:ext uri="{FF2B5EF4-FFF2-40B4-BE49-F238E27FC236}">
                <a16:creationId xmlns:a16="http://schemas.microsoft.com/office/drawing/2014/main" id="{30DB2B8D-AA03-40E6-8016-C95338AEAF90}"/>
              </a:ext>
            </a:extLst>
          </p:cNvPr>
          <p:cNvSpPr/>
          <p:nvPr/>
        </p:nvSpPr>
        <p:spPr>
          <a:xfrm>
            <a:off x="5779008" y="4313487"/>
            <a:ext cx="2657173" cy="292608"/>
          </a:xfrm>
          <a:prstGeom prst="rect">
            <a:avLst/>
          </a:prstGeom>
          <a:noFill/>
          <a:ln/>
        </p:spPr>
        <p:txBody>
          <a:bodyPr wrap="square" lIns="0" tIns="0" rIns="0" bIns="0" rtlCol="0" anchor="t"/>
          <a:lstStyle/>
          <a:p>
            <a:r>
              <a:rPr lang="ko-KR" altLang="en-US" sz="1400" b="1" dirty="0">
                <a:latin typeface="Pretendard" panose="02000503000000020004" pitchFamily="50" charset="-127"/>
                <a:ea typeface="Pretendard" panose="02000503000000020004" pitchFamily="50" charset="-127"/>
                <a:cs typeface="Pretendard" panose="02000503000000020004" pitchFamily="50" charset="-127"/>
              </a:rPr>
              <a:t>설문 작성 중 이탈 시 다시 작성해야 함</a:t>
            </a:r>
            <a:endParaRPr lang="en-US" sz="1400" b="1"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72" name="Text 25">
            <a:extLst>
              <a:ext uri="{FF2B5EF4-FFF2-40B4-BE49-F238E27FC236}">
                <a16:creationId xmlns:a16="http://schemas.microsoft.com/office/drawing/2014/main" id="{3B745152-EE0A-4826-9AE1-E51A0BE1D03D}"/>
              </a:ext>
            </a:extLst>
          </p:cNvPr>
          <p:cNvSpPr/>
          <p:nvPr/>
        </p:nvSpPr>
        <p:spPr>
          <a:xfrm>
            <a:off x="5779008" y="4605900"/>
            <a:ext cx="2915394" cy="274320"/>
          </a:xfrm>
          <a:prstGeom prst="rect">
            <a:avLst/>
          </a:prstGeom>
          <a:noFill/>
          <a:ln/>
        </p:spPr>
        <p:txBody>
          <a:bodyPr wrap="square" lIns="0" tIns="0" rIns="0" bIns="0" rtlCol="0" anchor="t"/>
          <a:lstStyle/>
          <a:p>
            <a:r>
              <a:rPr lang="en-US" altLang="ko-KR" sz="1200" b="1" dirty="0">
                <a:solidFill>
                  <a:srgbClr val="D9472B"/>
                </a:solidFill>
                <a:latin typeface="Pretendard" panose="02000503000000020004" pitchFamily="50" charset="-127"/>
                <a:ea typeface="Pretendard" panose="02000503000000020004" pitchFamily="50" charset="-127"/>
                <a:cs typeface="Pretendard" panose="02000503000000020004" pitchFamily="50" charset="-127"/>
              </a:rPr>
              <a:t>• </a:t>
            </a:r>
            <a:r>
              <a:rPr lang="ko-KR" altLang="en-US" sz="1200" dirty="0">
                <a:latin typeface="Pretendard" panose="02000503000000020004" pitchFamily="50" charset="-127"/>
                <a:ea typeface="Pretendard" panose="02000503000000020004" pitchFamily="50" charset="-127"/>
                <a:cs typeface="Pretendard" panose="02000503000000020004" pitchFamily="50" charset="-127"/>
              </a:rPr>
              <a:t>화면을 벗어나면 입력한 응답이 저장되지 않음</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80" name="Shape 20">
            <a:extLst>
              <a:ext uri="{FF2B5EF4-FFF2-40B4-BE49-F238E27FC236}">
                <a16:creationId xmlns:a16="http://schemas.microsoft.com/office/drawing/2014/main" id="{03A0FF81-121E-47E7-9244-C07462F7EA07}"/>
              </a:ext>
            </a:extLst>
          </p:cNvPr>
          <p:cNvSpPr/>
          <p:nvPr/>
        </p:nvSpPr>
        <p:spPr>
          <a:xfrm>
            <a:off x="5582412" y="3971109"/>
            <a:ext cx="64008" cy="965141"/>
          </a:xfrm>
          <a:prstGeom prst="rect">
            <a:avLst/>
          </a:prstGeom>
          <a:solidFill>
            <a:srgbClr val="D9472B"/>
          </a:solidFill>
          <a:ln w="12700">
            <a:solidFill>
              <a:srgbClr val="D9472B"/>
            </a:solidFill>
            <a:prstDash val="solid"/>
          </a:ln>
        </p:spPr>
      </p:sp>
      <p:sp>
        <p:nvSpPr>
          <p:cNvPr id="81" name="Shape 19">
            <a:extLst>
              <a:ext uri="{FF2B5EF4-FFF2-40B4-BE49-F238E27FC236}">
                <a16:creationId xmlns:a16="http://schemas.microsoft.com/office/drawing/2014/main" id="{B06E3768-1524-40B1-91A0-05D8EAA0F75E}"/>
              </a:ext>
            </a:extLst>
          </p:cNvPr>
          <p:cNvSpPr/>
          <p:nvPr/>
        </p:nvSpPr>
        <p:spPr>
          <a:xfrm>
            <a:off x="5577839" y="5106913"/>
            <a:ext cx="6156655" cy="1001463"/>
          </a:xfrm>
          <a:prstGeom prst="roundRect">
            <a:avLst>
              <a:gd name="adj" fmla="val 11304"/>
            </a:avLst>
          </a:prstGeom>
          <a:solidFill>
            <a:srgbClr val="FFFFFF"/>
          </a:solidFill>
          <a:ln w="9525">
            <a:solidFill>
              <a:srgbClr val="E5E7EB"/>
            </a:solidFill>
            <a:prstDash val="solid"/>
          </a:ln>
          <a:effectLst>
            <a:outerShdw blurRad="76200" dist="25400" dir="5400000" algn="bl" rotWithShape="0">
              <a:srgbClr val="000000">
                <a:alpha val="8000"/>
              </a:srgbClr>
            </a:outerShdw>
          </a:effectLst>
        </p:spPr>
      </p:sp>
      <p:sp>
        <p:nvSpPr>
          <p:cNvPr id="82" name="Text 21">
            <a:extLst>
              <a:ext uri="{FF2B5EF4-FFF2-40B4-BE49-F238E27FC236}">
                <a16:creationId xmlns:a16="http://schemas.microsoft.com/office/drawing/2014/main" id="{A2342C62-A25B-4F3C-AB92-31A0428F87A2}"/>
              </a:ext>
            </a:extLst>
          </p:cNvPr>
          <p:cNvSpPr/>
          <p:nvPr/>
        </p:nvSpPr>
        <p:spPr>
          <a:xfrm>
            <a:off x="5779008" y="5185757"/>
            <a:ext cx="457200" cy="274320"/>
          </a:xfrm>
          <a:prstGeom prst="rect">
            <a:avLst/>
          </a:prstGeom>
          <a:noFill/>
          <a:ln/>
        </p:spPr>
        <p:txBody>
          <a:bodyPr wrap="square" lIns="0" tIns="0" rIns="0" bIns="0" rtlCol="0" anchor="t"/>
          <a:lstStyle/>
          <a:p>
            <a:pPr marL="0" indent="0" algn="l">
              <a:buNone/>
            </a:pPr>
            <a:r>
              <a:rPr lang="en-US" sz="1200" b="1" dirty="0">
                <a:solidFill>
                  <a:srgbClr val="D9472B"/>
                </a:solidFill>
                <a:latin typeface="Pretendard" panose="02000503000000020004" pitchFamily="50" charset="-127"/>
                <a:ea typeface="Pretendard" panose="02000503000000020004" pitchFamily="50" charset="-127"/>
                <a:cs typeface="Pretendard" panose="02000503000000020004" pitchFamily="50" charset="-127"/>
              </a:rPr>
              <a:t>03</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83" name="Text 24">
            <a:extLst>
              <a:ext uri="{FF2B5EF4-FFF2-40B4-BE49-F238E27FC236}">
                <a16:creationId xmlns:a16="http://schemas.microsoft.com/office/drawing/2014/main" id="{CF1B0BFF-78F2-4434-B96A-223037F2B428}"/>
              </a:ext>
            </a:extLst>
          </p:cNvPr>
          <p:cNvSpPr/>
          <p:nvPr/>
        </p:nvSpPr>
        <p:spPr>
          <a:xfrm>
            <a:off x="5779008" y="5432645"/>
            <a:ext cx="2657173" cy="292608"/>
          </a:xfrm>
          <a:prstGeom prst="rect">
            <a:avLst/>
          </a:prstGeom>
          <a:noFill/>
          <a:ln/>
        </p:spPr>
        <p:txBody>
          <a:bodyPr wrap="square" lIns="0" tIns="0" rIns="0" bIns="0" rtlCol="0" anchor="t"/>
          <a:lstStyle/>
          <a:p>
            <a:r>
              <a:rPr lang="ko-KR" altLang="en-US" sz="1400" b="1" dirty="0">
                <a:latin typeface="Pretendard" panose="02000503000000020004" pitchFamily="50" charset="-127"/>
                <a:ea typeface="Pretendard" panose="02000503000000020004" pitchFamily="50" charset="-127"/>
                <a:cs typeface="Pretendard" panose="02000503000000020004" pitchFamily="50" charset="-127"/>
              </a:rPr>
              <a:t>설문 완료 시점 예측 어려움</a:t>
            </a:r>
            <a:endParaRPr lang="en-US" sz="1400" b="1"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84" name="Text 25">
            <a:extLst>
              <a:ext uri="{FF2B5EF4-FFF2-40B4-BE49-F238E27FC236}">
                <a16:creationId xmlns:a16="http://schemas.microsoft.com/office/drawing/2014/main" id="{7FF11D4E-48F7-4D5A-AEBE-1F631917D6E3}"/>
              </a:ext>
            </a:extLst>
          </p:cNvPr>
          <p:cNvSpPr/>
          <p:nvPr/>
        </p:nvSpPr>
        <p:spPr>
          <a:xfrm>
            <a:off x="5779008" y="5725058"/>
            <a:ext cx="4652616" cy="274320"/>
          </a:xfrm>
          <a:prstGeom prst="rect">
            <a:avLst/>
          </a:prstGeom>
          <a:noFill/>
          <a:ln/>
        </p:spPr>
        <p:txBody>
          <a:bodyPr wrap="square" lIns="0" tIns="0" rIns="0" bIns="0" rtlCol="0" anchor="t"/>
          <a:lstStyle/>
          <a:p>
            <a:r>
              <a:rPr lang="en-US" altLang="ko-KR" sz="1200" b="1" dirty="0">
                <a:solidFill>
                  <a:srgbClr val="D9472B"/>
                </a:solidFill>
                <a:latin typeface="Pretendard" panose="02000503000000020004" pitchFamily="50" charset="-127"/>
                <a:ea typeface="Pretendard" panose="02000503000000020004" pitchFamily="50" charset="-127"/>
                <a:cs typeface="Pretendard" panose="02000503000000020004" pitchFamily="50" charset="-127"/>
              </a:rPr>
              <a:t>• </a:t>
            </a:r>
            <a:r>
              <a:rPr lang="ko-KR" altLang="en-US" sz="1200" dirty="0">
                <a:latin typeface="Pretendard" panose="02000503000000020004" pitchFamily="50" charset="-127"/>
                <a:ea typeface="Pretendard" panose="02000503000000020004" pitchFamily="50" charset="-127"/>
                <a:cs typeface="Pretendard" panose="02000503000000020004" pitchFamily="50" charset="-127"/>
              </a:rPr>
              <a:t>현재 설문 진행률을 확인하기 어려워 언제 설문이 끝나는지 예측하기 어려움</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85" name="Shape 20">
            <a:extLst>
              <a:ext uri="{FF2B5EF4-FFF2-40B4-BE49-F238E27FC236}">
                <a16:creationId xmlns:a16="http://schemas.microsoft.com/office/drawing/2014/main" id="{9A304434-BF2E-4AD8-A6BB-19A1133B3721}"/>
              </a:ext>
            </a:extLst>
          </p:cNvPr>
          <p:cNvSpPr/>
          <p:nvPr/>
        </p:nvSpPr>
        <p:spPr>
          <a:xfrm>
            <a:off x="5582412" y="5090267"/>
            <a:ext cx="64008" cy="965141"/>
          </a:xfrm>
          <a:prstGeom prst="rect">
            <a:avLst/>
          </a:prstGeom>
          <a:solidFill>
            <a:srgbClr val="D9472B"/>
          </a:solidFill>
          <a:ln w="12700">
            <a:solidFill>
              <a:srgbClr val="D9472B"/>
            </a:solidFill>
            <a:prstDash val="solid"/>
          </a:ln>
        </p:spPr>
      </p:sp>
      <p:pic>
        <p:nvPicPr>
          <p:cNvPr id="5" name="그림 4">
            <a:extLst>
              <a:ext uri="{FF2B5EF4-FFF2-40B4-BE49-F238E27FC236}">
                <a16:creationId xmlns:a16="http://schemas.microsoft.com/office/drawing/2014/main" id="{B1108516-66EE-4F44-A783-19EE943BD319}"/>
              </a:ext>
            </a:extLst>
          </p:cNvPr>
          <p:cNvPicPr>
            <a:picLocks noChangeAspect="1"/>
          </p:cNvPicPr>
          <p:nvPr/>
        </p:nvPicPr>
        <p:blipFill>
          <a:blip r:embed="rId5"/>
          <a:stretch>
            <a:fillRect/>
          </a:stretch>
        </p:blipFill>
        <p:spPr>
          <a:xfrm>
            <a:off x="1593643" y="2484107"/>
            <a:ext cx="291548" cy="291548"/>
          </a:xfrm>
          <a:prstGeom prst="rect">
            <a:avLst/>
          </a:prstGeom>
        </p:spPr>
      </p:pic>
      <p:sp>
        <p:nvSpPr>
          <p:cNvPr id="36" name="직사각형 35">
            <a:extLst>
              <a:ext uri="{FF2B5EF4-FFF2-40B4-BE49-F238E27FC236}">
                <a16:creationId xmlns:a16="http://schemas.microsoft.com/office/drawing/2014/main" id="{2292A5A6-7DDE-4928-B272-09FE83B5F1CB}"/>
              </a:ext>
            </a:extLst>
          </p:cNvPr>
          <p:cNvSpPr/>
          <p:nvPr/>
        </p:nvSpPr>
        <p:spPr>
          <a:xfrm>
            <a:off x="388618" y="5260172"/>
            <a:ext cx="4970144" cy="838876"/>
          </a:xfrm>
          <a:prstGeom prst="rect">
            <a:avLst/>
          </a:prstGeom>
          <a:noFill/>
          <a:ln w="44450" cmpd="sng">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4" name="직선 화살표 연결선 13">
            <a:extLst>
              <a:ext uri="{FF2B5EF4-FFF2-40B4-BE49-F238E27FC236}">
                <a16:creationId xmlns:a16="http://schemas.microsoft.com/office/drawing/2014/main" id="{700E90C7-4A88-4016-9525-1EF19649A183}"/>
              </a:ext>
            </a:extLst>
          </p:cNvPr>
          <p:cNvCxnSpPr/>
          <p:nvPr/>
        </p:nvCxnSpPr>
        <p:spPr>
          <a:xfrm>
            <a:off x="541024" y="3296351"/>
            <a:ext cx="0" cy="1860050"/>
          </a:xfrm>
          <a:prstGeom prst="straightConnector1">
            <a:avLst/>
          </a:prstGeom>
          <a:ln w="38100">
            <a:solidFill>
              <a:srgbClr val="FF0000"/>
            </a:solidFill>
            <a:prstDash val="sysDash"/>
            <a:tailEnd type="triangle" w="lg" len="lg"/>
          </a:ln>
        </p:spPr>
        <p:style>
          <a:lnRef idx="1">
            <a:schemeClr val="accent1"/>
          </a:lnRef>
          <a:fillRef idx="0">
            <a:schemeClr val="accent1"/>
          </a:fillRef>
          <a:effectRef idx="0">
            <a:schemeClr val="accent1"/>
          </a:effectRef>
          <a:fontRef idx="minor">
            <a:schemeClr val="tx1"/>
          </a:fontRef>
        </p:style>
      </p:cxnSp>
      <p:pic>
        <p:nvPicPr>
          <p:cNvPr id="19" name="그림 18">
            <a:extLst>
              <a:ext uri="{FF2B5EF4-FFF2-40B4-BE49-F238E27FC236}">
                <a16:creationId xmlns:a16="http://schemas.microsoft.com/office/drawing/2014/main" id="{FC0C277A-69A0-4E2B-A324-D4EA56FEE1C5}"/>
              </a:ext>
            </a:extLst>
          </p:cNvPr>
          <p:cNvPicPr>
            <a:picLocks noChangeAspect="1"/>
          </p:cNvPicPr>
          <p:nvPr/>
        </p:nvPicPr>
        <p:blipFill>
          <a:blip r:embed="rId6"/>
          <a:stretch>
            <a:fillRect/>
          </a:stretch>
        </p:blipFill>
        <p:spPr>
          <a:xfrm>
            <a:off x="4375809" y="5322917"/>
            <a:ext cx="663940" cy="663940"/>
          </a:xfrm>
          <a:prstGeom prst="rect">
            <a:avLst/>
          </a:prstGeom>
        </p:spPr>
      </p:pic>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36"/>
                                        </p:tgtEl>
                                        <p:attrNameLst>
                                          <p:attrName>style.visibility</p:attrName>
                                        </p:attrNameLst>
                                      </p:cBhvr>
                                      <p:to>
                                        <p:strVal val="visible"/>
                                      </p:to>
                                    </p:set>
                                    <p:animEffect transition="in" filter="fade">
                                      <p:cBhvr>
                                        <p:cTn id="11" dur="500"/>
                                        <p:tgtEl>
                                          <p:spTgt spid="36"/>
                                        </p:tgtEl>
                                      </p:cBhvr>
                                    </p:animEffect>
                                  </p:childTnLst>
                                </p:cTn>
                              </p:par>
                              <p:par>
                                <p:cTn id="12" presetID="1" presetClass="entr" presetSubtype="0" fill="hold" nodeType="withEffect">
                                  <p:stCondLst>
                                    <p:cond delay="0"/>
                                  </p:stCondLst>
                                  <p:childTnLst>
                                    <p:set>
                                      <p:cBhvr>
                                        <p:cTn id="13" dur="1" fill="hold">
                                          <p:stCondLst>
                                            <p:cond delay="0"/>
                                          </p:stCondLst>
                                        </p:cTn>
                                        <p:tgtEl>
                                          <p:spTgt spid="14"/>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grpSp>
        <p:nvGrpSpPr>
          <p:cNvPr id="25" name="그룹 24">
            <a:extLst>
              <a:ext uri="{FF2B5EF4-FFF2-40B4-BE49-F238E27FC236}">
                <a16:creationId xmlns:a16="http://schemas.microsoft.com/office/drawing/2014/main" id="{CF9A1C39-2935-44A4-991D-435893E7EBC3}"/>
              </a:ext>
            </a:extLst>
          </p:cNvPr>
          <p:cNvGrpSpPr/>
          <p:nvPr/>
        </p:nvGrpSpPr>
        <p:grpSpPr>
          <a:xfrm>
            <a:off x="8108214" y="2242111"/>
            <a:ext cx="3673752" cy="3901478"/>
            <a:chOff x="8097317" y="2213959"/>
            <a:chExt cx="3673752" cy="3901478"/>
          </a:xfrm>
        </p:grpSpPr>
        <p:sp>
          <p:nvSpPr>
            <p:cNvPr id="48" name="Shape 45"/>
            <p:cNvSpPr/>
            <p:nvPr/>
          </p:nvSpPr>
          <p:spPr>
            <a:xfrm>
              <a:off x="8097317" y="2231769"/>
              <a:ext cx="3673752" cy="3883668"/>
            </a:xfrm>
            <a:prstGeom prst="roundRect">
              <a:avLst>
                <a:gd name="adj" fmla="val 4525"/>
              </a:avLst>
            </a:prstGeom>
            <a:solidFill>
              <a:srgbClr val="F5F6F8"/>
            </a:solidFill>
            <a:ln w="9525">
              <a:solidFill>
                <a:srgbClr val="E5E7EB"/>
              </a:solidFill>
              <a:prstDash val="solid"/>
            </a:ln>
            <a:effectLst>
              <a:outerShdw blurRad="76200" dist="25400" dir="5400000" algn="bl" rotWithShape="0">
                <a:srgbClr val="000000">
                  <a:alpha val="8000"/>
                </a:srgbClr>
              </a:outerShdw>
            </a:effectLst>
          </p:spPr>
          <p:txBody>
            <a:bodyPr/>
            <a:lstStyle/>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p:txBody>
        </p:sp>
        <p:sp>
          <p:nvSpPr>
            <p:cNvPr id="49" name="Shape 46"/>
            <p:cNvSpPr/>
            <p:nvPr/>
          </p:nvSpPr>
          <p:spPr>
            <a:xfrm>
              <a:off x="8115604" y="2213959"/>
              <a:ext cx="3579014" cy="58509"/>
            </a:xfrm>
            <a:prstGeom prst="rect">
              <a:avLst/>
            </a:prstGeom>
            <a:solidFill>
              <a:srgbClr val="18181B"/>
            </a:solidFill>
            <a:ln w="12700">
              <a:solidFill>
                <a:srgbClr val="18181B"/>
              </a:solidFill>
              <a:prstDash val="solid"/>
            </a:ln>
          </p:spPr>
        </p:sp>
        <p:sp>
          <p:nvSpPr>
            <p:cNvPr id="50" name="Shape 47"/>
            <p:cNvSpPr/>
            <p:nvPr/>
          </p:nvSpPr>
          <p:spPr>
            <a:xfrm>
              <a:off x="8298485" y="2369227"/>
              <a:ext cx="914400" cy="274320"/>
            </a:xfrm>
            <a:prstGeom prst="roundRect">
              <a:avLst>
                <a:gd name="adj" fmla="val 50000"/>
              </a:avLst>
            </a:prstGeom>
            <a:solidFill>
              <a:srgbClr val="18181B"/>
            </a:solidFill>
            <a:ln w="12700">
              <a:solidFill>
                <a:srgbClr val="18181B"/>
              </a:solidFill>
              <a:prstDash val="solid"/>
            </a:ln>
          </p:spPr>
        </p:sp>
        <p:sp>
          <p:nvSpPr>
            <p:cNvPr id="51" name="Text 48"/>
            <p:cNvSpPr/>
            <p:nvPr/>
          </p:nvSpPr>
          <p:spPr>
            <a:xfrm>
              <a:off x="8298485" y="2369227"/>
              <a:ext cx="914400" cy="274320"/>
            </a:xfrm>
            <a:prstGeom prst="rect">
              <a:avLst/>
            </a:prstGeom>
            <a:noFill/>
            <a:ln/>
          </p:spPr>
          <p:txBody>
            <a:bodyPr wrap="square" lIns="0" tIns="0" rIns="0" bIns="0" rtlCol="0" anchor="ctr"/>
            <a:lstStyle/>
            <a:p>
              <a:pPr marL="0" indent="0" algn="ctr">
                <a:buNone/>
              </a:pPr>
              <a:r>
                <a:rPr lang="ko-KR" altLang="en-US" sz="1100" b="1" kern="0" spc="150" dirty="0">
                  <a:solidFill>
                    <a:srgbClr val="FFFFFF"/>
                  </a:solidFill>
                  <a:latin typeface="Pretendard" panose="02000503000000020004" pitchFamily="50" charset="-127"/>
                  <a:ea typeface="Pretendard" panose="02000503000000020004" pitchFamily="50" charset="-127"/>
                  <a:cs typeface="Pretendard" panose="02000503000000020004" pitchFamily="50" charset="-127"/>
                </a:rPr>
                <a:t>시스템</a:t>
              </a:r>
              <a:endParaRPr lang="en-US" sz="11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54" name="Text 51"/>
            <p:cNvSpPr/>
            <p:nvPr/>
          </p:nvSpPr>
          <p:spPr>
            <a:xfrm>
              <a:off x="8298485" y="3169057"/>
              <a:ext cx="3271418" cy="329184"/>
            </a:xfrm>
            <a:prstGeom prst="rect">
              <a:avLst/>
            </a:prstGeom>
            <a:noFill/>
            <a:ln/>
          </p:spPr>
          <p:txBody>
            <a:bodyPr wrap="square" lIns="0" tIns="0" rIns="0" bIns="0" rtlCol="0" anchor="t"/>
            <a:lstStyle/>
            <a:p>
              <a:r>
                <a:rPr lang="en-US" altLang="ko-KR" sz="1200" dirty="0">
                  <a:latin typeface="Pretendard" panose="02000503000000020004" pitchFamily="50" charset="-127"/>
                  <a:ea typeface="Pretendard" panose="02000503000000020004" pitchFamily="50" charset="-127"/>
                  <a:cs typeface="Pretendard" panose="02000503000000020004" pitchFamily="50" charset="-127"/>
                </a:rPr>
                <a:t>Java/Spring </a:t>
              </a:r>
              <a:r>
                <a:rPr lang="ko-KR" altLang="en-US" sz="1200" dirty="0">
                  <a:latin typeface="Pretendard" panose="02000503000000020004" pitchFamily="50" charset="-127"/>
                  <a:ea typeface="Pretendard" panose="02000503000000020004" pitchFamily="50" charset="-127"/>
                  <a:cs typeface="Pretendard" panose="02000503000000020004" pitchFamily="50" charset="-127"/>
                </a:rPr>
                <a:t>기반 재구현으로 유지보수 가능한 운영 구조 마련</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55" name="Shape 52"/>
            <p:cNvSpPr/>
            <p:nvPr/>
          </p:nvSpPr>
          <p:spPr>
            <a:xfrm>
              <a:off x="8298485" y="3825766"/>
              <a:ext cx="3234842" cy="0"/>
            </a:xfrm>
            <a:prstGeom prst="line">
              <a:avLst/>
            </a:prstGeom>
            <a:noFill/>
            <a:ln w="9525">
              <a:solidFill>
                <a:srgbClr val="E5E7EB"/>
              </a:solidFill>
              <a:prstDash val="solid"/>
            </a:ln>
          </p:spPr>
        </p:sp>
        <p:sp>
          <p:nvSpPr>
            <p:cNvPr id="56" name="Shape 53"/>
            <p:cNvSpPr/>
            <p:nvPr/>
          </p:nvSpPr>
          <p:spPr>
            <a:xfrm>
              <a:off x="8298485" y="4114053"/>
              <a:ext cx="201168" cy="201168"/>
            </a:xfrm>
            <a:prstGeom prst="ellipse">
              <a:avLst/>
            </a:prstGeom>
            <a:solidFill>
              <a:srgbClr val="18181B"/>
            </a:solidFill>
            <a:ln w="12700">
              <a:solidFill>
                <a:srgbClr val="18181B"/>
              </a:solidFill>
              <a:prstDash val="solid"/>
            </a:ln>
          </p:spPr>
        </p:sp>
        <p:sp>
          <p:nvSpPr>
            <p:cNvPr id="57" name="Text 54"/>
            <p:cNvSpPr/>
            <p:nvPr/>
          </p:nvSpPr>
          <p:spPr>
            <a:xfrm>
              <a:off x="8298485" y="4114053"/>
              <a:ext cx="201168" cy="201168"/>
            </a:xfrm>
            <a:prstGeom prst="rect">
              <a:avLst/>
            </a:prstGeom>
            <a:noFill/>
            <a:ln/>
          </p:spPr>
          <p:txBody>
            <a:bodyPr wrap="square" lIns="0" tIns="0" rIns="0" bIns="0" rtlCol="0" anchor="ctr"/>
            <a:lstStyle/>
            <a:p>
              <a:pPr marL="0" indent="0" algn="ctr">
                <a:buNone/>
              </a:pPr>
              <a:r>
                <a:rPr lang="en-US" sz="1400" b="1" dirty="0">
                  <a:solidFill>
                    <a:srgbClr val="FFFFFF"/>
                  </a:solidFill>
                  <a:latin typeface="Pretendard" panose="02000503000000020004" pitchFamily="50" charset="-127"/>
                  <a:ea typeface="Pretendard" panose="02000503000000020004" pitchFamily="50" charset="-127"/>
                  <a:cs typeface="Pretendard" panose="02000503000000020004" pitchFamily="50" charset="-127"/>
                </a:rPr>
                <a:t>1</a:t>
              </a:r>
              <a:endParaRPr lang="en-US" sz="14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58" name="Text 55"/>
            <p:cNvSpPr/>
            <p:nvPr/>
          </p:nvSpPr>
          <p:spPr>
            <a:xfrm>
              <a:off x="8554517" y="4114053"/>
              <a:ext cx="3015386" cy="274320"/>
            </a:xfrm>
            <a:prstGeom prst="rect">
              <a:avLst/>
            </a:prstGeom>
            <a:noFill/>
            <a:ln/>
          </p:spPr>
          <p:txBody>
            <a:bodyPr wrap="square" lIns="0" tIns="0" rIns="0" bIns="0" rtlCol="0" anchor="t"/>
            <a:lstStyle/>
            <a:p>
              <a:pPr marL="0" indent="0" algn="l">
                <a:buNone/>
              </a:pPr>
              <a:r>
                <a:rPr lang="en-US" sz="1400" b="1"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.NET 레거시 → Java / Spring 재구현</a:t>
              </a:r>
              <a:endParaRPr lang="en-US" sz="1400" dirty="0">
                <a:latin typeface="Pretendard" panose="02000503000000020004" pitchFamily="50" charset="-127"/>
                <a:ea typeface="Pretendard" panose="02000503000000020004" pitchFamily="50" charset="-127"/>
                <a:cs typeface="Pretendard" panose="02000503000000020004" pitchFamily="50" charset="-127"/>
              </a:endParaRPr>
            </a:p>
          </p:txBody>
        </p:sp>
      </p:grpSp>
      <p:sp>
        <p:nvSpPr>
          <p:cNvPr id="2" name="Text 0"/>
          <p:cNvSpPr/>
          <p:nvPr/>
        </p:nvSpPr>
        <p:spPr>
          <a:xfrm>
            <a:off x="457200" y="365760"/>
            <a:ext cx="5486400" cy="274320"/>
          </a:xfrm>
          <a:prstGeom prst="rect">
            <a:avLst/>
          </a:prstGeom>
          <a:noFill/>
          <a:ln/>
        </p:spPr>
        <p:txBody>
          <a:bodyPr wrap="square" lIns="0" tIns="0" rIns="0" bIns="0" rtlCol="0" anchor="ctr"/>
          <a:lstStyle/>
          <a:p>
            <a:pPr marL="0" indent="0" algn="l">
              <a:buNone/>
            </a:pPr>
            <a:r>
              <a:rPr lang="en-US" sz="12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03. </a:t>
            </a:r>
            <a:r>
              <a:rPr lang="ko-KR" altLang="en-US" sz="12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개선 목표 및 방향</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pic>
        <p:nvPicPr>
          <p:cNvPr id="3" name="Image 0" descr="Woongjin_logo_transparent.png"/>
          <p:cNvPicPr>
            <a:picLocks noChangeAspect="1"/>
          </p:cNvPicPr>
          <p:nvPr/>
        </p:nvPicPr>
        <p:blipFill>
          <a:blip r:embed="rId3"/>
          <a:stretch>
            <a:fillRect/>
          </a:stretch>
        </p:blipFill>
        <p:spPr>
          <a:xfrm>
            <a:off x="10911535" y="262890"/>
            <a:ext cx="822960" cy="480060"/>
          </a:xfrm>
          <a:prstGeom prst="rect">
            <a:avLst/>
          </a:prstGeom>
        </p:spPr>
      </p:pic>
      <p:sp>
        <p:nvSpPr>
          <p:cNvPr id="4" name="Text 1"/>
          <p:cNvSpPr/>
          <p:nvPr/>
        </p:nvSpPr>
        <p:spPr>
          <a:xfrm>
            <a:off x="457200" y="6446520"/>
            <a:ext cx="2743200" cy="228600"/>
          </a:xfrm>
          <a:prstGeom prst="rect">
            <a:avLst/>
          </a:prstGeom>
          <a:noFill/>
          <a:ln/>
        </p:spPr>
        <p:txBody>
          <a:bodyPr wrap="square" lIns="0" tIns="0" rIns="0" bIns="0" rtlCol="0" anchor="ctr"/>
          <a:lstStyle/>
          <a:p>
            <a:pPr marL="0" indent="0" algn="l">
              <a:buNone/>
            </a:pPr>
            <a:r>
              <a:rPr lang="en-US" sz="10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06</a:t>
            </a:r>
            <a:endParaRPr lang="en-US" sz="1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6" name="Text 3"/>
          <p:cNvSpPr/>
          <p:nvPr/>
        </p:nvSpPr>
        <p:spPr>
          <a:xfrm>
            <a:off x="457200" y="914400"/>
            <a:ext cx="11277295" cy="685800"/>
          </a:xfrm>
          <a:prstGeom prst="rect">
            <a:avLst/>
          </a:prstGeom>
          <a:noFill/>
          <a:ln/>
        </p:spPr>
        <p:txBody>
          <a:bodyPr wrap="square" lIns="0" tIns="0" rIns="0" bIns="0" rtlCol="0" anchor="t"/>
          <a:lstStyle/>
          <a:p>
            <a:pPr marL="0" indent="0" algn="l">
              <a:buNone/>
            </a:pPr>
            <a:r>
              <a:rPr lang="en-US" sz="2400" b="1" kern="0" spc="-50" dirty="0" err="1">
                <a:solidFill>
                  <a:srgbClr val="222222"/>
                </a:solidFill>
                <a:latin typeface="Pretendard" panose="02000503000000020004" pitchFamily="50" charset="-127"/>
                <a:ea typeface="Pretendard" panose="02000503000000020004" pitchFamily="50" charset="-127"/>
                <a:cs typeface="Pretendard" panose="02000503000000020004" pitchFamily="50" charset="-127"/>
              </a:rPr>
              <a:t>프로젝트</a:t>
            </a:r>
            <a:r>
              <a:rPr lang="en-US" sz="2400" b="1" kern="0" spc="-50"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 </a:t>
            </a:r>
            <a:r>
              <a:rPr lang="en-US" sz="2400" b="1" kern="0" spc="-50" dirty="0" err="1">
                <a:solidFill>
                  <a:srgbClr val="222222"/>
                </a:solidFill>
                <a:latin typeface="Pretendard" panose="02000503000000020004" pitchFamily="50" charset="-127"/>
                <a:ea typeface="Pretendard" panose="02000503000000020004" pitchFamily="50" charset="-127"/>
                <a:cs typeface="Pretendard" panose="02000503000000020004" pitchFamily="50" charset="-127"/>
              </a:rPr>
              <a:t>개선</a:t>
            </a:r>
            <a:r>
              <a:rPr lang="en-US" sz="2400" b="1" kern="0" spc="-50"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 </a:t>
            </a:r>
            <a:r>
              <a:rPr lang="en-US" sz="2400" b="1" kern="0" spc="-50" dirty="0" err="1">
                <a:solidFill>
                  <a:srgbClr val="222222"/>
                </a:solidFill>
                <a:latin typeface="Pretendard" panose="02000503000000020004" pitchFamily="50" charset="-127"/>
                <a:ea typeface="Pretendard" panose="02000503000000020004" pitchFamily="50" charset="-127"/>
                <a:cs typeface="Pretendard" panose="02000503000000020004" pitchFamily="50" charset="-127"/>
              </a:rPr>
              <a:t>방향</a:t>
            </a:r>
            <a:r>
              <a:rPr lang="en-US" sz="2400" b="1" kern="0" spc="-50"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 (To-Be)</a:t>
            </a:r>
            <a:endParaRPr lang="en-US" sz="24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7" name="Text 4"/>
          <p:cNvSpPr/>
          <p:nvPr/>
        </p:nvSpPr>
        <p:spPr>
          <a:xfrm>
            <a:off x="417323" y="1405889"/>
            <a:ext cx="11277295" cy="292608"/>
          </a:xfrm>
          <a:prstGeom prst="rect">
            <a:avLst/>
          </a:prstGeom>
          <a:noFill/>
          <a:ln/>
        </p:spPr>
        <p:txBody>
          <a:bodyPr wrap="square" lIns="0" tIns="0" rIns="0" bIns="0" rtlCol="0" anchor="t"/>
          <a:lstStyle/>
          <a:p>
            <a:r>
              <a:rPr lang="ko-KR" altLang="en-US" sz="1600" dirty="0">
                <a:latin typeface="Pretendard" panose="02000503000000020004" pitchFamily="50" charset="-127"/>
                <a:ea typeface="Pretendard" panose="02000503000000020004" pitchFamily="50" charset="-127"/>
                <a:cs typeface="Pretendard" panose="02000503000000020004" pitchFamily="50" charset="-127"/>
              </a:rPr>
              <a:t>기존 기능은 유지하고</a:t>
            </a:r>
            <a:r>
              <a:rPr lang="en-US" altLang="ko-KR" sz="1600" dirty="0">
                <a:latin typeface="Pretendard" panose="02000503000000020004" pitchFamily="50" charset="-127"/>
                <a:ea typeface="Pretendard" panose="02000503000000020004" pitchFamily="50" charset="-127"/>
                <a:cs typeface="Pretendard" panose="02000503000000020004" pitchFamily="50" charset="-127"/>
              </a:rPr>
              <a:t> 3</a:t>
            </a:r>
            <a:r>
              <a:rPr lang="ko-KR" altLang="en-US" sz="1600" dirty="0">
                <a:latin typeface="Pretendard" panose="02000503000000020004" pitchFamily="50" charset="-127"/>
                <a:ea typeface="Pretendard" panose="02000503000000020004" pitchFamily="50" charset="-127"/>
                <a:cs typeface="Pretendard" panose="02000503000000020004" pitchFamily="50" charset="-127"/>
              </a:rPr>
              <a:t>가지 관점에서 사용성과 유지보수성을 개선했습니다</a:t>
            </a:r>
            <a:r>
              <a:rPr lang="en-US" altLang="ko-KR" sz="1600" dirty="0">
                <a:latin typeface="Pretendard" panose="02000503000000020004" pitchFamily="50" charset="-127"/>
                <a:ea typeface="Pretendard" panose="02000503000000020004" pitchFamily="50" charset="-127"/>
                <a:cs typeface="Pretendard" panose="02000503000000020004" pitchFamily="50" charset="-127"/>
              </a:rPr>
              <a:t>.</a:t>
            </a:r>
            <a:endParaRPr lang="en-US" sz="1600" dirty="0">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endParaRPr>
          </a:p>
        </p:txBody>
      </p:sp>
      <p:grpSp>
        <p:nvGrpSpPr>
          <p:cNvPr id="19" name="그룹 18">
            <a:extLst>
              <a:ext uri="{FF2B5EF4-FFF2-40B4-BE49-F238E27FC236}">
                <a16:creationId xmlns:a16="http://schemas.microsoft.com/office/drawing/2014/main" id="{FF9D7D6E-5FAE-4481-8E48-CD49122AD0DF}"/>
              </a:ext>
            </a:extLst>
          </p:cNvPr>
          <p:cNvGrpSpPr/>
          <p:nvPr/>
        </p:nvGrpSpPr>
        <p:grpSpPr>
          <a:xfrm>
            <a:off x="446610" y="2197021"/>
            <a:ext cx="3637178" cy="3918416"/>
            <a:chOff x="446610" y="2197021"/>
            <a:chExt cx="3637178" cy="3918416"/>
          </a:xfrm>
        </p:grpSpPr>
        <p:sp>
          <p:nvSpPr>
            <p:cNvPr id="8" name="Shape 5"/>
            <p:cNvSpPr/>
            <p:nvPr/>
          </p:nvSpPr>
          <p:spPr>
            <a:xfrm>
              <a:off x="446610" y="2197021"/>
              <a:ext cx="3637178" cy="3918416"/>
            </a:xfrm>
            <a:prstGeom prst="roundRect">
              <a:avLst>
                <a:gd name="adj" fmla="val 4525"/>
              </a:avLst>
            </a:prstGeom>
            <a:solidFill>
              <a:srgbClr val="EEF4FF"/>
            </a:solidFill>
            <a:ln w="9525">
              <a:solidFill>
                <a:srgbClr val="BFDBFE"/>
              </a:solidFill>
              <a:prstDash val="solid"/>
            </a:ln>
            <a:effectLst>
              <a:outerShdw blurRad="190500" dist="50800" dir="5400000" algn="bl" rotWithShape="0">
                <a:srgbClr val="2C1E74">
                  <a:alpha val="16000"/>
                </a:srgbClr>
              </a:outerShdw>
            </a:effectLst>
          </p:spPr>
          <p:txBody>
            <a:bodyPr/>
            <a:lstStyle/>
            <a:p>
              <a:endParaRPr lang="ko-KR" altLang="en-US" dirty="0"/>
            </a:p>
          </p:txBody>
        </p:sp>
        <p:sp>
          <p:nvSpPr>
            <p:cNvPr id="9" name="Shape 6"/>
            <p:cNvSpPr/>
            <p:nvPr/>
          </p:nvSpPr>
          <p:spPr>
            <a:xfrm>
              <a:off x="475488" y="2213959"/>
              <a:ext cx="3548634" cy="65805"/>
            </a:xfrm>
            <a:prstGeom prst="rect">
              <a:avLst/>
            </a:prstGeom>
            <a:solidFill>
              <a:srgbClr val="1456F0"/>
            </a:solidFill>
            <a:ln w="12700">
              <a:solidFill>
                <a:srgbClr val="1456F0"/>
              </a:solidFill>
              <a:prstDash val="solid"/>
            </a:ln>
          </p:spPr>
          <p:txBody>
            <a:bodyPr/>
            <a:lstStyle/>
            <a:p>
              <a:endParaRPr lang="ko-KR" altLang="en-US" dirty="0"/>
            </a:p>
          </p:txBody>
        </p:sp>
        <p:sp>
          <p:nvSpPr>
            <p:cNvPr id="10" name="Shape 7"/>
            <p:cNvSpPr/>
            <p:nvPr/>
          </p:nvSpPr>
          <p:spPr>
            <a:xfrm>
              <a:off x="658368" y="2369227"/>
              <a:ext cx="914400" cy="274320"/>
            </a:xfrm>
            <a:prstGeom prst="roundRect">
              <a:avLst>
                <a:gd name="adj" fmla="val 50000"/>
              </a:avLst>
            </a:prstGeom>
            <a:solidFill>
              <a:srgbClr val="1456F0"/>
            </a:solidFill>
            <a:ln w="12700">
              <a:solidFill>
                <a:srgbClr val="1456F0"/>
              </a:solidFill>
              <a:prstDash val="solid"/>
            </a:ln>
          </p:spPr>
        </p:sp>
        <p:sp>
          <p:nvSpPr>
            <p:cNvPr id="11" name="Text 8"/>
            <p:cNvSpPr/>
            <p:nvPr/>
          </p:nvSpPr>
          <p:spPr>
            <a:xfrm>
              <a:off x="658368" y="2369227"/>
              <a:ext cx="914400" cy="274320"/>
            </a:xfrm>
            <a:prstGeom prst="rect">
              <a:avLst/>
            </a:prstGeom>
            <a:noFill/>
            <a:ln/>
          </p:spPr>
          <p:txBody>
            <a:bodyPr wrap="square" lIns="0" tIns="0" rIns="0" bIns="0" rtlCol="0" anchor="ctr"/>
            <a:lstStyle/>
            <a:p>
              <a:pPr marL="0" indent="0" algn="ctr">
                <a:buNone/>
              </a:pPr>
              <a:r>
                <a:rPr lang="ko-KR" altLang="en-US" sz="1100" b="1" kern="0" spc="150" dirty="0">
                  <a:solidFill>
                    <a:srgbClr val="FFFFFF"/>
                  </a:solidFill>
                  <a:latin typeface="Pretendard" panose="02000503000000020004" pitchFamily="50" charset="-127"/>
                  <a:ea typeface="Pretendard" panose="02000503000000020004" pitchFamily="50" charset="-127"/>
                  <a:cs typeface="Pretendard" panose="02000503000000020004" pitchFamily="50" charset="-127"/>
                </a:rPr>
                <a:t>관리자</a:t>
              </a:r>
              <a:endParaRPr lang="en-US" sz="1100" dirty="0">
                <a:latin typeface="Pretendard" panose="02000503000000020004" pitchFamily="50" charset="-127"/>
                <a:ea typeface="Pretendard" panose="02000503000000020004" pitchFamily="50" charset="-127"/>
                <a:cs typeface="Pretendard" panose="02000503000000020004" pitchFamily="50" charset="-127"/>
              </a:endParaRPr>
            </a:p>
          </p:txBody>
        </p:sp>
        <p:grpSp>
          <p:nvGrpSpPr>
            <p:cNvPr id="12" name="그룹 11">
              <a:extLst>
                <a:ext uri="{FF2B5EF4-FFF2-40B4-BE49-F238E27FC236}">
                  <a16:creationId xmlns:a16="http://schemas.microsoft.com/office/drawing/2014/main" id="{B37C9A64-2807-4437-BFC4-00243E903CE8}"/>
                </a:ext>
              </a:extLst>
            </p:cNvPr>
            <p:cNvGrpSpPr/>
            <p:nvPr/>
          </p:nvGrpSpPr>
          <p:grpSpPr>
            <a:xfrm>
              <a:off x="658368" y="2822473"/>
              <a:ext cx="3271418" cy="675768"/>
              <a:chOff x="658368" y="2697480"/>
              <a:chExt cx="3271418" cy="675768"/>
            </a:xfrm>
          </p:grpSpPr>
          <p:sp>
            <p:nvSpPr>
              <p:cNvPr id="13" name="Text 10"/>
              <p:cNvSpPr/>
              <p:nvPr/>
            </p:nvSpPr>
            <p:spPr>
              <a:xfrm>
                <a:off x="658368" y="2697480"/>
                <a:ext cx="3271418" cy="457200"/>
              </a:xfrm>
              <a:prstGeom prst="rect">
                <a:avLst/>
              </a:prstGeom>
              <a:noFill/>
              <a:ln/>
            </p:spPr>
            <p:txBody>
              <a:bodyPr wrap="square" lIns="0" tIns="0" rIns="0" bIns="0" rtlCol="0" anchor="t"/>
              <a:lstStyle/>
              <a:p>
                <a:r>
                  <a:rPr lang="ko-KR" altLang="en-US" sz="1600" b="1" dirty="0">
                    <a:latin typeface="Pretendard" panose="02000503000000020004" pitchFamily="50" charset="-127"/>
                    <a:ea typeface="Pretendard" panose="02000503000000020004" pitchFamily="50" charset="-127"/>
                    <a:cs typeface="Pretendard" panose="02000503000000020004" pitchFamily="50" charset="-127"/>
                  </a:rPr>
                  <a:t>통계</a:t>
                </a:r>
                <a:r>
                  <a:rPr lang="en-US" altLang="ko-KR" sz="1600" b="1" dirty="0">
                    <a:latin typeface="Pretendard" panose="02000503000000020004" pitchFamily="50" charset="-127"/>
                    <a:ea typeface="Pretendard" panose="02000503000000020004" pitchFamily="50" charset="-127"/>
                    <a:cs typeface="Pretendard" panose="02000503000000020004" pitchFamily="50" charset="-127"/>
                  </a:rPr>
                  <a:t>·</a:t>
                </a:r>
                <a:r>
                  <a:rPr lang="ko-KR" altLang="en-US" sz="1600" b="1" dirty="0">
                    <a:latin typeface="Pretendard" panose="02000503000000020004" pitchFamily="50" charset="-127"/>
                    <a:ea typeface="Pretendard" panose="02000503000000020004" pitchFamily="50" charset="-127"/>
                    <a:cs typeface="Pretendard" panose="02000503000000020004" pitchFamily="50" charset="-127"/>
                  </a:rPr>
                  <a:t>이력 관리 개선</a:t>
                </a:r>
                <a:endParaRPr lang="en-US" sz="1600" b="1"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4" name="Text 11"/>
              <p:cNvSpPr/>
              <p:nvPr/>
            </p:nvSpPr>
            <p:spPr>
              <a:xfrm>
                <a:off x="658368" y="3044064"/>
                <a:ext cx="3271418" cy="329184"/>
              </a:xfrm>
              <a:prstGeom prst="rect">
                <a:avLst/>
              </a:prstGeom>
              <a:noFill/>
              <a:ln/>
            </p:spPr>
            <p:txBody>
              <a:bodyPr wrap="square" lIns="0" tIns="0" rIns="0" bIns="0" rtlCol="0" anchor="t"/>
              <a:lstStyle/>
              <a:p>
                <a:r>
                  <a:rPr lang="ko-KR" altLang="en-US" sz="1200" dirty="0">
                    <a:latin typeface="Pretendard" panose="02000503000000020004" pitchFamily="50" charset="-127"/>
                    <a:ea typeface="Pretendard" panose="02000503000000020004" pitchFamily="50" charset="-127"/>
                    <a:cs typeface="Pretendard" panose="02000503000000020004" pitchFamily="50" charset="-127"/>
                  </a:rPr>
                  <a:t>통계 시각화와 엑셀 이력 관리로 결과 확인과 데이터 추적을 쉽게 개선</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grpSp>
        <p:sp>
          <p:nvSpPr>
            <p:cNvPr id="15" name="Shape 12"/>
            <p:cNvSpPr/>
            <p:nvPr/>
          </p:nvSpPr>
          <p:spPr>
            <a:xfrm>
              <a:off x="658368" y="3799105"/>
              <a:ext cx="3234842" cy="0"/>
            </a:xfrm>
            <a:prstGeom prst="line">
              <a:avLst/>
            </a:prstGeom>
            <a:noFill/>
            <a:ln w="9525">
              <a:solidFill>
                <a:srgbClr val="E5E7EB"/>
              </a:solidFill>
              <a:prstDash val="solid"/>
            </a:ln>
          </p:spPr>
          <p:txBody>
            <a:bodyPr/>
            <a:lstStyle/>
            <a:p>
              <a:endParaRPr lang="ko-KR" altLang="en-US" dirty="0"/>
            </a:p>
          </p:txBody>
        </p:sp>
        <p:sp>
          <p:nvSpPr>
            <p:cNvPr id="16" name="Shape 13"/>
            <p:cNvSpPr/>
            <p:nvPr/>
          </p:nvSpPr>
          <p:spPr>
            <a:xfrm>
              <a:off x="658368" y="4114053"/>
              <a:ext cx="201168" cy="201168"/>
            </a:xfrm>
            <a:prstGeom prst="ellipse">
              <a:avLst/>
            </a:prstGeom>
            <a:solidFill>
              <a:srgbClr val="1456F0"/>
            </a:solidFill>
            <a:ln w="12700">
              <a:solidFill>
                <a:srgbClr val="1456F0"/>
              </a:solidFill>
              <a:prstDash val="solid"/>
            </a:ln>
          </p:spPr>
        </p:sp>
        <p:sp>
          <p:nvSpPr>
            <p:cNvPr id="17" name="Text 14"/>
            <p:cNvSpPr/>
            <p:nvPr/>
          </p:nvSpPr>
          <p:spPr>
            <a:xfrm>
              <a:off x="658368" y="4114053"/>
              <a:ext cx="201168" cy="201168"/>
            </a:xfrm>
            <a:prstGeom prst="rect">
              <a:avLst/>
            </a:prstGeom>
            <a:noFill/>
            <a:ln/>
          </p:spPr>
          <p:txBody>
            <a:bodyPr wrap="square" lIns="0" tIns="0" rIns="0" bIns="0" rtlCol="0" anchor="ctr"/>
            <a:lstStyle/>
            <a:p>
              <a:pPr marL="0" indent="0" algn="ctr">
                <a:buNone/>
              </a:pPr>
              <a:r>
                <a:rPr lang="en-US" sz="1400" b="1" dirty="0">
                  <a:solidFill>
                    <a:srgbClr val="FFFFFF"/>
                  </a:solidFill>
                  <a:latin typeface="Pretendard" panose="02000503000000020004" pitchFamily="50" charset="-127"/>
                  <a:ea typeface="Pretendard" panose="02000503000000020004" pitchFamily="50" charset="-127"/>
                  <a:cs typeface="Pretendard" panose="02000503000000020004" pitchFamily="50" charset="-127"/>
                </a:rPr>
                <a:t>1</a:t>
              </a:r>
              <a:endParaRPr lang="en-US" sz="14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8" name="Text 15"/>
            <p:cNvSpPr/>
            <p:nvPr/>
          </p:nvSpPr>
          <p:spPr>
            <a:xfrm>
              <a:off x="903809" y="4099703"/>
              <a:ext cx="2651153" cy="274320"/>
            </a:xfrm>
            <a:prstGeom prst="rect">
              <a:avLst/>
            </a:prstGeom>
            <a:noFill/>
            <a:ln/>
          </p:spPr>
          <p:txBody>
            <a:bodyPr wrap="square" lIns="0" tIns="0" rIns="0" bIns="0" rtlCol="0" anchor="t"/>
            <a:lstStyle/>
            <a:p>
              <a:r>
                <a:rPr lang="ko-KR" altLang="en-US" sz="1400" b="1" dirty="0">
                  <a:latin typeface="Pretendard" panose="02000503000000020004" pitchFamily="50" charset="-127"/>
                  <a:ea typeface="Pretendard" panose="02000503000000020004" pitchFamily="50" charset="-127"/>
                  <a:cs typeface="Pretendard" panose="02000503000000020004" pitchFamily="50" charset="-127"/>
                </a:rPr>
                <a:t>전체 응답률</a:t>
              </a:r>
              <a:r>
                <a:rPr lang="en-US" altLang="ko-KR" sz="1400" b="1" dirty="0">
                  <a:latin typeface="Pretendard" panose="02000503000000020004" pitchFamily="50" charset="-127"/>
                  <a:ea typeface="Pretendard" panose="02000503000000020004" pitchFamily="50" charset="-127"/>
                  <a:cs typeface="Pretendard" panose="02000503000000020004" pitchFamily="50" charset="-127"/>
                </a:rPr>
                <a:t>·</a:t>
              </a:r>
              <a:r>
                <a:rPr lang="ko-KR" altLang="en-US" sz="1400" b="1" dirty="0">
                  <a:latin typeface="Pretendard" panose="02000503000000020004" pitchFamily="50" charset="-127"/>
                  <a:ea typeface="Pretendard" panose="02000503000000020004" pitchFamily="50" charset="-127"/>
                  <a:cs typeface="Pretendard" panose="02000503000000020004" pitchFamily="50" charset="-127"/>
                </a:rPr>
                <a:t>비율 기반 통계 시각화</a:t>
              </a:r>
              <a:endParaRPr lang="en-US" sz="1400" b="1"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0" name="Shape 17"/>
            <p:cNvSpPr/>
            <p:nvPr/>
          </p:nvSpPr>
          <p:spPr>
            <a:xfrm>
              <a:off x="658368" y="4927870"/>
              <a:ext cx="201168" cy="201168"/>
            </a:xfrm>
            <a:prstGeom prst="ellipse">
              <a:avLst/>
            </a:prstGeom>
            <a:solidFill>
              <a:srgbClr val="1456F0"/>
            </a:solidFill>
            <a:ln w="12700">
              <a:solidFill>
                <a:srgbClr val="1456F0"/>
              </a:solidFill>
              <a:prstDash val="solid"/>
            </a:ln>
          </p:spPr>
        </p:sp>
        <p:sp>
          <p:nvSpPr>
            <p:cNvPr id="21" name="Text 18"/>
            <p:cNvSpPr/>
            <p:nvPr/>
          </p:nvSpPr>
          <p:spPr>
            <a:xfrm>
              <a:off x="658368" y="4927870"/>
              <a:ext cx="201168" cy="201168"/>
            </a:xfrm>
            <a:prstGeom prst="rect">
              <a:avLst/>
            </a:prstGeom>
            <a:noFill/>
            <a:ln/>
          </p:spPr>
          <p:txBody>
            <a:bodyPr wrap="square" lIns="0" tIns="0" rIns="0" bIns="0" rtlCol="0" anchor="ctr"/>
            <a:lstStyle/>
            <a:p>
              <a:pPr marL="0" indent="0" algn="ctr">
                <a:buNone/>
              </a:pPr>
              <a:r>
                <a:rPr lang="en-US" sz="1400" b="1" dirty="0">
                  <a:solidFill>
                    <a:srgbClr val="FFFFFF"/>
                  </a:solidFill>
                  <a:latin typeface="Pretendard" panose="02000503000000020004" pitchFamily="50" charset="-127"/>
                  <a:ea typeface="Pretendard" panose="02000503000000020004" pitchFamily="50" charset="-127"/>
                  <a:cs typeface="Pretendard" panose="02000503000000020004" pitchFamily="50" charset="-127"/>
                </a:rPr>
                <a:t>2</a:t>
              </a:r>
              <a:endParaRPr lang="en-US" sz="14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2" name="Text 19"/>
            <p:cNvSpPr/>
            <p:nvPr/>
          </p:nvSpPr>
          <p:spPr>
            <a:xfrm>
              <a:off x="914400" y="4933968"/>
              <a:ext cx="2407298" cy="274320"/>
            </a:xfrm>
            <a:prstGeom prst="rect">
              <a:avLst/>
            </a:prstGeom>
            <a:noFill/>
            <a:ln/>
          </p:spPr>
          <p:txBody>
            <a:bodyPr wrap="square" lIns="0" tIns="0" rIns="0" bIns="0" rtlCol="0" anchor="t"/>
            <a:lstStyle/>
            <a:p>
              <a:r>
                <a:rPr lang="ko-KR" altLang="en-US" sz="1400" b="1" dirty="0">
                  <a:latin typeface="Pretendard" panose="02000503000000020004" pitchFamily="50" charset="-127"/>
                  <a:ea typeface="Pretendard" panose="02000503000000020004" pitchFamily="50" charset="-127"/>
                  <a:cs typeface="Pretendard" panose="02000503000000020004" pitchFamily="50" charset="-127"/>
                </a:rPr>
                <a:t>엑셀 다운로드 및 이력 </a:t>
              </a:r>
              <a:r>
                <a:rPr lang="ko-KR" altLang="en-US" sz="1400" b="1">
                  <a:latin typeface="Pretendard" panose="02000503000000020004" pitchFamily="50" charset="-127"/>
                  <a:ea typeface="Pretendard" panose="02000503000000020004" pitchFamily="50" charset="-127"/>
                  <a:cs typeface="Pretendard" panose="02000503000000020004" pitchFamily="50" charset="-127"/>
                </a:rPr>
                <a:t>관리 추가</a:t>
              </a:r>
              <a:endParaRPr lang="en-US" sz="1400" b="1" dirty="0">
                <a:latin typeface="Pretendard" panose="02000503000000020004" pitchFamily="50" charset="-127"/>
                <a:ea typeface="Pretendard" panose="02000503000000020004" pitchFamily="50" charset="-127"/>
                <a:cs typeface="Pretendard" panose="02000503000000020004" pitchFamily="50" charset="-127"/>
              </a:endParaRPr>
            </a:p>
          </p:txBody>
        </p:sp>
      </p:grpSp>
      <p:grpSp>
        <p:nvGrpSpPr>
          <p:cNvPr id="24" name="그룹 23">
            <a:extLst>
              <a:ext uri="{FF2B5EF4-FFF2-40B4-BE49-F238E27FC236}">
                <a16:creationId xmlns:a16="http://schemas.microsoft.com/office/drawing/2014/main" id="{1A021EE6-C034-4F0F-9C55-195C6053A7EF}"/>
              </a:ext>
            </a:extLst>
          </p:cNvPr>
          <p:cNvGrpSpPr/>
          <p:nvPr/>
        </p:nvGrpSpPr>
        <p:grpSpPr>
          <a:xfrm>
            <a:off x="4295546" y="2190744"/>
            <a:ext cx="7266966" cy="3918978"/>
            <a:chOff x="4251274" y="2190744"/>
            <a:chExt cx="7266966" cy="3918978"/>
          </a:xfrm>
        </p:grpSpPr>
        <p:sp>
          <p:nvSpPr>
            <p:cNvPr id="28" name="Shape 25"/>
            <p:cNvSpPr/>
            <p:nvPr/>
          </p:nvSpPr>
          <p:spPr>
            <a:xfrm>
              <a:off x="4251274" y="2190744"/>
              <a:ext cx="3637178" cy="3918978"/>
            </a:xfrm>
            <a:prstGeom prst="roundRect">
              <a:avLst>
                <a:gd name="adj" fmla="val 4525"/>
              </a:avLst>
            </a:prstGeom>
            <a:solidFill>
              <a:srgbClr val="FDEEF8"/>
            </a:solidFill>
            <a:ln w="9525">
              <a:solidFill>
                <a:srgbClr val="F4C2E2"/>
              </a:solidFill>
              <a:prstDash val="solid"/>
            </a:ln>
            <a:effectLst>
              <a:outerShdw blurRad="76200" dist="25400" dir="5400000" algn="bl" rotWithShape="0">
                <a:srgbClr val="000000">
                  <a:alpha val="8000"/>
                </a:srgbClr>
              </a:outerShdw>
            </a:effectLst>
          </p:spPr>
        </p:sp>
        <p:sp>
          <p:nvSpPr>
            <p:cNvPr id="29" name="Shape 26"/>
            <p:cNvSpPr/>
            <p:nvPr/>
          </p:nvSpPr>
          <p:spPr>
            <a:xfrm>
              <a:off x="4286401" y="2213959"/>
              <a:ext cx="3618891" cy="56305"/>
            </a:xfrm>
            <a:prstGeom prst="rect">
              <a:avLst/>
            </a:prstGeom>
            <a:solidFill>
              <a:srgbClr val="EA5EC1"/>
            </a:solidFill>
            <a:ln w="12700">
              <a:solidFill>
                <a:srgbClr val="EA5EC1"/>
              </a:solidFill>
              <a:prstDash val="solid"/>
            </a:ln>
          </p:spPr>
        </p:sp>
        <p:sp>
          <p:nvSpPr>
            <p:cNvPr id="30" name="Shape 27"/>
            <p:cNvSpPr/>
            <p:nvPr/>
          </p:nvSpPr>
          <p:spPr>
            <a:xfrm>
              <a:off x="4478426" y="2369227"/>
              <a:ext cx="914400" cy="274320"/>
            </a:xfrm>
            <a:prstGeom prst="roundRect">
              <a:avLst>
                <a:gd name="adj" fmla="val 50000"/>
              </a:avLst>
            </a:prstGeom>
            <a:solidFill>
              <a:srgbClr val="EA5EC1"/>
            </a:solidFill>
            <a:ln w="12700">
              <a:solidFill>
                <a:srgbClr val="EA5EC1"/>
              </a:solidFill>
              <a:prstDash val="solid"/>
            </a:ln>
          </p:spPr>
        </p:sp>
        <p:sp>
          <p:nvSpPr>
            <p:cNvPr id="31" name="Text 28"/>
            <p:cNvSpPr/>
            <p:nvPr/>
          </p:nvSpPr>
          <p:spPr>
            <a:xfrm>
              <a:off x="4478426" y="2369227"/>
              <a:ext cx="914400" cy="274320"/>
            </a:xfrm>
            <a:prstGeom prst="rect">
              <a:avLst/>
            </a:prstGeom>
            <a:noFill/>
            <a:ln/>
          </p:spPr>
          <p:txBody>
            <a:bodyPr wrap="square" lIns="0" tIns="0" rIns="0" bIns="0" rtlCol="0" anchor="ctr"/>
            <a:lstStyle/>
            <a:p>
              <a:pPr marL="0" indent="0" algn="ctr">
                <a:buNone/>
              </a:pPr>
              <a:r>
                <a:rPr lang="ko-KR" altLang="en-US" sz="1100" b="1" kern="0" spc="150" dirty="0">
                  <a:solidFill>
                    <a:srgbClr val="FFFFFF"/>
                  </a:solidFill>
                  <a:latin typeface="Pretendard" panose="02000503000000020004" pitchFamily="50" charset="-127"/>
                  <a:ea typeface="Pretendard" panose="02000503000000020004" pitchFamily="50" charset="-127"/>
                  <a:cs typeface="Pretendard" panose="02000503000000020004" pitchFamily="50" charset="-127"/>
                </a:rPr>
                <a:t>사용자</a:t>
              </a:r>
              <a:endParaRPr lang="en-US" sz="11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3" name="Text 30"/>
            <p:cNvSpPr/>
            <p:nvPr/>
          </p:nvSpPr>
          <p:spPr>
            <a:xfrm>
              <a:off x="4478426" y="2822473"/>
              <a:ext cx="3271418" cy="457200"/>
            </a:xfrm>
            <a:prstGeom prst="rect">
              <a:avLst/>
            </a:prstGeom>
            <a:noFill/>
            <a:ln/>
          </p:spPr>
          <p:txBody>
            <a:bodyPr wrap="square" lIns="0" tIns="0" rIns="0" bIns="0" rtlCol="0" anchor="t"/>
            <a:lstStyle/>
            <a:p>
              <a:r>
                <a:rPr lang="en-US" sz="1600" b="1" kern="0" spc="-20"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설문 참여 </a:t>
              </a:r>
              <a:r>
                <a:rPr lang="en-US" sz="1600" b="1" kern="0" spc="-20" dirty="0" err="1">
                  <a:solidFill>
                    <a:srgbClr val="222222"/>
                  </a:solidFill>
                  <a:latin typeface="Pretendard" panose="02000503000000020004" pitchFamily="50" charset="-127"/>
                  <a:ea typeface="Pretendard" panose="02000503000000020004" pitchFamily="50" charset="-127"/>
                  <a:cs typeface="Pretendard" panose="02000503000000020004" pitchFamily="50" charset="-127"/>
                </a:rPr>
                <a:t>편의성</a:t>
              </a:r>
              <a:r>
                <a:rPr lang="en-US" sz="1600" b="1" kern="0" spc="-20"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 </a:t>
              </a:r>
              <a:r>
                <a:rPr lang="en-US" sz="1600" b="1" kern="0" spc="-20" dirty="0" err="1">
                  <a:solidFill>
                    <a:srgbClr val="222222"/>
                  </a:solidFill>
                  <a:latin typeface="Pretendard" panose="02000503000000020004" pitchFamily="50" charset="-127"/>
                  <a:ea typeface="Pretendard" panose="02000503000000020004" pitchFamily="50" charset="-127"/>
                  <a:cs typeface="Pretendard" panose="02000503000000020004" pitchFamily="50" charset="-127"/>
                </a:rPr>
                <a:t>향상</a:t>
              </a:r>
              <a:endParaRPr lang="en-US" altLang="ko-KR" sz="1600" dirty="0">
                <a:latin typeface="Pretendard" panose="02000503000000020004" pitchFamily="50" charset="-127"/>
                <a:ea typeface="Pretendard" panose="02000503000000020004" pitchFamily="50" charset="-127"/>
                <a:cs typeface="Pretendard" panose="02000503000000020004" pitchFamily="50" charset="-127"/>
              </a:endParaRPr>
            </a:p>
            <a:p>
              <a:pPr marL="0" indent="0" algn="l">
                <a:buNone/>
              </a:pPr>
              <a:endParaRPr lang="en-US" sz="16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4" name="Text 31"/>
            <p:cNvSpPr/>
            <p:nvPr/>
          </p:nvSpPr>
          <p:spPr>
            <a:xfrm>
              <a:off x="4478426" y="3169057"/>
              <a:ext cx="3271418" cy="329184"/>
            </a:xfrm>
            <a:prstGeom prst="rect">
              <a:avLst/>
            </a:prstGeom>
            <a:noFill/>
            <a:ln/>
          </p:spPr>
          <p:txBody>
            <a:bodyPr wrap="square" lIns="0" tIns="0" rIns="0" bIns="0" rtlCol="0" anchor="t"/>
            <a:lstStyle/>
            <a:p>
              <a:r>
                <a:rPr lang="ko-KR" altLang="en-US" sz="1200" dirty="0">
                  <a:latin typeface="Pretendard" panose="02000503000000020004" pitchFamily="50" charset="-127"/>
                  <a:ea typeface="Pretendard" panose="02000503000000020004" pitchFamily="50" charset="-127"/>
                  <a:cs typeface="Pretendard" panose="02000503000000020004" pitchFamily="50" charset="-127"/>
                </a:rPr>
                <a:t>직관적인 응답 화면과 설문 상태 유지로 설문 참여 부담 완화</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5" name="Shape 32"/>
            <p:cNvSpPr/>
            <p:nvPr/>
          </p:nvSpPr>
          <p:spPr>
            <a:xfrm>
              <a:off x="4478426" y="3823452"/>
              <a:ext cx="3234842" cy="0"/>
            </a:xfrm>
            <a:prstGeom prst="line">
              <a:avLst/>
            </a:prstGeom>
            <a:noFill/>
            <a:ln w="9525">
              <a:solidFill>
                <a:srgbClr val="E5E7EB"/>
              </a:solidFill>
              <a:prstDash val="solid"/>
            </a:ln>
          </p:spPr>
        </p:sp>
        <p:sp>
          <p:nvSpPr>
            <p:cNvPr id="36" name="Shape 33"/>
            <p:cNvSpPr/>
            <p:nvPr/>
          </p:nvSpPr>
          <p:spPr>
            <a:xfrm>
              <a:off x="4478426" y="4124976"/>
              <a:ext cx="201168" cy="201168"/>
            </a:xfrm>
            <a:prstGeom prst="ellipse">
              <a:avLst/>
            </a:prstGeom>
            <a:solidFill>
              <a:srgbClr val="EA5EC1"/>
            </a:solidFill>
            <a:ln w="12700">
              <a:solidFill>
                <a:srgbClr val="EA5EC1"/>
              </a:solidFill>
              <a:prstDash val="solid"/>
            </a:ln>
          </p:spPr>
        </p:sp>
        <p:sp>
          <p:nvSpPr>
            <p:cNvPr id="37" name="Text 34"/>
            <p:cNvSpPr/>
            <p:nvPr/>
          </p:nvSpPr>
          <p:spPr>
            <a:xfrm>
              <a:off x="4487530" y="4120153"/>
              <a:ext cx="201168" cy="201168"/>
            </a:xfrm>
            <a:prstGeom prst="rect">
              <a:avLst/>
            </a:prstGeom>
            <a:noFill/>
            <a:ln/>
          </p:spPr>
          <p:txBody>
            <a:bodyPr wrap="square" lIns="0" tIns="0" rIns="0" bIns="0" rtlCol="0" anchor="ctr"/>
            <a:lstStyle/>
            <a:p>
              <a:pPr marL="0" indent="0" algn="ctr">
                <a:buNone/>
              </a:pPr>
              <a:r>
                <a:rPr lang="en-US" sz="1400" b="1" dirty="0">
                  <a:solidFill>
                    <a:srgbClr val="FFFFFF"/>
                  </a:solidFill>
                  <a:latin typeface="Pretendard" panose="02000503000000020004" pitchFamily="50" charset="-127"/>
                  <a:ea typeface="Pretendard" panose="02000503000000020004" pitchFamily="50" charset="-127"/>
                  <a:cs typeface="Pretendard" panose="02000503000000020004" pitchFamily="50" charset="-127"/>
                </a:rPr>
                <a:t>1</a:t>
              </a:r>
              <a:endParaRPr lang="en-US" sz="14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8" name="Text 35"/>
            <p:cNvSpPr/>
            <p:nvPr/>
          </p:nvSpPr>
          <p:spPr>
            <a:xfrm>
              <a:off x="4715637" y="4107704"/>
              <a:ext cx="3015386" cy="274320"/>
            </a:xfrm>
            <a:prstGeom prst="rect">
              <a:avLst/>
            </a:prstGeom>
            <a:noFill/>
            <a:ln/>
          </p:spPr>
          <p:txBody>
            <a:bodyPr wrap="square" lIns="0" tIns="0" rIns="0" bIns="0" rtlCol="0" anchor="t"/>
            <a:lstStyle/>
            <a:p>
              <a:r>
                <a:rPr lang="ko-KR" altLang="en-US" sz="1400" b="1" dirty="0">
                  <a:latin typeface="Pretendard" panose="02000503000000020004" pitchFamily="50" charset="-127"/>
                  <a:ea typeface="Pretendard" panose="02000503000000020004" pitchFamily="50" charset="-127"/>
                  <a:cs typeface="Pretendard" panose="02000503000000020004" pitchFamily="50" charset="-127"/>
                </a:rPr>
                <a:t>설문 응답 화면 </a:t>
              </a:r>
              <a:r>
                <a:rPr lang="en-US" altLang="ko-KR" sz="1400" b="1" dirty="0">
                  <a:latin typeface="Pretendard" panose="02000503000000020004" pitchFamily="50" charset="-127"/>
                  <a:ea typeface="Pretendard" panose="02000503000000020004" pitchFamily="50" charset="-127"/>
                  <a:cs typeface="Pretendard" panose="02000503000000020004" pitchFamily="50" charset="-127"/>
                </a:rPr>
                <a:t>UI </a:t>
              </a:r>
              <a:r>
                <a:rPr lang="ko-KR" altLang="en-US" sz="1400" b="1" dirty="0">
                  <a:latin typeface="Pretendard" panose="02000503000000020004" pitchFamily="50" charset="-127"/>
                  <a:ea typeface="Pretendard" panose="02000503000000020004" pitchFamily="50" charset="-127"/>
                  <a:cs typeface="Pretendard" panose="02000503000000020004" pitchFamily="50" charset="-127"/>
                </a:rPr>
                <a:t>및 </a:t>
              </a:r>
              <a:r>
                <a:rPr lang="en-US" altLang="ko-KR" sz="1400" b="1" dirty="0">
                  <a:latin typeface="Pretendard" panose="02000503000000020004" pitchFamily="50" charset="-127"/>
                  <a:ea typeface="Pretendard" panose="02000503000000020004" pitchFamily="50" charset="-127"/>
                  <a:cs typeface="Pretendard" panose="02000503000000020004" pitchFamily="50" charset="-127"/>
                </a:rPr>
                <a:t>UX </a:t>
              </a:r>
              <a:r>
                <a:rPr lang="ko-KR" altLang="en-US" sz="1400" b="1" dirty="0">
                  <a:latin typeface="Pretendard" panose="02000503000000020004" pitchFamily="50" charset="-127"/>
                  <a:ea typeface="Pretendard" panose="02000503000000020004" pitchFamily="50" charset="-127"/>
                  <a:cs typeface="Pretendard" panose="02000503000000020004" pitchFamily="50" charset="-127"/>
                </a:rPr>
                <a:t>개선</a:t>
              </a:r>
              <a:endParaRPr lang="en-US" sz="1400" b="1"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0" name="Shape 37"/>
            <p:cNvSpPr/>
            <p:nvPr/>
          </p:nvSpPr>
          <p:spPr>
            <a:xfrm>
              <a:off x="4460139" y="4927870"/>
              <a:ext cx="201168" cy="201168"/>
            </a:xfrm>
            <a:prstGeom prst="ellipse">
              <a:avLst/>
            </a:prstGeom>
            <a:solidFill>
              <a:srgbClr val="EA5EC1"/>
            </a:solidFill>
            <a:ln w="12700">
              <a:solidFill>
                <a:srgbClr val="EA5EC1"/>
              </a:solidFill>
              <a:prstDash val="solid"/>
            </a:ln>
          </p:spPr>
        </p:sp>
        <p:sp>
          <p:nvSpPr>
            <p:cNvPr id="41" name="Text 38"/>
            <p:cNvSpPr/>
            <p:nvPr/>
          </p:nvSpPr>
          <p:spPr>
            <a:xfrm>
              <a:off x="4460139" y="4927870"/>
              <a:ext cx="201168" cy="201168"/>
            </a:xfrm>
            <a:prstGeom prst="rect">
              <a:avLst/>
            </a:prstGeom>
            <a:noFill/>
            <a:ln/>
          </p:spPr>
          <p:txBody>
            <a:bodyPr wrap="square" lIns="0" tIns="0" rIns="0" bIns="0" rtlCol="0" anchor="ctr"/>
            <a:lstStyle/>
            <a:p>
              <a:pPr marL="0" indent="0" algn="ctr">
                <a:buNone/>
              </a:pPr>
              <a:r>
                <a:rPr lang="en-US" sz="1400" b="1" dirty="0">
                  <a:solidFill>
                    <a:srgbClr val="FFFFFF"/>
                  </a:solidFill>
                  <a:latin typeface="Pretendard" panose="02000503000000020004" pitchFamily="50" charset="-127"/>
                  <a:ea typeface="Pretendard" panose="02000503000000020004" pitchFamily="50" charset="-127"/>
                  <a:cs typeface="Pretendard" panose="02000503000000020004" pitchFamily="50" charset="-127"/>
                </a:rPr>
                <a:t>2</a:t>
              </a:r>
              <a:endParaRPr lang="en-US" sz="14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2" name="Text 39"/>
            <p:cNvSpPr/>
            <p:nvPr/>
          </p:nvSpPr>
          <p:spPr>
            <a:xfrm>
              <a:off x="4716171" y="4927870"/>
              <a:ext cx="3015386" cy="274320"/>
            </a:xfrm>
            <a:prstGeom prst="rect">
              <a:avLst/>
            </a:prstGeom>
            <a:noFill/>
            <a:ln/>
          </p:spPr>
          <p:txBody>
            <a:bodyPr wrap="square" lIns="0" tIns="0" rIns="0" bIns="0" rtlCol="0" anchor="t"/>
            <a:lstStyle/>
            <a:p>
              <a:pPr marL="0" indent="0" algn="l">
                <a:buNone/>
              </a:pPr>
              <a:r>
                <a:rPr lang="en-US" sz="1400" b="1"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실시간 </a:t>
              </a:r>
              <a:r>
                <a:rPr lang="en-US" sz="1400" b="1" dirty="0" err="1">
                  <a:solidFill>
                    <a:srgbClr val="222222"/>
                  </a:solidFill>
                  <a:latin typeface="Pretendard" panose="02000503000000020004" pitchFamily="50" charset="-127"/>
                  <a:ea typeface="Pretendard" panose="02000503000000020004" pitchFamily="50" charset="-127"/>
                  <a:cs typeface="Pretendard" panose="02000503000000020004" pitchFamily="50" charset="-127"/>
                </a:rPr>
                <a:t>진행률</a:t>
              </a:r>
              <a:r>
                <a:rPr lang="en-US" sz="1400" b="1"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 </a:t>
              </a:r>
              <a:r>
                <a:rPr lang="ko-KR" altLang="en-US" sz="1400" b="1"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및 설문 이어하기 추가</a:t>
              </a:r>
              <a:endParaRPr lang="en-US" sz="14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59" name="Text 30">
              <a:extLst>
                <a:ext uri="{FF2B5EF4-FFF2-40B4-BE49-F238E27FC236}">
                  <a16:creationId xmlns:a16="http://schemas.microsoft.com/office/drawing/2014/main" id="{D9CDFE8E-8059-456E-B59B-B24C3771DEF1}"/>
                </a:ext>
              </a:extLst>
            </p:cNvPr>
            <p:cNvSpPr/>
            <p:nvPr/>
          </p:nvSpPr>
          <p:spPr>
            <a:xfrm>
              <a:off x="8246822" y="2822473"/>
              <a:ext cx="3271418" cy="270672"/>
            </a:xfrm>
            <a:prstGeom prst="rect">
              <a:avLst/>
            </a:prstGeom>
            <a:noFill/>
            <a:ln/>
          </p:spPr>
          <p:txBody>
            <a:bodyPr wrap="square" lIns="0" tIns="0" rIns="0" bIns="0" rtlCol="0" anchor="t"/>
            <a:lstStyle/>
            <a:p>
              <a:r>
                <a:rPr lang="en-US" altLang="ko-KR" sz="1600" b="1" kern="0" spc="-20" dirty="0" err="1">
                  <a:solidFill>
                    <a:srgbClr val="222222"/>
                  </a:solidFill>
                  <a:latin typeface="Pretendard" panose="02000503000000020004" pitchFamily="50" charset="-127"/>
                  <a:ea typeface="Pretendard" panose="02000503000000020004" pitchFamily="50" charset="-127"/>
                  <a:cs typeface="Pretendard" panose="02000503000000020004" pitchFamily="50" charset="-127"/>
                </a:rPr>
                <a:t>유지보수성</a:t>
              </a:r>
              <a:r>
                <a:rPr lang="en-US" altLang="ko-KR" sz="1600" b="1" kern="0" spc="-20"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 및 </a:t>
              </a:r>
              <a:r>
                <a:rPr lang="en-US" altLang="ko-KR" sz="1600" b="1" kern="0" spc="-20" dirty="0" err="1">
                  <a:solidFill>
                    <a:srgbClr val="222222"/>
                  </a:solidFill>
                  <a:latin typeface="Pretendard" panose="02000503000000020004" pitchFamily="50" charset="-127"/>
                  <a:ea typeface="Pretendard" panose="02000503000000020004" pitchFamily="50" charset="-127"/>
                  <a:cs typeface="Pretendard" panose="02000503000000020004" pitchFamily="50" charset="-127"/>
                </a:rPr>
                <a:t>확장성</a:t>
              </a:r>
              <a:r>
                <a:rPr lang="en-US" altLang="ko-KR" sz="1600" b="1" kern="0" spc="-20"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 </a:t>
              </a:r>
              <a:r>
                <a:rPr lang="en-US" altLang="ko-KR" sz="1600" b="1" kern="0" spc="-20" dirty="0" err="1">
                  <a:solidFill>
                    <a:srgbClr val="222222"/>
                  </a:solidFill>
                  <a:latin typeface="Pretendard" panose="02000503000000020004" pitchFamily="50" charset="-127"/>
                  <a:ea typeface="Pretendard" panose="02000503000000020004" pitchFamily="50" charset="-127"/>
                  <a:cs typeface="Pretendard" panose="02000503000000020004" pitchFamily="50" charset="-127"/>
                </a:rPr>
                <a:t>향상</a:t>
              </a:r>
              <a:endParaRPr lang="en-US" altLang="ko-KR" sz="1600" dirty="0">
                <a:latin typeface="Pretendard" panose="02000503000000020004" pitchFamily="50" charset="-127"/>
                <a:ea typeface="Pretendard" panose="02000503000000020004" pitchFamily="50" charset="-127"/>
                <a:cs typeface="Pretendard" panose="02000503000000020004" pitchFamily="50" charset="-127"/>
              </a:endParaRPr>
            </a:p>
            <a:p>
              <a:pPr marL="0" indent="0" algn="l">
                <a:buNone/>
              </a:pPr>
              <a:endParaRPr lang="en-US" sz="1600" dirty="0">
                <a:latin typeface="Pretendard" panose="02000503000000020004" pitchFamily="50" charset="-127"/>
                <a:ea typeface="Pretendard" panose="02000503000000020004" pitchFamily="50" charset="-127"/>
                <a:cs typeface="Pretendard" panose="02000503000000020004" pitchFamily="50" charset="-127"/>
              </a:endParaRPr>
            </a:p>
          </p:txBody>
        </p:sp>
      </p:grpSp>
    </p:spTree>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5486400" cy="274320"/>
          </a:xfrm>
          <a:prstGeom prst="rect">
            <a:avLst/>
          </a:prstGeom>
          <a:noFill/>
          <a:ln/>
        </p:spPr>
        <p:txBody>
          <a:bodyPr wrap="square" lIns="0" tIns="0" rIns="0" bIns="0" rtlCol="0" anchor="ctr"/>
          <a:lstStyle/>
          <a:p>
            <a:r>
              <a:rPr lang="en-US" sz="12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04. </a:t>
            </a:r>
            <a:r>
              <a:rPr lang="ko-KR" altLang="en-US" sz="12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주요 개선 기능</a:t>
            </a:r>
            <a:endParaRPr lang="en-US" altLang="ko-KR" sz="1200" dirty="0">
              <a:latin typeface="Pretendard" panose="02000503000000020004" pitchFamily="50" charset="-127"/>
              <a:ea typeface="Pretendard" panose="02000503000000020004" pitchFamily="50" charset="-127"/>
              <a:cs typeface="Pretendard" panose="02000503000000020004" pitchFamily="50" charset="-127"/>
            </a:endParaRPr>
          </a:p>
        </p:txBody>
      </p:sp>
      <p:pic>
        <p:nvPicPr>
          <p:cNvPr id="3" name="Image 0" descr="Woongjin_logo_transparent.png"/>
          <p:cNvPicPr>
            <a:picLocks noChangeAspect="1"/>
          </p:cNvPicPr>
          <p:nvPr/>
        </p:nvPicPr>
        <p:blipFill>
          <a:blip r:embed="rId3"/>
          <a:stretch>
            <a:fillRect/>
          </a:stretch>
        </p:blipFill>
        <p:spPr>
          <a:xfrm>
            <a:off x="10911535" y="262890"/>
            <a:ext cx="822960" cy="480060"/>
          </a:xfrm>
          <a:prstGeom prst="rect">
            <a:avLst/>
          </a:prstGeom>
        </p:spPr>
      </p:pic>
      <p:sp>
        <p:nvSpPr>
          <p:cNvPr id="4" name="Text 1"/>
          <p:cNvSpPr/>
          <p:nvPr/>
        </p:nvSpPr>
        <p:spPr>
          <a:xfrm>
            <a:off x="457200" y="6452871"/>
            <a:ext cx="2743200" cy="228600"/>
          </a:xfrm>
          <a:prstGeom prst="rect">
            <a:avLst/>
          </a:prstGeom>
          <a:noFill/>
          <a:ln/>
        </p:spPr>
        <p:txBody>
          <a:bodyPr wrap="square" lIns="0" tIns="0" rIns="0" bIns="0" rtlCol="0" anchor="ctr"/>
          <a:lstStyle/>
          <a:p>
            <a:pPr marL="0" indent="0" algn="l">
              <a:buNone/>
            </a:pPr>
            <a:r>
              <a:rPr lang="en-US" sz="10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07</a:t>
            </a:r>
            <a:endParaRPr lang="en-US" sz="1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6" name="Text 3"/>
          <p:cNvSpPr/>
          <p:nvPr/>
        </p:nvSpPr>
        <p:spPr>
          <a:xfrm>
            <a:off x="457200" y="935981"/>
            <a:ext cx="11277295" cy="685800"/>
          </a:xfrm>
          <a:prstGeom prst="rect">
            <a:avLst/>
          </a:prstGeom>
          <a:noFill/>
          <a:ln/>
        </p:spPr>
        <p:txBody>
          <a:bodyPr wrap="square" lIns="0" tIns="0" rIns="0" bIns="0" rtlCol="0" anchor="t"/>
          <a:lstStyle/>
          <a:p>
            <a:pPr marL="0" indent="0" algn="l">
              <a:buNone/>
            </a:pPr>
            <a:r>
              <a:rPr lang="en-US" sz="2400" b="1" kern="0" spc="-50"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UI 및 UX 개</a:t>
            </a:r>
            <a:r>
              <a:rPr lang="ko-KR" altLang="en-US" sz="2400" b="1" kern="0" spc="-50"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선</a:t>
            </a:r>
            <a:endParaRPr lang="en-US" sz="24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7" name="Text 4"/>
          <p:cNvSpPr/>
          <p:nvPr/>
        </p:nvSpPr>
        <p:spPr>
          <a:xfrm>
            <a:off x="457199" y="1388389"/>
            <a:ext cx="11277295" cy="292608"/>
          </a:xfrm>
          <a:prstGeom prst="rect">
            <a:avLst/>
          </a:prstGeom>
          <a:noFill/>
          <a:ln/>
        </p:spPr>
        <p:txBody>
          <a:bodyPr wrap="square" lIns="0" tIns="0" rIns="0" bIns="0" rtlCol="0" anchor="t"/>
          <a:lstStyle/>
          <a:p>
            <a:r>
              <a:rPr lang="ko-KR" altLang="en-US" sz="1600" dirty="0">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rPr>
              <a:t>설문 참여자가 쉽게 이해하고 응답할 수 있도록 화면 구조와 응답 흐름을 개선했습니다</a:t>
            </a:r>
            <a:r>
              <a:rPr lang="en-US" altLang="ko-KR" sz="1600" dirty="0">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rPr>
              <a:t>.</a:t>
            </a:r>
            <a:endParaRPr lang="en-US" sz="1600" dirty="0">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endParaRPr>
          </a:p>
        </p:txBody>
      </p:sp>
      <p:sp>
        <p:nvSpPr>
          <p:cNvPr id="34" name="Shape 31"/>
          <p:cNvSpPr/>
          <p:nvPr/>
        </p:nvSpPr>
        <p:spPr>
          <a:xfrm>
            <a:off x="457200" y="5148146"/>
            <a:ext cx="3637178" cy="1269386"/>
          </a:xfrm>
          <a:prstGeom prst="roundRect">
            <a:avLst>
              <a:gd name="adj" fmla="val 10000"/>
            </a:avLst>
          </a:prstGeom>
          <a:solidFill>
            <a:srgbClr val="FFFFFF"/>
          </a:solidFill>
          <a:ln w="9525">
            <a:solidFill>
              <a:srgbClr val="E5E7EB"/>
            </a:solidFill>
            <a:prstDash val="solid"/>
          </a:ln>
          <a:effectLst>
            <a:outerShdw blurRad="76200" dist="25400" dir="5400000" algn="bl" rotWithShape="0">
              <a:srgbClr val="000000">
                <a:alpha val="8000"/>
              </a:srgbClr>
            </a:outerShdw>
          </a:effectLst>
        </p:spPr>
      </p:sp>
      <p:sp>
        <p:nvSpPr>
          <p:cNvPr id="35" name="Shape 32"/>
          <p:cNvSpPr/>
          <p:nvPr/>
        </p:nvSpPr>
        <p:spPr>
          <a:xfrm>
            <a:off x="457200" y="5148146"/>
            <a:ext cx="3637178" cy="54864"/>
          </a:xfrm>
          <a:prstGeom prst="rect">
            <a:avLst/>
          </a:prstGeom>
          <a:solidFill>
            <a:srgbClr val="1456F0"/>
          </a:solidFill>
          <a:ln w="12700">
            <a:solidFill>
              <a:srgbClr val="1456F0"/>
            </a:solidFill>
            <a:prstDash val="solid"/>
          </a:ln>
        </p:spPr>
      </p:sp>
      <p:sp>
        <p:nvSpPr>
          <p:cNvPr id="36" name="Text 33"/>
          <p:cNvSpPr/>
          <p:nvPr/>
        </p:nvSpPr>
        <p:spPr>
          <a:xfrm>
            <a:off x="658368" y="5248241"/>
            <a:ext cx="640080" cy="365760"/>
          </a:xfrm>
          <a:prstGeom prst="rect">
            <a:avLst/>
          </a:prstGeom>
          <a:noFill/>
          <a:ln/>
        </p:spPr>
        <p:txBody>
          <a:bodyPr wrap="square" lIns="0" tIns="0" rIns="0" bIns="0" rtlCol="0" anchor="t"/>
          <a:lstStyle/>
          <a:p>
            <a:pPr marL="0" indent="0" algn="l">
              <a:buNone/>
            </a:pPr>
            <a:r>
              <a:rPr lang="en-US" sz="2000" b="1" kern="0" spc="-50" dirty="0">
                <a:solidFill>
                  <a:srgbClr val="1456F0"/>
                </a:solidFill>
                <a:latin typeface="Pretendard" panose="02000503000000020004" pitchFamily="50" charset="-127"/>
                <a:ea typeface="Pretendard" panose="02000503000000020004" pitchFamily="50" charset="-127"/>
                <a:cs typeface="Pretendard" panose="02000503000000020004" pitchFamily="50" charset="-127"/>
              </a:rPr>
              <a:t>01</a:t>
            </a:r>
            <a:endParaRPr lang="en-US" sz="2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9" name="Text 36"/>
          <p:cNvSpPr/>
          <p:nvPr/>
        </p:nvSpPr>
        <p:spPr>
          <a:xfrm>
            <a:off x="658368" y="5640291"/>
            <a:ext cx="3271418" cy="320040"/>
          </a:xfrm>
          <a:prstGeom prst="rect">
            <a:avLst/>
          </a:prstGeom>
          <a:noFill/>
          <a:ln/>
        </p:spPr>
        <p:txBody>
          <a:bodyPr wrap="square" lIns="0" tIns="0" rIns="0" bIns="0" rtlCol="0" anchor="t"/>
          <a:lstStyle/>
          <a:p>
            <a:r>
              <a:rPr lang="ko-KR" altLang="en-US" sz="1400" b="1" dirty="0">
                <a:latin typeface="Pretendard" panose="02000503000000020004" pitchFamily="50" charset="-127"/>
                <a:ea typeface="Pretendard" panose="02000503000000020004" pitchFamily="50" charset="-127"/>
                <a:cs typeface="Pretendard" panose="02000503000000020004" pitchFamily="50" charset="-127"/>
              </a:rPr>
              <a:t>설문 응답 화면 가독성 개선</a:t>
            </a:r>
            <a:endParaRPr lang="en-US" sz="1350" b="1"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0" name="Text 37"/>
          <p:cNvSpPr/>
          <p:nvPr/>
        </p:nvSpPr>
        <p:spPr>
          <a:xfrm>
            <a:off x="658368" y="5960331"/>
            <a:ext cx="3271418" cy="457200"/>
          </a:xfrm>
          <a:prstGeom prst="rect">
            <a:avLst/>
          </a:prstGeom>
          <a:noFill/>
          <a:ln/>
        </p:spPr>
        <p:txBody>
          <a:bodyPr wrap="square" lIns="0" tIns="0" rIns="0" bIns="0" rtlCol="0" anchor="t"/>
          <a:lstStyle/>
          <a:p>
            <a:r>
              <a:rPr lang="en-US" altLang="ko-KR" sz="1200" b="1" dirty="0">
                <a:solidFill>
                  <a:srgbClr val="1456F0"/>
                </a:solidFill>
                <a:latin typeface="Pretendard" panose="02000503000000020004" pitchFamily="50" charset="-127"/>
                <a:ea typeface="Pretendard" panose="02000503000000020004" pitchFamily="50" charset="-127"/>
                <a:cs typeface="Pretendard" panose="02000503000000020004" pitchFamily="50" charset="-127"/>
              </a:rPr>
              <a:t>• </a:t>
            </a:r>
            <a:r>
              <a:rPr lang="ko-KR" altLang="en-US" sz="1200" dirty="0">
                <a:latin typeface="Pretendard" panose="02000503000000020004" pitchFamily="50" charset="-127"/>
                <a:ea typeface="Pretendard" panose="02000503000000020004" pitchFamily="50" charset="-127"/>
                <a:cs typeface="Pretendard" panose="02000503000000020004" pitchFamily="50" charset="-127"/>
              </a:rPr>
              <a:t>문항 단위 카드 레이아웃을 적용해 사용자가 문항과 선택지를 쉽게 구분하도록 개선</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1" name="Shape 38"/>
          <p:cNvSpPr/>
          <p:nvPr/>
        </p:nvSpPr>
        <p:spPr>
          <a:xfrm>
            <a:off x="8152180" y="5143933"/>
            <a:ext cx="3637178" cy="1273598"/>
          </a:xfrm>
          <a:prstGeom prst="roundRect">
            <a:avLst>
              <a:gd name="adj" fmla="val 10000"/>
            </a:avLst>
          </a:prstGeom>
          <a:solidFill>
            <a:srgbClr val="FFFFFF"/>
          </a:solidFill>
          <a:ln w="9525">
            <a:solidFill>
              <a:srgbClr val="E5E7EB"/>
            </a:solidFill>
            <a:prstDash val="solid"/>
          </a:ln>
          <a:effectLst>
            <a:outerShdw blurRad="76200" dist="25400" dir="5400000" algn="bl" rotWithShape="0">
              <a:srgbClr val="000000">
                <a:alpha val="8000"/>
              </a:srgbClr>
            </a:outerShdw>
          </a:effectLst>
        </p:spPr>
      </p:sp>
      <p:sp>
        <p:nvSpPr>
          <p:cNvPr id="42" name="Shape 39"/>
          <p:cNvSpPr/>
          <p:nvPr/>
        </p:nvSpPr>
        <p:spPr>
          <a:xfrm>
            <a:off x="8152180" y="5148146"/>
            <a:ext cx="3637178" cy="54864"/>
          </a:xfrm>
          <a:prstGeom prst="rect">
            <a:avLst/>
          </a:prstGeom>
          <a:solidFill>
            <a:srgbClr val="1456F0"/>
          </a:solidFill>
          <a:ln w="12700">
            <a:solidFill>
              <a:srgbClr val="1456F0"/>
            </a:solidFill>
            <a:prstDash val="solid"/>
          </a:ln>
        </p:spPr>
      </p:sp>
      <p:sp>
        <p:nvSpPr>
          <p:cNvPr id="43" name="Text 40"/>
          <p:cNvSpPr/>
          <p:nvPr/>
        </p:nvSpPr>
        <p:spPr>
          <a:xfrm>
            <a:off x="8335060" y="5248241"/>
            <a:ext cx="640080" cy="365760"/>
          </a:xfrm>
          <a:prstGeom prst="rect">
            <a:avLst/>
          </a:prstGeom>
          <a:noFill/>
          <a:ln/>
        </p:spPr>
        <p:txBody>
          <a:bodyPr wrap="square" lIns="0" tIns="0" rIns="0" bIns="0" rtlCol="0" anchor="t"/>
          <a:lstStyle/>
          <a:p>
            <a:pPr marL="0" indent="0" algn="l">
              <a:buNone/>
            </a:pPr>
            <a:r>
              <a:rPr lang="en-US" sz="2000" b="1" kern="0" spc="-50" dirty="0">
                <a:solidFill>
                  <a:srgbClr val="1456F0"/>
                </a:solidFill>
                <a:latin typeface="Pretendard" panose="02000503000000020004" pitchFamily="50" charset="-127"/>
                <a:ea typeface="Pretendard" panose="02000503000000020004" pitchFamily="50" charset="-127"/>
                <a:cs typeface="Pretendard" panose="02000503000000020004" pitchFamily="50" charset="-127"/>
              </a:rPr>
              <a:t>03</a:t>
            </a:r>
            <a:endParaRPr lang="en-US" sz="2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6" name="Text 43"/>
          <p:cNvSpPr/>
          <p:nvPr/>
        </p:nvSpPr>
        <p:spPr>
          <a:xfrm>
            <a:off x="8335060" y="5640291"/>
            <a:ext cx="3271418" cy="320040"/>
          </a:xfrm>
          <a:prstGeom prst="rect">
            <a:avLst/>
          </a:prstGeom>
          <a:noFill/>
          <a:ln/>
        </p:spPr>
        <p:txBody>
          <a:bodyPr wrap="square" lIns="0" tIns="0" rIns="0" bIns="0" rtlCol="0" anchor="t"/>
          <a:lstStyle/>
          <a:p>
            <a:r>
              <a:rPr lang="ko-KR" altLang="en-US" sz="1400" b="1" dirty="0">
                <a:latin typeface="Pretendard" panose="02000503000000020004" pitchFamily="50" charset="-127"/>
                <a:ea typeface="Pretendard" panose="02000503000000020004" pitchFamily="50" charset="-127"/>
                <a:cs typeface="Pretendard" panose="02000503000000020004" pitchFamily="50" charset="-127"/>
              </a:rPr>
              <a:t>순위선택형 </a:t>
            </a:r>
            <a:r>
              <a:rPr lang="en-US" altLang="ko-KR" sz="1400" b="1" dirty="0">
                <a:latin typeface="Pretendard" panose="02000503000000020004" pitchFamily="50" charset="-127"/>
                <a:ea typeface="Pretendard" panose="02000503000000020004" pitchFamily="50" charset="-127"/>
                <a:cs typeface="Pretendard" panose="02000503000000020004" pitchFamily="50" charset="-127"/>
              </a:rPr>
              <a:t>Drag &amp; Drop </a:t>
            </a:r>
            <a:r>
              <a:rPr lang="ko-KR" altLang="en-US" sz="1400" b="1" dirty="0">
                <a:latin typeface="Pretendard" panose="02000503000000020004" pitchFamily="50" charset="-127"/>
                <a:ea typeface="Pretendard" panose="02000503000000020004" pitchFamily="50" charset="-127"/>
                <a:cs typeface="Pretendard" panose="02000503000000020004" pitchFamily="50" charset="-127"/>
              </a:rPr>
              <a:t>적용</a:t>
            </a:r>
            <a:endParaRPr lang="en-US" sz="1350" b="1"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7" name="Text 44"/>
          <p:cNvSpPr/>
          <p:nvPr/>
        </p:nvSpPr>
        <p:spPr>
          <a:xfrm>
            <a:off x="8335060" y="5948709"/>
            <a:ext cx="3271418" cy="457200"/>
          </a:xfrm>
          <a:prstGeom prst="rect">
            <a:avLst/>
          </a:prstGeom>
          <a:noFill/>
          <a:ln/>
        </p:spPr>
        <p:txBody>
          <a:bodyPr wrap="square" lIns="0" tIns="0" rIns="0" bIns="0" rtlCol="0" anchor="t"/>
          <a:lstStyle/>
          <a:p>
            <a:r>
              <a:rPr lang="en-US" altLang="ko-KR" sz="1200" b="1" dirty="0">
                <a:solidFill>
                  <a:srgbClr val="1456F0"/>
                </a:solidFill>
                <a:latin typeface="Pretendard" panose="02000503000000020004" pitchFamily="50" charset="-127"/>
                <a:ea typeface="Pretendard" panose="02000503000000020004" pitchFamily="50" charset="-127"/>
                <a:cs typeface="Pretendard" panose="02000503000000020004" pitchFamily="50" charset="-127"/>
              </a:rPr>
              <a:t>•</a:t>
            </a:r>
            <a:r>
              <a:rPr lang="en-US" altLang="ko-KR" sz="1200" dirty="0">
                <a:latin typeface="Pretendard" panose="02000503000000020004" pitchFamily="50" charset="-127"/>
                <a:ea typeface="Pretendard" panose="02000503000000020004" pitchFamily="50" charset="-127"/>
                <a:cs typeface="Pretendard" panose="02000503000000020004" pitchFamily="50" charset="-127"/>
              </a:rPr>
              <a:t>Drag &amp; Drop</a:t>
            </a:r>
            <a:r>
              <a:rPr lang="ko-KR" altLang="en-US" sz="1200" dirty="0">
                <a:latin typeface="Pretendard" panose="02000503000000020004" pitchFamily="50" charset="-127"/>
                <a:ea typeface="Pretendard" panose="02000503000000020004" pitchFamily="50" charset="-127"/>
                <a:cs typeface="Pretendard" panose="02000503000000020004" pitchFamily="50" charset="-127"/>
              </a:rPr>
              <a:t>으로 변경하여</a:t>
            </a:r>
            <a:r>
              <a:rPr lang="en-US" altLang="ko-KR" sz="1200" dirty="0">
                <a:latin typeface="Pretendard" panose="02000503000000020004" pitchFamily="50" charset="-127"/>
                <a:ea typeface="Pretendard" panose="02000503000000020004" pitchFamily="50" charset="-127"/>
                <a:cs typeface="Pretendard" panose="02000503000000020004" pitchFamily="50" charset="-127"/>
              </a:rPr>
              <a:t> </a:t>
            </a:r>
            <a:r>
              <a:rPr lang="ko-KR" altLang="en-US" sz="1200" dirty="0">
                <a:latin typeface="Pretendard" panose="02000503000000020004" pitchFamily="50" charset="-127"/>
                <a:ea typeface="Pretendard" panose="02000503000000020004" pitchFamily="50" charset="-127"/>
                <a:cs typeface="Pretendard" panose="02000503000000020004" pitchFamily="50" charset="-127"/>
              </a:rPr>
              <a:t>사용자가 항목을 직접 이동하며 순서를 정할 수 있도록 개선</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8" name="Shape 45"/>
          <p:cNvSpPr/>
          <p:nvPr/>
        </p:nvSpPr>
        <p:spPr>
          <a:xfrm>
            <a:off x="4332122" y="5129225"/>
            <a:ext cx="3637178" cy="1288306"/>
          </a:xfrm>
          <a:prstGeom prst="roundRect">
            <a:avLst>
              <a:gd name="adj" fmla="val 10000"/>
            </a:avLst>
          </a:prstGeom>
          <a:solidFill>
            <a:srgbClr val="FFFFFF"/>
          </a:solidFill>
          <a:ln w="9525">
            <a:solidFill>
              <a:srgbClr val="E5E7EB"/>
            </a:solidFill>
            <a:prstDash val="solid"/>
          </a:ln>
          <a:effectLst>
            <a:outerShdw blurRad="76200" dist="25400" dir="5400000" algn="bl" rotWithShape="0">
              <a:srgbClr val="000000">
                <a:alpha val="8000"/>
              </a:srgbClr>
            </a:outerShdw>
          </a:effectLst>
        </p:spPr>
      </p:sp>
      <p:sp>
        <p:nvSpPr>
          <p:cNvPr id="49" name="Shape 46"/>
          <p:cNvSpPr/>
          <p:nvPr/>
        </p:nvSpPr>
        <p:spPr>
          <a:xfrm>
            <a:off x="4313834" y="5148146"/>
            <a:ext cx="3637178" cy="54864"/>
          </a:xfrm>
          <a:prstGeom prst="rect">
            <a:avLst/>
          </a:prstGeom>
          <a:solidFill>
            <a:srgbClr val="1456F0"/>
          </a:solidFill>
          <a:ln w="12700">
            <a:solidFill>
              <a:srgbClr val="1456F0"/>
            </a:solidFill>
            <a:prstDash val="solid"/>
          </a:ln>
        </p:spPr>
      </p:sp>
      <p:sp>
        <p:nvSpPr>
          <p:cNvPr id="50" name="Text 47"/>
          <p:cNvSpPr/>
          <p:nvPr/>
        </p:nvSpPr>
        <p:spPr>
          <a:xfrm>
            <a:off x="4496714" y="5248241"/>
            <a:ext cx="640080" cy="365760"/>
          </a:xfrm>
          <a:prstGeom prst="rect">
            <a:avLst/>
          </a:prstGeom>
          <a:noFill/>
          <a:ln/>
        </p:spPr>
        <p:txBody>
          <a:bodyPr wrap="square" lIns="0" tIns="0" rIns="0" bIns="0" rtlCol="0" anchor="t"/>
          <a:lstStyle/>
          <a:p>
            <a:pPr marL="0" indent="0" algn="l">
              <a:buNone/>
            </a:pPr>
            <a:r>
              <a:rPr lang="en-US" sz="2000" b="1" kern="0" spc="-50" dirty="0">
                <a:solidFill>
                  <a:srgbClr val="1456F0"/>
                </a:solidFill>
                <a:latin typeface="Pretendard" panose="02000503000000020004" pitchFamily="50" charset="-127"/>
                <a:ea typeface="Pretendard" panose="02000503000000020004" pitchFamily="50" charset="-127"/>
                <a:cs typeface="Pretendard" panose="02000503000000020004" pitchFamily="50" charset="-127"/>
              </a:rPr>
              <a:t>02</a:t>
            </a:r>
            <a:endParaRPr lang="en-US" sz="2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53" name="Text 50"/>
          <p:cNvSpPr/>
          <p:nvPr/>
        </p:nvSpPr>
        <p:spPr>
          <a:xfrm>
            <a:off x="4496714" y="5640291"/>
            <a:ext cx="3271418" cy="320040"/>
          </a:xfrm>
          <a:prstGeom prst="rect">
            <a:avLst/>
          </a:prstGeom>
          <a:noFill/>
          <a:ln/>
        </p:spPr>
        <p:txBody>
          <a:bodyPr wrap="square" lIns="0" tIns="0" rIns="0" bIns="0" rtlCol="0" anchor="t"/>
          <a:lstStyle/>
          <a:p>
            <a:r>
              <a:rPr lang="ko-KR" altLang="en-US" sz="1400" b="1" dirty="0">
                <a:latin typeface="Pretendard" panose="02000503000000020004" pitchFamily="50" charset="-127"/>
                <a:ea typeface="Pretendard" panose="02000503000000020004" pitchFamily="50" charset="-127"/>
                <a:cs typeface="Pretendard" panose="02000503000000020004" pitchFamily="50" charset="-127"/>
              </a:rPr>
              <a:t>조건분기 흐름 안내 개선</a:t>
            </a:r>
            <a:endParaRPr lang="en-US" sz="1350" b="1"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54" name="Text 51"/>
          <p:cNvSpPr/>
          <p:nvPr/>
        </p:nvSpPr>
        <p:spPr>
          <a:xfrm>
            <a:off x="4496714" y="5960331"/>
            <a:ext cx="3271418" cy="457200"/>
          </a:xfrm>
          <a:prstGeom prst="rect">
            <a:avLst/>
          </a:prstGeom>
          <a:noFill/>
          <a:ln/>
        </p:spPr>
        <p:txBody>
          <a:bodyPr wrap="square" lIns="0" tIns="0" rIns="0" bIns="0" rtlCol="0" anchor="t"/>
          <a:lstStyle/>
          <a:p>
            <a:r>
              <a:rPr lang="en-US" altLang="ko-KR" sz="1200" b="1" dirty="0">
                <a:solidFill>
                  <a:srgbClr val="1456F0"/>
                </a:solidFill>
                <a:latin typeface="Pretendard" panose="02000503000000020004" pitchFamily="50" charset="-127"/>
                <a:ea typeface="Pretendard" panose="02000503000000020004" pitchFamily="50" charset="-127"/>
                <a:cs typeface="Pretendard" panose="02000503000000020004" pitchFamily="50" charset="-127"/>
              </a:rPr>
              <a:t>• </a:t>
            </a:r>
            <a:r>
              <a:rPr lang="ko-KR" altLang="en-US" sz="1200" dirty="0">
                <a:latin typeface="Pretendard" panose="02000503000000020004" pitchFamily="50" charset="-127"/>
                <a:ea typeface="Pretendard" panose="02000503000000020004" pitchFamily="50" charset="-127"/>
                <a:cs typeface="Pretendard" panose="02000503000000020004" pitchFamily="50" charset="-127"/>
              </a:rPr>
              <a:t>선택에 따라 추가되는 문항의 연결 관계를 명확히 보여줘 응답 흐름 개선</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grpSp>
        <p:nvGrpSpPr>
          <p:cNvPr id="45" name="그룹 44">
            <a:extLst>
              <a:ext uri="{FF2B5EF4-FFF2-40B4-BE49-F238E27FC236}">
                <a16:creationId xmlns:a16="http://schemas.microsoft.com/office/drawing/2014/main" id="{CB95DEDF-8B7A-46F6-A5E1-F13B0156E840}"/>
              </a:ext>
            </a:extLst>
          </p:cNvPr>
          <p:cNvGrpSpPr/>
          <p:nvPr/>
        </p:nvGrpSpPr>
        <p:grpSpPr>
          <a:xfrm>
            <a:off x="640080" y="1803097"/>
            <a:ext cx="4712971" cy="3015596"/>
            <a:chOff x="640080" y="1803097"/>
            <a:chExt cx="4712971" cy="3015596"/>
          </a:xfrm>
        </p:grpSpPr>
        <p:sp>
          <p:nvSpPr>
            <p:cNvPr id="55" name="Shape 11">
              <a:extLst>
                <a:ext uri="{FF2B5EF4-FFF2-40B4-BE49-F238E27FC236}">
                  <a16:creationId xmlns:a16="http://schemas.microsoft.com/office/drawing/2014/main" id="{C76C7560-90EA-4974-BED2-C4F9AAB84798}"/>
                </a:ext>
              </a:extLst>
            </p:cNvPr>
            <p:cNvSpPr/>
            <p:nvPr/>
          </p:nvSpPr>
          <p:spPr>
            <a:xfrm>
              <a:off x="640081" y="1803097"/>
              <a:ext cx="4712970" cy="3015596"/>
            </a:xfrm>
            <a:prstGeom prst="roundRect">
              <a:avLst>
                <a:gd name="adj" fmla="val 0"/>
              </a:avLst>
            </a:prstGeom>
            <a:solidFill>
              <a:srgbClr val="F8F9FB"/>
            </a:solidFill>
            <a:ln w="12700">
              <a:solidFill>
                <a:srgbClr val="E5E7EB"/>
              </a:solidFill>
              <a:prstDash val="solid"/>
            </a:ln>
            <a:effectLst>
              <a:outerShdw blurRad="76200" dist="25400" dir="5400000" algn="bl" rotWithShape="0">
                <a:srgbClr val="000000">
                  <a:alpha val="8000"/>
                </a:srgbClr>
              </a:outerShdw>
            </a:effectLst>
          </p:spPr>
        </p:sp>
        <p:sp>
          <p:nvSpPr>
            <p:cNvPr id="18" name="Text 15"/>
            <p:cNvSpPr/>
            <p:nvPr/>
          </p:nvSpPr>
          <p:spPr>
            <a:xfrm>
              <a:off x="640080" y="4022513"/>
              <a:ext cx="777240" cy="274320"/>
            </a:xfrm>
            <a:prstGeom prst="rect">
              <a:avLst/>
            </a:prstGeom>
            <a:noFill/>
            <a:ln/>
          </p:spPr>
          <p:txBody>
            <a:bodyPr wrap="square" lIns="0" tIns="0" rIns="0" bIns="0" rtlCol="0" anchor="ctr"/>
            <a:lstStyle/>
            <a:p>
              <a:pPr marL="0" indent="0" algn="ctr">
                <a:buNone/>
              </a:pPr>
              <a:r>
                <a:rPr lang="en-US" sz="900" b="1" kern="0" spc="100" dirty="0">
                  <a:solidFill>
                    <a:srgbClr val="FFFFFF"/>
                  </a:solidFill>
                  <a:latin typeface="Pretendard" panose="02000503000000020004" pitchFamily="50" charset="-127"/>
                  <a:ea typeface="Pretendard" panose="02000503000000020004" pitchFamily="50" charset="-127"/>
                  <a:cs typeface="Pretendard" panose="02000503000000020004" pitchFamily="50" charset="-127"/>
                </a:rPr>
                <a:t>BEFORE</a:t>
              </a:r>
              <a:endParaRPr lang="en-US" sz="900" dirty="0">
                <a:latin typeface="Pretendard" panose="02000503000000020004" pitchFamily="50" charset="-127"/>
                <a:ea typeface="Pretendard" panose="02000503000000020004" pitchFamily="50" charset="-127"/>
                <a:cs typeface="Pretendard" panose="02000503000000020004" pitchFamily="50" charset="-127"/>
              </a:endParaRPr>
            </a:p>
          </p:txBody>
        </p:sp>
        <p:pic>
          <p:nvPicPr>
            <p:cNvPr id="8" name="그림 7">
              <a:extLst>
                <a:ext uri="{FF2B5EF4-FFF2-40B4-BE49-F238E27FC236}">
                  <a16:creationId xmlns:a16="http://schemas.microsoft.com/office/drawing/2014/main" id="{99592C7A-AEA2-41D9-829F-59A3B9A4FBAC}"/>
                </a:ext>
              </a:extLst>
            </p:cNvPr>
            <p:cNvPicPr>
              <a:picLocks noChangeAspect="1"/>
            </p:cNvPicPr>
            <p:nvPr/>
          </p:nvPicPr>
          <p:blipFill rotWithShape="1">
            <a:blip r:embed="rId4"/>
            <a:srcRect l="29235" t="26077" r="29286" b="43456"/>
            <a:stretch/>
          </p:blipFill>
          <p:spPr>
            <a:xfrm>
              <a:off x="640080" y="1824132"/>
              <a:ext cx="4712970" cy="1537517"/>
            </a:xfrm>
            <a:prstGeom prst="rect">
              <a:avLst/>
            </a:prstGeom>
          </p:spPr>
        </p:pic>
        <p:pic>
          <p:nvPicPr>
            <p:cNvPr id="9" name="그림 8">
              <a:extLst>
                <a:ext uri="{FF2B5EF4-FFF2-40B4-BE49-F238E27FC236}">
                  <a16:creationId xmlns:a16="http://schemas.microsoft.com/office/drawing/2014/main" id="{ACE03BD8-EADD-4662-B942-455AFD9686AA}"/>
                </a:ext>
              </a:extLst>
            </p:cNvPr>
            <p:cNvPicPr>
              <a:picLocks noChangeAspect="1"/>
            </p:cNvPicPr>
            <p:nvPr/>
          </p:nvPicPr>
          <p:blipFill rotWithShape="1">
            <a:blip r:embed="rId5"/>
            <a:srcRect l="28929" t="60585" r="29133" b="10610"/>
            <a:stretch/>
          </p:blipFill>
          <p:spPr>
            <a:xfrm>
              <a:off x="643812" y="3380570"/>
              <a:ext cx="4709239" cy="1438123"/>
            </a:xfrm>
            <a:prstGeom prst="rect">
              <a:avLst/>
            </a:prstGeom>
          </p:spPr>
        </p:pic>
        <p:pic>
          <p:nvPicPr>
            <p:cNvPr id="44" name="그림 43">
              <a:extLst>
                <a:ext uri="{FF2B5EF4-FFF2-40B4-BE49-F238E27FC236}">
                  <a16:creationId xmlns:a16="http://schemas.microsoft.com/office/drawing/2014/main" id="{8879E01E-7BE4-4C73-8AF0-72E0AE25585C}"/>
                </a:ext>
              </a:extLst>
            </p:cNvPr>
            <p:cNvPicPr>
              <a:picLocks noChangeAspect="1"/>
            </p:cNvPicPr>
            <p:nvPr/>
          </p:nvPicPr>
          <p:blipFill>
            <a:blip r:embed="rId6"/>
            <a:stretch>
              <a:fillRect/>
            </a:stretch>
          </p:blipFill>
          <p:spPr>
            <a:xfrm>
              <a:off x="835083" y="2800434"/>
              <a:ext cx="387233" cy="387233"/>
            </a:xfrm>
            <a:prstGeom prst="rect">
              <a:avLst/>
            </a:prstGeom>
          </p:spPr>
        </p:pic>
      </p:grpSp>
      <p:grpSp>
        <p:nvGrpSpPr>
          <p:cNvPr id="60" name="그룹 59">
            <a:extLst>
              <a:ext uri="{FF2B5EF4-FFF2-40B4-BE49-F238E27FC236}">
                <a16:creationId xmlns:a16="http://schemas.microsoft.com/office/drawing/2014/main" id="{261E0DD4-E381-4502-A73E-52700AF78064}"/>
              </a:ext>
            </a:extLst>
          </p:cNvPr>
          <p:cNvGrpSpPr/>
          <p:nvPr/>
        </p:nvGrpSpPr>
        <p:grpSpPr>
          <a:xfrm>
            <a:off x="6667974" y="1803097"/>
            <a:ext cx="5066520" cy="3032720"/>
            <a:chOff x="6667974" y="1803097"/>
            <a:chExt cx="5066520" cy="3032720"/>
          </a:xfrm>
        </p:grpSpPr>
        <p:sp>
          <p:nvSpPr>
            <p:cNvPr id="56" name="Shape 11">
              <a:extLst>
                <a:ext uri="{FF2B5EF4-FFF2-40B4-BE49-F238E27FC236}">
                  <a16:creationId xmlns:a16="http://schemas.microsoft.com/office/drawing/2014/main" id="{E4C51714-1EA6-4DA0-99D3-6555D80D74F9}"/>
                </a:ext>
              </a:extLst>
            </p:cNvPr>
            <p:cNvSpPr/>
            <p:nvPr/>
          </p:nvSpPr>
          <p:spPr>
            <a:xfrm>
              <a:off x="6674203" y="1803097"/>
              <a:ext cx="4874894" cy="3032720"/>
            </a:xfrm>
            <a:prstGeom prst="roundRect">
              <a:avLst>
                <a:gd name="adj" fmla="val 0"/>
              </a:avLst>
            </a:prstGeom>
            <a:solidFill>
              <a:srgbClr val="F8F9FB"/>
            </a:solidFill>
            <a:ln w="12700">
              <a:solidFill>
                <a:srgbClr val="E5E7EB"/>
              </a:solidFill>
              <a:prstDash val="solid"/>
            </a:ln>
            <a:effectLst>
              <a:outerShdw blurRad="76200" dist="25400" dir="5400000" algn="bl" rotWithShape="0">
                <a:srgbClr val="000000">
                  <a:alpha val="8000"/>
                </a:srgbClr>
              </a:outerShdw>
            </a:effectLst>
          </p:spPr>
        </p:sp>
        <p:sp>
          <p:nvSpPr>
            <p:cNvPr id="30" name="Text 27"/>
            <p:cNvSpPr/>
            <p:nvPr/>
          </p:nvSpPr>
          <p:spPr>
            <a:xfrm>
              <a:off x="6838795" y="4022513"/>
              <a:ext cx="777240" cy="274320"/>
            </a:xfrm>
            <a:prstGeom prst="rect">
              <a:avLst/>
            </a:prstGeom>
            <a:noFill/>
            <a:ln/>
          </p:spPr>
          <p:txBody>
            <a:bodyPr wrap="square" lIns="0" tIns="0" rIns="0" bIns="0" rtlCol="0" anchor="ctr"/>
            <a:lstStyle/>
            <a:p>
              <a:pPr marL="0" indent="0" algn="ctr">
                <a:buNone/>
              </a:pPr>
              <a:r>
                <a:rPr lang="en-US" sz="900" b="1" kern="0" spc="100" dirty="0">
                  <a:solidFill>
                    <a:srgbClr val="FFFFFF"/>
                  </a:solidFill>
                  <a:latin typeface="Pretendard" panose="02000503000000020004" pitchFamily="50" charset="-127"/>
                  <a:ea typeface="Pretendard" panose="02000503000000020004" pitchFamily="50" charset="-127"/>
                  <a:cs typeface="Pretendard" panose="02000503000000020004" pitchFamily="50" charset="-127"/>
                </a:rPr>
                <a:t>AFER</a:t>
              </a:r>
              <a:endParaRPr lang="en-US" sz="900" dirty="0">
                <a:latin typeface="Pretendard" panose="02000503000000020004" pitchFamily="50" charset="-127"/>
                <a:ea typeface="Pretendard" panose="02000503000000020004" pitchFamily="50" charset="-127"/>
                <a:cs typeface="Pretendard" panose="02000503000000020004" pitchFamily="50" charset="-127"/>
              </a:endParaRPr>
            </a:p>
          </p:txBody>
        </p:sp>
        <p:pic>
          <p:nvPicPr>
            <p:cNvPr id="58" name="그림 57">
              <a:extLst>
                <a:ext uri="{FF2B5EF4-FFF2-40B4-BE49-F238E27FC236}">
                  <a16:creationId xmlns:a16="http://schemas.microsoft.com/office/drawing/2014/main" id="{A293B4A2-408D-4EBF-BF86-0478E8B40C22}"/>
                </a:ext>
              </a:extLst>
            </p:cNvPr>
            <p:cNvPicPr>
              <a:picLocks noChangeAspect="1"/>
            </p:cNvPicPr>
            <p:nvPr/>
          </p:nvPicPr>
          <p:blipFill rotWithShape="1">
            <a:blip r:embed="rId7"/>
            <a:srcRect l="28622" t="24855" r="28979" b="16121"/>
            <a:stretch/>
          </p:blipFill>
          <p:spPr>
            <a:xfrm>
              <a:off x="6667974" y="1815897"/>
              <a:ext cx="4925217" cy="3019920"/>
            </a:xfrm>
            <a:custGeom>
              <a:avLst/>
              <a:gdLst>
                <a:gd name="connsiteX0" fmla="*/ 497936 w 4925217"/>
                <a:gd name="connsiteY0" fmla="*/ 734239 h 3019920"/>
                <a:gd name="connsiteX1" fmla="*/ 497936 w 4925217"/>
                <a:gd name="connsiteY1" fmla="*/ 1853865 h 3019920"/>
                <a:gd name="connsiteX2" fmla="*/ 4808679 w 4925217"/>
                <a:gd name="connsiteY2" fmla="*/ 1853865 h 3019920"/>
                <a:gd name="connsiteX3" fmla="*/ 4808679 w 4925217"/>
                <a:gd name="connsiteY3" fmla="*/ 734239 h 3019920"/>
                <a:gd name="connsiteX4" fmla="*/ 0 w 4925217"/>
                <a:gd name="connsiteY4" fmla="*/ 0 h 3019920"/>
                <a:gd name="connsiteX5" fmla="*/ 4925217 w 4925217"/>
                <a:gd name="connsiteY5" fmla="*/ 0 h 3019920"/>
                <a:gd name="connsiteX6" fmla="*/ 4925217 w 4925217"/>
                <a:gd name="connsiteY6" fmla="*/ 3019920 h 3019920"/>
                <a:gd name="connsiteX7" fmla="*/ 0 w 4925217"/>
                <a:gd name="connsiteY7" fmla="*/ 3019920 h 30199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925217" h="3019920">
                  <a:moveTo>
                    <a:pt x="497936" y="734239"/>
                  </a:moveTo>
                  <a:lnTo>
                    <a:pt x="497936" y="1853865"/>
                  </a:lnTo>
                  <a:lnTo>
                    <a:pt x="4808679" y="1853865"/>
                  </a:lnTo>
                  <a:lnTo>
                    <a:pt x="4808679" y="734239"/>
                  </a:lnTo>
                  <a:close/>
                  <a:moveTo>
                    <a:pt x="0" y="0"/>
                  </a:moveTo>
                  <a:lnTo>
                    <a:pt x="4925217" y="0"/>
                  </a:lnTo>
                  <a:lnTo>
                    <a:pt x="4925217" y="3019920"/>
                  </a:lnTo>
                  <a:lnTo>
                    <a:pt x="0" y="3019920"/>
                  </a:lnTo>
                  <a:close/>
                </a:path>
              </a:pathLst>
            </a:custGeom>
          </p:spPr>
        </p:pic>
        <p:pic>
          <p:nvPicPr>
            <p:cNvPr id="29" name="그림 28">
              <a:extLst>
                <a:ext uri="{FF2B5EF4-FFF2-40B4-BE49-F238E27FC236}">
                  <a16:creationId xmlns:a16="http://schemas.microsoft.com/office/drawing/2014/main" id="{E44D9B2C-0607-49EB-8E34-DBA3D7BB31A4}"/>
                </a:ext>
              </a:extLst>
            </p:cNvPr>
            <p:cNvPicPr>
              <a:picLocks noChangeAspect="1"/>
            </p:cNvPicPr>
            <p:nvPr/>
          </p:nvPicPr>
          <p:blipFill rotWithShape="1">
            <a:blip r:embed="rId8"/>
            <a:srcRect l="7004" b="69237"/>
            <a:stretch/>
          </p:blipFill>
          <p:spPr>
            <a:xfrm>
              <a:off x="7148739" y="2502474"/>
              <a:ext cx="4400358" cy="357939"/>
            </a:xfrm>
            <a:prstGeom prst="rect">
              <a:avLst/>
            </a:prstGeom>
          </p:spPr>
        </p:pic>
        <p:pic>
          <p:nvPicPr>
            <p:cNvPr id="32" name="그림 31">
              <a:extLst>
                <a:ext uri="{FF2B5EF4-FFF2-40B4-BE49-F238E27FC236}">
                  <a16:creationId xmlns:a16="http://schemas.microsoft.com/office/drawing/2014/main" id="{33A4C3B2-9140-4F33-9886-A6C24301A5AB}"/>
                </a:ext>
              </a:extLst>
            </p:cNvPr>
            <p:cNvPicPr>
              <a:picLocks noChangeAspect="1"/>
            </p:cNvPicPr>
            <p:nvPr/>
          </p:nvPicPr>
          <p:blipFill rotWithShape="1">
            <a:blip r:embed="rId8"/>
            <a:srcRect l="6603" t="35111" b="33118"/>
            <a:stretch/>
          </p:blipFill>
          <p:spPr>
            <a:xfrm>
              <a:off x="7148739" y="2895014"/>
              <a:ext cx="4400358" cy="368078"/>
            </a:xfrm>
            <a:prstGeom prst="rect">
              <a:avLst/>
            </a:prstGeom>
          </p:spPr>
        </p:pic>
        <p:pic>
          <p:nvPicPr>
            <p:cNvPr id="33" name="그림 32">
              <a:extLst>
                <a:ext uri="{FF2B5EF4-FFF2-40B4-BE49-F238E27FC236}">
                  <a16:creationId xmlns:a16="http://schemas.microsoft.com/office/drawing/2014/main" id="{9010A0B4-6B43-4CA0-B73D-DDF55583C4F2}"/>
                </a:ext>
              </a:extLst>
            </p:cNvPr>
            <p:cNvPicPr>
              <a:picLocks noChangeAspect="1"/>
            </p:cNvPicPr>
            <p:nvPr/>
          </p:nvPicPr>
          <p:blipFill rotWithShape="1">
            <a:blip r:embed="rId8"/>
            <a:srcRect l="6603" t="68550"/>
            <a:stretch/>
          </p:blipFill>
          <p:spPr>
            <a:xfrm>
              <a:off x="7149148" y="3285721"/>
              <a:ext cx="4399949" cy="364334"/>
            </a:xfrm>
            <a:prstGeom prst="rect">
              <a:avLst/>
            </a:prstGeom>
          </p:spPr>
        </p:pic>
        <p:pic>
          <p:nvPicPr>
            <p:cNvPr id="59" name="그림 58">
              <a:extLst>
                <a:ext uri="{FF2B5EF4-FFF2-40B4-BE49-F238E27FC236}">
                  <a16:creationId xmlns:a16="http://schemas.microsoft.com/office/drawing/2014/main" id="{37C2261F-24C6-4527-87D9-28131CF2571D}"/>
                </a:ext>
              </a:extLst>
            </p:cNvPr>
            <p:cNvPicPr>
              <a:picLocks noChangeAspect="1"/>
            </p:cNvPicPr>
            <p:nvPr/>
          </p:nvPicPr>
          <p:blipFill>
            <a:blip r:embed="rId6"/>
            <a:stretch>
              <a:fillRect/>
            </a:stretch>
          </p:blipFill>
          <p:spPr>
            <a:xfrm>
              <a:off x="11347261" y="2768332"/>
              <a:ext cx="387233" cy="387233"/>
            </a:xfrm>
            <a:prstGeom prst="rect">
              <a:avLst/>
            </a:prstGeom>
          </p:spPr>
        </p:pic>
      </p:grpSp>
    </p:spTree>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43356"/>
            <a:ext cx="5486400" cy="274320"/>
          </a:xfrm>
          <a:prstGeom prst="rect">
            <a:avLst/>
          </a:prstGeom>
          <a:noFill/>
          <a:ln/>
        </p:spPr>
        <p:txBody>
          <a:bodyPr wrap="square" lIns="0" tIns="0" rIns="0" bIns="0" rtlCol="0" anchor="ctr"/>
          <a:lstStyle/>
          <a:p>
            <a:r>
              <a:rPr lang="en-US" sz="12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04. </a:t>
            </a:r>
            <a:r>
              <a:rPr lang="en-US" altLang="ko-KR" sz="1200" dirty="0" err="1">
                <a:solidFill>
                  <a:srgbClr val="8E8E93"/>
                </a:solidFill>
                <a:latin typeface="Pretendard" panose="02000503000000020004" pitchFamily="50" charset="-127"/>
                <a:ea typeface="Pretendard" panose="02000503000000020004" pitchFamily="50" charset="-127"/>
                <a:cs typeface="Pretendard" panose="02000503000000020004" pitchFamily="50" charset="-127"/>
              </a:rPr>
              <a:t>주요</a:t>
            </a:r>
            <a:r>
              <a:rPr lang="en-US" altLang="ko-KR" sz="12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 </a:t>
            </a:r>
            <a:r>
              <a:rPr lang="ko-KR" altLang="en-US" sz="12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개선 기능</a:t>
            </a:r>
            <a:endParaRPr lang="en-US" altLang="ko-KR" sz="1200" dirty="0">
              <a:latin typeface="Pretendard" panose="02000503000000020004" pitchFamily="50" charset="-127"/>
              <a:ea typeface="Pretendard" panose="02000503000000020004" pitchFamily="50" charset="-127"/>
              <a:cs typeface="Pretendard" panose="02000503000000020004" pitchFamily="50" charset="-127"/>
            </a:endParaRPr>
          </a:p>
          <a:p>
            <a:pPr marL="0" indent="0" algn="l">
              <a:buNone/>
            </a:pP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pic>
        <p:nvPicPr>
          <p:cNvPr id="3" name="Image 0" descr="Woongjin_logo_transparent.png"/>
          <p:cNvPicPr>
            <a:picLocks noChangeAspect="1"/>
          </p:cNvPicPr>
          <p:nvPr/>
        </p:nvPicPr>
        <p:blipFill>
          <a:blip r:embed="rId3"/>
          <a:stretch>
            <a:fillRect/>
          </a:stretch>
        </p:blipFill>
        <p:spPr>
          <a:xfrm>
            <a:off x="10911535" y="262890"/>
            <a:ext cx="822960" cy="480060"/>
          </a:xfrm>
          <a:prstGeom prst="rect">
            <a:avLst/>
          </a:prstGeom>
        </p:spPr>
      </p:pic>
      <p:sp>
        <p:nvSpPr>
          <p:cNvPr id="6" name="Text 3"/>
          <p:cNvSpPr/>
          <p:nvPr/>
        </p:nvSpPr>
        <p:spPr>
          <a:xfrm>
            <a:off x="457200" y="914400"/>
            <a:ext cx="11277295" cy="685800"/>
          </a:xfrm>
          <a:prstGeom prst="rect">
            <a:avLst/>
          </a:prstGeom>
          <a:noFill/>
          <a:ln/>
        </p:spPr>
        <p:txBody>
          <a:bodyPr wrap="square" lIns="0" tIns="0" rIns="0" bIns="0" rtlCol="0" anchor="t"/>
          <a:lstStyle/>
          <a:p>
            <a:r>
              <a:rPr lang="ko-KR" altLang="en-US" sz="2400" b="1" dirty="0">
                <a:latin typeface="Pretendard" panose="02000503000000020004" pitchFamily="50" charset="-127"/>
                <a:ea typeface="Pretendard" panose="02000503000000020004" pitchFamily="50" charset="-127"/>
                <a:cs typeface="Pretendard" panose="02000503000000020004" pitchFamily="50" charset="-127"/>
              </a:rPr>
              <a:t>진행률 표시 및</a:t>
            </a:r>
            <a:r>
              <a:rPr lang="en-US" altLang="ko-KR" sz="2400" b="1" dirty="0">
                <a:latin typeface="Pretendard" panose="02000503000000020004" pitchFamily="50" charset="-127"/>
                <a:ea typeface="Pretendard" panose="02000503000000020004" pitchFamily="50" charset="-127"/>
                <a:cs typeface="Pretendard" panose="02000503000000020004" pitchFamily="50" charset="-127"/>
              </a:rPr>
              <a:t> </a:t>
            </a:r>
            <a:r>
              <a:rPr lang="ko-KR" altLang="en-US" sz="2400" b="1" dirty="0">
                <a:latin typeface="Pretendard" panose="02000503000000020004" pitchFamily="50" charset="-127"/>
                <a:ea typeface="Pretendard" panose="02000503000000020004" pitchFamily="50" charset="-127"/>
                <a:cs typeface="Pretendard" panose="02000503000000020004" pitchFamily="50" charset="-127"/>
              </a:rPr>
              <a:t>설문 이어하기 도입</a:t>
            </a:r>
            <a:endParaRPr lang="en-US" sz="2400" b="1"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7" name="Text 4"/>
          <p:cNvSpPr/>
          <p:nvPr/>
        </p:nvSpPr>
        <p:spPr>
          <a:xfrm>
            <a:off x="457199" y="1410356"/>
            <a:ext cx="11277295" cy="292608"/>
          </a:xfrm>
          <a:prstGeom prst="rect">
            <a:avLst/>
          </a:prstGeom>
          <a:noFill/>
          <a:ln/>
        </p:spPr>
        <p:txBody>
          <a:bodyPr wrap="square" lIns="0" tIns="0" rIns="0" bIns="0" rtlCol="0" anchor="t"/>
          <a:lstStyle/>
          <a:p>
            <a:r>
              <a:rPr lang="ko-KR" altLang="en-US" sz="1600" dirty="0">
                <a:latin typeface="Pretendard" panose="02000503000000020004" pitchFamily="50" charset="-127"/>
                <a:ea typeface="Pretendard" panose="02000503000000020004" pitchFamily="50" charset="-127"/>
                <a:cs typeface="Pretendard" panose="02000503000000020004" pitchFamily="50" charset="-127"/>
              </a:rPr>
              <a:t>설문 진행 상황을 실시간으로 확인하고 이탈 후에도 </a:t>
            </a:r>
            <a:r>
              <a:rPr lang="ko-KR" altLang="en-US" sz="1600" dirty="0" err="1">
                <a:latin typeface="Pretendard" panose="02000503000000020004" pitchFamily="50" charset="-127"/>
                <a:ea typeface="Pretendard" panose="02000503000000020004" pitchFamily="50" charset="-127"/>
                <a:cs typeface="Pretendard" panose="02000503000000020004" pitchFamily="50" charset="-127"/>
              </a:rPr>
              <a:t>재접속</a:t>
            </a:r>
            <a:r>
              <a:rPr lang="ko-KR" altLang="en-US" sz="1600" dirty="0">
                <a:latin typeface="Pretendard" panose="02000503000000020004" pitchFamily="50" charset="-127"/>
                <a:ea typeface="Pretendard" panose="02000503000000020004" pitchFamily="50" charset="-127"/>
                <a:cs typeface="Pretendard" panose="02000503000000020004" pitchFamily="50" charset="-127"/>
              </a:rPr>
              <a:t> 시 이전 응답을 이어 작성할 수 있도록 개선했습니다</a:t>
            </a:r>
            <a:r>
              <a:rPr lang="en-US" altLang="ko-KR" sz="1600" dirty="0">
                <a:latin typeface="Pretendard" panose="02000503000000020004" pitchFamily="50" charset="-127"/>
                <a:ea typeface="Pretendard" panose="02000503000000020004" pitchFamily="50" charset="-127"/>
                <a:cs typeface="Pretendard" panose="02000503000000020004" pitchFamily="50" charset="-127"/>
              </a:rPr>
              <a:t>.</a:t>
            </a:r>
            <a:endParaRPr lang="en-US" sz="1600" dirty="0">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endParaRPr>
          </a:p>
        </p:txBody>
      </p:sp>
      <p:sp>
        <p:nvSpPr>
          <p:cNvPr id="85" name="Text 5">
            <a:extLst>
              <a:ext uri="{FF2B5EF4-FFF2-40B4-BE49-F238E27FC236}">
                <a16:creationId xmlns:a16="http://schemas.microsoft.com/office/drawing/2014/main" id="{E6727C15-9995-4FE7-B110-823A67DFAC82}"/>
              </a:ext>
            </a:extLst>
          </p:cNvPr>
          <p:cNvSpPr/>
          <p:nvPr/>
        </p:nvSpPr>
        <p:spPr>
          <a:xfrm>
            <a:off x="457200" y="1898139"/>
            <a:ext cx="5455768" cy="201168"/>
          </a:xfrm>
          <a:prstGeom prst="rect">
            <a:avLst/>
          </a:prstGeom>
          <a:noFill/>
          <a:ln/>
        </p:spPr>
        <p:txBody>
          <a:bodyPr wrap="square" lIns="0" tIns="0" rIns="0" bIns="0" rtlCol="0" anchor="t"/>
          <a:lstStyle/>
          <a:p>
            <a:pPr marL="0" indent="0" algn="l">
              <a:buNone/>
            </a:pPr>
            <a:r>
              <a:rPr lang="en-US" sz="1000" b="1" kern="0" spc="200" dirty="0">
                <a:solidFill>
                  <a:srgbClr val="1456F0"/>
                </a:solidFill>
                <a:latin typeface="Pretendard" panose="02000503000000020004" pitchFamily="50" charset="-127"/>
                <a:ea typeface="Pretendard" panose="02000503000000020004" pitchFamily="50" charset="-127"/>
                <a:cs typeface="Pretendard" panose="02000503000000020004" pitchFamily="50" charset="-127"/>
              </a:rPr>
              <a:t>PART 01</a:t>
            </a:r>
            <a:endParaRPr lang="en-US" sz="1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86" name="Text 6">
            <a:extLst>
              <a:ext uri="{FF2B5EF4-FFF2-40B4-BE49-F238E27FC236}">
                <a16:creationId xmlns:a16="http://schemas.microsoft.com/office/drawing/2014/main" id="{38261579-45B1-44AC-8196-AD52B8CE0D10}"/>
              </a:ext>
            </a:extLst>
          </p:cNvPr>
          <p:cNvSpPr/>
          <p:nvPr/>
        </p:nvSpPr>
        <p:spPr>
          <a:xfrm>
            <a:off x="457200" y="2108451"/>
            <a:ext cx="5455768" cy="292608"/>
          </a:xfrm>
          <a:prstGeom prst="rect">
            <a:avLst/>
          </a:prstGeom>
          <a:noFill/>
          <a:ln/>
        </p:spPr>
        <p:txBody>
          <a:bodyPr wrap="square" lIns="0" tIns="0" rIns="0" bIns="0" rtlCol="0" anchor="t"/>
          <a:lstStyle/>
          <a:p>
            <a:pPr marL="0" indent="0" algn="l">
              <a:buNone/>
            </a:pPr>
            <a:r>
              <a:rPr lang="ko-KR" altLang="en-US" sz="1400" b="1"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설문 진행률 표시</a:t>
            </a:r>
            <a:endParaRPr lang="en-US" sz="14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87" name="Text 8">
            <a:extLst>
              <a:ext uri="{FF2B5EF4-FFF2-40B4-BE49-F238E27FC236}">
                <a16:creationId xmlns:a16="http://schemas.microsoft.com/office/drawing/2014/main" id="{9D31768B-A2CF-4DCB-8632-7157EC626322}"/>
              </a:ext>
            </a:extLst>
          </p:cNvPr>
          <p:cNvSpPr/>
          <p:nvPr/>
        </p:nvSpPr>
        <p:spPr>
          <a:xfrm>
            <a:off x="6278728" y="1898139"/>
            <a:ext cx="5455768" cy="201168"/>
          </a:xfrm>
          <a:prstGeom prst="rect">
            <a:avLst/>
          </a:prstGeom>
          <a:noFill/>
          <a:ln/>
        </p:spPr>
        <p:txBody>
          <a:bodyPr wrap="square" lIns="0" tIns="0" rIns="0" bIns="0" rtlCol="0" anchor="t"/>
          <a:lstStyle/>
          <a:p>
            <a:pPr marL="0" indent="0" algn="l">
              <a:buNone/>
            </a:pPr>
            <a:r>
              <a:rPr lang="en-US" sz="1000" b="1" kern="0" spc="200" dirty="0">
                <a:solidFill>
                  <a:srgbClr val="EA5EC1"/>
                </a:solidFill>
                <a:latin typeface="Pretendard" panose="02000503000000020004" pitchFamily="50" charset="-127"/>
                <a:ea typeface="Pretendard" panose="02000503000000020004" pitchFamily="50" charset="-127"/>
                <a:cs typeface="Pretendard" panose="02000503000000020004" pitchFamily="50" charset="-127"/>
              </a:rPr>
              <a:t>PART 02</a:t>
            </a:r>
            <a:endParaRPr lang="en-US" sz="1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88" name="Text 9">
            <a:extLst>
              <a:ext uri="{FF2B5EF4-FFF2-40B4-BE49-F238E27FC236}">
                <a16:creationId xmlns:a16="http://schemas.microsoft.com/office/drawing/2014/main" id="{716B79D5-D3F8-46FE-984B-E9F52FC38A97}"/>
              </a:ext>
            </a:extLst>
          </p:cNvPr>
          <p:cNvSpPr/>
          <p:nvPr/>
        </p:nvSpPr>
        <p:spPr>
          <a:xfrm>
            <a:off x="6278728" y="2108451"/>
            <a:ext cx="5455768" cy="292608"/>
          </a:xfrm>
          <a:prstGeom prst="rect">
            <a:avLst/>
          </a:prstGeom>
          <a:noFill/>
          <a:ln/>
        </p:spPr>
        <p:txBody>
          <a:bodyPr wrap="square" lIns="0" tIns="0" rIns="0" bIns="0" rtlCol="0" anchor="t"/>
          <a:lstStyle/>
          <a:p>
            <a:pPr marL="0" indent="0" algn="l">
              <a:buNone/>
            </a:pPr>
            <a:r>
              <a:rPr lang="ko-KR" altLang="en-US" sz="1400" b="1"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설문 이어하기</a:t>
            </a:r>
            <a:endParaRPr lang="en-US" sz="14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89" name="Shape 11">
            <a:extLst>
              <a:ext uri="{FF2B5EF4-FFF2-40B4-BE49-F238E27FC236}">
                <a16:creationId xmlns:a16="http://schemas.microsoft.com/office/drawing/2014/main" id="{9D79C486-3C72-4F74-8651-777A2A1CE2BF}"/>
              </a:ext>
            </a:extLst>
          </p:cNvPr>
          <p:cNvSpPr/>
          <p:nvPr/>
        </p:nvSpPr>
        <p:spPr>
          <a:xfrm>
            <a:off x="457200" y="2382771"/>
            <a:ext cx="5455768" cy="2945114"/>
          </a:xfrm>
          <a:prstGeom prst="roundRect">
            <a:avLst>
              <a:gd name="adj" fmla="val 8000"/>
            </a:avLst>
          </a:prstGeom>
          <a:solidFill>
            <a:srgbClr val="F8F9FB"/>
          </a:solidFill>
          <a:ln w="12700">
            <a:solidFill>
              <a:srgbClr val="E5E7EB"/>
            </a:solidFill>
            <a:prstDash val="solid"/>
          </a:ln>
          <a:effectLst>
            <a:outerShdw blurRad="76200" dist="25400" dir="5400000" algn="bl" rotWithShape="0">
              <a:srgbClr val="000000">
                <a:alpha val="8000"/>
              </a:srgbClr>
            </a:outerShdw>
          </a:effectLst>
        </p:spPr>
      </p:sp>
      <p:sp>
        <p:nvSpPr>
          <p:cNvPr id="90" name="Shape 12">
            <a:extLst>
              <a:ext uri="{FF2B5EF4-FFF2-40B4-BE49-F238E27FC236}">
                <a16:creationId xmlns:a16="http://schemas.microsoft.com/office/drawing/2014/main" id="{BA290FAA-B82A-4DF8-BDE8-535390E2DC19}"/>
              </a:ext>
            </a:extLst>
          </p:cNvPr>
          <p:cNvSpPr/>
          <p:nvPr/>
        </p:nvSpPr>
        <p:spPr>
          <a:xfrm>
            <a:off x="457200" y="2382771"/>
            <a:ext cx="5455768" cy="329184"/>
          </a:xfrm>
          <a:prstGeom prst="rect">
            <a:avLst/>
          </a:prstGeom>
          <a:solidFill>
            <a:srgbClr val="EEF0F3"/>
          </a:solidFill>
          <a:ln w="12700">
            <a:solidFill>
              <a:srgbClr val="E5E7EB"/>
            </a:solidFill>
            <a:prstDash val="solid"/>
          </a:ln>
        </p:spPr>
      </p:sp>
      <p:sp>
        <p:nvSpPr>
          <p:cNvPr id="91" name="Shape 13">
            <a:extLst>
              <a:ext uri="{FF2B5EF4-FFF2-40B4-BE49-F238E27FC236}">
                <a16:creationId xmlns:a16="http://schemas.microsoft.com/office/drawing/2014/main" id="{E644C411-9C3B-4612-8BDD-2518AB3B4781}"/>
              </a:ext>
            </a:extLst>
          </p:cNvPr>
          <p:cNvSpPr/>
          <p:nvPr/>
        </p:nvSpPr>
        <p:spPr>
          <a:xfrm>
            <a:off x="585216" y="2483355"/>
            <a:ext cx="118872" cy="118872"/>
          </a:xfrm>
          <a:prstGeom prst="ellipse">
            <a:avLst/>
          </a:prstGeom>
          <a:solidFill>
            <a:srgbClr val="E0826B"/>
          </a:solidFill>
          <a:ln w="12700">
            <a:solidFill>
              <a:srgbClr val="E0826B"/>
            </a:solidFill>
            <a:prstDash val="solid"/>
          </a:ln>
        </p:spPr>
      </p:sp>
      <p:sp>
        <p:nvSpPr>
          <p:cNvPr id="92" name="Shape 14">
            <a:extLst>
              <a:ext uri="{FF2B5EF4-FFF2-40B4-BE49-F238E27FC236}">
                <a16:creationId xmlns:a16="http://schemas.microsoft.com/office/drawing/2014/main" id="{49F09321-E035-4A92-9CA9-ACB811FCC80C}"/>
              </a:ext>
            </a:extLst>
          </p:cNvPr>
          <p:cNvSpPr/>
          <p:nvPr/>
        </p:nvSpPr>
        <p:spPr>
          <a:xfrm>
            <a:off x="740664" y="2483355"/>
            <a:ext cx="118872" cy="118872"/>
          </a:xfrm>
          <a:prstGeom prst="ellipse">
            <a:avLst/>
          </a:prstGeom>
          <a:solidFill>
            <a:srgbClr val="E3C66D"/>
          </a:solidFill>
          <a:ln w="12700">
            <a:solidFill>
              <a:srgbClr val="E3C66D"/>
            </a:solidFill>
            <a:prstDash val="solid"/>
          </a:ln>
        </p:spPr>
      </p:sp>
      <p:sp>
        <p:nvSpPr>
          <p:cNvPr id="93" name="Shape 15">
            <a:extLst>
              <a:ext uri="{FF2B5EF4-FFF2-40B4-BE49-F238E27FC236}">
                <a16:creationId xmlns:a16="http://schemas.microsoft.com/office/drawing/2014/main" id="{42269391-0DCB-4193-9974-83339C0A924E}"/>
              </a:ext>
            </a:extLst>
          </p:cNvPr>
          <p:cNvSpPr/>
          <p:nvPr/>
        </p:nvSpPr>
        <p:spPr>
          <a:xfrm>
            <a:off x="896112" y="2483355"/>
            <a:ext cx="118872" cy="118872"/>
          </a:xfrm>
          <a:prstGeom prst="ellipse">
            <a:avLst/>
          </a:prstGeom>
          <a:solidFill>
            <a:srgbClr val="9DC97A"/>
          </a:solidFill>
          <a:ln w="12700">
            <a:solidFill>
              <a:srgbClr val="9DC97A"/>
            </a:solidFill>
            <a:prstDash val="solid"/>
          </a:ln>
        </p:spPr>
      </p:sp>
      <p:sp>
        <p:nvSpPr>
          <p:cNvPr id="94" name="Shape 16">
            <a:extLst>
              <a:ext uri="{FF2B5EF4-FFF2-40B4-BE49-F238E27FC236}">
                <a16:creationId xmlns:a16="http://schemas.microsoft.com/office/drawing/2014/main" id="{5614736D-D077-4FAA-95A1-022CAB5C2239}"/>
              </a:ext>
            </a:extLst>
          </p:cNvPr>
          <p:cNvSpPr/>
          <p:nvPr/>
        </p:nvSpPr>
        <p:spPr>
          <a:xfrm>
            <a:off x="1143000" y="2455923"/>
            <a:ext cx="4587088" cy="182880"/>
          </a:xfrm>
          <a:prstGeom prst="roundRect">
            <a:avLst>
              <a:gd name="adj" fmla="val 20000"/>
            </a:avLst>
          </a:prstGeom>
          <a:solidFill>
            <a:srgbClr val="FFFFFF"/>
          </a:solidFill>
          <a:ln w="6350">
            <a:solidFill>
              <a:srgbClr val="E5E7EB"/>
            </a:solidFill>
            <a:prstDash val="solid"/>
          </a:ln>
        </p:spPr>
      </p:sp>
      <p:sp>
        <p:nvSpPr>
          <p:cNvPr id="95" name="Text 17">
            <a:extLst>
              <a:ext uri="{FF2B5EF4-FFF2-40B4-BE49-F238E27FC236}">
                <a16:creationId xmlns:a16="http://schemas.microsoft.com/office/drawing/2014/main" id="{D7CB21A4-4F16-4B3A-8E52-BC33E48EE440}"/>
              </a:ext>
            </a:extLst>
          </p:cNvPr>
          <p:cNvSpPr/>
          <p:nvPr/>
        </p:nvSpPr>
        <p:spPr>
          <a:xfrm>
            <a:off x="1188720" y="2455923"/>
            <a:ext cx="4495648" cy="182880"/>
          </a:xfrm>
          <a:prstGeom prst="rect">
            <a:avLst/>
          </a:prstGeom>
          <a:noFill/>
          <a:ln/>
        </p:spPr>
        <p:txBody>
          <a:bodyPr wrap="square" lIns="0" tIns="0" rIns="0" bIns="0" rtlCol="0" anchor="ctr"/>
          <a:lstStyle/>
          <a:p>
            <a:pPr marL="0" indent="0" algn="l">
              <a:buNone/>
            </a:pPr>
            <a:r>
              <a:rPr lang="ko-KR" altLang="en-US" sz="9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설문 응</a:t>
            </a:r>
            <a:r>
              <a:rPr lang="en-US" sz="9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답 현황 — 전체 요약 대시보드</a:t>
            </a:r>
            <a:endParaRPr lang="en-US" sz="9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96" name="Shape 34">
            <a:extLst>
              <a:ext uri="{FF2B5EF4-FFF2-40B4-BE49-F238E27FC236}">
                <a16:creationId xmlns:a16="http://schemas.microsoft.com/office/drawing/2014/main" id="{11352D5F-1ADA-412A-9847-261E3020BD42}"/>
              </a:ext>
            </a:extLst>
          </p:cNvPr>
          <p:cNvSpPr/>
          <p:nvPr/>
        </p:nvSpPr>
        <p:spPr>
          <a:xfrm>
            <a:off x="457200" y="5433817"/>
            <a:ext cx="5455768" cy="906772"/>
          </a:xfrm>
          <a:prstGeom prst="roundRect">
            <a:avLst>
              <a:gd name="adj" fmla="val 7975"/>
            </a:avLst>
          </a:prstGeom>
          <a:solidFill>
            <a:srgbClr val="FFFFFF"/>
          </a:solidFill>
          <a:ln w="9525">
            <a:solidFill>
              <a:srgbClr val="E5E7EB"/>
            </a:solidFill>
            <a:prstDash val="solid"/>
          </a:ln>
          <a:effectLst>
            <a:outerShdw blurRad="76200" dist="25400" dir="5400000" algn="bl" rotWithShape="0">
              <a:srgbClr val="000000">
                <a:alpha val="8000"/>
              </a:srgbClr>
            </a:outerShdw>
          </a:effectLst>
        </p:spPr>
      </p:sp>
      <p:sp>
        <p:nvSpPr>
          <p:cNvPr id="97" name="Shape 35">
            <a:extLst>
              <a:ext uri="{FF2B5EF4-FFF2-40B4-BE49-F238E27FC236}">
                <a16:creationId xmlns:a16="http://schemas.microsoft.com/office/drawing/2014/main" id="{0B2CC9BB-7379-4252-AEA1-46925E1EA351}"/>
              </a:ext>
            </a:extLst>
          </p:cNvPr>
          <p:cNvSpPr/>
          <p:nvPr/>
        </p:nvSpPr>
        <p:spPr>
          <a:xfrm>
            <a:off x="457200" y="5433816"/>
            <a:ext cx="5455768" cy="54864"/>
          </a:xfrm>
          <a:prstGeom prst="rect">
            <a:avLst/>
          </a:prstGeom>
          <a:solidFill>
            <a:srgbClr val="1456F0"/>
          </a:solidFill>
          <a:ln w="12700">
            <a:solidFill>
              <a:srgbClr val="1456F0"/>
            </a:solidFill>
            <a:prstDash val="solid"/>
          </a:ln>
        </p:spPr>
      </p:sp>
      <p:sp>
        <p:nvSpPr>
          <p:cNvPr id="98" name="Text 36">
            <a:extLst>
              <a:ext uri="{FF2B5EF4-FFF2-40B4-BE49-F238E27FC236}">
                <a16:creationId xmlns:a16="http://schemas.microsoft.com/office/drawing/2014/main" id="{9BE0EB39-EBEB-469B-8A5A-DFA544A02676}"/>
              </a:ext>
            </a:extLst>
          </p:cNvPr>
          <p:cNvSpPr/>
          <p:nvPr/>
        </p:nvSpPr>
        <p:spPr>
          <a:xfrm>
            <a:off x="658368" y="5634984"/>
            <a:ext cx="5090008" cy="292608"/>
          </a:xfrm>
          <a:prstGeom prst="rect">
            <a:avLst/>
          </a:prstGeom>
          <a:noFill/>
          <a:ln/>
        </p:spPr>
        <p:txBody>
          <a:bodyPr wrap="square" lIns="0" tIns="0" rIns="0" bIns="0" rtlCol="0" anchor="t"/>
          <a:lstStyle/>
          <a:p>
            <a:r>
              <a:rPr lang="ko-KR" altLang="en-US" sz="1400" b="1" dirty="0">
                <a:latin typeface="Pretendard" panose="02000503000000020004" pitchFamily="50" charset="-127"/>
                <a:ea typeface="Pretendard" panose="02000503000000020004" pitchFamily="50" charset="-127"/>
                <a:cs typeface="Pretendard" panose="02000503000000020004" pitchFamily="50" charset="-127"/>
              </a:rPr>
              <a:t>설문 진행 현황을 한눈에 확인</a:t>
            </a:r>
            <a:endParaRPr lang="en-US" sz="1300" b="1"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00" name="Text 38">
            <a:extLst>
              <a:ext uri="{FF2B5EF4-FFF2-40B4-BE49-F238E27FC236}">
                <a16:creationId xmlns:a16="http://schemas.microsoft.com/office/drawing/2014/main" id="{C9391CF5-B1DE-4440-9B29-8F7D7126C59D}"/>
              </a:ext>
            </a:extLst>
          </p:cNvPr>
          <p:cNvSpPr/>
          <p:nvPr/>
        </p:nvSpPr>
        <p:spPr>
          <a:xfrm>
            <a:off x="658368" y="6028176"/>
            <a:ext cx="5090008" cy="256032"/>
          </a:xfrm>
          <a:prstGeom prst="rect">
            <a:avLst/>
          </a:prstGeom>
          <a:noFill/>
          <a:ln/>
        </p:spPr>
        <p:txBody>
          <a:bodyPr wrap="square" lIns="0" tIns="0" rIns="0" bIns="0" rtlCol="0" anchor="t"/>
          <a:lstStyle/>
          <a:p>
            <a:r>
              <a:rPr lang="en-US" altLang="ko-KR" sz="1200" b="1" dirty="0">
                <a:solidFill>
                  <a:srgbClr val="1456F0"/>
                </a:solidFill>
                <a:latin typeface="Pretendard" panose="02000503000000020004" pitchFamily="50" charset="-127"/>
                <a:ea typeface="Pretendard" panose="02000503000000020004" pitchFamily="50" charset="-127"/>
                <a:cs typeface="Pretendard" panose="02000503000000020004" pitchFamily="50" charset="-127"/>
              </a:rPr>
              <a:t>• </a:t>
            </a:r>
            <a:r>
              <a:rPr lang="en-US" altLang="ko-KR" sz="1200" dirty="0">
                <a:latin typeface="Pretendard" panose="02000503000000020004" pitchFamily="50" charset="-127"/>
                <a:ea typeface="Pretendard" panose="02000503000000020004" pitchFamily="50" charset="-127"/>
                <a:cs typeface="Pretendard" panose="02000503000000020004" pitchFamily="50" charset="-127"/>
              </a:rPr>
              <a:t>Progress Bar</a:t>
            </a:r>
            <a:r>
              <a:rPr lang="ko-KR" altLang="en-US" sz="1200" dirty="0">
                <a:latin typeface="Pretendard" panose="02000503000000020004" pitchFamily="50" charset="-127"/>
                <a:ea typeface="Pretendard" panose="02000503000000020004" pitchFamily="50" charset="-127"/>
                <a:cs typeface="Pretendard" panose="02000503000000020004" pitchFamily="50" charset="-127"/>
              </a:rPr>
              <a:t>와 완료 문항 수를 제공하여 현재 응답 진행 상태를 직관적으로 확인</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01" name="Shape 40">
            <a:extLst>
              <a:ext uri="{FF2B5EF4-FFF2-40B4-BE49-F238E27FC236}">
                <a16:creationId xmlns:a16="http://schemas.microsoft.com/office/drawing/2014/main" id="{385473F1-8327-4B5E-AB8F-EDFD18548C9F}"/>
              </a:ext>
            </a:extLst>
          </p:cNvPr>
          <p:cNvSpPr/>
          <p:nvPr/>
        </p:nvSpPr>
        <p:spPr>
          <a:xfrm>
            <a:off x="6278728" y="2382771"/>
            <a:ext cx="5455768" cy="2945114"/>
          </a:xfrm>
          <a:prstGeom prst="roundRect">
            <a:avLst>
              <a:gd name="adj" fmla="val 8000"/>
            </a:avLst>
          </a:prstGeom>
          <a:solidFill>
            <a:srgbClr val="F8F9FB"/>
          </a:solidFill>
          <a:ln w="12700">
            <a:solidFill>
              <a:srgbClr val="E5E7EB"/>
            </a:solidFill>
            <a:prstDash val="solid"/>
          </a:ln>
          <a:effectLst>
            <a:outerShdw blurRad="76200" dist="25400" dir="5400000" algn="bl" rotWithShape="0">
              <a:srgbClr val="000000">
                <a:alpha val="8000"/>
              </a:srgbClr>
            </a:outerShdw>
          </a:effectLst>
        </p:spPr>
      </p:sp>
      <p:sp>
        <p:nvSpPr>
          <p:cNvPr id="102" name="Shape 41">
            <a:extLst>
              <a:ext uri="{FF2B5EF4-FFF2-40B4-BE49-F238E27FC236}">
                <a16:creationId xmlns:a16="http://schemas.microsoft.com/office/drawing/2014/main" id="{367AF80E-05E0-4EEF-9F57-992105614D05}"/>
              </a:ext>
            </a:extLst>
          </p:cNvPr>
          <p:cNvSpPr/>
          <p:nvPr/>
        </p:nvSpPr>
        <p:spPr>
          <a:xfrm>
            <a:off x="6278728" y="2382771"/>
            <a:ext cx="5455768" cy="329184"/>
          </a:xfrm>
          <a:prstGeom prst="rect">
            <a:avLst/>
          </a:prstGeom>
          <a:solidFill>
            <a:srgbClr val="EEF0F3"/>
          </a:solidFill>
          <a:ln w="12700">
            <a:solidFill>
              <a:srgbClr val="E5E7EB"/>
            </a:solidFill>
            <a:prstDash val="solid"/>
          </a:ln>
        </p:spPr>
      </p:sp>
      <p:sp>
        <p:nvSpPr>
          <p:cNvPr id="103" name="Shape 42">
            <a:extLst>
              <a:ext uri="{FF2B5EF4-FFF2-40B4-BE49-F238E27FC236}">
                <a16:creationId xmlns:a16="http://schemas.microsoft.com/office/drawing/2014/main" id="{28422162-3372-4CDB-A3D9-E74D0BB92891}"/>
              </a:ext>
            </a:extLst>
          </p:cNvPr>
          <p:cNvSpPr/>
          <p:nvPr/>
        </p:nvSpPr>
        <p:spPr>
          <a:xfrm>
            <a:off x="6406744" y="2483355"/>
            <a:ext cx="118872" cy="118872"/>
          </a:xfrm>
          <a:prstGeom prst="ellipse">
            <a:avLst/>
          </a:prstGeom>
          <a:solidFill>
            <a:srgbClr val="E0826B"/>
          </a:solidFill>
          <a:ln w="12700">
            <a:solidFill>
              <a:srgbClr val="E0826B"/>
            </a:solidFill>
            <a:prstDash val="solid"/>
          </a:ln>
        </p:spPr>
      </p:sp>
      <p:sp>
        <p:nvSpPr>
          <p:cNvPr id="104" name="Shape 43">
            <a:extLst>
              <a:ext uri="{FF2B5EF4-FFF2-40B4-BE49-F238E27FC236}">
                <a16:creationId xmlns:a16="http://schemas.microsoft.com/office/drawing/2014/main" id="{E6F65404-A472-40D3-AB85-DFF5215C42C0}"/>
              </a:ext>
            </a:extLst>
          </p:cNvPr>
          <p:cNvSpPr/>
          <p:nvPr/>
        </p:nvSpPr>
        <p:spPr>
          <a:xfrm>
            <a:off x="6562192" y="2483355"/>
            <a:ext cx="118872" cy="118872"/>
          </a:xfrm>
          <a:prstGeom prst="ellipse">
            <a:avLst/>
          </a:prstGeom>
          <a:solidFill>
            <a:srgbClr val="E3C66D"/>
          </a:solidFill>
          <a:ln w="12700">
            <a:solidFill>
              <a:srgbClr val="E3C66D"/>
            </a:solidFill>
            <a:prstDash val="solid"/>
          </a:ln>
        </p:spPr>
      </p:sp>
      <p:sp>
        <p:nvSpPr>
          <p:cNvPr id="105" name="Shape 44">
            <a:extLst>
              <a:ext uri="{FF2B5EF4-FFF2-40B4-BE49-F238E27FC236}">
                <a16:creationId xmlns:a16="http://schemas.microsoft.com/office/drawing/2014/main" id="{FFEDE1AD-EA3B-45FC-9076-7F858D23EBFC}"/>
              </a:ext>
            </a:extLst>
          </p:cNvPr>
          <p:cNvSpPr/>
          <p:nvPr/>
        </p:nvSpPr>
        <p:spPr>
          <a:xfrm>
            <a:off x="6717640" y="2483355"/>
            <a:ext cx="118872" cy="118872"/>
          </a:xfrm>
          <a:prstGeom prst="ellipse">
            <a:avLst/>
          </a:prstGeom>
          <a:solidFill>
            <a:srgbClr val="9DC97A"/>
          </a:solidFill>
          <a:ln w="12700">
            <a:solidFill>
              <a:srgbClr val="9DC97A"/>
            </a:solidFill>
            <a:prstDash val="solid"/>
          </a:ln>
        </p:spPr>
      </p:sp>
      <p:sp>
        <p:nvSpPr>
          <p:cNvPr id="106" name="Shape 45">
            <a:extLst>
              <a:ext uri="{FF2B5EF4-FFF2-40B4-BE49-F238E27FC236}">
                <a16:creationId xmlns:a16="http://schemas.microsoft.com/office/drawing/2014/main" id="{BF8484D2-AD68-4EEF-A197-C718BCF83638}"/>
              </a:ext>
            </a:extLst>
          </p:cNvPr>
          <p:cNvSpPr/>
          <p:nvPr/>
        </p:nvSpPr>
        <p:spPr>
          <a:xfrm>
            <a:off x="6964528" y="2455923"/>
            <a:ext cx="4587088" cy="182880"/>
          </a:xfrm>
          <a:prstGeom prst="roundRect">
            <a:avLst>
              <a:gd name="adj" fmla="val 20000"/>
            </a:avLst>
          </a:prstGeom>
          <a:solidFill>
            <a:srgbClr val="FFFFFF"/>
          </a:solidFill>
          <a:ln w="6350">
            <a:solidFill>
              <a:srgbClr val="E5E7EB"/>
            </a:solidFill>
            <a:prstDash val="solid"/>
          </a:ln>
        </p:spPr>
        <p:txBody>
          <a:bodyPr/>
          <a:lstStyle/>
          <a:p>
            <a:endParaRPr lang="ko-KR" altLang="en-US" dirty="0"/>
          </a:p>
        </p:txBody>
      </p:sp>
      <p:sp>
        <p:nvSpPr>
          <p:cNvPr id="107" name="Text 46">
            <a:extLst>
              <a:ext uri="{FF2B5EF4-FFF2-40B4-BE49-F238E27FC236}">
                <a16:creationId xmlns:a16="http://schemas.microsoft.com/office/drawing/2014/main" id="{2143B728-8B89-4EA8-B81E-5E30A9EB0E3E}"/>
              </a:ext>
            </a:extLst>
          </p:cNvPr>
          <p:cNvSpPr/>
          <p:nvPr/>
        </p:nvSpPr>
        <p:spPr>
          <a:xfrm>
            <a:off x="7010248" y="2455923"/>
            <a:ext cx="4495648" cy="182880"/>
          </a:xfrm>
          <a:prstGeom prst="rect">
            <a:avLst/>
          </a:prstGeom>
          <a:noFill/>
          <a:ln/>
        </p:spPr>
        <p:txBody>
          <a:bodyPr wrap="square" lIns="0" tIns="0" rIns="0" bIns="0" rtlCol="0" anchor="ctr"/>
          <a:lstStyle/>
          <a:p>
            <a:pPr marL="0" indent="0" algn="l">
              <a:buNone/>
            </a:pPr>
            <a:r>
              <a:rPr lang="ko-KR" altLang="en-US" sz="900" dirty="0" err="1">
                <a:solidFill>
                  <a:srgbClr val="8E8E93"/>
                </a:solidFill>
                <a:latin typeface="Pretendard" panose="02000503000000020004" pitchFamily="50" charset="-127"/>
                <a:ea typeface="Pretendard" panose="02000503000000020004" pitchFamily="50" charset="-127"/>
                <a:cs typeface="Pretendard" panose="02000503000000020004" pitchFamily="50" charset="-127"/>
              </a:rPr>
              <a:t>조직별</a:t>
            </a:r>
            <a:r>
              <a:rPr lang="ko-KR" altLang="en-US" sz="9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 </a:t>
            </a:r>
            <a:r>
              <a:rPr lang="en-US" sz="900" dirty="0" err="1">
                <a:solidFill>
                  <a:srgbClr val="8E8E93"/>
                </a:solidFill>
                <a:latin typeface="Pretendard" panose="02000503000000020004" pitchFamily="50" charset="-127"/>
                <a:ea typeface="Pretendard" panose="02000503000000020004" pitchFamily="50" charset="-127"/>
                <a:cs typeface="Pretendard" panose="02000503000000020004" pitchFamily="50" charset="-127"/>
              </a:rPr>
              <a:t>응답</a:t>
            </a:r>
            <a:r>
              <a:rPr lang="en-US" sz="9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 현황 — 조직별 트리 뷰</a:t>
            </a:r>
            <a:endParaRPr lang="en-US" sz="9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08" name="Shape 66">
            <a:extLst>
              <a:ext uri="{FF2B5EF4-FFF2-40B4-BE49-F238E27FC236}">
                <a16:creationId xmlns:a16="http://schemas.microsoft.com/office/drawing/2014/main" id="{064BE1FD-81FB-46DF-8249-D14F7883FA41}"/>
              </a:ext>
            </a:extLst>
          </p:cNvPr>
          <p:cNvSpPr/>
          <p:nvPr/>
        </p:nvSpPr>
        <p:spPr>
          <a:xfrm>
            <a:off x="6278728" y="5433816"/>
            <a:ext cx="5455768" cy="906773"/>
          </a:xfrm>
          <a:prstGeom prst="roundRect">
            <a:avLst>
              <a:gd name="adj" fmla="val 7975"/>
            </a:avLst>
          </a:prstGeom>
          <a:solidFill>
            <a:srgbClr val="FFFFFF"/>
          </a:solidFill>
          <a:ln w="9525">
            <a:solidFill>
              <a:srgbClr val="E5E7EB"/>
            </a:solidFill>
            <a:prstDash val="solid"/>
          </a:ln>
          <a:effectLst>
            <a:outerShdw blurRad="76200" dist="25400" dir="5400000" algn="bl" rotWithShape="0">
              <a:srgbClr val="000000">
                <a:alpha val="8000"/>
              </a:srgbClr>
            </a:outerShdw>
          </a:effectLst>
        </p:spPr>
        <p:txBody>
          <a:bodyPr/>
          <a:lstStyle/>
          <a:p>
            <a:endParaRPr lang="ko-KR" altLang="en-US" dirty="0"/>
          </a:p>
        </p:txBody>
      </p:sp>
      <p:sp>
        <p:nvSpPr>
          <p:cNvPr id="109" name="Shape 67">
            <a:extLst>
              <a:ext uri="{FF2B5EF4-FFF2-40B4-BE49-F238E27FC236}">
                <a16:creationId xmlns:a16="http://schemas.microsoft.com/office/drawing/2014/main" id="{17961542-A3B3-449B-B1AA-D7A140E35F19}"/>
              </a:ext>
            </a:extLst>
          </p:cNvPr>
          <p:cNvSpPr/>
          <p:nvPr/>
        </p:nvSpPr>
        <p:spPr>
          <a:xfrm>
            <a:off x="6278728" y="5433816"/>
            <a:ext cx="5455768" cy="54864"/>
          </a:xfrm>
          <a:prstGeom prst="rect">
            <a:avLst/>
          </a:prstGeom>
          <a:solidFill>
            <a:srgbClr val="EA5EC1"/>
          </a:solidFill>
          <a:ln w="12700">
            <a:solidFill>
              <a:srgbClr val="EA5EC1"/>
            </a:solidFill>
            <a:prstDash val="solid"/>
          </a:ln>
        </p:spPr>
      </p:sp>
      <p:sp>
        <p:nvSpPr>
          <p:cNvPr id="110" name="Text 68">
            <a:extLst>
              <a:ext uri="{FF2B5EF4-FFF2-40B4-BE49-F238E27FC236}">
                <a16:creationId xmlns:a16="http://schemas.microsoft.com/office/drawing/2014/main" id="{D7C0584D-20C9-4032-8254-093795C061B2}"/>
              </a:ext>
            </a:extLst>
          </p:cNvPr>
          <p:cNvSpPr/>
          <p:nvPr/>
        </p:nvSpPr>
        <p:spPr>
          <a:xfrm>
            <a:off x="6479896" y="5634984"/>
            <a:ext cx="5090008" cy="292608"/>
          </a:xfrm>
          <a:prstGeom prst="rect">
            <a:avLst/>
          </a:prstGeom>
          <a:noFill/>
          <a:ln/>
        </p:spPr>
        <p:txBody>
          <a:bodyPr wrap="square" lIns="0" tIns="0" rIns="0" bIns="0" rtlCol="0" anchor="t"/>
          <a:lstStyle/>
          <a:p>
            <a:r>
              <a:rPr lang="ko-KR" altLang="en-US" sz="1400" b="1" dirty="0">
                <a:latin typeface="Pretendard" panose="02000503000000020004" pitchFamily="50" charset="-127"/>
                <a:ea typeface="Pretendard" panose="02000503000000020004" pitchFamily="50" charset="-127"/>
                <a:cs typeface="Pretendard" panose="02000503000000020004" pitchFamily="50" charset="-127"/>
              </a:rPr>
              <a:t>중도 이탈 후에도 설문 이어서 작성</a:t>
            </a:r>
            <a:endParaRPr lang="en-US" sz="1300" b="1"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12" name="Text 70">
            <a:extLst>
              <a:ext uri="{FF2B5EF4-FFF2-40B4-BE49-F238E27FC236}">
                <a16:creationId xmlns:a16="http://schemas.microsoft.com/office/drawing/2014/main" id="{1E7725B1-D7E5-43EA-82A4-D9AF22EBA056}"/>
              </a:ext>
            </a:extLst>
          </p:cNvPr>
          <p:cNvSpPr/>
          <p:nvPr/>
        </p:nvSpPr>
        <p:spPr>
          <a:xfrm>
            <a:off x="6479896" y="6028176"/>
            <a:ext cx="5090008" cy="256032"/>
          </a:xfrm>
          <a:prstGeom prst="rect">
            <a:avLst/>
          </a:prstGeom>
          <a:noFill/>
          <a:ln/>
        </p:spPr>
        <p:txBody>
          <a:bodyPr wrap="square" lIns="0" tIns="0" rIns="0" bIns="0" rtlCol="0" anchor="t"/>
          <a:lstStyle/>
          <a:p>
            <a:r>
              <a:rPr lang="en-US" sz="1200" b="1" dirty="0">
                <a:solidFill>
                  <a:srgbClr val="EA5EC1"/>
                </a:solidFill>
                <a:latin typeface="Pretendard" panose="02000503000000020004" pitchFamily="50" charset="-127"/>
                <a:ea typeface="Pretendard" panose="02000503000000020004" pitchFamily="50" charset="-127"/>
                <a:cs typeface="Pretendard" panose="02000503000000020004" pitchFamily="50" charset="-127"/>
              </a:rPr>
              <a:t>• </a:t>
            </a:r>
            <a:r>
              <a:rPr lang="ko-KR" altLang="en-US" sz="1200" dirty="0" err="1">
                <a:latin typeface="Pretendard" panose="02000503000000020004" pitchFamily="50" charset="-127"/>
                <a:ea typeface="Pretendard" panose="02000503000000020004" pitchFamily="50" charset="-127"/>
                <a:cs typeface="Pretendard" panose="02000503000000020004" pitchFamily="50" charset="-127"/>
              </a:rPr>
              <a:t>임시저장된</a:t>
            </a:r>
            <a:r>
              <a:rPr lang="ko-KR" altLang="en-US" sz="1200" dirty="0">
                <a:latin typeface="Pretendard" panose="02000503000000020004" pitchFamily="50" charset="-127"/>
                <a:ea typeface="Pretendard" panose="02000503000000020004" pitchFamily="50" charset="-127"/>
                <a:cs typeface="Pretendard" panose="02000503000000020004" pitchFamily="50" charset="-127"/>
              </a:rPr>
              <a:t> 응답을 기반으로 새로 시작 또는 이어서 작성 선택 제공</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pic>
        <p:nvPicPr>
          <p:cNvPr id="48" name="그림 47">
            <a:extLst>
              <a:ext uri="{FF2B5EF4-FFF2-40B4-BE49-F238E27FC236}">
                <a16:creationId xmlns:a16="http://schemas.microsoft.com/office/drawing/2014/main" id="{0032F05F-AEB4-45CD-A8FF-B48CDC079B9E}"/>
              </a:ext>
            </a:extLst>
          </p:cNvPr>
          <p:cNvPicPr>
            <a:picLocks noChangeAspect="1"/>
          </p:cNvPicPr>
          <p:nvPr/>
        </p:nvPicPr>
        <p:blipFill>
          <a:blip r:embed="rId4"/>
          <a:stretch>
            <a:fillRect/>
          </a:stretch>
        </p:blipFill>
        <p:spPr>
          <a:xfrm>
            <a:off x="471660" y="2702810"/>
            <a:ext cx="5441307" cy="2584701"/>
          </a:xfrm>
          <a:prstGeom prst="rect">
            <a:avLst/>
          </a:prstGeom>
        </p:spPr>
      </p:pic>
      <p:sp>
        <p:nvSpPr>
          <p:cNvPr id="119" name="직사각형 118">
            <a:extLst>
              <a:ext uri="{FF2B5EF4-FFF2-40B4-BE49-F238E27FC236}">
                <a16:creationId xmlns:a16="http://schemas.microsoft.com/office/drawing/2014/main" id="{BC85649B-78D0-4B30-AD93-2A917BD337F1}"/>
              </a:ext>
            </a:extLst>
          </p:cNvPr>
          <p:cNvSpPr/>
          <p:nvPr/>
        </p:nvSpPr>
        <p:spPr>
          <a:xfrm>
            <a:off x="566928" y="3379840"/>
            <a:ext cx="5255374" cy="329184"/>
          </a:xfrm>
          <a:prstGeom prst="rect">
            <a:avLst/>
          </a:prstGeom>
          <a:noFill/>
          <a:ln w="44450" cmpd="sng">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1" name="직사각형 50">
            <a:extLst>
              <a:ext uri="{FF2B5EF4-FFF2-40B4-BE49-F238E27FC236}">
                <a16:creationId xmlns:a16="http://schemas.microsoft.com/office/drawing/2014/main" id="{945A72E7-0584-42E6-AB88-8A9628ED4B04}"/>
              </a:ext>
            </a:extLst>
          </p:cNvPr>
          <p:cNvSpPr/>
          <p:nvPr/>
        </p:nvSpPr>
        <p:spPr>
          <a:xfrm>
            <a:off x="457199" y="3875931"/>
            <a:ext cx="5441307" cy="1411580"/>
          </a:xfrm>
          <a:prstGeom prst="rect">
            <a:avLst/>
          </a:prstGeom>
          <a:solidFill>
            <a:schemeClr val="bg2">
              <a:alpha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pic>
        <p:nvPicPr>
          <p:cNvPr id="54" name="그림 53">
            <a:extLst>
              <a:ext uri="{FF2B5EF4-FFF2-40B4-BE49-F238E27FC236}">
                <a16:creationId xmlns:a16="http://schemas.microsoft.com/office/drawing/2014/main" id="{EF54D9A1-6764-437C-B243-DC91370C3C81}"/>
              </a:ext>
            </a:extLst>
          </p:cNvPr>
          <p:cNvPicPr>
            <a:picLocks noChangeAspect="1"/>
          </p:cNvPicPr>
          <p:nvPr/>
        </p:nvPicPr>
        <p:blipFill rotWithShape="1">
          <a:blip r:embed="rId5"/>
          <a:srcRect t="18712" r="3333" b="13478"/>
          <a:stretch/>
        </p:blipFill>
        <p:spPr>
          <a:xfrm>
            <a:off x="6333440" y="2746975"/>
            <a:ext cx="5346344" cy="2580910"/>
          </a:xfrm>
          <a:prstGeom prst="rect">
            <a:avLst/>
          </a:prstGeom>
        </p:spPr>
      </p:pic>
      <p:sp>
        <p:nvSpPr>
          <p:cNvPr id="120" name="Text 1">
            <a:extLst>
              <a:ext uri="{FF2B5EF4-FFF2-40B4-BE49-F238E27FC236}">
                <a16:creationId xmlns:a16="http://schemas.microsoft.com/office/drawing/2014/main" id="{96221B9C-8A65-4965-99BF-9AC8198248CF}"/>
              </a:ext>
            </a:extLst>
          </p:cNvPr>
          <p:cNvSpPr/>
          <p:nvPr/>
        </p:nvSpPr>
        <p:spPr>
          <a:xfrm>
            <a:off x="457200" y="6446520"/>
            <a:ext cx="2743200" cy="228600"/>
          </a:xfrm>
          <a:prstGeom prst="rect">
            <a:avLst/>
          </a:prstGeom>
          <a:noFill/>
          <a:ln/>
        </p:spPr>
        <p:txBody>
          <a:bodyPr wrap="square" lIns="0" tIns="0" rIns="0" bIns="0" rtlCol="0" anchor="ctr"/>
          <a:lstStyle/>
          <a:p>
            <a:pPr marL="0" indent="0" algn="l">
              <a:buNone/>
            </a:pPr>
            <a:r>
              <a:rPr lang="en-US" sz="10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08</a:t>
            </a:r>
            <a:endParaRPr lang="en-US" sz="1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21" name="직사각형 120">
            <a:extLst>
              <a:ext uri="{FF2B5EF4-FFF2-40B4-BE49-F238E27FC236}">
                <a16:creationId xmlns:a16="http://schemas.microsoft.com/office/drawing/2014/main" id="{C2F956AE-C9DC-451A-A61A-518147F14F78}"/>
              </a:ext>
            </a:extLst>
          </p:cNvPr>
          <p:cNvSpPr/>
          <p:nvPr/>
        </p:nvSpPr>
        <p:spPr>
          <a:xfrm>
            <a:off x="6285958" y="2746975"/>
            <a:ext cx="5441307" cy="2540536"/>
          </a:xfrm>
          <a:prstGeom prst="rect">
            <a:avLst/>
          </a:prstGeom>
          <a:solidFill>
            <a:schemeClr val="bg2">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pic>
        <p:nvPicPr>
          <p:cNvPr id="55" name="그림 54">
            <a:extLst>
              <a:ext uri="{FF2B5EF4-FFF2-40B4-BE49-F238E27FC236}">
                <a16:creationId xmlns:a16="http://schemas.microsoft.com/office/drawing/2014/main" id="{BF130589-3714-4481-96D7-248796646E71}"/>
              </a:ext>
            </a:extLst>
          </p:cNvPr>
          <p:cNvPicPr>
            <a:picLocks noChangeAspect="1"/>
          </p:cNvPicPr>
          <p:nvPr/>
        </p:nvPicPr>
        <p:blipFill>
          <a:blip r:embed="rId6"/>
          <a:stretch>
            <a:fillRect/>
          </a:stretch>
        </p:blipFill>
        <p:spPr>
          <a:xfrm>
            <a:off x="7391148" y="3303260"/>
            <a:ext cx="3019678" cy="1303229"/>
          </a:xfrm>
          <a:prstGeom prst="roundRect">
            <a:avLst>
              <a:gd name="adj" fmla="val 6435"/>
            </a:avLst>
          </a:prstGeom>
        </p:spPr>
      </p:pic>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9"/>
                                        </p:tgtEl>
                                        <p:attrNameLst>
                                          <p:attrName>style.visibility</p:attrName>
                                        </p:attrNameLst>
                                      </p:cBhvr>
                                      <p:to>
                                        <p:strVal val="visible"/>
                                      </p:to>
                                    </p:set>
                                    <p:animEffect transition="in" filter="fade">
                                      <p:cBhvr>
                                        <p:cTn id="7" dur="500"/>
                                        <p:tgtEl>
                                          <p:spTgt spid="119"/>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21"/>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 grpId="0" animBg="1"/>
      <p:bldP spid="121"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5486400" cy="274320"/>
          </a:xfrm>
          <a:prstGeom prst="rect">
            <a:avLst/>
          </a:prstGeom>
          <a:noFill/>
          <a:ln/>
        </p:spPr>
        <p:txBody>
          <a:bodyPr wrap="square" lIns="0" tIns="0" rIns="0" bIns="0" rtlCol="0" anchor="ctr"/>
          <a:lstStyle/>
          <a:p>
            <a:r>
              <a:rPr lang="en-US" sz="12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04. </a:t>
            </a:r>
            <a:r>
              <a:rPr lang="en-US" altLang="ko-KR" sz="1200" dirty="0" err="1">
                <a:solidFill>
                  <a:srgbClr val="8E8E93"/>
                </a:solidFill>
                <a:latin typeface="Pretendard" panose="02000503000000020004" pitchFamily="50" charset="-127"/>
                <a:ea typeface="Pretendard" panose="02000503000000020004" pitchFamily="50" charset="-127"/>
                <a:cs typeface="Pretendard" panose="02000503000000020004" pitchFamily="50" charset="-127"/>
              </a:rPr>
              <a:t>주요</a:t>
            </a:r>
            <a:r>
              <a:rPr lang="en-US" altLang="ko-KR" sz="12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 </a:t>
            </a:r>
            <a:r>
              <a:rPr lang="ko-KR" altLang="en-US" sz="12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개선 기능</a:t>
            </a:r>
            <a:endParaRPr lang="en-US" altLang="ko-KR" sz="1200" dirty="0">
              <a:latin typeface="Pretendard" panose="02000503000000020004" pitchFamily="50" charset="-127"/>
              <a:ea typeface="Pretendard" panose="02000503000000020004" pitchFamily="50" charset="-127"/>
              <a:cs typeface="Pretendard" panose="02000503000000020004" pitchFamily="50" charset="-127"/>
            </a:endParaRPr>
          </a:p>
        </p:txBody>
      </p:sp>
      <p:pic>
        <p:nvPicPr>
          <p:cNvPr id="3" name="Image 0" descr="Woongjin_logo_transparent.png"/>
          <p:cNvPicPr>
            <a:picLocks noChangeAspect="1"/>
          </p:cNvPicPr>
          <p:nvPr/>
        </p:nvPicPr>
        <p:blipFill>
          <a:blip r:embed="rId3"/>
          <a:stretch>
            <a:fillRect/>
          </a:stretch>
        </p:blipFill>
        <p:spPr>
          <a:xfrm>
            <a:off x="10911535" y="262890"/>
            <a:ext cx="822960" cy="480060"/>
          </a:xfrm>
          <a:prstGeom prst="rect">
            <a:avLst/>
          </a:prstGeom>
        </p:spPr>
      </p:pic>
      <p:sp>
        <p:nvSpPr>
          <p:cNvPr id="4" name="Text 1"/>
          <p:cNvSpPr/>
          <p:nvPr/>
        </p:nvSpPr>
        <p:spPr>
          <a:xfrm>
            <a:off x="457200" y="6446520"/>
            <a:ext cx="2743200" cy="228600"/>
          </a:xfrm>
          <a:prstGeom prst="rect">
            <a:avLst/>
          </a:prstGeom>
          <a:noFill/>
          <a:ln/>
        </p:spPr>
        <p:txBody>
          <a:bodyPr wrap="square" lIns="0" tIns="0" rIns="0" bIns="0" rtlCol="0" anchor="ctr"/>
          <a:lstStyle/>
          <a:p>
            <a:pPr marL="0" indent="0" algn="l">
              <a:buNone/>
            </a:pPr>
            <a:r>
              <a:rPr lang="en-US" sz="10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09</a:t>
            </a:r>
            <a:endParaRPr lang="en-US" sz="1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6" name="Text 3"/>
          <p:cNvSpPr/>
          <p:nvPr/>
        </p:nvSpPr>
        <p:spPr>
          <a:xfrm>
            <a:off x="457200" y="914400"/>
            <a:ext cx="11277295" cy="685800"/>
          </a:xfrm>
          <a:prstGeom prst="rect">
            <a:avLst/>
          </a:prstGeom>
          <a:noFill/>
          <a:ln/>
        </p:spPr>
        <p:txBody>
          <a:bodyPr wrap="square" lIns="0" tIns="0" rIns="0" bIns="0" rtlCol="0" anchor="t"/>
          <a:lstStyle/>
          <a:p>
            <a:r>
              <a:rPr lang="ko-KR" altLang="en-US" sz="2400" b="1" dirty="0">
                <a:latin typeface="Pretendard" panose="02000503000000020004" pitchFamily="50" charset="-127"/>
                <a:ea typeface="Pretendard" panose="02000503000000020004" pitchFamily="50" charset="-127"/>
                <a:cs typeface="Pretendard" panose="02000503000000020004" pitchFamily="50" charset="-127"/>
              </a:rPr>
              <a:t>설문 응답 및 </a:t>
            </a:r>
            <a:r>
              <a:rPr lang="ko-KR" altLang="en-US" sz="2400" b="1" dirty="0" err="1">
                <a:latin typeface="Pretendard" panose="02000503000000020004" pitchFamily="50" charset="-127"/>
                <a:ea typeface="Pretendard" panose="02000503000000020004" pitchFamily="50" charset="-127"/>
                <a:cs typeface="Pretendard" panose="02000503000000020004" pitchFamily="50" charset="-127"/>
              </a:rPr>
              <a:t>조직별</a:t>
            </a:r>
            <a:r>
              <a:rPr lang="ko-KR" altLang="en-US" sz="2400" b="1" dirty="0">
                <a:latin typeface="Pretendard" panose="02000503000000020004" pitchFamily="50" charset="-127"/>
                <a:ea typeface="Pretendard" panose="02000503000000020004" pitchFamily="50" charset="-127"/>
                <a:cs typeface="Pretendard" panose="02000503000000020004" pitchFamily="50" charset="-127"/>
              </a:rPr>
              <a:t> 응답 현황 개선</a:t>
            </a:r>
            <a:endParaRPr lang="en-US" sz="2400" b="1"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7" name="Text 4"/>
          <p:cNvSpPr/>
          <p:nvPr/>
        </p:nvSpPr>
        <p:spPr>
          <a:xfrm>
            <a:off x="457200" y="1411873"/>
            <a:ext cx="11277295" cy="292608"/>
          </a:xfrm>
          <a:prstGeom prst="rect">
            <a:avLst/>
          </a:prstGeom>
          <a:noFill/>
          <a:ln/>
        </p:spPr>
        <p:txBody>
          <a:bodyPr wrap="square" lIns="0" tIns="0" rIns="0" bIns="0" rtlCol="0" anchor="t"/>
          <a:lstStyle/>
          <a:p>
            <a:r>
              <a:rPr lang="ko-KR" altLang="en-US" sz="1600" dirty="0">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rPr>
              <a:t>설문 전체 응답률과 </a:t>
            </a:r>
            <a:r>
              <a:rPr lang="ko-KR" altLang="en-US" sz="1600" dirty="0" err="1">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rPr>
              <a:t>조직별</a:t>
            </a:r>
            <a:r>
              <a:rPr lang="ko-KR" altLang="en-US" sz="1600" dirty="0">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rPr>
              <a:t> 참여 현황을 한눈에 파악할 수 있도록 통계 페이지를 개선하였습니다</a:t>
            </a:r>
            <a:r>
              <a:rPr lang="en-US" altLang="ko-KR" sz="1600" dirty="0">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rPr>
              <a:t>.</a:t>
            </a:r>
            <a:endParaRPr lang="en-US" sz="1600" dirty="0">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endParaRPr>
          </a:p>
        </p:txBody>
      </p:sp>
      <p:sp>
        <p:nvSpPr>
          <p:cNvPr id="8" name="Text 5"/>
          <p:cNvSpPr/>
          <p:nvPr/>
        </p:nvSpPr>
        <p:spPr>
          <a:xfrm>
            <a:off x="457200" y="1898139"/>
            <a:ext cx="5455768" cy="201168"/>
          </a:xfrm>
          <a:prstGeom prst="rect">
            <a:avLst/>
          </a:prstGeom>
          <a:noFill/>
          <a:ln/>
        </p:spPr>
        <p:txBody>
          <a:bodyPr wrap="square" lIns="0" tIns="0" rIns="0" bIns="0" rtlCol="0" anchor="t"/>
          <a:lstStyle/>
          <a:p>
            <a:pPr marL="0" indent="0" algn="l">
              <a:buNone/>
            </a:pPr>
            <a:r>
              <a:rPr lang="en-US" sz="1000" b="1" kern="0" spc="200" dirty="0">
                <a:solidFill>
                  <a:srgbClr val="1456F0"/>
                </a:solidFill>
                <a:latin typeface="Pretendard" panose="02000503000000020004" pitchFamily="50" charset="-127"/>
                <a:ea typeface="Pretendard" panose="02000503000000020004" pitchFamily="50" charset="-127"/>
                <a:cs typeface="Pretendard" panose="02000503000000020004" pitchFamily="50" charset="-127"/>
              </a:rPr>
              <a:t>PART 01</a:t>
            </a:r>
            <a:endParaRPr lang="en-US" sz="1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9" name="Text 6"/>
          <p:cNvSpPr/>
          <p:nvPr/>
        </p:nvSpPr>
        <p:spPr>
          <a:xfrm>
            <a:off x="457200" y="2108451"/>
            <a:ext cx="5455768" cy="292608"/>
          </a:xfrm>
          <a:prstGeom prst="rect">
            <a:avLst/>
          </a:prstGeom>
          <a:noFill/>
          <a:ln/>
        </p:spPr>
        <p:txBody>
          <a:bodyPr wrap="square" lIns="0" tIns="0" rIns="0" bIns="0" rtlCol="0" anchor="t"/>
          <a:lstStyle/>
          <a:p>
            <a:pPr marL="0" indent="0" algn="l">
              <a:buNone/>
            </a:pPr>
            <a:r>
              <a:rPr lang="en-US" sz="1400" b="1"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설문 </a:t>
            </a:r>
            <a:r>
              <a:rPr lang="en-US" sz="1400" b="1" dirty="0" err="1">
                <a:solidFill>
                  <a:srgbClr val="222222"/>
                </a:solidFill>
                <a:latin typeface="Pretendard" panose="02000503000000020004" pitchFamily="50" charset="-127"/>
                <a:ea typeface="Pretendard" panose="02000503000000020004" pitchFamily="50" charset="-127"/>
                <a:cs typeface="Pretendard" panose="02000503000000020004" pitchFamily="50" charset="-127"/>
              </a:rPr>
              <a:t>응답</a:t>
            </a:r>
            <a:r>
              <a:rPr lang="en-US" sz="1400" b="1"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 </a:t>
            </a:r>
            <a:r>
              <a:rPr lang="en-US" sz="1400" b="1" dirty="0" err="1">
                <a:solidFill>
                  <a:srgbClr val="222222"/>
                </a:solidFill>
                <a:latin typeface="Pretendard" panose="02000503000000020004" pitchFamily="50" charset="-127"/>
                <a:ea typeface="Pretendard" panose="02000503000000020004" pitchFamily="50" charset="-127"/>
                <a:cs typeface="Pretendard" panose="02000503000000020004" pitchFamily="50" charset="-127"/>
              </a:rPr>
              <a:t>현황</a:t>
            </a:r>
            <a:endParaRPr lang="en-US" sz="14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1" name="Text 8"/>
          <p:cNvSpPr/>
          <p:nvPr/>
        </p:nvSpPr>
        <p:spPr>
          <a:xfrm>
            <a:off x="6278728" y="1898139"/>
            <a:ext cx="5455768" cy="201168"/>
          </a:xfrm>
          <a:prstGeom prst="rect">
            <a:avLst/>
          </a:prstGeom>
          <a:noFill/>
          <a:ln/>
        </p:spPr>
        <p:txBody>
          <a:bodyPr wrap="square" lIns="0" tIns="0" rIns="0" bIns="0" rtlCol="0" anchor="t"/>
          <a:lstStyle/>
          <a:p>
            <a:pPr marL="0" indent="0" algn="l">
              <a:buNone/>
            </a:pPr>
            <a:r>
              <a:rPr lang="en-US" sz="1000" b="1" kern="0" spc="200" dirty="0">
                <a:solidFill>
                  <a:srgbClr val="EA5EC1"/>
                </a:solidFill>
                <a:latin typeface="Pretendard" panose="02000503000000020004" pitchFamily="50" charset="-127"/>
                <a:ea typeface="Pretendard" panose="02000503000000020004" pitchFamily="50" charset="-127"/>
                <a:cs typeface="Pretendard" panose="02000503000000020004" pitchFamily="50" charset="-127"/>
              </a:rPr>
              <a:t>PART 02</a:t>
            </a:r>
            <a:endParaRPr lang="en-US" sz="1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2" name="Text 9"/>
          <p:cNvSpPr/>
          <p:nvPr/>
        </p:nvSpPr>
        <p:spPr>
          <a:xfrm>
            <a:off x="6278728" y="2108451"/>
            <a:ext cx="5455768" cy="292608"/>
          </a:xfrm>
          <a:prstGeom prst="rect">
            <a:avLst/>
          </a:prstGeom>
          <a:noFill/>
          <a:ln/>
        </p:spPr>
        <p:txBody>
          <a:bodyPr wrap="square" lIns="0" tIns="0" rIns="0" bIns="0" rtlCol="0" anchor="t"/>
          <a:lstStyle/>
          <a:p>
            <a:pPr marL="0" indent="0" algn="l">
              <a:buNone/>
            </a:pPr>
            <a:r>
              <a:rPr lang="en-US" sz="1400" b="1"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조직별 </a:t>
            </a:r>
            <a:r>
              <a:rPr lang="en-US" sz="1400" b="1" dirty="0" err="1">
                <a:solidFill>
                  <a:srgbClr val="222222"/>
                </a:solidFill>
                <a:latin typeface="Pretendard" panose="02000503000000020004" pitchFamily="50" charset="-127"/>
                <a:ea typeface="Pretendard" panose="02000503000000020004" pitchFamily="50" charset="-127"/>
                <a:cs typeface="Pretendard" panose="02000503000000020004" pitchFamily="50" charset="-127"/>
              </a:rPr>
              <a:t>응답</a:t>
            </a:r>
            <a:r>
              <a:rPr lang="en-US" sz="1400" b="1"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 </a:t>
            </a:r>
            <a:r>
              <a:rPr lang="en-US" sz="1400" b="1" dirty="0" err="1">
                <a:solidFill>
                  <a:srgbClr val="222222"/>
                </a:solidFill>
                <a:latin typeface="Pretendard" panose="02000503000000020004" pitchFamily="50" charset="-127"/>
                <a:ea typeface="Pretendard" panose="02000503000000020004" pitchFamily="50" charset="-127"/>
                <a:cs typeface="Pretendard" panose="02000503000000020004" pitchFamily="50" charset="-127"/>
              </a:rPr>
              <a:t>현황</a:t>
            </a:r>
            <a:endParaRPr lang="en-US" sz="14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4" name="Shape 11"/>
          <p:cNvSpPr/>
          <p:nvPr/>
        </p:nvSpPr>
        <p:spPr>
          <a:xfrm>
            <a:off x="457200" y="2382771"/>
            <a:ext cx="5455768" cy="2716526"/>
          </a:xfrm>
          <a:prstGeom prst="roundRect">
            <a:avLst>
              <a:gd name="adj" fmla="val 8000"/>
            </a:avLst>
          </a:prstGeom>
          <a:solidFill>
            <a:srgbClr val="F8F9FB"/>
          </a:solidFill>
          <a:ln w="12700">
            <a:solidFill>
              <a:srgbClr val="E5E7EB"/>
            </a:solidFill>
            <a:prstDash val="solid"/>
          </a:ln>
          <a:effectLst>
            <a:outerShdw blurRad="76200" dist="25400" dir="5400000" algn="bl" rotWithShape="0">
              <a:srgbClr val="000000">
                <a:alpha val="8000"/>
              </a:srgbClr>
            </a:outerShdw>
          </a:effectLst>
        </p:spPr>
      </p:sp>
      <p:sp>
        <p:nvSpPr>
          <p:cNvPr id="15" name="Shape 12"/>
          <p:cNvSpPr/>
          <p:nvPr/>
        </p:nvSpPr>
        <p:spPr>
          <a:xfrm>
            <a:off x="457200" y="2382771"/>
            <a:ext cx="5455768" cy="329184"/>
          </a:xfrm>
          <a:prstGeom prst="rect">
            <a:avLst/>
          </a:prstGeom>
          <a:solidFill>
            <a:srgbClr val="EEF0F3"/>
          </a:solidFill>
          <a:ln w="12700">
            <a:solidFill>
              <a:srgbClr val="E5E7EB"/>
            </a:solidFill>
            <a:prstDash val="solid"/>
          </a:ln>
        </p:spPr>
      </p:sp>
      <p:sp>
        <p:nvSpPr>
          <p:cNvPr id="16" name="Shape 13"/>
          <p:cNvSpPr/>
          <p:nvPr/>
        </p:nvSpPr>
        <p:spPr>
          <a:xfrm>
            <a:off x="585216" y="2483355"/>
            <a:ext cx="118872" cy="118872"/>
          </a:xfrm>
          <a:prstGeom prst="ellipse">
            <a:avLst/>
          </a:prstGeom>
          <a:solidFill>
            <a:srgbClr val="E0826B"/>
          </a:solidFill>
          <a:ln w="12700">
            <a:solidFill>
              <a:srgbClr val="E0826B"/>
            </a:solidFill>
            <a:prstDash val="solid"/>
          </a:ln>
        </p:spPr>
      </p:sp>
      <p:sp>
        <p:nvSpPr>
          <p:cNvPr id="17" name="Shape 14"/>
          <p:cNvSpPr/>
          <p:nvPr/>
        </p:nvSpPr>
        <p:spPr>
          <a:xfrm>
            <a:off x="740664" y="2483355"/>
            <a:ext cx="118872" cy="118872"/>
          </a:xfrm>
          <a:prstGeom prst="ellipse">
            <a:avLst/>
          </a:prstGeom>
          <a:solidFill>
            <a:srgbClr val="E3C66D"/>
          </a:solidFill>
          <a:ln w="12700">
            <a:solidFill>
              <a:srgbClr val="E3C66D"/>
            </a:solidFill>
            <a:prstDash val="solid"/>
          </a:ln>
        </p:spPr>
      </p:sp>
      <p:sp>
        <p:nvSpPr>
          <p:cNvPr id="18" name="Shape 15"/>
          <p:cNvSpPr/>
          <p:nvPr/>
        </p:nvSpPr>
        <p:spPr>
          <a:xfrm>
            <a:off x="896112" y="2483355"/>
            <a:ext cx="118872" cy="118872"/>
          </a:xfrm>
          <a:prstGeom prst="ellipse">
            <a:avLst/>
          </a:prstGeom>
          <a:solidFill>
            <a:srgbClr val="9DC97A"/>
          </a:solidFill>
          <a:ln w="12700">
            <a:solidFill>
              <a:srgbClr val="9DC97A"/>
            </a:solidFill>
            <a:prstDash val="solid"/>
          </a:ln>
        </p:spPr>
      </p:sp>
      <p:sp>
        <p:nvSpPr>
          <p:cNvPr id="19" name="Shape 16"/>
          <p:cNvSpPr/>
          <p:nvPr/>
        </p:nvSpPr>
        <p:spPr>
          <a:xfrm>
            <a:off x="1143000" y="2455923"/>
            <a:ext cx="4587088" cy="182880"/>
          </a:xfrm>
          <a:prstGeom prst="roundRect">
            <a:avLst>
              <a:gd name="adj" fmla="val 20000"/>
            </a:avLst>
          </a:prstGeom>
          <a:solidFill>
            <a:srgbClr val="FFFFFF"/>
          </a:solidFill>
          <a:ln w="6350">
            <a:solidFill>
              <a:srgbClr val="E5E7EB"/>
            </a:solidFill>
            <a:prstDash val="solid"/>
          </a:ln>
        </p:spPr>
      </p:sp>
      <p:sp>
        <p:nvSpPr>
          <p:cNvPr id="20" name="Text 17"/>
          <p:cNvSpPr/>
          <p:nvPr/>
        </p:nvSpPr>
        <p:spPr>
          <a:xfrm>
            <a:off x="1188720" y="2455923"/>
            <a:ext cx="4495648" cy="182880"/>
          </a:xfrm>
          <a:prstGeom prst="rect">
            <a:avLst/>
          </a:prstGeom>
          <a:noFill/>
          <a:ln/>
        </p:spPr>
        <p:txBody>
          <a:bodyPr wrap="square" lIns="0" tIns="0" rIns="0" bIns="0" rtlCol="0" anchor="ctr"/>
          <a:lstStyle/>
          <a:p>
            <a:pPr marL="0" indent="0" algn="l">
              <a:buNone/>
            </a:pPr>
            <a:r>
              <a:rPr lang="ko-KR" altLang="en-US" sz="9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설문 응</a:t>
            </a:r>
            <a:r>
              <a:rPr lang="en-US" sz="9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답 현황 — 전체 요약 대시보드</a:t>
            </a:r>
            <a:endParaRPr lang="en-US" sz="9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7" name="Shape 34"/>
          <p:cNvSpPr/>
          <p:nvPr/>
        </p:nvSpPr>
        <p:spPr>
          <a:xfrm>
            <a:off x="457200" y="5199882"/>
            <a:ext cx="5455768" cy="1158254"/>
          </a:xfrm>
          <a:prstGeom prst="roundRect">
            <a:avLst>
              <a:gd name="adj" fmla="val 7975"/>
            </a:avLst>
          </a:prstGeom>
          <a:solidFill>
            <a:srgbClr val="FFFFFF"/>
          </a:solidFill>
          <a:ln w="9525">
            <a:solidFill>
              <a:srgbClr val="E5E7EB"/>
            </a:solidFill>
            <a:prstDash val="solid"/>
          </a:ln>
          <a:effectLst>
            <a:outerShdw blurRad="76200" dist="25400" dir="5400000" algn="bl" rotWithShape="0">
              <a:srgbClr val="000000">
                <a:alpha val="8000"/>
              </a:srgbClr>
            </a:outerShdw>
          </a:effectLst>
        </p:spPr>
      </p:sp>
      <p:sp>
        <p:nvSpPr>
          <p:cNvPr id="38" name="Shape 35"/>
          <p:cNvSpPr/>
          <p:nvPr/>
        </p:nvSpPr>
        <p:spPr>
          <a:xfrm>
            <a:off x="457200" y="5199881"/>
            <a:ext cx="5455768" cy="54864"/>
          </a:xfrm>
          <a:prstGeom prst="rect">
            <a:avLst/>
          </a:prstGeom>
          <a:solidFill>
            <a:srgbClr val="1456F0"/>
          </a:solidFill>
          <a:ln w="12700">
            <a:solidFill>
              <a:srgbClr val="1456F0"/>
            </a:solidFill>
            <a:prstDash val="solid"/>
          </a:ln>
        </p:spPr>
      </p:sp>
      <p:sp>
        <p:nvSpPr>
          <p:cNvPr id="39" name="Text 36"/>
          <p:cNvSpPr/>
          <p:nvPr/>
        </p:nvSpPr>
        <p:spPr>
          <a:xfrm>
            <a:off x="658368" y="5401049"/>
            <a:ext cx="5090008" cy="292608"/>
          </a:xfrm>
          <a:prstGeom prst="rect">
            <a:avLst/>
          </a:prstGeom>
          <a:noFill/>
          <a:ln/>
        </p:spPr>
        <p:txBody>
          <a:bodyPr wrap="square" lIns="0" tIns="0" rIns="0" bIns="0" rtlCol="0" anchor="t"/>
          <a:lstStyle/>
          <a:p>
            <a:r>
              <a:rPr lang="ko-KR" altLang="en-US" sz="1400" b="1" dirty="0">
                <a:latin typeface="Pretendard" panose="02000503000000020004" pitchFamily="50" charset="-127"/>
                <a:ea typeface="Pretendard" panose="02000503000000020004" pitchFamily="50" charset="-127"/>
                <a:cs typeface="Pretendard" panose="02000503000000020004" pitchFamily="50" charset="-127"/>
              </a:rPr>
              <a:t>설문 진행 현황을 한눈에 파악</a:t>
            </a:r>
            <a:endParaRPr lang="en-US" sz="1300" b="1"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0" name="Text 37"/>
          <p:cNvSpPr/>
          <p:nvPr/>
        </p:nvSpPr>
        <p:spPr>
          <a:xfrm>
            <a:off x="658368" y="5794241"/>
            <a:ext cx="5090008" cy="256032"/>
          </a:xfrm>
          <a:prstGeom prst="rect">
            <a:avLst/>
          </a:prstGeom>
          <a:noFill/>
          <a:ln/>
        </p:spPr>
        <p:txBody>
          <a:bodyPr wrap="square" lIns="0" tIns="0" rIns="0" bIns="0" rtlCol="0" anchor="t"/>
          <a:lstStyle/>
          <a:p>
            <a:r>
              <a:rPr lang="en-US" sz="1200" b="1" dirty="0">
                <a:solidFill>
                  <a:srgbClr val="1456F0"/>
                </a:solidFill>
                <a:latin typeface="Pretendard" panose="02000503000000020004" pitchFamily="50" charset="-127"/>
                <a:ea typeface="Pretendard" panose="02000503000000020004" pitchFamily="50" charset="-127"/>
                <a:cs typeface="Pretendard" panose="02000503000000020004" pitchFamily="50" charset="-127"/>
              </a:rPr>
              <a:t>• </a:t>
            </a:r>
            <a:r>
              <a:rPr lang="ko-KR" altLang="en-US" sz="1200" dirty="0">
                <a:latin typeface="Pretendard" panose="02000503000000020004" pitchFamily="50" charset="-127"/>
                <a:ea typeface="Pretendard" panose="02000503000000020004" pitchFamily="50" charset="-127"/>
                <a:cs typeface="Pretendard" panose="02000503000000020004" pitchFamily="50" charset="-127"/>
              </a:rPr>
              <a:t>총 대상자 </a:t>
            </a:r>
            <a:r>
              <a:rPr lang="en-US" altLang="ko-KR" sz="1200" dirty="0">
                <a:latin typeface="Pretendard" panose="02000503000000020004" pitchFamily="50" charset="-127"/>
                <a:ea typeface="Pretendard" panose="02000503000000020004" pitchFamily="50" charset="-127"/>
                <a:cs typeface="Pretendard" panose="02000503000000020004" pitchFamily="50" charset="-127"/>
              </a:rPr>
              <a:t>· </a:t>
            </a:r>
            <a:r>
              <a:rPr lang="ko-KR" altLang="en-US" sz="1200" dirty="0">
                <a:latin typeface="Pretendard" panose="02000503000000020004" pitchFamily="50" charset="-127"/>
                <a:ea typeface="Pretendard" panose="02000503000000020004" pitchFamily="50" charset="-127"/>
                <a:cs typeface="Pretendard" panose="02000503000000020004" pitchFamily="50" charset="-127"/>
              </a:rPr>
              <a:t>응답자 </a:t>
            </a:r>
            <a:r>
              <a:rPr lang="en-US" altLang="ko-KR" sz="1200" dirty="0">
                <a:latin typeface="Pretendard" panose="02000503000000020004" pitchFamily="50" charset="-127"/>
                <a:ea typeface="Pretendard" panose="02000503000000020004" pitchFamily="50" charset="-127"/>
                <a:cs typeface="Pretendard" panose="02000503000000020004" pitchFamily="50" charset="-127"/>
              </a:rPr>
              <a:t>· </a:t>
            </a:r>
            <a:r>
              <a:rPr lang="ko-KR" altLang="en-US" sz="1200" dirty="0">
                <a:latin typeface="Pretendard" panose="02000503000000020004" pitchFamily="50" charset="-127"/>
                <a:ea typeface="Pretendard" panose="02000503000000020004" pitchFamily="50" charset="-127"/>
                <a:cs typeface="Pretendard" panose="02000503000000020004" pitchFamily="50" charset="-127"/>
              </a:rPr>
              <a:t>응답률 </a:t>
            </a:r>
            <a:r>
              <a:rPr lang="en-US" altLang="ko-KR" sz="1200" dirty="0">
                <a:latin typeface="Pretendard" panose="02000503000000020004" pitchFamily="50" charset="-127"/>
                <a:ea typeface="Pretendard" panose="02000503000000020004" pitchFamily="50" charset="-127"/>
                <a:cs typeface="Pretendard" panose="02000503000000020004" pitchFamily="50" charset="-127"/>
              </a:rPr>
              <a:t>· </a:t>
            </a:r>
            <a:r>
              <a:rPr lang="ko-KR" altLang="en-US" sz="1200" dirty="0">
                <a:latin typeface="Pretendard" panose="02000503000000020004" pitchFamily="50" charset="-127"/>
                <a:ea typeface="Pretendard" panose="02000503000000020004" pitchFamily="50" charset="-127"/>
                <a:cs typeface="Pretendard" panose="02000503000000020004" pitchFamily="50" charset="-127"/>
              </a:rPr>
              <a:t>미 응답자를 카드형 </a:t>
            </a:r>
            <a:r>
              <a:rPr lang="en-US" altLang="ko-KR" sz="1200" dirty="0">
                <a:latin typeface="Pretendard" panose="02000503000000020004" pitchFamily="50" charset="-127"/>
                <a:ea typeface="Pretendard" panose="02000503000000020004" pitchFamily="50" charset="-127"/>
                <a:cs typeface="Pretendard" panose="02000503000000020004" pitchFamily="50" charset="-127"/>
              </a:rPr>
              <a:t>UI</a:t>
            </a:r>
            <a:r>
              <a:rPr lang="ko-KR" altLang="en-US" sz="1200" dirty="0">
                <a:latin typeface="Pretendard" panose="02000503000000020004" pitchFamily="50" charset="-127"/>
                <a:ea typeface="Pretendard" panose="02000503000000020004" pitchFamily="50" charset="-127"/>
                <a:cs typeface="Pretendard" panose="02000503000000020004" pitchFamily="50" charset="-127"/>
              </a:rPr>
              <a:t>로 상단 배치</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1" name="Text 38"/>
          <p:cNvSpPr/>
          <p:nvPr/>
        </p:nvSpPr>
        <p:spPr>
          <a:xfrm>
            <a:off x="658368" y="6050273"/>
            <a:ext cx="5090008" cy="256032"/>
          </a:xfrm>
          <a:prstGeom prst="rect">
            <a:avLst/>
          </a:prstGeom>
          <a:noFill/>
          <a:ln/>
        </p:spPr>
        <p:txBody>
          <a:bodyPr wrap="square" lIns="0" tIns="0" rIns="0" bIns="0" rtlCol="0" anchor="t"/>
          <a:lstStyle/>
          <a:p>
            <a:r>
              <a:rPr lang="en-US" sz="1200" b="1" dirty="0">
                <a:solidFill>
                  <a:srgbClr val="1456F0"/>
                </a:solidFill>
                <a:latin typeface="Pretendard" panose="02000503000000020004" pitchFamily="50" charset="-127"/>
                <a:ea typeface="Pretendard" panose="02000503000000020004" pitchFamily="50" charset="-127"/>
                <a:cs typeface="Pretendard" panose="02000503000000020004" pitchFamily="50" charset="-127"/>
              </a:rPr>
              <a:t>• </a:t>
            </a:r>
            <a:r>
              <a:rPr lang="ko-KR" altLang="en-US" sz="1200" b="1" dirty="0">
                <a:solidFill>
                  <a:srgbClr val="1456F0"/>
                </a:solidFill>
                <a:latin typeface="Pretendard" panose="02000503000000020004" pitchFamily="50" charset="-127"/>
                <a:ea typeface="Pretendard" panose="02000503000000020004" pitchFamily="50" charset="-127"/>
                <a:cs typeface="Pretendard" panose="02000503000000020004" pitchFamily="50" charset="-127"/>
              </a:rPr>
              <a:t>응답률을 제공해 설문</a:t>
            </a:r>
            <a:r>
              <a:rPr lang="ko-KR" altLang="en-US" sz="1200" dirty="0">
                <a:latin typeface="Pretendard" panose="02000503000000020004" pitchFamily="50" charset="-127"/>
                <a:ea typeface="Pretendard" panose="02000503000000020004" pitchFamily="50" charset="-127"/>
                <a:cs typeface="Pretendard" panose="02000503000000020004" pitchFamily="50" charset="-127"/>
              </a:rPr>
              <a:t> 진행 상황을 빠르게 확인</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3" name="Shape 40"/>
          <p:cNvSpPr/>
          <p:nvPr/>
        </p:nvSpPr>
        <p:spPr>
          <a:xfrm>
            <a:off x="6278728" y="2382771"/>
            <a:ext cx="5455768" cy="2728726"/>
          </a:xfrm>
          <a:prstGeom prst="roundRect">
            <a:avLst>
              <a:gd name="adj" fmla="val 8000"/>
            </a:avLst>
          </a:prstGeom>
          <a:solidFill>
            <a:srgbClr val="F8F9FB"/>
          </a:solidFill>
          <a:ln w="12700">
            <a:solidFill>
              <a:srgbClr val="E5E7EB"/>
            </a:solidFill>
            <a:prstDash val="solid"/>
          </a:ln>
          <a:effectLst>
            <a:outerShdw blurRad="76200" dist="25400" dir="5400000" algn="bl" rotWithShape="0">
              <a:srgbClr val="000000">
                <a:alpha val="8000"/>
              </a:srgbClr>
            </a:outerShdw>
          </a:effectLst>
        </p:spPr>
      </p:sp>
      <p:sp>
        <p:nvSpPr>
          <p:cNvPr id="44" name="Shape 41"/>
          <p:cNvSpPr/>
          <p:nvPr/>
        </p:nvSpPr>
        <p:spPr>
          <a:xfrm>
            <a:off x="6278728" y="2382771"/>
            <a:ext cx="5455768" cy="329184"/>
          </a:xfrm>
          <a:prstGeom prst="rect">
            <a:avLst/>
          </a:prstGeom>
          <a:solidFill>
            <a:srgbClr val="EEF0F3"/>
          </a:solidFill>
          <a:ln w="12700">
            <a:solidFill>
              <a:srgbClr val="E5E7EB"/>
            </a:solidFill>
            <a:prstDash val="solid"/>
          </a:ln>
        </p:spPr>
      </p:sp>
      <p:sp>
        <p:nvSpPr>
          <p:cNvPr id="45" name="Shape 42"/>
          <p:cNvSpPr/>
          <p:nvPr/>
        </p:nvSpPr>
        <p:spPr>
          <a:xfrm>
            <a:off x="6406744" y="2483355"/>
            <a:ext cx="118872" cy="118872"/>
          </a:xfrm>
          <a:prstGeom prst="ellipse">
            <a:avLst/>
          </a:prstGeom>
          <a:solidFill>
            <a:srgbClr val="E0826B"/>
          </a:solidFill>
          <a:ln w="12700">
            <a:solidFill>
              <a:srgbClr val="E0826B"/>
            </a:solidFill>
            <a:prstDash val="solid"/>
          </a:ln>
        </p:spPr>
      </p:sp>
      <p:sp>
        <p:nvSpPr>
          <p:cNvPr id="46" name="Shape 43"/>
          <p:cNvSpPr/>
          <p:nvPr/>
        </p:nvSpPr>
        <p:spPr>
          <a:xfrm>
            <a:off x="6562192" y="2483355"/>
            <a:ext cx="118872" cy="118872"/>
          </a:xfrm>
          <a:prstGeom prst="ellipse">
            <a:avLst/>
          </a:prstGeom>
          <a:solidFill>
            <a:srgbClr val="E3C66D"/>
          </a:solidFill>
          <a:ln w="12700">
            <a:solidFill>
              <a:srgbClr val="E3C66D"/>
            </a:solidFill>
            <a:prstDash val="solid"/>
          </a:ln>
        </p:spPr>
      </p:sp>
      <p:sp>
        <p:nvSpPr>
          <p:cNvPr id="47" name="Shape 44"/>
          <p:cNvSpPr/>
          <p:nvPr/>
        </p:nvSpPr>
        <p:spPr>
          <a:xfrm>
            <a:off x="6717640" y="2483355"/>
            <a:ext cx="118872" cy="118872"/>
          </a:xfrm>
          <a:prstGeom prst="ellipse">
            <a:avLst/>
          </a:prstGeom>
          <a:solidFill>
            <a:srgbClr val="9DC97A"/>
          </a:solidFill>
          <a:ln w="12700">
            <a:solidFill>
              <a:srgbClr val="9DC97A"/>
            </a:solidFill>
            <a:prstDash val="solid"/>
          </a:ln>
        </p:spPr>
      </p:sp>
      <p:sp>
        <p:nvSpPr>
          <p:cNvPr id="48" name="Shape 45"/>
          <p:cNvSpPr/>
          <p:nvPr/>
        </p:nvSpPr>
        <p:spPr>
          <a:xfrm>
            <a:off x="6964528" y="2455923"/>
            <a:ext cx="4587088" cy="182880"/>
          </a:xfrm>
          <a:prstGeom prst="roundRect">
            <a:avLst>
              <a:gd name="adj" fmla="val 20000"/>
            </a:avLst>
          </a:prstGeom>
          <a:solidFill>
            <a:srgbClr val="FFFFFF"/>
          </a:solidFill>
          <a:ln w="6350">
            <a:solidFill>
              <a:srgbClr val="E5E7EB"/>
            </a:solidFill>
            <a:prstDash val="solid"/>
          </a:ln>
        </p:spPr>
        <p:txBody>
          <a:bodyPr/>
          <a:lstStyle/>
          <a:p>
            <a:endParaRPr lang="ko-KR" altLang="en-US" dirty="0"/>
          </a:p>
        </p:txBody>
      </p:sp>
      <p:sp>
        <p:nvSpPr>
          <p:cNvPr id="49" name="Text 46"/>
          <p:cNvSpPr/>
          <p:nvPr/>
        </p:nvSpPr>
        <p:spPr>
          <a:xfrm>
            <a:off x="7010248" y="2455923"/>
            <a:ext cx="4495648" cy="182880"/>
          </a:xfrm>
          <a:prstGeom prst="rect">
            <a:avLst/>
          </a:prstGeom>
          <a:noFill/>
          <a:ln/>
        </p:spPr>
        <p:txBody>
          <a:bodyPr wrap="square" lIns="0" tIns="0" rIns="0" bIns="0" rtlCol="0" anchor="ctr"/>
          <a:lstStyle/>
          <a:p>
            <a:pPr marL="0" indent="0" algn="l">
              <a:buNone/>
            </a:pPr>
            <a:r>
              <a:rPr lang="ko-KR" altLang="en-US" sz="900" dirty="0" err="1">
                <a:solidFill>
                  <a:srgbClr val="8E8E93"/>
                </a:solidFill>
                <a:latin typeface="Pretendard" panose="02000503000000020004" pitchFamily="50" charset="-127"/>
                <a:ea typeface="Pretendard" panose="02000503000000020004" pitchFamily="50" charset="-127"/>
                <a:cs typeface="Pretendard" panose="02000503000000020004" pitchFamily="50" charset="-127"/>
              </a:rPr>
              <a:t>조직별</a:t>
            </a:r>
            <a:r>
              <a:rPr lang="ko-KR" altLang="en-US" sz="9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 </a:t>
            </a:r>
            <a:r>
              <a:rPr lang="en-US" sz="900" dirty="0" err="1">
                <a:solidFill>
                  <a:srgbClr val="8E8E93"/>
                </a:solidFill>
                <a:latin typeface="Pretendard" panose="02000503000000020004" pitchFamily="50" charset="-127"/>
                <a:ea typeface="Pretendard" panose="02000503000000020004" pitchFamily="50" charset="-127"/>
                <a:cs typeface="Pretendard" panose="02000503000000020004" pitchFamily="50" charset="-127"/>
              </a:rPr>
              <a:t>응답</a:t>
            </a:r>
            <a:r>
              <a:rPr lang="en-US" sz="9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 현황 — 조직별 트리 뷰</a:t>
            </a:r>
            <a:endParaRPr lang="en-US" sz="9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69" name="Shape 66"/>
          <p:cNvSpPr/>
          <p:nvPr/>
        </p:nvSpPr>
        <p:spPr>
          <a:xfrm>
            <a:off x="6278728" y="5199881"/>
            <a:ext cx="5455768" cy="1158255"/>
          </a:xfrm>
          <a:prstGeom prst="roundRect">
            <a:avLst>
              <a:gd name="adj" fmla="val 7975"/>
            </a:avLst>
          </a:prstGeom>
          <a:solidFill>
            <a:srgbClr val="FFFFFF"/>
          </a:solidFill>
          <a:ln w="9525">
            <a:solidFill>
              <a:srgbClr val="E5E7EB"/>
            </a:solidFill>
            <a:prstDash val="solid"/>
          </a:ln>
          <a:effectLst>
            <a:outerShdw blurRad="76200" dist="25400" dir="5400000" algn="bl" rotWithShape="0">
              <a:srgbClr val="000000">
                <a:alpha val="8000"/>
              </a:srgbClr>
            </a:outerShdw>
          </a:effectLst>
        </p:spPr>
        <p:txBody>
          <a:bodyPr/>
          <a:lstStyle/>
          <a:p>
            <a:endParaRPr lang="ko-KR" altLang="en-US" dirty="0"/>
          </a:p>
        </p:txBody>
      </p:sp>
      <p:sp>
        <p:nvSpPr>
          <p:cNvPr id="70" name="Shape 67"/>
          <p:cNvSpPr/>
          <p:nvPr/>
        </p:nvSpPr>
        <p:spPr>
          <a:xfrm>
            <a:off x="6278728" y="5199881"/>
            <a:ext cx="5455768" cy="54864"/>
          </a:xfrm>
          <a:prstGeom prst="rect">
            <a:avLst/>
          </a:prstGeom>
          <a:solidFill>
            <a:srgbClr val="EA5EC1"/>
          </a:solidFill>
          <a:ln w="12700">
            <a:solidFill>
              <a:srgbClr val="EA5EC1"/>
            </a:solidFill>
            <a:prstDash val="solid"/>
          </a:ln>
        </p:spPr>
      </p:sp>
      <p:sp>
        <p:nvSpPr>
          <p:cNvPr id="71" name="Text 68"/>
          <p:cNvSpPr/>
          <p:nvPr/>
        </p:nvSpPr>
        <p:spPr>
          <a:xfrm>
            <a:off x="6479896" y="5401049"/>
            <a:ext cx="5090008" cy="292608"/>
          </a:xfrm>
          <a:prstGeom prst="rect">
            <a:avLst/>
          </a:prstGeom>
          <a:noFill/>
          <a:ln/>
        </p:spPr>
        <p:txBody>
          <a:bodyPr wrap="square" lIns="0" tIns="0" rIns="0" bIns="0" rtlCol="0" anchor="t"/>
          <a:lstStyle/>
          <a:p>
            <a:r>
              <a:rPr lang="ko-KR" altLang="en-US" sz="1400" b="1" dirty="0" err="1">
                <a:latin typeface="Pretendard" panose="02000503000000020004" pitchFamily="50" charset="-127"/>
                <a:ea typeface="Pretendard" panose="02000503000000020004" pitchFamily="50" charset="-127"/>
                <a:cs typeface="Pretendard" panose="02000503000000020004" pitchFamily="50" charset="-127"/>
              </a:rPr>
              <a:t>조직별</a:t>
            </a:r>
            <a:r>
              <a:rPr lang="ko-KR" altLang="en-US" sz="1400" b="1" dirty="0">
                <a:latin typeface="Pretendard" panose="02000503000000020004" pitchFamily="50" charset="-127"/>
                <a:ea typeface="Pretendard" panose="02000503000000020004" pitchFamily="50" charset="-127"/>
                <a:cs typeface="Pretendard" panose="02000503000000020004" pitchFamily="50" charset="-127"/>
              </a:rPr>
              <a:t> 응답률을 트리 구조와 </a:t>
            </a:r>
            <a:r>
              <a:rPr lang="en-US" altLang="ko-KR" sz="1400" b="1" dirty="0">
                <a:latin typeface="Pretendard" panose="02000503000000020004" pitchFamily="50" charset="-127"/>
                <a:ea typeface="Pretendard" panose="02000503000000020004" pitchFamily="50" charset="-127"/>
                <a:cs typeface="Pretendard" panose="02000503000000020004" pitchFamily="50" charset="-127"/>
              </a:rPr>
              <a:t>Progress Bar</a:t>
            </a:r>
            <a:r>
              <a:rPr lang="ko-KR" altLang="en-US" sz="1400" b="1" dirty="0">
                <a:latin typeface="Pretendard" panose="02000503000000020004" pitchFamily="50" charset="-127"/>
                <a:ea typeface="Pretendard" panose="02000503000000020004" pitchFamily="50" charset="-127"/>
                <a:cs typeface="Pretendard" panose="02000503000000020004" pitchFamily="50" charset="-127"/>
              </a:rPr>
              <a:t>로 시각화</a:t>
            </a:r>
            <a:endParaRPr lang="en-US" sz="1300" b="1"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72" name="Text 69"/>
          <p:cNvSpPr/>
          <p:nvPr/>
        </p:nvSpPr>
        <p:spPr>
          <a:xfrm>
            <a:off x="6479896" y="5794241"/>
            <a:ext cx="5090008" cy="256032"/>
          </a:xfrm>
          <a:prstGeom prst="rect">
            <a:avLst/>
          </a:prstGeom>
          <a:noFill/>
          <a:ln/>
        </p:spPr>
        <p:txBody>
          <a:bodyPr wrap="square" lIns="0" tIns="0" rIns="0" bIns="0" rtlCol="0" anchor="t"/>
          <a:lstStyle/>
          <a:p>
            <a:r>
              <a:rPr lang="en-US" sz="1200" b="1" dirty="0">
                <a:solidFill>
                  <a:srgbClr val="EA5EC1"/>
                </a:solidFill>
                <a:latin typeface="Pretendard" panose="02000503000000020004" pitchFamily="50" charset="-127"/>
                <a:ea typeface="Pretendard" panose="02000503000000020004" pitchFamily="50" charset="-127"/>
                <a:cs typeface="Pretendard" panose="02000503000000020004" pitchFamily="50" charset="-127"/>
              </a:rPr>
              <a:t>• </a:t>
            </a:r>
            <a:r>
              <a:rPr lang="ko-KR" altLang="en-US" sz="1200" dirty="0">
                <a:latin typeface="Pretendard" panose="02000503000000020004" pitchFamily="50" charset="-127"/>
                <a:ea typeface="Pretendard" panose="02000503000000020004" pitchFamily="50" charset="-127"/>
                <a:cs typeface="Pretendard" panose="02000503000000020004" pitchFamily="50" charset="-127"/>
              </a:rPr>
              <a:t>부서부터 </a:t>
            </a:r>
            <a:r>
              <a:rPr lang="en-US" altLang="ko-KR" sz="1200" dirty="0">
                <a:latin typeface="Pretendard" panose="02000503000000020004" pitchFamily="50" charset="-127"/>
                <a:ea typeface="Pretendard" panose="02000503000000020004" pitchFamily="50" charset="-127"/>
                <a:cs typeface="Pretendard" panose="02000503000000020004" pitchFamily="50" charset="-127"/>
              </a:rPr>
              <a:t>UNIT</a:t>
            </a:r>
            <a:r>
              <a:rPr lang="ko-KR" altLang="en-US" sz="1200" dirty="0">
                <a:latin typeface="Pretendard" panose="02000503000000020004" pitchFamily="50" charset="-127"/>
                <a:ea typeface="Pretendard" panose="02000503000000020004" pitchFamily="50" charset="-127"/>
                <a:cs typeface="Pretendard" panose="02000503000000020004" pitchFamily="50" charset="-127"/>
              </a:rPr>
              <a:t>까지 </a:t>
            </a:r>
            <a:r>
              <a:rPr lang="ko-KR" altLang="en-US" sz="1200" dirty="0" err="1">
                <a:latin typeface="Pretendard" panose="02000503000000020004" pitchFamily="50" charset="-127"/>
                <a:ea typeface="Pretendard" panose="02000503000000020004" pitchFamily="50" charset="-127"/>
                <a:cs typeface="Pretendard" panose="02000503000000020004" pitchFamily="50" charset="-127"/>
              </a:rPr>
              <a:t>조직별</a:t>
            </a:r>
            <a:r>
              <a:rPr lang="ko-KR" altLang="en-US" sz="1200" dirty="0">
                <a:latin typeface="Pretendard" panose="02000503000000020004" pitchFamily="50" charset="-127"/>
                <a:ea typeface="Pretendard" panose="02000503000000020004" pitchFamily="50" charset="-127"/>
                <a:cs typeface="Pretendard" panose="02000503000000020004" pitchFamily="50" charset="-127"/>
              </a:rPr>
              <a:t> 참여도 비교</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73" name="Text 70"/>
          <p:cNvSpPr/>
          <p:nvPr/>
        </p:nvSpPr>
        <p:spPr>
          <a:xfrm>
            <a:off x="6479896" y="6050273"/>
            <a:ext cx="5090008" cy="256032"/>
          </a:xfrm>
          <a:prstGeom prst="rect">
            <a:avLst/>
          </a:prstGeom>
          <a:noFill/>
          <a:ln/>
        </p:spPr>
        <p:txBody>
          <a:bodyPr wrap="square" lIns="0" tIns="0" rIns="0" bIns="0" rtlCol="0" anchor="t"/>
          <a:lstStyle/>
          <a:p>
            <a:r>
              <a:rPr lang="en-US" sz="1200" b="1" dirty="0">
                <a:solidFill>
                  <a:srgbClr val="EA5EC1"/>
                </a:solidFill>
                <a:latin typeface="Pretendard" panose="02000503000000020004" pitchFamily="50" charset="-127"/>
                <a:ea typeface="Pretendard" panose="02000503000000020004" pitchFamily="50" charset="-127"/>
                <a:cs typeface="Pretendard" panose="02000503000000020004" pitchFamily="50" charset="-127"/>
              </a:rPr>
              <a:t>• </a:t>
            </a:r>
            <a:r>
              <a:rPr lang="ko-KR" altLang="en-US" sz="1200" b="1" dirty="0">
                <a:solidFill>
                  <a:srgbClr val="EA5EC1"/>
                </a:solidFill>
                <a:latin typeface="Pretendard" panose="02000503000000020004" pitchFamily="50" charset="-127"/>
                <a:ea typeface="Pretendard" panose="02000503000000020004" pitchFamily="50" charset="-127"/>
                <a:cs typeface="Pretendard" panose="02000503000000020004" pitchFamily="50" charset="-127"/>
              </a:rPr>
              <a:t>참여율 </a:t>
            </a:r>
            <a:r>
              <a:rPr lang="ko-KR" altLang="en-US" sz="1200" dirty="0">
                <a:latin typeface="Pretendard" panose="02000503000000020004" pitchFamily="50" charset="-127"/>
                <a:ea typeface="Pretendard" panose="02000503000000020004" pitchFamily="50" charset="-127"/>
                <a:cs typeface="Pretendard" panose="02000503000000020004" pitchFamily="50" charset="-127"/>
              </a:rPr>
              <a:t>저조 조직을 색상으로 구분해 독려 조직 파악 </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74" name="Text 12"/>
          <p:cNvSpPr/>
          <p:nvPr/>
        </p:nvSpPr>
        <p:spPr>
          <a:xfrm>
            <a:off x="310834" y="3494964"/>
            <a:ext cx="5455768" cy="320040"/>
          </a:xfrm>
          <a:prstGeom prst="rect">
            <a:avLst/>
          </a:prstGeom>
          <a:noFill/>
          <a:ln/>
        </p:spPr>
        <p:txBody>
          <a:bodyPr wrap="square" lIns="0" tIns="0" rIns="0" bIns="0" rtlCol="0" anchor="ctr"/>
          <a:lstStyle/>
          <a:p>
            <a:pPr marL="0" indent="0" algn="ctr">
              <a:buNone/>
            </a:pPr>
            <a:r>
              <a:rPr lang="en-US" sz="1300" b="1" kern="0" spc="1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UI 화면 캡처 영역</a:t>
            </a:r>
            <a:endParaRPr lang="en-US" sz="13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79" name="Text 12"/>
          <p:cNvSpPr/>
          <p:nvPr/>
        </p:nvSpPr>
        <p:spPr>
          <a:xfrm>
            <a:off x="6366816" y="3490712"/>
            <a:ext cx="5455768" cy="320040"/>
          </a:xfrm>
          <a:prstGeom prst="rect">
            <a:avLst/>
          </a:prstGeom>
          <a:noFill/>
          <a:ln/>
        </p:spPr>
        <p:txBody>
          <a:bodyPr wrap="square" lIns="0" tIns="0" rIns="0" bIns="0" rtlCol="0" anchor="ctr"/>
          <a:lstStyle/>
          <a:p>
            <a:pPr marL="0" indent="0" algn="ctr">
              <a:buNone/>
            </a:pPr>
            <a:r>
              <a:rPr lang="en-US" sz="1300" b="1" kern="0" spc="1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UI 화면 캡처 영역</a:t>
            </a:r>
            <a:endParaRPr lang="en-US" sz="1300" dirty="0">
              <a:latin typeface="Pretendard" panose="02000503000000020004" pitchFamily="50" charset="-127"/>
              <a:ea typeface="Pretendard" panose="02000503000000020004" pitchFamily="50" charset="-127"/>
              <a:cs typeface="Pretendard" panose="02000503000000020004" pitchFamily="50" charset="-127"/>
            </a:endParaRPr>
          </a:p>
        </p:txBody>
      </p:sp>
      <p:pic>
        <p:nvPicPr>
          <p:cNvPr id="24" name="그림 23">
            <a:extLst>
              <a:ext uri="{FF2B5EF4-FFF2-40B4-BE49-F238E27FC236}">
                <a16:creationId xmlns:a16="http://schemas.microsoft.com/office/drawing/2014/main" id="{6609BED3-545D-43B9-BECD-47F1B8F31A58}"/>
              </a:ext>
            </a:extLst>
          </p:cNvPr>
          <p:cNvPicPr>
            <a:picLocks noChangeAspect="1"/>
          </p:cNvPicPr>
          <p:nvPr/>
        </p:nvPicPr>
        <p:blipFill>
          <a:blip r:embed="rId4"/>
          <a:stretch>
            <a:fillRect/>
          </a:stretch>
        </p:blipFill>
        <p:spPr>
          <a:xfrm>
            <a:off x="6366816" y="2766819"/>
            <a:ext cx="5298246" cy="2251123"/>
          </a:xfrm>
          <a:prstGeom prst="roundRect">
            <a:avLst>
              <a:gd name="adj" fmla="val 5243"/>
            </a:avLst>
          </a:prstGeom>
        </p:spPr>
      </p:pic>
      <p:pic>
        <p:nvPicPr>
          <p:cNvPr id="10" name="그림 9">
            <a:extLst>
              <a:ext uri="{FF2B5EF4-FFF2-40B4-BE49-F238E27FC236}">
                <a16:creationId xmlns:a16="http://schemas.microsoft.com/office/drawing/2014/main" id="{C1546CBB-E588-4C84-86C6-2B6C8B7A78CD}"/>
              </a:ext>
            </a:extLst>
          </p:cNvPr>
          <p:cNvPicPr>
            <a:picLocks noChangeAspect="1"/>
          </p:cNvPicPr>
          <p:nvPr/>
        </p:nvPicPr>
        <p:blipFill rotWithShape="1">
          <a:blip r:embed="rId5"/>
          <a:srcRect l="12804" t="12506" r="14195" b="39335"/>
          <a:stretch/>
        </p:blipFill>
        <p:spPr>
          <a:xfrm>
            <a:off x="457200" y="2657091"/>
            <a:ext cx="5455767" cy="2458045"/>
          </a:xfrm>
          <a:prstGeom prst="rect">
            <a:avLst/>
          </a:prstGeom>
        </p:spPr>
      </p:pic>
      <p:sp>
        <p:nvSpPr>
          <p:cNvPr id="42" name="직사각형 41">
            <a:extLst>
              <a:ext uri="{FF2B5EF4-FFF2-40B4-BE49-F238E27FC236}">
                <a16:creationId xmlns:a16="http://schemas.microsoft.com/office/drawing/2014/main" id="{C9547CB4-DFC3-4561-9DB1-11554A6ABDB3}"/>
              </a:ext>
            </a:extLst>
          </p:cNvPr>
          <p:cNvSpPr/>
          <p:nvPr/>
        </p:nvSpPr>
        <p:spPr>
          <a:xfrm>
            <a:off x="479746" y="2675379"/>
            <a:ext cx="5433221" cy="563553"/>
          </a:xfrm>
          <a:prstGeom prst="rect">
            <a:avLst/>
          </a:prstGeom>
          <a:solidFill>
            <a:schemeClr val="bg2">
              <a:alpha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50" name="직사각형 49">
            <a:extLst>
              <a:ext uri="{FF2B5EF4-FFF2-40B4-BE49-F238E27FC236}">
                <a16:creationId xmlns:a16="http://schemas.microsoft.com/office/drawing/2014/main" id="{74327CDE-FC88-41B3-A340-8A7481FBC629}"/>
              </a:ext>
            </a:extLst>
          </p:cNvPr>
          <p:cNvSpPr/>
          <p:nvPr/>
        </p:nvSpPr>
        <p:spPr>
          <a:xfrm>
            <a:off x="585216" y="3970096"/>
            <a:ext cx="5255374" cy="779185"/>
          </a:xfrm>
          <a:prstGeom prst="rect">
            <a:avLst/>
          </a:prstGeom>
          <a:noFill/>
          <a:ln w="44450" cmpd="sng">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0"/>
                                        </p:tgtEl>
                                        <p:attrNameLst>
                                          <p:attrName>style.visibility</p:attrName>
                                        </p:attrNameLst>
                                      </p:cBhvr>
                                      <p:to>
                                        <p:strVal val="visible"/>
                                      </p:to>
                                    </p:set>
                                    <p:animEffect transition="in" filter="fade">
                                      <p:cBhvr>
                                        <p:cTn id="7"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5486400" cy="274320"/>
          </a:xfrm>
          <a:prstGeom prst="rect">
            <a:avLst/>
          </a:prstGeom>
          <a:noFill/>
          <a:ln/>
        </p:spPr>
        <p:txBody>
          <a:bodyPr wrap="square" lIns="0" tIns="0" rIns="0" bIns="0" rtlCol="0" anchor="ctr"/>
          <a:lstStyle/>
          <a:p>
            <a:r>
              <a:rPr lang="en-US" sz="12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04. </a:t>
            </a:r>
            <a:r>
              <a:rPr lang="en-US" altLang="ko-KR" sz="1200" dirty="0" err="1">
                <a:solidFill>
                  <a:srgbClr val="8E8E93"/>
                </a:solidFill>
                <a:latin typeface="Pretendard" panose="02000503000000020004" pitchFamily="50" charset="-127"/>
                <a:ea typeface="Pretendard" panose="02000503000000020004" pitchFamily="50" charset="-127"/>
                <a:cs typeface="Pretendard" panose="02000503000000020004" pitchFamily="50" charset="-127"/>
              </a:rPr>
              <a:t>주요</a:t>
            </a:r>
            <a:r>
              <a:rPr lang="en-US" altLang="ko-KR" sz="12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 </a:t>
            </a:r>
            <a:r>
              <a:rPr lang="ko-KR" altLang="en-US" sz="12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개선 기능</a:t>
            </a:r>
            <a:endParaRPr lang="en-US" altLang="ko-KR" sz="1200" dirty="0">
              <a:latin typeface="Pretendard" panose="02000503000000020004" pitchFamily="50" charset="-127"/>
              <a:ea typeface="Pretendard" panose="02000503000000020004" pitchFamily="50" charset="-127"/>
              <a:cs typeface="Pretendard" panose="02000503000000020004" pitchFamily="50" charset="-127"/>
            </a:endParaRPr>
          </a:p>
        </p:txBody>
      </p:sp>
      <p:pic>
        <p:nvPicPr>
          <p:cNvPr id="3" name="Image 0" descr="Woongjin_logo_transparent.png"/>
          <p:cNvPicPr>
            <a:picLocks noChangeAspect="1"/>
          </p:cNvPicPr>
          <p:nvPr/>
        </p:nvPicPr>
        <p:blipFill>
          <a:blip r:embed="rId3"/>
          <a:stretch>
            <a:fillRect/>
          </a:stretch>
        </p:blipFill>
        <p:spPr>
          <a:xfrm>
            <a:off x="10911535" y="262890"/>
            <a:ext cx="822960" cy="480060"/>
          </a:xfrm>
          <a:prstGeom prst="rect">
            <a:avLst/>
          </a:prstGeom>
        </p:spPr>
      </p:pic>
      <p:sp>
        <p:nvSpPr>
          <p:cNvPr id="4" name="Text 1"/>
          <p:cNvSpPr/>
          <p:nvPr/>
        </p:nvSpPr>
        <p:spPr>
          <a:xfrm>
            <a:off x="457200" y="6446520"/>
            <a:ext cx="2743200" cy="228600"/>
          </a:xfrm>
          <a:prstGeom prst="rect">
            <a:avLst/>
          </a:prstGeom>
          <a:noFill/>
          <a:ln/>
        </p:spPr>
        <p:txBody>
          <a:bodyPr wrap="square" lIns="0" tIns="0" rIns="0" bIns="0" rtlCol="0" anchor="ctr"/>
          <a:lstStyle/>
          <a:p>
            <a:pPr marL="0" indent="0" algn="l">
              <a:buNone/>
            </a:pPr>
            <a:r>
              <a:rPr lang="en-US" sz="10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10</a:t>
            </a:r>
            <a:endParaRPr lang="en-US" sz="1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6" name="Text 3"/>
          <p:cNvSpPr/>
          <p:nvPr/>
        </p:nvSpPr>
        <p:spPr>
          <a:xfrm>
            <a:off x="457200" y="914400"/>
            <a:ext cx="11277295" cy="685800"/>
          </a:xfrm>
          <a:prstGeom prst="rect">
            <a:avLst/>
          </a:prstGeom>
          <a:noFill/>
          <a:ln/>
        </p:spPr>
        <p:txBody>
          <a:bodyPr wrap="square" lIns="0" tIns="0" rIns="0" bIns="0" rtlCol="0" anchor="t"/>
          <a:lstStyle/>
          <a:p>
            <a:r>
              <a:rPr lang="ko-KR" altLang="en-US" sz="2400" b="1" dirty="0">
                <a:latin typeface="Pretendard" panose="02000503000000020004" pitchFamily="50" charset="-127"/>
                <a:ea typeface="Pretendard" panose="02000503000000020004" pitchFamily="50" charset="-127"/>
                <a:cs typeface="Pretendard" panose="02000503000000020004" pitchFamily="50" charset="-127"/>
              </a:rPr>
              <a:t>문항 및 </a:t>
            </a:r>
            <a:r>
              <a:rPr lang="ko-KR" altLang="en-US" sz="2400" b="1" dirty="0" err="1">
                <a:latin typeface="Pretendard" panose="02000503000000020004" pitchFamily="50" charset="-127"/>
                <a:ea typeface="Pretendard" panose="02000503000000020004" pitchFamily="50" charset="-127"/>
                <a:cs typeface="Pretendard" panose="02000503000000020004" pitchFamily="50" charset="-127"/>
              </a:rPr>
              <a:t>응답자별</a:t>
            </a:r>
            <a:r>
              <a:rPr lang="ko-KR" altLang="en-US" sz="2400" b="1" dirty="0">
                <a:latin typeface="Pretendard" panose="02000503000000020004" pitchFamily="50" charset="-127"/>
                <a:ea typeface="Pretendard" panose="02000503000000020004" pitchFamily="50" charset="-127"/>
                <a:cs typeface="Pretendard" panose="02000503000000020004" pitchFamily="50" charset="-127"/>
              </a:rPr>
              <a:t> 답변 현황 개선</a:t>
            </a:r>
            <a:endParaRPr lang="en-US" sz="24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7" name="Text 4"/>
          <p:cNvSpPr/>
          <p:nvPr/>
        </p:nvSpPr>
        <p:spPr>
          <a:xfrm>
            <a:off x="457201" y="1382690"/>
            <a:ext cx="11277295" cy="292608"/>
          </a:xfrm>
          <a:prstGeom prst="rect">
            <a:avLst/>
          </a:prstGeom>
          <a:noFill/>
          <a:ln/>
        </p:spPr>
        <p:txBody>
          <a:bodyPr wrap="square" lIns="0" tIns="0" rIns="0" bIns="0" rtlCol="0" anchor="t"/>
          <a:lstStyle/>
          <a:p>
            <a:r>
              <a:rPr lang="ko-KR" altLang="en-US" sz="1600" dirty="0">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rPr>
              <a:t>문항별 응답률과 응답자별 답변 현황을 한눈에 파악할 수 있도록 통계 페이지를 개선하였습니다</a:t>
            </a:r>
            <a:r>
              <a:rPr lang="en-US" altLang="ko-KR" sz="1600" dirty="0">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rPr>
              <a:t>.</a:t>
            </a:r>
          </a:p>
        </p:txBody>
      </p:sp>
      <p:sp>
        <p:nvSpPr>
          <p:cNvPr id="8" name="Text 5"/>
          <p:cNvSpPr/>
          <p:nvPr/>
        </p:nvSpPr>
        <p:spPr>
          <a:xfrm>
            <a:off x="457200" y="1810511"/>
            <a:ext cx="5455768" cy="201168"/>
          </a:xfrm>
          <a:prstGeom prst="rect">
            <a:avLst/>
          </a:prstGeom>
          <a:noFill/>
          <a:ln/>
        </p:spPr>
        <p:txBody>
          <a:bodyPr wrap="square" lIns="0" tIns="0" rIns="0" bIns="0" rtlCol="0" anchor="t"/>
          <a:lstStyle/>
          <a:p>
            <a:pPr marL="0" indent="0" algn="l">
              <a:buNone/>
            </a:pPr>
            <a:r>
              <a:rPr lang="en-US" sz="1000" b="1" kern="0" spc="200" dirty="0">
                <a:solidFill>
                  <a:srgbClr val="1456F0"/>
                </a:solidFill>
                <a:latin typeface="Pretendard" panose="02000503000000020004" pitchFamily="50" charset="-127"/>
                <a:ea typeface="Pretendard" panose="02000503000000020004" pitchFamily="50" charset="-127"/>
                <a:cs typeface="Pretendard" panose="02000503000000020004" pitchFamily="50" charset="-127"/>
              </a:rPr>
              <a:t>PART 03</a:t>
            </a:r>
            <a:endParaRPr lang="en-US" sz="1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9" name="Text 6"/>
          <p:cNvSpPr/>
          <p:nvPr/>
        </p:nvSpPr>
        <p:spPr>
          <a:xfrm>
            <a:off x="457200" y="2020823"/>
            <a:ext cx="5455768" cy="292608"/>
          </a:xfrm>
          <a:prstGeom prst="rect">
            <a:avLst/>
          </a:prstGeom>
          <a:noFill/>
          <a:ln/>
        </p:spPr>
        <p:txBody>
          <a:bodyPr wrap="square" lIns="0" tIns="0" rIns="0" bIns="0" rtlCol="0" anchor="t"/>
          <a:lstStyle/>
          <a:p>
            <a:pPr marL="0" indent="0" algn="l">
              <a:buNone/>
            </a:pPr>
            <a:r>
              <a:rPr lang="en-US" sz="1400" b="1"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문항별 응답 현황</a:t>
            </a:r>
            <a:endParaRPr lang="en-US" sz="14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1" name="Text 8"/>
          <p:cNvSpPr/>
          <p:nvPr/>
        </p:nvSpPr>
        <p:spPr>
          <a:xfrm>
            <a:off x="6278728" y="1810511"/>
            <a:ext cx="5455768" cy="201168"/>
          </a:xfrm>
          <a:prstGeom prst="rect">
            <a:avLst/>
          </a:prstGeom>
          <a:noFill/>
          <a:ln/>
        </p:spPr>
        <p:txBody>
          <a:bodyPr wrap="square" lIns="0" tIns="0" rIns="0" bIns="0" rtlCol="0" anchor="t"/>
          <a:lstStyle/>
          <a:p>
            <a:pPr marL="0" indent="0" algn="l">
              <a:buNone/>
            </a:pPr>
            <a:r>
              <a:rPr lang="en-US" sz="1000" b="1" kern="0" spc="200" dirty="0">
                <a:solidFill>
                  <a:srgbClr val="EA5EC1"/>
                </a:solidFill>
                <a:latin typeface="Pretendard" panose="02000503000000020004" pitchFamily="50" charset="-127"/>
                <a:ea typeface="Pretendard" panose="02000503000000020004" pitchFamily="50" charset="-127"/>
                <a:cs typeface="Pretendard" panose="02000503000000020004" pitchFamily="50" charset="-127"/>
              </a:rPr>
              <a:t>PART 04</a:t>
            </a:r>
            <a:endParaRPr lang="en-US" sz="1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2" name="Text 9"/>
          <p:cNvSpPr/>
          <p:nvPr/>
        </p:nvSpPr>
        <p:spPr>
          <a:xfrm>
            <a:off x="6278728" y="2020823"/>
            <a:ext cx="5455768" cy="292608"/>
          </a:xfrm>
          <a:prstGeom prst="rect">
            <a:avLst/>
          </a:prstGeom>
          <a:noFill/>
          <a:ln/>
        </p:spPr>
        <p:txBody>
          <a:bodyPr wrap="square" lIns="0" tIns="0" rIns="0" bIns="0" rtlCol="0" anchor="t"/>
          <a:lstStyle/>
          <a:p>
            <a:pPr marL="0" indent="0" algn="l">
              <a:buNone/>
            </a:pPr>
            <a:r>
              <a:rPr lang="en-US" sz="1400" b="1"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응답자별 답변 현황</a:t>
            </a:r>
            <a:endParaRPr lang="en-US" sz="14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4" name="Shape 11"/>
          <p:cNvSpPr/>
          <p:nvPr/>
        </p:nvSpPr>
        <p:spPr>
          <a:xfrm>
            <a:off x="457200" y="2313431"/>
            <a:ext cx="5455768" cy="3072600"/>
          </a:xfrm>
          <a:prstGeom prst="roundRect">
            <a:avLst>
              <a:gd name="adj" fmla="val 8000"/>
            </a:avLst>
          </a:prstGeom>
          <a:solidFill>
            <a:srgbClr val="F8F9FB"/>
          </a:solidFill>
          <a:ln w="12700">
            <a:solidFill>
              <a:srgbClr val="E5E7EB"/>
            </a:solidFill>
            <a:prstDash val="solid"/>
          </a:ln>
          <a:effectLst>
            <a:outerShdw blurRad="76200" dist="25400" dir="5400000" algn="bl" rotWithShape="0">
              <a:srgbClr val="000000">
                <a:alpha val="8000"/>
              </a:srgbClr>
            </a:outerShdw>
          </a:effectLst>
        </p:spPr>
      </p:sp>
      <p:sp>
        <p:nvSpPr>
          <p:cNvPr id="15" name="Shape 12"/>
          <p:cNvSpPr/>
          <p:nvPr/>
        </p:nvSpPr>
        <p:spPr>
          <a:xfrm>
            <a:off x="457200" y="2313432"/>
            <a:ext cx="5455768" cy="329184"/>
          </a:xfrm>
          <a:prstGeom prst="rect">
            <a:avLst/>
          </a:prstGeom>
          <a:solidFill>
            <a:srgbClr val="EEF0F3"/>
          </a:solidFill>
          <a:ln w="12700">
            <a:solidFill>
              <a:srgbClr val="E5E7EB"/>
            </a:solidFill>
            <a:prstDash val="solid"/>
          </a:ln>
        </p:spPr>
      </p:sp>
      <p:sp>
        <p:nvSpPr>
          <p:cNvPr id="16" name="Shape 13"/>
          <p:cNvSpPr/>
          <p:nvPr/>
        </p:nvSpPr>
        <p:spPr>
          <a:xfrm>
            <a:off x="585216" y="2414016"/>
            <a:ext cx="118872" cy="118872"/>
          </a:xfrm>
          <a:prstGeom prst="ellipse">
            <a:avLst/>
          </a:prstGeom>
          <a:solidFill>
            <a:srgbClr val="E0826B"/>
          </a:solidFill>
          <a:ln w="12700">
            <a:solidFill>
              <a:srgbClr val="E0826B"/>
            </a:solidFill>
            <a:prstDash val="solid"/>
          </a:ln>
        </p:spPr>
      </p:sp>
      <p:sp>
        <p:nvSpPr>
          <p:cNvPr id="17" name="Shape 14"/>
          <p:cNvSpPr/>
          <p:nvPr/>
        </p:nvSpPr>
        <p:spPr>
          <a:xfrm>
            <a:off x="740664" y="2414016"/>
            <a:ext cx="118872" cy="118872"/>
          </a:xfrm>
          <a:prstGeom prst="ellipse">
            <a:avLst/>
          </a:prstGeom>
          <a:solidFill>
            <a:srgbClr val="E3C66D"/>
          </a:solidFill>
          <a:ln w="12700">
            <a:solidFill>
              <a:srgbClr val="E3C66D"/>
            </a:solidFill>
            <a:prstDash val="solid"/>
          </a:ln>
        </p:spPr>
      </p:sp>
      <p:sp>
        <p:nvSpPr>
          <p:cNvPr id="18" name="Shape 15"/>
          <p:cNvSpPr/>
          <p:nvPr/>
        </p:nvSpPr>
        <p:spPr>
          <a:xfrm>
            <a:off x="896112" y="2414016"/>
            <a:ext cx="118872" cy="118872"/>
          </a:xfrm>
          <a:prstGeom prst="ellipse">
            <a:avLst/>
          </a:prstGeom>
          <a:solidFill>
            <a:srgbClr val="9DC97A"/>
          </a:solidFill>
          <a:ln w="12700">
            <a:solidFill>
              <a:srgbClr val="9DC97A"/>
            </a:solidFill>
            <a:prstDash val="solid"/>
          </a:ln>
        </p:spPr>
      </p:sp>
      <p:sp>
        <p:nvSpPr>
          <p:cNvPr id="19" name="Shape 16"/>
          <p:cNvSpPr/>
          <p:nvPr/>
        </p:nvSpPr>
        <p:spPr>
          <a:xfrm>
            <a:off x="1143000" y="2386584"/>
            <a:ext cx="4587088" cy="182880"/>
          </a:xfrm>
          <a:prstGeom prst="roundRect">
            <a:avLst>
              <a:gd name="adj" fmla="val 20000"/>
            </a:avLst>
          </a:prstGeom>
          <a:solidFill>
            <a:srgbClr val="FFFFFF"/>
          </a:solidFill>
          <a:ln w="6350">
            <a:solidFill>
              <a:srgbClr val="E5E7EB"/>
            </a:solidFill>
            <a:prstDash val="solid"/>
          </a:ln>
        </p:spPr>
      </p:sp>
      <p:sp>
        <p:nvSpPr>
          <p:cNvPr id="20" name="Text 17"/>
          <p:cNvSpPr/>
          <p:nvPr/>
        </p:nvSpPr>
        <p:spPr>
          <a:xfrm>
            <a:off x="1188720" y="2386584"/>
            <a:ext cx="4495648" cy="182880"/>
          </a:xfrm>
          <a:prstGeom prst="rect">
            <a:avLst/>
          </a:prstGeom>
          <a:noFill/>
          <a:ln/>
        </p:spPr>
        <p:txBody>
          <a:bodyPr wrap="square" lIns="0" tIns="0" rIns="0" bIns="0" rtlCol="0" anchor="ctr"/>
          <a:lstStyle/>
          <a:p>
            <a:pPr marL="0" indent="0" algn="l">
              <a:buNone/>
            </a:pPr>
            <a:r>
              <a:rPr lang="en-US" sz="9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문항 결과 — </a:t>
            </a:r>
            <a:r>
              <a:rPr lang="ko-KR" altLang="en-US" sz="9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객관식 및 순위선택형</a:t>
            </a:r>
            <a:endParaRPr lang="en-US" sz="9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7" name="Shape 34"/>
          <p:cNvSpPr/>
          <p:nvPr/>
        </p:nvSpPr>
        <p:spPr>
          <a:xfrm>
            <a:off x="457200" y="5494711"/>
            <a:ext cx="5455768" cy="898322"/>
          </a:xfrm>
          <a:prstGeom prst="roundRect">
            <a:avLst>
              <a:gd name="adj" fmla="val 7975"/>
            </a:avLst>
          </a:prstGeom>
          <a:solidFill>
            <a:srgbClr val="FFFFFF"/>
          </a:solidFill>
          <a:ln w="9525">
            <a:solidFill>
              <a:srgbClr val="E5E7EB"/>
            </a:solidFill>
            <a:prstDash val="solid"/>
          </a:ln>
          <a:effectLst>
            <a:outerShdw blurRad="76200" dist="25400" dir="5400000" algn="bl" rotWithShape="0">
              <a:srgbClr val="000000">
                <a:alpha val="8000"/>
              </a:srgbClr>
            </a:outerShdw>
          </a:effectLst>
        </p:spPr>
      </p:sp>
      <p:sp>
        <p:nvSpPr>
          <p:cNvPr id="38" name="Shape 35"/>
          <p:cNvSpPr/>
          <p:nvPr/>
        </p:nvSpPr>
        <p:spPr>
          <a:xfrm>
            <a:off x="457200" y="5494166"/>
            <a:ext cx="5455768" cy="54864"/>
          </a:xfrm>
          <a:prstGeom prst="rect">
            <a:avLst/>
          </a:prstGeom>
          <a:solidFill>
            <a:srgbClr val="1456F0"/>
          </a:solidFill>
          <a:ln w="12700">
            <a:solidFill>
              <a:srgbClr val="1456F0"/>
            </a:solidFill>
            <a:prstDash val="solid"/>
          </a:ln>
        </p:spPr>
      </p:sp>
      <p:sp>
        <p:nvSpPr>
          <p:cNvPr id="39" name="Text 36"/>
          <p:cNvSpPr/>
          <p:nvPr/>
        </p:nvSpPr>
        <p:spPr>
          <a:xfrm>
            <a:off x="658368" y="5695334"/>
            <a:ext cx="5090008" cy="292608"/>
          </a:xfrm>
          <a:prstGeom prst="rect">
            <a:avLst/>
          </a:prstGeom>
          <a:noFill/>
          <a:ln/>
        </p:spPr>
        <p:txBody>
          <a:bodyPr wrap="square" lIns="0" tIns="0" rIns="0" bIns="0" rtlCol="0" anchor="t"/>
          <a:lstStyle/>
          <a:p>
            <a:r>
              <a:rPr lang="ko-KR" altLang="en-US" sz="1400" b="1" dirty="0">
                <a:latin typeface="Pretendard" panose="02000503000000020004" pitchFamily="50" charset="-127"/>
                <a:ea typeface="Pretendard" panose="02000503000000020004" pitchFamily="50" charset="-127"/>
                <a:cs typeface="Pretendard" panose="02000503000000020004" pitchFamily="50" charset="-127"/>
              </a:rPr>
              <a:t>문항별 결과를 직관적으로 비교</a:t>
            </a:r>
            <a:endParaRPr lang="en-US" sz="1300" b="1"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0" name="Text 37"/>
          <p:cNvSpPr/>
          <p:nvPr/>
        </p:nvSpPr>
        <p:spPr>
          <a:xfrm>
            <a:off x="704088" y="6096077"/>
            <a:ext cx="5090008" cy="256032"/>
          </a:xfrm>
          <a:prstGeom prst="rect">
            <a:avLst/>
          </a:prstGeom>
          <a:noFill/>
          <a:ln/>
        </p:spPr>
        <p:txBody>
          <a:bodyPr wrap="square" lIns="0" tIns="0" rIns="0" bIns="0" rtlCol="0" anchor="t"/>
          <a:lstStyle/>
          <a:p>
            <a:r>
              <a:rPr lang="en-US" sz="1200" b="1" dirty="0">
                <a:solidFill>
                  <a:srgbClr val="1456F0"/>
                </a:solidFill>
                <a:latin typeface="Pretendard" panose="02000503000000020004" pitchFamily="50" charset="-127"/>
                <a:ea typeface="Pretendard" panose="02000503000000020004" pitchFamily="50" charset="-127"/>
                <a:cs typeface="Pretendard" panose="02000503000000020004" pitchFamily="50" charset="-127"/>
              </a:rPr>
              <a:t>• </a:t>
            </a:r>
            <a:r>
              <a:rPr lang="ko-KR" altLang="en-US" sz="1200" dirty="0" err="1">
                <a:latin typeface="Pretendard" panose="02000503000000020004" pitchFamily="50" charset="-127"/>
                <a:ea typeface="Pretendard" panose="02000503000000020004" pitchFamily="50" charset="-127"/>
                <a:cs typeface="Pretendard" panose="02000503000000020004" pitchFamily="50" charset="-127"/>
              </a:rPr>
              <a:t>보기별</a:t>
            </a:r>
            <a:r>
              <a:rPr lang="ko-KR" altLang="en-US" sz="1200" dirty="0">
                <a:latin typeface="Pretendard" panose="02000503000000020004" pitchFamily="50" charset="-127"/>
                <a:ea typeface="Pretendard" panose="02000503000000020004" pitchFamily="50" charset="-127"/>
                <a:cs typeface="Pretendard" panose="02000503000000020004" pitchFamily="50" charset="-127"/>
              </a:rPr>
              <a:t> 응답 수와 비율</a:t>
            </a:r>
            <a:r>
              <a:rPr lang="en-US" altLang="ko-KR" sz="1200" dirty="0">
                <a:latin typeface="Pretendard" panose="02000503000000020004" pitchFamily="50" charset="-127"/>
                <a:ea typeface="Pretendard" panose="02000503000000020004" pitchFamily="50" charset="-127"/>
                <a:cs typeface="Pretendard" panose="02000503000000020004" pitchFamily="50" charset="-127"/>
              </a:rPr>
              <a:t>(%)</a:t>
            </a:r>
            <a:r>
              <a:rPr lang="ko-KR" altLang="en-US" sz="1200" dirty="0">
                <a:latin typeface="Pretendard" panose="02000503000000020004" pitchFamily="50" charset="-127"/>
                <a:ea typeface="Pretendard" panose="02000503000000020004" pitchFamily="50" charset="-127"/>
                <a:cs typeface="Pretendard" panose="02000503000000020004" pitchFamily="50" charset="-127"/>
              </a:rPr>
              <a:t>을 </a:t>
            </a:r>
            <a:r>
              <a:rPr lang="en-US" altLang="ko-KR" sz="1200" dirty="0">
                <a:latin typeface="Pretendard" panose="02000503000000020004" pitchFamily="50" charset="-127"/>
                <a:ea typeface="Pretendard" panose="02000503000000020004" pitchFamily="50" charset="-127"/>
                <a:cs typeface="Pretendard" panose="02000503000000020004" pitchFamily="50" charset="-127"/>
              </a:rPr>
              <a:t>Progress Bar</a:t>
            </a:r>
            <a:r>
              <a:rPr lang="ko-KR" altLang="en-US" sz="1200" dirty="0">
                <a:latin typeface="Pretendard" panose="02000503000000020004" pitchFamily="50" charset="-127"/>
                <a:ea typeface="Pretendard" panose="02000503000000020004" pitchFamily="50" charset="-127"/>
                <a:cs typeface="Pretendard" panose="02000503000000020004" pitchFamily="50" charset="-127"/>
              </a:rPr>
              <a:t>로 시각화</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1" name="Text 38"/>
          <p:cNvSpPr/>
          <p:nvPr/>
        </p:nvSpPr>
        <p:spPr>
          <a:xfrm>
            <a:off x="658368" y="6344558"/>
            <a:ext cx="5090008" cy="256032"/>
          </a:xfrm>
          <a:prstGeom prst="rect">
            <a:avLst/>
          </a:prstGeom>
          <a:noFill/>
          <a:ln/>
        </p:spPr>
        <p:txBody>
          <a:bodyPr wrap="square" lIns="0" tIns="0" rIns="0" bIns="0" rtlCol="0" anchor="t"/>
          <a:lstStyle/>
          <a:p>
            <a:endParaRPr lang="en-US" sz="105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3" name="Shape 40"/>
          <p:cNvSpPr/>
          <p:nvPr/>
        </p:nvSpPr>
        <p:spPr>
          <a:xfrm>
            <a:off x="6278728" y="2313431"/>
            <a:ext cx="5455768" cy="3072600"/>
          </a:xfrm>
          <a:prstGeom prst="roundRect">
            <a:avLst>
              <a:gd name="adj" fmla="val 8000"/>
            </a:avLst>
          </a:prstGeom>
          <a:solidFill>
            <a:srgbClr val="F8F9FB"/>
          </a:solidFill>
          <a:ln w="12700">
            <a:solidFill>
              <a:srgbClr val="E5E7EB"/>
            </a:solidFill>
            <a:prstDash val="solid"/>
          </a:ln>
          <a:effectLst>
            <a:outerShdw blurRad="76200" dist="25400" dir="5400000" algn="bl" rotWithShape="0">
              <a:srgbClr val="000000">
                <a:alpha val="8000"/>
              </a:srgbClr>
            </a:outerShdw>
          </a:effectLst>
        </p:spPr>
      </p:sp>
      <p:sp>
        <p:nvSpPr>
          <p:cNvPr id="44" name="Shape 41"/>
          <p:cNvSpPr/>
          <p:nvPr/>
        </p:nvSpPr>
        <p:spPr>
          <a:xfrm>
            <a:off x="6278728" y="2313431"/>
            <a:ext cx="5455768" cy="329184"/>
          </a:xfrm>
          <a:prstGeom prst="rect">
            <a:avLst/>
          </a:prstGeom>
          <a:solidFill>
            <a:srgbClr val="EEF0F3"/>
          </a:solidFill>
          <a:ln w="12700">
            <a:solidFill>
              <a:srgbClr val="E5E7EB"/>
            </a:solidFill>
            <a:prstDash val="solid"/>
          </a:ln>
        </p:spPr>
      </p:sp>
      <p:sp>
        <p:nvSpPr>
          <p:cNvPr id="45" name="Shape 42"/>
          <p:cNvSpPr/>
          <p:nvPr/>
        </p:nvSpPr>
        <p:spPr>
          <a:xfrm>
            <a:off x="6406744" y="2414015"/>
            <a:ext cx="118872" cy="118872"/>
          </a:xfrm>
          <a:prstGeom prst="ellipse">
            <a:avLst/>
          </a:prstGeom>
          <a:solidFill>
            <a:srgbClr val="E0826B"/>
          </a:solidFill>
          <a:ln w="12700">
            <a:solidFill>
              <a:srgbClr val="E0826B"/>
            </a:solidFill>
            <a:prstDash val="solid"/>
          </a:ln>
        </p:spPr>
      </p:sp>
      <p:sp>
        <p:nvSpPr>
          <p:cNvPr id="46" name="Shape 43"/>
          <p:cNvSpPr/>
          <p:nvPr/>
        </p:nvSpPr>
        <p:spPr>
          <a:xfrm>
            <a:off x="6562192" y="2414015"/>
            <a:ext cx="118872" cy="118872"/>
          </a:xfrm>
          <a:prstGeom prst="ellipse">
            <a:avLst/>
          </a:prstGeom>
          <a:solidFill>
            <a:srgbClr val="E3C66D"/>
          </a:solidFill>
          <a:ln w="12700">
            <a:solidFill>
              <a:srgbClr val="E3C66D"/>
            </a:solidFill>
            <a:prstDash val="solid"/>
          </a:ln>
        </p:spPr>
      </p:sp>
      <p:sp>
        <p:nvSpPr>
          <p:cNvPr id="47" name="Shape 44"/>
          <p:cNvSpPr/>
          <p:nvPr/>
        </p:nvSpPr>
        <p:spPr>
          <a:xfrm>
            <a:off x="6717640" y="2414015"/>
            <a:ext cx="118872" cy="118872"/>
          </a:xfrm>
          <a:prstGeom prst="ellipse">
            <a:avLst/>
          </a:prstGeom>
          <a:solidFill>
            <a:srgbClr val="9DC97A"/>
          </a:solidFill>
          <a:ln w="12700">
            <a:solidFill>
              <a:srgbClr val="9DC97A"/>
            </a:solidFill>
            <a:prstDash val="solid"/>
          </a:ln>
        </p:spPr>
      </p:sp>
      <p:sp>
        <p:nvSpPr>
          <p:cNvPr id="48" name="Shape 45"/>
          <p:cNvSpPr/>
          <p:nvPr/>
        </p:nvSpPr>
        <p:spPr>
          <a:xfrm>
            <a:off x="6964528" y="2386583"/>
            <a:ext cx="4587088" cy="182880"/>
          </a:xfrm>
          <a:prstGeom prst="roundRect">
            <a:avLst>
              <a:gd name="adj" fmla="val 20000"/>
            </a:avLst>
          </a:prstGeom>
          <a:solidFill>
            <a:srgbClr val="FFFFFF"/>
          </a:solidFill>
          <a:ln w="6350">
            <a:solidFill>
              <a:srgbClr val="E5E7EB"/>
            </a:solidFill>
            <a:prstDash val="solid"/>
          </a:ln>
        </p:spPr>
      </p:sp>
      <p:sp>
        <p:nvSpPr>
          <p:cNvPr id="49" name="Text 46"/>
          <p:cNvSpPr/>
          <p:nvPr/>
        </p:nvSpPr>
        <p:spPr>
          <a:xfrm>
            <a:off x="7010248" y="2386583"/>
            <a:ext cx="4495648" cy="182880"/>
          </a:xfrm>
          <a:prstGeom prst="rect">
            <a:avLst/>
          </a:prstGeom>
          <a:noFill/>
          <a:ln/>
        </p:spPr>
        <p:txBody>
          <a:bodyPr wrap="square" lIns="0" tIns="0" rIns="0" bIns="0" rtlCol="0" anchor="ctr"/>
          <a:lstStyle/>
          <a:p>
            <a:pPr marL="0" indent="0" algn="l">
              <a:buNone/>
            </a:pPr>
            <a:r>
              <a:rPr lang="en-US" sz="9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응답자별 답변 내역 — </a:t>
            </a:r>
            <a:r>
              <a:rPr lang="ko-KR" altLang="en-US" sz="9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응답자 </a:t>
            </a:r>
            <a:r>
              <a:rPr lang="en-US" sz="900" dirty="0" err="1">
                <a:solidFill>
                  <a:srgbClr val="8E8E93"/>
                </a:solidFill>
                <a:latin typeface="Pretendard" panose="02000503000000020004" pitchFamily="50" charset="-127"/>
                <a:ea typeface="Pretendard" panose="02000503000000020004" pitchFamily="50" charset="-127"/>
                <a:cs typeface="Pretendard" panose="02000503000000020004" pitchFamily="50" charset="-127"/>
              </a:rPr>
              <a:t>개별</a:t>
            </a:r>
            <a:r>
              <a:rPr lang="en-US" sz="9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 조회</a:t>
            </a:r>
            <a:endParaRPr lang="en-US" sz="9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83" name="Shape 80"/>
          <p:cNvSpPr/>
          <p:nvPr/>
        </p:nvSpPr>
        <p:spPr>
          <a:xfrm>
            <a:off x="6278728" y="5494166"/>
            <a:ext cx="5455768" cy="898867"/>
          </a:xfrm>
          <a:prstGeom prst="roundRect">
            <a:avLst>
              <a:gd name="adj" fmla="val 7975"/>
            </a:avLst>
          </a:prstGeom>
          <a:solidFill>
            <a:srgbClr val="FFFFFF"/>
          </a:solidFill>
          <a:ln w="9525">
            <a:solidFill>
              <a:srgbClr val="E5E7EB"/>
            </a:solidFill>
            <a:prstDash val="solid"/>
          </a:ln>
          <a:effectLst>
            <a:outerShdw blurRad="76200" dist="25400" dir="5400000" algn="bl" rotWithShape="0">
              <a:srgbClr val="000000">
                <a:alpha val="8000"/>
              </a:srgbClr>
            </a:outerShdw>
          </a:effectLst>
        </p:spPr>
        <p:txBody>
          <a:bodyPr/>
          <a:lstStyle/>
          <a:p>
            <a:endParaRPr lang="ko-KR" altLang="en-US" dirty="0"/>
          </a:p>
        </p:txBody>
      </p:sp>
      <p:sp>
        <p:nvSpPr>
          <p:cNvPr id="84" name="Shape 81"/>
          <p:cNvSpPr/>
          <p:nvPr/>
        </p:nvSpPr>
        <p:spPr>
          <a:xfrm>
            <a:off x="6278728" y="5494166"/>
            <a:ext cx="5455768" cy="54864"/>
          </a:xfrm>
          <a:prstGeom prst="rect">
            <a:avLst/>
          </a:prstGeom>
          <a:solidFill>
            <a:srgbClr val="EA5EC1"/>
          </a:solidFill>
          <a:ln w="12700">
            <a:solidFill>
              <a:srgbClr val="EA5EC1"/>
            </a:solidFill>
            <a:prstDash val="solid"/>
          </a:ln>
        </p:spPr>
      </p:sp>
      <p:sp>
        <p:nvSpPr>
          <p:cNvPr id="85" name="Text 82"/>
          <p:cNvSpPr/>
          <p:nvPr/>
        </p:nvSpPr>
        <p:spPr>
          <a:xfrm>
            <a:off x="6479896" y="5695334"/>
            <a:ext cx="5090008" cy="292608"/>
          </a:xfrm>
          <a:prstGeom prst="rect">
            <a:avLst/>
          </a:prstGeom>
          <a:noFill/>
          <a:ln/>
        </p:spPr>
        <p:txBody>
          <a:bodyPr wrap="square" lIns="0" tIns="0" rIns="0" bIns="0" rtlCol="0" anchor="t"/>
          <a:lstStyle/>
          <a:p>
            <a:pPr marL="0" indent="0" algn="l">
              <a:buNone/>
            </a:pPr>
            <a:r>
              <a:rPr lang="en-US" sz="1400" b="1" dirty="0" err="1">
                <a:solidFill>
                  <a:srgbClr val="222222"/>
                </a:solidFill>
                <a:latin typeface="Pretendard" panose="02000503000000020004" pitchFamily="50" charset="-127"/>
                <a:ea typeface="Pretendard" panose="02000503000000020004" pitchFamily="50" charset="-127"/>
                <a:cs typeface="Pretendard" panose="02000503000000020004" pitchFamily="50" charset="-127"/>
              </a:rPr>
              <a:t>개인별</a:t>
            </a:r>
            <a:r>
              <a:rPr lang="en-US" sz="1400" b="1"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 </a:t>
            </a:r>
            <a:r>
              <a:rPr lang="ko-KR" altLang="en-US" sz="1400" b="1"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답변 상세 조회 가능</a:t>
            </a:r>
            <a:endParaRPr lang="en-US" sz="14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87" name="Text 84"/>
          <p:cNvSpPr/>
          <p:nvPr/>
        </p:nvSpPr>
        <p:spPr>
          <a:xfrm>
            <a:off x="6479896" y="6087981"/>
            <a:ext cx="5090008" cy="256032"/>
          </a:xfrm>
          <a:prstGeom prst="rect">
            <a:avLst/>
          </a:prstGeom>
          <a:noFill/>
          <a:ln/>
        </p:spPr>
        <p:txBody>
          <a:bodyPr wrap="square" lIns="0" tIns="0" rIns="0" bIns="0" rtlCol="0" anchor="t"/>
          <a:lstStyle/>
          <a:p>
            <a:r>
              <a:rPr lang="en-US" sz="1200" b="1" dirty="0">
                <a:solidFill>
                  <a:srgbClr val="EA5EC1"/>
                </a:solidFill>
                <a:latin typeface="Pretendard" panose="02000503000000020004" pitchFamily="50" charset="-127"/>
                <a:ea typeface="Pretendard" panose="02000503000000020004" pitchFamily="50" charset="-127"/>
                <a:cs typeface="Pretendard" panose="02000503000000020004" pitchFamily="50" charset="-127"/>
              </a:rPr>
              <a:t>• </a:t>
            </a:r>
            <a:r>
              <a:rPr lang="ko-KR" altLang="en-US" sz="1200" dirty="0">
                <a:latin typeface="Pretendard" panose="02000503000000020004" pitchFamily="50" charset="-127"/>
                <a:ea typeface="Pretendard" panose="02000503000000020004" pitchFamily="50" charset="-127"/>
                <a:cs typeface="Pretendard" panose="02000503000000020004" pitchFamily="50" charset="-127"/>
              </a:rPr>
              <a:t>부서</a:t>
            </a:r>
            <a:r>
              <a:rPr lang="en-US" altLang="ko-KR" sz="1200" dirty="0">
                <a:latin typeface="Pretendard" panose="02000503000000020004" pitchFamily="50" charset="-127"/>
                <a:ea typeface="Pretendard" panose="02000503000000020004" pitchFamily="50" charset="-127"/>
                <a:cs typeface="Pretendard" panose="02000503000000020004" pitchFamily="50" charset="-127"/>
              </a:rPr>
              <a:t>·</a:t>
            </a:r>
            <a:r>
              <a:rPr lang="ko-KR" altLang="en-US" sz="1200" dirty="0">
                <a:latin typeface="Pretendard" panose="02000503000000020004" pitchFamily="50" charset="-127"/>
                <a:ea typeface="Pretendard" panose="02000503000000020004" pitchFamily="50" charset="-127"/>
                <a:cs typeface="Pretendard" panose="02000503000000020004" pitchFamily="50" charset="-127"/>
              </a:rPr>
              <a:t>이름과 문항별 답변을 표 형태로 제공해 개별 응답 내용 확인</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88" name="Text 85"/>
          <p:cNvSpPr/>
          <p:nvPr/>
        </p:nvSpPr>
        <p:spPr>
          <a:xfrm>
            <a:off x="6479896" y="6310897"/>
            <a:ext cx="5090008" cy="256032"/>
          </a:xfrm>
          <a:prstGeom prst="rect">
            <a:avLst/>
          </a:prstGeom>
          <a:noFill/>
          <a:ln/>
        </p:spPr>
        <p:txBody>
          <a:bodyPr wrap="square" lIns="0" tIns="0" rIns="0" bIns="0" rtlCol="0" anchor="t"/>
          <a:lstStyle/>
          <a:p>
            <a:pPr marL="0" indent="0" algn="l">
              <a:buNone/>
            </a:pPr>
            <a:endParaRPr lang="en-US" sz="1050" dirty="0">
              <a:latin typeface="Pretendard" panose="02000503000000020004" pitchFamily="50" charset="-127"/>
              <a:ea typeface="Pretendard" panose="02000503000000020004" pitchFamily="50" charset="-127"/>
              <a:cs typeface="Pretendard" panose="02000503000000020004" pitchFamily="50" charset="-127"/>
            </a:endParaRPr>
          </a:p>
        </p:txBody>
      </p:sp>
      <p:pic>
        <p:nvPicPr>
          <p:cNvPr id="13" name="그림 12">
            <a:extLst>
              <a:ext uri="{FF2B5EF4-FFF2-40B4-BE49-F238E27FC236}">
                <a16:creationId xmlns:a16="http://schemas.microsoft.com/office/drawing/2014/main" id="{3C00CBE1-6AF3-4F29-BE09-F47F105E1A0D}"/>
              </a:ext>
            </a:extLst>
          </p:cNvPr>
          <p:cNvPicPr>
            <a:picLocks noChangeAspect="1"/>
          </p:cNvPicPr>
          <p:nvPr/>
        </p:nvPicPr>
        <p:blipFill>
          <a:blip r:embed="rId4"/>
          <a:stretch>
            <a:fillRect/>
          </a:stretch>
        </p:blipFill>
        <p:spPr>
          <a:xfrm>
            <a:off x="6288252" y="2679019"/>
            <a:ext cx="5437027" cy="461796"/>
          </a:xfrm>
          <a:prstGeom prst="roundRect">
            <a:avLst/>
          </a:prstGeom>
        </p:spPr>
      </p:pic>
      <p:pic>
        <p:nvPicPr>
          <p:cNvPr id="5" name="그림 4">
            <a:extLst>
              <a:ext uri="{FF2B5EF4-FFF2-40B4-BE49-F238E27FC236}">
                <a16:creationId xmlns:a16="http://schemas.microsoft.com/office/drawing/2014/main" id="{3ABB30E4-E419-4320-90A3-DCE20C154237}"/>
              </a:ext>
            </a:extLst>
          </p:cNvPr>
          <p:cNvPicPr>
            <a:picLocks noChangeAspect="1"/>
          </p:cNvPicPr>
          <p:nvPr/>
        </p:nvPicPr>
        <p:blipFill rotWithShape="1">
          <a:blip r:embed="rId5"/>
          <a:srcRect l="2371" t="21464" r="2439" b="50027"/>
          <a:stretch/>
        </p:blipFill>
        <p:spPr>
          <a:xfrm>
            <a:off x="466720" y="2679688"/>
            <a:ext cx="5446247" cy="1334635"/>
          </a:xfrm>
          <a:prstGeom prst="rect">
            <a:avLst/>
          </a:prstGeom>
        </p:spPr>
      </p:pic>
      <p:pic>
        <p:nvPicPr>
          <p:cNvPr id="22" name="그림 21">
            <a:extLst>
              <a:ext uri="{FF2B5EF4-FFF2-40B4-BE49-F238E27FC236}">
                <a16:creationId xmlns:a16="http://schemas.microsoft.com/office/drawing/2014/main" id="{68EB9CE7-DE5D-4417-88D2-69519A77D395}"/>
              </a:ext>
            </a:extLst>
          </p:cNvPr>
          <p:cNvPicPr>
            <a:picLocks noChangeAspect="1"/>
          </p:cNvPicPr>
          <p:nvPr/>
        </p:nvPicPr>
        <p:blipFill rotWithShape="1">
          <a:blip r:embed="rId6"/>
          <a:srcRect l="2204" t="32057" r="3326" b="38533"/>
          <a:stretch/>
        </p:blipFill>
        <p:spPr>
          <a:xfrm>
            <a:off x="457201" y="4001180"/>
            <a:ext cx="5455767" cy="1313290"/>
          </a:xfrm>
          <a:prstGeom prst="roundRect">
            <a:avLst>
              <a:gd name="adj" fmla="val 16667"/>
            </a:avLst>
          </a:prstGeom>
        </p:spPr>
      </p:pic>
      <p:sp>
        <p:nvSpPr>
          <p:cNvPr id="50" name="직사각형 49">
            <a:extLst>
              <a:ext uri="{FF2B5EF4-FFF2-40B4-BE49-F238E27FC236}">
                <a16:creationId xmlns:a16="http://schemas.microsoft.com/office/drawing/2014/main" id="{A24BD391-86EC-4D72-A5C3-5022D5F1F597}"/>
              </a:ext>
            </a:extLst>
          </p:cNvPr>
          <p:cNvSpPr/>
          <p:nvPr/>
        </p:nvSpPr>
        <p:spPr>
          <a:xfrm>
            <a:off x="497961" y="2745176"/>
            <a:ext cx="5374245" cy="1269147"/>
          </a:xfrm>
          <a:prstGeom prst="rect">
            <a:avLst/>
          </a:prstGeom>
          <a:noFill/>
          <a:ln w="44450" cmpd="sng">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2" name="직사각형 51">
            <a:extLst>
              <a:ext uri="{FF2B5EF4-FFF2-40B4-BE49-F238E27FC236}">
                <a16:creationId xmlns:a16="http://schemas.microsoft.com/office/drawing/2014/main" id="{E6E33F1E-C987-441E-B8F3-0359304033E6}"/>
              </a:ext>
            </a:extLst>
          </p:cNvPr>
          <p:cNvSpPr/>
          <p:nvPr/>
        </p:nvSpPr>
        <p:spPr>
          <a:xfrm>
            <a:off x="497961" y="4098810"/>
            <a:ext cx="5374245" cy="1269147"/>
          </a:xfrm>
          <a:prstGeom prst="rect">
            <a:avLst/>
          </a:prstGeom>
          <a:noFill/>
          <a:ln w="44450" cmpd="sng">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23" name="그림 22">
            <a:extLst>
              <a:ext uri="{FF2B5EF4-FFF2-40B4-BE49-F238E27FC236}">
                <a16:creationId xmlns:a16="http://schemas.microsoft.com/office/drawing/2014/main" id="{65CA285C-29A8-48E8-A219-B020728661EA}"/>
              </a:ext>
            </a:extLst>
          </p:cNvPr>
          <p:cNvPicPr>
            <a:picLocks noChangeAspect="1"/>
          </p:cNvPicPr>
          <p:nvPr/>
        </p:nvPicPr>
        <p:blipFill rotWithShape="1">
          <a:blip r:embed="rId7"/>
          <a:srcRect l="3385" t="42800" r="4999" b="16038"/>
          <a:stretch/>
        </p:blipFill>
        <p:spPr>
          <a:xfrm>
            <a:off x="6297469" y="3140815"/>
            <a:ext cx="5437027" cy="2017593"/>
          </a:xfrm>
          <a:prstGeom prst="rect">
            <a:avLst/>
          </a:prstGeom>
        </p:spPr>
      </p:pic>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0"/>
                                        </p:tgtEl>
                                        <p:attrNameLst>
                                          <p:attrName>style.visibility</p:attrName>
                                        </p:attrNameLst>
                                      </p:cBhvr>
                                      <p:to>
                                        <p:strVal val="visible"/>
                                      </p:to>
                                    </p:set>
                                    <p:animEffect transition="in" filter="fade">
                                      <p:cBhvr>
                                        <p:cTn id="7" dur="500"/>
                                        <p:tgtEl>
                                          <p:spTgt spid="5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2"/>
                                        </p:tgtEl>
                                        <p:attrNameLst>
                                          <p:attrName>style.visibility</p:attrName>
                                        </p:attrNameLst>
                                      </p:cBhvr>
                                      <p:to>
                                        <p:strVal val="visible"/>
                                      </p:to>
                                    </p:set>
                                    <p:animEffect transition="in" filter="fade">
                                      <p:cBhvr>
                                        <p:cTn id="12" dur="500"/>
                                        <p:tgtEl>
                                          <p:spTgt spid="52"/>
                                        </p:tgtEl>
                                      </p:cBhvr>
                                    </p:animEffect>
                                  </p:childTnLst>
                                </p:cTn>
                              </p:par>
                              <p:par>
                                <p:cTn id="13" presetID="1" presetClass="exit" presetSubtype="0" fill="hold" grpId="1" nodeType="withEffect">
                                  <p:stCondLst>
                                    <p:cond delay="0"/>
                                  </p:stCondLst>
                                  <p:childTnLst>
                                    <p:set>
                                      <p:cBhvr>
                                        <p:cTn id="14" dur="1" fill="hold">
                                          <p:stCondLst>
                                            <p:cond delay="0"/>
                                          </p:stCondLst>
                                        </p:cTn>
                                        <p:tgtEl>
                                          <p:spTgt spid="5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50" grpId="1" animBg="1"/>
      <p:bldP spid="5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5486400" cy="274320"/>
          </a:xfrm>
          <a:prstGeom prst="rect">
            <a:avLst/>
          </a:prstGeom>
          <a:noFill/>
          <a:ln/>
        </p:spPr>
        <p:txBody>
          <a:bodyPr wrap="square" lIns="0" tIns="0" rIns="0" bIns="0" rtlCol="0" anchor="ctr"/>
          <a:lstStyle/>
          <a:p>
            <a:pPr marL="0" indent="0" algn="l">
              <a:buNone/>
            </a:pPr>
            <a:r>
              <a:rPr lang="en-US" sz="12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04. </a:t>
            </a:r>
            <a:r>
              <a:rPr lang="en-US" sz="1200" dirty="0" err="1">
                <a:solidFill>
                  <a:srgbClr val="8E8E93"/>
                </a:solidFill>
                <a:latin typeface="Pretendard" panose="02000503000000020004" pitchFamily="50" charset="-127"/>
                <a:ea typeface="Pretendard" panose="02000503000000020004" pitchFamily="50" charset="-127"/>
                <a:cs typeface="Pretendard" panose="02000503000000020004" pitchFamily="50" charset="-127"/>
              </a:rPr>
              <a:t>주요</a:t>
            </a:r>
            <a:r>
              <a:rPr lang="en-US" sz="12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 </a:t>
            </a:r>
            <a:r>
              <a:rPr lang="ko-KR" altLang="en-US" sz="12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개선 기능</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pic>
        <p:nvPicPr>
          <p:cNvPr id="3" name="Image 0" descr="Woongjin_logo_transparent.png"/>
          <p:cNvPicPr>
            <a:picLocks noChangeAspect="1"/>
          </p:cNvPicPr>
          <p:nvPr/>
        </p:nvPicPr>
        <p:blipFill>
          <a:blip r:embed="rId3"/>
          <a:stretch>
            <a:fillRect/>
          </a:stretch>
        </p:blipFill>
        <p:spPr>
          <a:xfrm>
            <a:off x="10911535" y="262890"/>
            <a:ext cx="822960" cy="480060"/>
          </a:xfrm>
          <a:prstGeom prst="rect">
            <a:avLst/>
          </a:prstGeom>
        </p:spPr>
      </p:pic>
      <p:sp>
        <p:nvSpPr>
          <p:cNvPr id="4" name="Text 1"/>
          <p:cNvSpPr/>
          <p:nvPr/>
        </p:nvSpPr>
        <p:spPr>
          <a:xfrm>
            <a:off x="457200" y="6446520"/>
            <a:ext cx="2743200" cy="228600"/>
          </a:xfrm>
          <a:prstGeom prst="rect">
            <a:avLst/>
          </a:prstGeom>
          <a:noFill/>
          <a:ln/>
        </p:spPr>
        <p:txBody>
          <a:bodyPr wrap="square" lIns="0" tIns="0" rIns="0" bIns="0" rtlCol="0" anchor="ctr"/>
          <a:lstStyle/>
          <a:p>
            <a:pPr marL="0" indent="0" algn="l">
              <a:buNone/>
            </a:pPr>
            <a:r>
              <a:rPr lang="en-US" sz="10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11</a:t>
            </a:r>
            <a:endParaRPr lang="en-US" sz="1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6" name="Text 3"/>
          <p:cNvSpPr/>
          <p:nvPr/>
        </p:nvSpPr>
        <p:spPr>
          <a:xfrm>
            <a:off x="457200" y="914400"/>
            <a:ext cx="11277295" cy="685800"/>
          </a:xfrm>
          <a:prstGeom prst="rect">
            <a:avLst/>
          </a:prstGeom>
          <a:noFill/>
          <a:ln/>
        </p:spPr>
        <p:txBody>
          <a:bodyPr wrap="square" lIns="0" tIns="0" rIns="0" bIns="0" rtlCol="0" anchor="t"/>
          <a:lstStyle/>
          <a:p>
            <a:r>
              <a:rPr lang="ko-KR" altLang="en-US" sz="2400" b="1" dirty="0">
                <a:latin typeface="Pretendard" panose="02000503000000020004" pitchFamily="50" charset="-127"/>
                <a:ea typeface="Pretendard" panose="02000503000000020004" pitchFamily="50" charset="-127"/>
                <a:cs typeface="Pretendard" panose="02000503000000020004" pitchFamily="50" charset="-127"/>
              </a:rPr>
              <a:t>엑셀 내보내기 및 이력 관리</a:t>
            </a:r>
            <a:endParaRPr lang="en-US" sz="2400" b="1"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7" name="Text 4"/>
          <p:cNvSpPr/>
          <p:nvPr/>
        </p:nvSpPr>
        <p:spPr>
          <a:xfrm>
            <a:off x="457201" y="1417028"/>
            <a:ext cx="11277295" cy="292608"/>
          </a:xfrm>
          <a:prstGeom prst="rect">
            <a:avLst/>
          </a:prstGeom>
          <a:noFill/>
          <a:ln/>
        </p:spPr>
        <p:txBody>
          <a:bodyPr wrap="square" lIns="0" tIns="0" rIns="0" bIns="0" rtlCol="0" anchor="t"/>
          <a:lstStyle/>
          <a:p>
            <a:r>
              <a:rPr lang="en-US" altLang="ko-KR" sz="1600" dirty="0">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rPr>
              <a:t>4</a:t>
            </a:r>
            <a:r>
              <a:rPr lang="ko-KR" altLang="en-US" sz="1600" dirty="0">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rPr>
              <a:t>개 통계 데이터를 시트별로 분리해 엑셀로 내보내고</a:t>
            </a:r>
            <a:r>
              <a:rPr lang="en-US" altLang="ko-KR" sz="1600" dirty="0">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rPr>
              <a:t>, </a:t>
            </a:r>
            <a:r>
              <a:rPr lang="ko-KR" altLang="en-US" sz="1600" dirty="0">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rPr>
              <a:t>내보내기 이력을 기록</a:t>
            </a:r>
            <a:r>
              <a:rPr lang="en-US" altLang="ko-KR" sz="1600" dirty="0">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rPr>
              <a:t>·</a:t>
            </a:r>
            <a:r>
              <a:rPr lang="ko-KR" altLang="en-US" sz="1600" dirty="0">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rPr>
              <a:t>조회할 수 있도록 개선했습니다</a:t>
            </a:r>
            <a:r>
              <a:rPr lang="en-US" altLang="ko-KR" sz="1600" dirty="0">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rPr>
              <a:t>.</a:t>
            </a:r>
            <a:endParaRPr lang="en-US" sz="1600" dirty="0">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endParaRPr>
          </a:p>
        </p:txBody>
      </p:sp>
      <p:sp>
        <p:nvSpPr>
          <p:cNvPr id="8" name="Text 5"/>
          <p:cNvSpPr/>
          <p:nvPr/>
        </p:nvSpPr>
        <p:spPr>
          <a:xfrm>
            <a:off x="457200" y="1907540"/>
            <a:ext cx="5455768" cy="201168"/>
          </a:xfrm>
          <a:prstGeom prst="rect">
            <a:avLst/>
          </a:prstGeom>
          <a:noFill/>
          <a:ln/>
        </p:spPr>
        <p:txBody>
          <a:bodyPr wrap="square" lIns="0" tIns="0" rIns="0" bIns="0" rtlCol="0" anchor="t"/>
          <a:lstStyle/>
          <a:p>
            <a:pPr marL="0" indent="0" algn="l">
              <a:buNone/>
            </a:pPr>
            <a:r>
              <a:rPr lang="en-US" sz="1000" b="1" kern="0" spc="200" dirty="0">
                <a:solidFill>
                  <a:srgbClr val="1456F0"/>
                </a:solidFill>
                <a:latin typeface="Pretendard" panose="02000503000000020004" pitchFamily="50" charset="-127"/>
                <a:ea typeface="Pretendard" panose="02000503000000020004" pitchFamily="50" charset="-127"/>
                <a:cs typeface="Pretendard" panose="02000503000000020004" pitchFamily="50" charset="-127"/>
              </a:rPr>
              <a:t>PART 05</a:t>
            </a:r>
            <a:endParaRPr lang="en-US" sz="1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9" name="Text 6"/>
          <p:cNvSpPr/>
          <p:nvPr/>
        </p:nvSpPr>
        <p:spPr>
          <a:xfrm>
            <a:off x="457200" y="2117852"/>
            <a:ext cx="5455768" cy="292608"/>
          </a:xfrm>
          <a:prstGeom prst="rect">
            <a:avLst/>
          </a:prstGeom>
          <a:noFill/>
          <a:ln/>
        </p:spPr>
        <p:txBody>
          <a:bodyPr wrap="square" lIns="0" tIns="0" rIns="0" bIns="0" rtlCol="0" anchor="t"/>
          <a:lstStyle/>
          <a:p>
            <a:r>
              <a:rPr lang="en-US" altLang="ko-KR" sz="1400" b="1" dirty="0">
                <a:latin typeface="Pretendard" panose="02000503000000020004" pitchFamily="50" charset="-127"/>
                <a:ea typeface="Pretendard" panose="02000503000000020004" pitchFamily="50" charset="-127"/>
                <a:cs typeface="Pretendard" panose="02000503000000020004" pitchFamily="50" charset="-127"/>
              </a:rPr>
              <a:t>4</a:t>
            </a:r>
            <a:r>
              <a:rPr lang="ko-KR" altLang="en-US" sz="1400" b="1" dirty="0">
                <a:latin typeface="Pretendard" panose="02000503000000020004" pitchFamily="50" charset="-127"/>
                <a:ea typeface="Pretendard" panose="02000503000000020004" pitchFamily="50" charset="-127"/>
                <a:cs typeface="Pretendard" panose="02000503000000020004" pitchFamily="50" charset="-127"/>
              </a:rPr>
              <a:t>개 통계 유형별 엑셀 시트 분리</a:t>
            </a:r>
            <a:endParaRPr lang="en-US" sz="1400" b="1"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1" name="Text 8"/>
          <p:cNvSpPr/>
          <p:nvPr/>
        </p:nvSpPr>
        <p:spPr>
          <a:xfrm>
            <a:off x="6278728" y="1907540"/>
            <a:ext cx="5455768" cy="201168"/>
          </a:xfrm>
          <a:prstGeom prst="rect">
            <a:avLst/>
          </a:prstGeom>
          <a:noFill/>
          <a:ln/>
        </p:spPr>
        <p:txBody>
          <a:bodyPr wrap="square" lIns="0" tIns="0" rIns="0" bIns="0" rtlCol="0" anchor="t"/>
          <a:lstStyle/>
          <a:p>
            <a:pPr marL="0" indent="0" algn="l">
              <a:buNone/>
            </a:pPr>
            <a:r>
              <a:rPr lang="en-US" sz="1000" b="1" kern="0" spc="200" dirty="0">
                <a:solidFill>
                  <a:srgbClr val="EA5EC1"/>
                </a:solidFill>
                <a:latin typeface="Pretendard" panose="02000503000000020004" pitchFamily="50" charset="-127"/>
                <a:ea typeface="Pretendard" panose="02000503000000020004" pitchFamily="50" charset="-127"/>
                <a:cs typeface="Pretendard" panose="02000503000000020004" pitchFamily="50" charset="-127"/>
              </a:rPr>
              <a:t>PART 06</a:t>
            </a:r>
            <a:endParaRPr lang="en-US" sz="1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2" name="Text 9"/>
          <p:cNvSpPr/>
          <p:nvPr/>
        </p:nvSpPr>
        <p:spPr>
          <a:xfrm>
            <a:off x="6278728" y="2117852"/>
            <a:ext cx="5455768" cy="292608"/>
          </a:xfrm>
          <a:prstGeom prst="rect">
            <a:avLst/>
          </a:prstGeom>
          <a:noFill/>
          <a:ln/>
        </p:spPr>
        <p:txBody>
          <a:bodyPr wrap="square" lIns="0" tIns="0" rIns="0" bIns="0" rtlCol="0" anchor="t"/>
          <a:lstStyle/>
          <a:p>
            <a:r>
              <a:rPr lang="ko-KR" altLang="en-US" sz="1400" b="1" dirty="0">
                <a:latin typeface="Pretendard" panose="02000503000000020004" pitchFamily="50" charset="-127"/>
                <a:ea typeface="Pretendard" panose="02000503000000020004" pitchFamily="50" charset="-127"/>
                <a:cs typeface="Pretendard" panose="02000503000000020004" pitchFamily="50" charset="-127"/>
              </a:rPr>
              <a:t>엑셀 내보내기 이력 관리</a:t>
            </a:r>
            <a:endParaRPr lang="en-US" sz="1400" b="1"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4" name="Shape 11"/>
          <p:cNvSpPr/>
          <p:nvPr/>
        </p:nvSpPr>
        <p:spPr>
          <a:xfrm>
            <a:off x="6278728" y="2410459"/>
            <a:ext cx="5455768" cy="2657057"/>
          </a:xfrm>
          <a:prstGeom prst="roundRect">
            <a:avLst>
              <a:gd name="adj" fmla="val 8000"/>
            </a:avLst>
          </a:prstGeom>
          <a:solidFill>
            <a:srgbClr val="F8F9FB"/>
          </a:solidFill>
          <a:ln w="12700">
            <a:solidFill>
              <a:srgbClr val="E5E7EB"/>
            </a:solidFill>
            <a:prstDash val="solid"/>
          </a:ln>
          <a:effectLst>
            <a:outerShdw blurRad="76200" dist="25400" dir="5400000" algn="bl" rotWithShape="0">
              <a:srgbClr val="000000">
                <a:alpha val="8000"/>
              </a:srgbClr>
            </a:outerShdw>
          </a:effectLst>
        </p:spPr>
        <p:txBody>
          <a:bodyPr/>
          <a:lstStyle/>
          <a:p>
            <a:endParaRPr lang="ko-KR" altLang="en-US" dirty="0"/>
          </a:p>
        </p:txBody>
      </p:sp>
      <p:sp>
        <p:nvSpPr>
          <p:cNvPr id="15" name="Shape 12"/>
          <p:cNvSpPr/>
          <p:nvPr/>
        </p:nvSpPr>
        <p:spPr>
          <a:xfrm>
            <a:off x="6278728" y="2410460"/>
            <a:ext cx="5455768" cy="329184"/>
          </a:xfrm>
          <a:prstGeom prst="rect">
            <a:avLst/>
          </a:prstGeom>
          <a:solidFill>
            <a:srgbClr val="EEF0F3"/>
          </a:solidFill>
          <a:ln w="12700">
            <a:solidFill>
              <a:srgbClr val="E5E7EB"/>
            </a:solidFill>
            <a:prstDash val="solid"/>
          </a:ln>
        </p:spPr>
      </p:sp>
      <p:sp>
        <p:nvSpPr>
          <p:cNvPr id="16" name="Shape 13"/>
          <p:cNvSpPr/>
          <p:nvPr/>
        </p:nvSpPr>
        <p:spPr>
          <a:xfrm>
            <a:off x="6386932" y="2524760"/>
            <a:ext cx="118872" cy="118872"/>
          </a:xfrm>
          <a:prstGeom prst="ellipse">
            <a:avLst/>
          </a:prstGeom>
          <a:solidFill>
            <a:srgbClr val="E0826B"/>
          </a:solidFill>
          <a:ln w="12700">
            <a:solidFill>
              <a:srgbClr val="E0826B"/>
            </a:solidFill>
            <a:prstDash val="solid"/>
          </a:ln>
        </p:spPr>
      </p:sp>
      <p:sp>
        <p:nvSpPr>
          <p:cNvPr id="17" name="Shape 14"/>
          <p:cNvSpPr/>
          <p:nvPr/>
        </p:nvSpPr>
        <p:spPr>
          <a:xfrm>
            <a:off x="6542380" y="2524760"/>
            <a:ext cx="118872" cy="118872"/>
          </a:xfrm>
          <a:prstGeom prst="ellipse">
            <a:avLst/>
          </a:prstGeom>
          <a:solidFill>
            <a:srgbClr val="E3C66D"/>
          </a:solidFill>
          <a:ln w="12700">
            <a:solidFill>
              <a:srgbClr val="E3C66D"/>
            </a:solidFill>
            <a:prstDash val="solid"/>
          </a:ln>
        </p:spPr>
      </p:sp>
      <p:sp>
        <p:nvSpPr>
          <p:cNvPr id="18" name="Shape 15"/>
          <p:cNvSpPr/>
          <p:nvPr/>
        </p:nvSpPr>
        <p:spPr>
          <a:xfrm>
            <a:off x="6697828" y="2524760"/>
            <a:ext cx="118872" cy="118872"/>
          </a:xfrm>
          <a:prstGeom prst="ellipse">
            <a:avLst/>
          </a:prstGeom>
          <a:solidFill>
            <a:srgbClr val="9DC97A"/>
          </a:solidFill>
          <a:ln w="12700">
            <a:solidFill>
              <a:srgbClr val="9DC97A"/>
            </a:solidFill>
            <a:prstDash val="solid"/>
          </a:ln>
        </p:spPr>
      </p:sp>
      <p:sp>
        <p:nvSpPr>
          <p:cNvPr id="19" name="Shape 16"/>
          <p:cNvSpPr/>
          <p:nvPr/>
        </p:nvSpPr>
        <p:spPr>
          <a:xfrm>
            <a:off x="6944716" y="2497328"/>
            <a:ext cx="4587088" cy="182880"/>
          </a:xfrm>
          <a:prstGeom prst="roundRect">
            <a:avLst>
              <a:gd name="adj" fmla="val 20000"/>
            </a:avLst>
          </a:prstGeom>
          <a:solidFill>
            <a:srgbClr val="FFFFFF"/>
          </a:solidFill>
          <a:ln w="6350">
            <a:solidFill>
              <a:srgbClr val="E5E7EB"/>
            </a:solidFill>
            <a:prstDash val="solid"/>
          </a:ln>
        </p:spPr>
      </p:sp>
      <p:sp>
        <p:nvSpPr>
          <p:cNvPr id="20" name="Text 17"/>
          <p:cNvSpPr/>
          <p:nvPr/>
        </p:nvSpPr>
        <p:spPr>
          <a:xfrm>
            <a:off x="6990436" y="2497328"/>
            <a:ext cx="4495648" cy="182880"/>
          </a:xfrm>
          <a:prstGeom prst="rect">
            <a:avLst/>
          </a:prstGeom>
          <a:noFill/>
          <a:ln/>
        </p:spPr>
        <p:txBody>
          <a:bodyPr wrap="square" lIns="0" tIns="0" rIns="0" bIns="0" rtlCol="0" anchor="ctr"/>
          <a:lstStyle/>
          <a:p>
            <a:r>
              <a:rPr lang="ko-KR" altLang="en-US" sz="9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엑셀 내보내기 </a:t>
            </a:r>
            <a:r>
              <a:rPr lang="en-US" altLang="ko-KR" sz="900" dirty="0" err="1">
                <a:solidFill>
                  <a:srgbClr val="8E8E93"/>
                </a:solidFill>
                <a:latin typeface="Pretendard" panose="02000503000000020004" pitchFamily="50" charset="-127"/>
                <a:ea typeface="Pretendard" panose="02000503000000020004" pitchFamily="50" charset="-127"/>
                <a:cs typeface="Pretendard" panose="02000503000000020004" pitchFamily="50" charset="-127"/>
              </a:rPr>
              <a:t>내역</a:t>
            </a:r>
            <a:r>
              <a:rPr lang="en-US" altLang="ko-KR" sz="9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 — </a:t>
            </a:r>
            <a:r>
              <a:rPr lang="ko-KR" altLang="en-US" sz="9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이력 </a:t>
            </a:r>
            <a:r>
              <a:rPr lang="en-US" altLang="ko-KR" sz="900" dirty="0" err="1">
                <a:solidFill>
                  <a:srgbClr val="8E8E93"/>
                </a:solidFill>
                <a:latin typeface="Pretendard" panose="02000503000000020004" pitchFamily="50" charset="-127"/>
                <a:ea typeface="Pretendard" panose="02000503000000020004" pitchFamily="50" charset="-127"/>
                <a:cs typeface="Pretendard" panose="02000503000000020004" pitchFamily="50" charset="-127"/>
              </a:rPr>
              <a:t>개별</a:t>
            </a:r>
            <a:r>
              <a:rPr lang="en-US" altLang="ko-KR" sz="9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 </a:t>
            </a:r>
            <a:r>
              <a:rPr lang="en-US" altLang="ko-KR" sz="900" dirty="0" err="1">
                <a:solidFill>
                  <a:srgbClr val="8E8E93"/>
                </a:solidFill>
                <a:latin typeface="Pretendard" panose="02000503000000020004" pitchFamily="50" charset="-127"/>
                <a:ea typeface="Pretendard" panose="02000503000000020004" pitchFamily="50" charset="-127"/>
                <a:cs typeface="Pretendard" panose="02000503000000020004" pitchFamily="50" charset="-127"/>
              </a:rPr>
              <a:t>조회</a:t>
            </a:r>
            <a:endParaRPr lang="en-US" altLang="ko-KR" sz="9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4" name="Shape 41"/>
          <p:cNvSpPr/>
          <p:nvPr/>
        </p:nvSpPr>
        <p:spPr>
          <a:xfrm>
            <a:off x="424327" y="5168101"/>
            <a:ext cx="5455768" cy="1155627"/>
          </a:xfrm>
          <a:prstGeom prst="roundRect">
            <a:avLst>
              <a:gd name="adj" fmla="val 7975"/>
            </a:avLst>
          </a:prstGeom>
          <a:solidFill>
            <a:srgbClr val="FFFFFF"/>
          </a:solidFill>
          <a:ln w="9525">
            <a:solidFill>
              <a:srgbClr val="E5E7EB"/>
            </a:solidFill>
            <a:prstDash val="solid"/>
          </a:ln>
          <a:effectLst>
            <a:outerShdw blurRad="76200" dist="25400" dir="5400000" algn="bl" rotWithShape="0">
              <a:srgbClr val="000000">
                <a:alpha val="8000"/>
              </a:srgbClr>
            </a:outerShdw>
          </a:effectLst>
        </p:spPr>
      </p:sp>
      <p:sp>
        <p:nvSpPr>
          <p:cNvPr id="45" name="Shape 42"/>
          <p:cNvSpPr/>
          <p:nvPr/>
        </p:nvSpPr>
        <p:spPr>
          <a:xfrm>
            <a:off x="457200" y="5168101"/>
            <a:ext cx="5432420" cy="54864"/>
          </a:xfrm>
          <a:prstGeom prst="rect">
            <a:avLst/>
          </a:prstGeom>
          <a:solidFill>
            <a:srgbClr val="1456F0"/>
          </a:solidFill>
          <a:ln w="12700">
            <a:solidFill>
              <a:srgbClr val="1456F0"/>
            </a:solidFill>
            <a:prstDash val="solid"/>
          </a:ln>
        </p:spPr>
      </p:sp>
      <p:sp>
        <p:nvSpPr>
          <p:cNvPr id="46" name="Text 43"/>
          <p:cNvSpPr/>
          <p:nvPr/>
        </p:nvSpPr>
        <p:spPr>
          <a:xfrm>
            <a:off x="658368" y="5369269"/>
            <a:ext cx="5090008" cy="292608"/>
          </a:xfrm>
          <a:prstGeom prst="rect">
            <a:avLst/>
          </a:prstGeom>
          <a:noFill/>
          <a:ln/>
        </p:spPr>
        <p:txBody>
          <a:bodyPr wrap="square" lIns="0" tIns="0" rIns="0" bIns="0" rtlCol="0" anchor="t"/>
          <a:lstStyle/>
          <a:p>
            <a:r>
              <a:rPr lang="ko-KR" altLang="en-US" sz="1400" b="1" dirty="0">
                <a:latin typeface="Pretendard" panose="02000503000000020004" pitchFamily="50" charset="-127"/>
                <a:ea typeface="Pretendard" panose="02000503000000020004" pitchFamily="50" charset="-127"/>
                <a:cs typeface="Pretendard" panose="02000503000000020004" pitchFamily="50" charset="-127"/>
              </a:rPr>
              <a:t>한 번의 내보내기로 </a:t>
            </a:r>
            <a:r>
              <a:rPr lang="ko-KR" altLang="en-US" sz="1400" b="1" dirty="0" err="1">
                <a:latin typeface="Pretendard" panose="02000503000000020004" pitchFamily="50" charset="-127"/>
                <a:ea typeface="Pretendard" panose="02000503000000020004" pitchFamily="50" charset="-127"/>
                <a:cs typeface="Pretendard" panose="02000503000000020004" pitchFamily="50" charset="-127"/>
              </a:rPr>
              <a:t>통계별</a:t>
            </a:r>
            <a:r>
              <a:rPr lang="ko-KR" altLang="en-US" sz="1400" b="1" dirty="0">
                <a:latin typeface="Pretendard" panose="02000503000000020004" pitchFamily="50" charset="-127"/>
                <a:ea typeface="Pretendard" panose="02000503000000020004" pitchFamily="50" charset="-127"/>
                <a:cs typeface="Pretendard" panose="02000503000000020004" pitchFamily="50" charset="-127"/>
              </a:rPr>
              <a:t> 데이터 확인</a:t>
            </a:r>
            <a:endParaRPr lang="en-US" sz="1300" b="1"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7" name="Text 44"/>
          <p:cNvSpPr/>
          <p:nvPr/>
        </p:nvSpPr>
        <p:spPr>
          <a:xfrm>
            <a:off x="658368" y="5762461"/>
            <a:ext cx="5090008" cy="256032"/>
          </a:xfrm>
          <a:prstGeom prst="rect">
            <a:avLst/>
          </a:prstGeom>
          <a:noFill/>
          <a:ln/>
        </p:spPr>
        <p:txBody>
          <a:bodyPr wrap="square" lIns="0" tIns="0" rIns="0" bIns="0" rtlCol="0" anchor="t"/>
          <a:lstStyle/>
          <a:p>
            <a:r>
              <a:rPr lang="en-US" sz="1200" b="1" dirty="0">
                <a:solidFill>
                  <a:srgbClr val="1456F0"/>
                </a:solidFill>
                <a:latin typeface="Pretendard" panose="02000503000000020004" pitchFamily="50" charset="-127"/>
                <a:ea typeface="Pretendard" panose="02000503000000020004" pitchFamily="50" charset="-127"/>
                <a:cs typeface="Pretendard" panose="02000503000000020004" pitchFamily="50" charset="-127"/>
              </a:rPr>
              <a:t>•  </a:t>
            </a:r>
            <a:r>
              <a:rPr lang="ko-KR" altLang="en-US" sz="1200" dirty="0">
                <a:latin typeface="Pretendard" panose="02000503000000020004" pitchFamily="50" charset="-127"/>
                <a:ea typeface="Pretendard" panose="02000503000000020004" pitchFamily="50" charset="-127"/>
                <a:cs typeface="Pretendard" panose="02000503000000020004" pitchFamily="50" charset="-127"/>
              </a:rPr>
              <a:t>전체 요약</a:t>
            </a:r>
            <a:r>
              <a:rPr lang="en-US" altLang="ko-KR" sz="1200" dirty="0">
                <a:latin typeface="Pretendard" panose="02000503000000020004" pitchFamily="50" charset="-127"/>
                <a:ea typeface="Pretendard" panose="02000503000000020004" pitchFamily="50" charset="-127"/>
                <a:cs typeface="Pretendard" panose="02000503000000020004" pitchFamily="50" charset="-127"/>
              </a:rPr>
              <a:t>·</a:t>
            </a:r>
            <a:r>
              <a:rPr lang="ko-KR" altLang="en-US" sz="1200" dirty="0" err="1">
                <a:latin typeface="Pretendard" panose="02000503000000020004" pitchFamily="50" charset="-127"/>
                <a:ea typeface="Pretendard" panose="02000503000000020004" pitchFamily="50" charset="-127"/>
                <a:cs typeface="Pretendard" panose="02000503000000020004" pitchFamily="50" charset="-127"/>
              </a:rPr>
              <a:t>조직별</a:t>
            </a:r>
            <a:r>
              <a:rPr lang="ko-KR" altLang="en-US" sz="1200" dirty="0">
                <a:latin typeface="Pretendard" panose="02000503000000020004" pitchFamily="50" charset="-127"/>
                <a:ea typeface="Pretendard" panose="02000503000000020004" pitchFamily="50" charset="-127"/>
                <a:cs typeface="Pretendard" panose="02000503000000020004" pitchFamily="50" charset="-127"/>
              </a:rPr>
              <a:t> 현황</a:t>
            </a:r>
            <a:r>
              <a:rPr lang="en-US" altLang="ko-KR" sz="1200" dirty="0">
                <a:latin typeface="Pretendard" panose="02000503000000020004" pitchFamily="50" charset="-127"/>
                <a:ea typeface="Pretendard" panose="02000503000000020004" pitchFamily="50" charset="-127"/>
                <a:cs typeface="Pretendard" panose="02000503000000020004" pitchFamily="50" charset="-127"/>
              </a:rPr>
              <a:t>·</a:t>
            </a:r>
            <a:r>
              <a:rPr lang="ko-KR" altLang="en-US" sz="1200" dirty="0">
                <a:latin typeface="Pretendard" panose="02000503000000020004" pitchFamily="50" charset="-127"/>
                <a:ea typeface="Pretendard" panose="02000503000000020004" pitchFamily="50" charset="-127"/>
                <a:cs typeface="Pretendard" panose="02000503000000020004" pitchFamily="50" charset="-127"/>
              </a:rPr>
              <a:t>문항별 분석</a:t>
            </a:r>
            <a:r>
              <a:rPr lang="en-US" altLang="ko-KR" sz="1200" dirty="0">
                <a:latin typeface="Pretendard" panose="02000503000000020004" pitchFamily="50" charset="-127"/>
                <a:ea typeface="Pretendard" panose="02000503000000020004" pitchFamily="50" charset="-127"/>
                <a:cs typeface="Pretendard" panose="02000503000000020004" pitchFamily="50" charset="-127"/>
              </a:rPr>
              <a:t>·</a:t>
            </a:r>
            <a:r>
              <a:rPr lang="ko-KR" altLang="en-US" sz="1200" dirty="0">
                <a:latin typeface="Pretendard" panose="02000503000000020004" pitchFamily="50" charset="-127"/>
                <a:ea typeface="Pretendard" panose="02000503000000020004" pitchFamily="50" charset="-127"/>
                <a:cs typeface="Pretendard" panose="02000503000000020004" pitchFamily="50" charset="-127"/>
              </a:rPr>
              <a:t>응답자별 데이터를 시트별로 분리</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8" name="Text 45"/>
          <p:cNvSpPr/>
          <p:nvPr/>
        </p:nvSpPr>
        <p:spPr>
          <a:xfrm>
            <a:off x="658368" y="6018493"/>
            <a:ext cx="5090008" cy="256032"/>
          </a:xfrm>
          <a:prstGeom prst="rect">
            <a:avLst/>
          </a:prstGeom>
          <a:noFill/>
          <a:ln/>
        </p:spPr>
        <p:txBody>
          <a:bodyPr wrap="square" lIns="0" tIns="0" rIns="0" bIns="0" rtlCol="0" anchor="t"/>
          <a:lstStyle/>
          <a:p>
            <a:r>
              <a:rPr lang="en-US" altLang="ko-KR" sz="1200" b="1" dirty="0">
                <a:solidFill>
                  <a:srgbClr val="1456F0"/>
                </a:solidFill>
                <a:latin typeface="Pretendard" panose="02000503000000020004" pitchFamily="50" charset="-127"/>
                <a:ea typeface="Pretendard" panose="02000503000000020004" pitchFamily="50" charset="-127"/>
                <a:cs typeface="Pretendard" panose="02000503000000020004" pitchFamily="50" charset="-127"/>
              </a:rPr>
              <a:t>•</a:t>
            </a:r>
            <a:r>
              <a:rPr lang="en-US" sz="1200" b="1" dirty="0">
                <a:solidFill>
                  <a:srgbClr val="1456F0"/>
                </a:solidFill>
                <a:latin typeface="Pretendard" panose="02000503000000020004" pitchFamily="50" charset="-127"/>
                <a:ea typeface="Pretendard" panose="02000503000000020004" pitchFamily="50" charset="-127"/>
                <a:cs typeface="Pretendard" panose="02000503000000020004" pitchFamily="50" charset="-127"/>
              </a:rPr>
              <a:t>  </a:t>
            </a:r>
            <a:r>
              <a:rPr lang="ko-KR" altLang="en-US" sz="1200" dirty="0">
                <a:latin typeface="Pretendard" panose="02000503000000020004" pitchFamily="50" charset="-127"/>
                <a:ea typeface="Pretendard" panose="02000503000000020004" pitchFamily="50" charset="-127"/>
                <a:cs typeface="Pretendard" panose="02000503000000020004" pitchFamily="50" charset="-127"/>
              </a:rPr>
              <a:t>단일 엑셀 파일 안에서 통계 유형별 데이터를 바로 확인 가능</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51" name="Shape 48"/>
          <p:cNvSpPr/>
          <p:nvPr/>
        </p:nvSpPr>
        <p:spPr>
          <a:xfrm>
            <a:off x="433852" y="2414016"/>
            <a:ext cx="5455768" cy="2653500"/>
          </a:xfrm>
          <a:prstGeom prst="rect">
            <a:avLst/>
          </a:prstGeom>
          <a:solidFill>
            <a:srgbClr val="DADFE6"/>
          </a:solidFill>
          <a:ln w="12700">
            <a:solidFill>
              <a:srgbClr val="DADFE6"/>
            </a:solidFill>
            <a:prstDash val="solid"/>
          </a:ln>
        </p:spPr>
        <p:txBody>
          <a:bodyPr/>
          <a:lstStyle/>
          <a:p>
            <a:endParaRPr lang="ko-KR" altLang="en-US" dirty="0"/>
          </a:p>
        </p:txBody>
      </p:sp>
      <p:sp>
        <p:nvSpPr>
          <p:cNvPr id="78" name="Shape 75"/>
          <p:cNvSpPr/>
          <p:nvPr/>
        </p:nvSpPr>
        <p:spPr>
          <a:xfrm>
            <a:off x="6278728" y="5168101"/>
            <a:ext cx="5455768" cy="1155627"/>
          </a:xfrm>
          <a:prstGeom prst="roundRect">
            <a:avLst>
              <a:gd name="adj" fmla="val 7975"/>
            </a:avLst>
          </a:prstGeom>
          <a:solidFill>
            <a:srgbClr val="FFFFFF"/>
          </a:solidFill>
          <a:ln w="9525">
            <a:solidFill>
              <a:srgbClr val="E5E7EB"/>
            </a:solidFill>
            <a:prstDash val="solid"/>
          </a:ln>
          <a:effectLst>
            <a:outerShdw blurRad="76200" dist="25400" dir="5400000" algn="bl" rotWithShape="0">
              <a:srgbClr val="000000">
                <a:alpha val="8000"/>
              </a:srgbClr>
            </a:outerShdw>
          </a:effectLst>
        </p:spPr>
        <p:txBody>
          <a:bodyPr/>
          <a:lstStyle/>
          <a:p>
            <a:endParaRPr lang="ko-KR" altLang="en-US" dirty="0"/>
          </a:p>
        </p:txBody>
      </p:sp>
      <p:sp>
        <p:nvSpPr>
          <p:cNvPr id="79" name="Shape 76"/>
          <p:cNvSpPr/>
          <p:nvPr/>
        </p:nvSpPr>
        <p:spPr>
          <a:xfrm>
            <a:off x="6278728" y="5168101"/>
            <a:ext cx="5455768" cy="54864"/>
          </a:xfrm>
          <a:prstGeom prst="rect">
            <a:avLst/>
          </a:prstGeom>
          <a:solidFill>
            <a:srgbClr val="EA5EC1"/>
          </a:solidFill>
          <a:ln w="12700">
            <a:solidFill>
              <a:srgbClr val="EA5EC1"/>
            </a:solidFill>
            <a:prstDash val="solid"/>
          </a:ln>
        </p:spPr>
      </p:sp>
      <p:sp>
        <p:nvSpPr>
          <p:cNvPr id="80" name="Text 77"/>
          <p:cNvSpPr/>
          <p:nvPr/>
        </p:nvSpPr>
        <p:spPr>
          <a:xfrm>
            <a:off x="6479896" y="5369269"/>
            <a:ext cx="5090008" cy="292608"/>
          </a:xfrm>
          <a:prstGeom prst="rect">
            <a:avLst/>
          </a:prstGeom>
          <a:noFill/>
          <a:ln/>
        </p:spPr>
        <p:txBody>
          <a:bodyPr wrap="square" lIns="0" tIns="0" rIns="0" bIns="0" rtlCol="0" anchor="t"/>
          <a:lstStyle/>
          <a:p>
            <a:r>
              <a:rPr lang="ko-KR" altLang="en-US" sz="1400" b="1" dirty="0">
                <a:latin typeface="Pretendard" panose="02000503000000020004" pitchFamily="50" charset="-127"/>
                <a:ea typeface="Pretendard" panose="02000503000000020004" pitchFamily="50" charset="-127"/>
                <a:cs typeface="Pretendard" panose="02000503000000020004" pitchFamily="50" charset="-127"/>
              </a:rPr>
              <a:t>누가</a:t>
            </a:r>
            <a:r>
              <a:rPr lang="en-US" altLang="ko-KR" sz="1400" b="1" dirty="0">
                <a:latin typeface="Pretendard" panose="02000503000000020004" pitchFamily="50" charset="-127"/>
                <a:ea typeface="Pretendard" panose="02000503000000020004" pitchFamily="50" charset="-127"/>
                <a:cs typeface="Pretendard" panose="02000503000000020004" pitchFamily="50" charset="-127"/>
              </a:rPr>
              <a:t>·</a:t>
            </a:r>
            <a:r>
              <a:rPr lang="ko-KR" altLang="en-US" sz="1400" b="1" dirty="0">
                <a:latin typeface="Pretendard" panose="02000503000000020004" pitchFamily="50" charset="-127"/>
                <a:ea typeface="Pretendard" panose="02000503000000020004" pitchFamily="50" charset="-127"/>
                <a:cs typeface="Pretendard" panose="02000503000000020004" pitchFamily="50" charset="-127"/>
              </a:rPr>
              <a:t>언제 내보냈는지 이력으로 확인</a:t>
            </a:r>
            <a:endParaRPr lang="en-US" sz="1300" b="1"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81" name="Text 78"/>
          <p:cNvSpPr/>
          <p:nvPr/>
        </p:nvSpPr>
        <p:spPr>
          <a:xfrm>
            <a:off x="6479896" y="5762461"/>
            <a:ext cx="5090008" cy="256032"/>
          </a:xfrm>
          <a:prstGeom prst="rect">
            <a:avLst/>
          </a:prstGeom>
          <a:noFill/>
          <a:ln/>
        </p:spPr>
        <p:txBody>
          <a:bodyPr wrap="square" lIns="0" tIns="0" rIns="0" bIns="0" rtlCol="0" anchor="t"/>
          <a:lstStyle/>
          <a:p>
            <a:r>
              <a:rPr lang="en-US" sz="1200" b="1" dirty="0">
                <a:solidFill>
                  <a:srgbClr val="EA5EC1"/>
                </a:solidFill>
                <a:latin typeface="Pretendard" panose="02000503000000020004" pitchFamily="50" charset="-127"/>
                <a:ea typeface="Pretendard" panose="02000503000000020004" pitchFamily="50" charset="-127"/>
                <a:cs typeface="Pretendard" panose="02000503000000020004" pitchFamily="50" charset="-127"/>
              </a:rPr>
              <a:t>• </a:t>
            </a:r>
            <a:r>
              <a:rPr lang="ko-KR" altLang="en-US" sz="1200" dirty="0">
                <a:latin typeface="Pretendard" panose="02000503000000020004" pitchFamily="50" charset="-127"/>
                <a:ea typeface="Pretendard" panose="02000503000000020004" pitchFamily="50" charset="-127"/>
                <a:cs typeface="Pretendard" panose="02000503000000020004" pitchFamily="50" charset="-127"/>
              </a:rPr>
              <a:t>엑셀 내보내기 시 사용자</a:t>
            </a:r>
            <a:r>
              <a:rPr lang="en-US" altLang="ko-KR" sz="1200" dirty="0">
                <a:latin typeface="Pretendard" panose="02000503000000020004" pitchFamily="50" charset="-127"/>
                <a:ea typeface="Pretendard" panose="02000503000000020004" pitchFamily="50" charset="-127"/>
                <a:cs typeface="Pretendard" panose="02000503000000020004" pitchFamily="50" charset="-127"/>
              </a:rPr>
              <a:t>, </a:t>
            </a:r>
            <a:r>
              <a:rPr lang="ko-KR" altLang="en-US" sz="1200" dirty="0">
                <a:latin typeface="Pretendard" panose="02000503000000020004" pitchFamily="50" charset="-127"/>
                <a:ea typeface="Pretendard" panose="02000503000000020004" pitchFamily="50" charset="-127"/>
                <a:cs typeface="Pretendard" panose="02000503000000020004" pitchFamily="50" charset="-127"/>
              </a:rPr>
              <a:t>일시</a:t>
            </a:r>
            <a:r>
              <a:rPr lang="en-US" altLang="ko-KR" sz="1200" dirty="0">
                <a:latin typeface="Pretendard" panose="02000503000000020004" pitchFamily="50" charset="-127"/>
                <a:ea typeface="Pretendard" panose="02000503000000020004" pitchFamily="50" charset="-127"/>
                <a:cs typeface="Pretendard" panose="02000503000000020004" pitchFamily="50" charset="-127"/>
              </a:rPr>
              <a:t>, </a:t>
            </a:r>
            <a:r>
              <a:rPr lang="ko-KR" altLang="en-US" sz="1200" dirty="0">
                <a:latin typeface="Pretendard" panose="02000503000000020004" pitchFamily="50" charset="-127"/>
                <a:ea typeface="Pretendard" panose="02000503000000020004" pitchFamily="50" charset="-127"/>
                <a:cs typeface="Pretendard" panose="02000503000000020004" pitchFamily="50" charset="-127"/>
              </a:rPr>
              <a:t>파일 이름을 저장</a:t>
            </a:r>
            <a:endParaRPr lang="en-US" altLang="ko-KR" sz="1200" dirty="0">
              <a:latin typeface="Pretendard" panose="02000503000000020004" pitchFamily="50" charset="-127"/>
              <a:ea typeface="Pretendard" panose="02000503000000020004" pitchFamily="50" charset="-127"/>
              <a:cs typeface="Pretendard" panose="02000503000000020004" pitchFamily="50" charset="-127"/>
            </a:endParaRPr>
          </a:p>
          <a:p>
            <a:pPr marL="0" indent="0" algn="l">
              <a:buNone/>
            </a:pPr>
            <a:endParaRPr lang="en-US" sz="105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82" name="Text 79"/>
          <p:cNvSpPr/>
          <p:nvPr/>
        </p:nvSpPr>
        <p:spPr>
          <a:xfrm>
            <a:off x="6479896" y="6018493"/>
            <a:ext cx="5090008" cy="256032"/>
          </a:xfrm>
          <a:prstGeom prst="rect">
            <a:avLst/>
          </a:prstGeom>
          <a:noFill/>
          <a:ln/>
        </p:spPr>
        <p:txBody>
          <a:bodyPr wrap="square" lIns="0" tIns="0" rIns="0" bIns="0" rtlCol="0" anchor="t"/>
          <a:lstStyle/>
          <a:p>
            <a:r>
              <a:rPr lang="en-US" sz="1200" b="1" dirty="0">
                <a:solidFill>
                  <a:srgbClr val="EA5EC1"/>
                </a:solidFill>
                <a:latin typeface="Pretendard" panose="02000503000000020004" pitchFamily="50" charset="-127"/>
                <a:ea typeface="Pretendard" panose="02000503000000020004" pitchFamily="50" charset="-127"/>
                <a:cs typeface="Pretendard" panose="02000503000000020004" pitchFamily="50" charset="-127"/>
              </a:rPr>
              <a:t>• </a:t>
            </a:r>
            <a:r>
              <a:rPr lang="ko-KR" altLang="en-US" sz="1200" dirty="0">
                <a:latin typeface="Pretendard" panose="02000503000000020004" pitchFamily="50" charset="-127"/>
                <a:ea typeface="Pretendard" panose="02000503000000020004" pitchFamily="50" charset="-127"/>
                <a:cs typeface="Pretendard" panose="02000503000000020004" pitchFamily="50" charset="-127"/>
              </a:rPr>
              <a:t>다운로드 내역 추적으로 데이터 관리 안정성 강화</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84" name="Text 12"/>
          <p:cNvSpPr/>
          <p:nvPr/>
        </p:nvSpPr>
        <p:spPr>
          <a:xfrm>
            <a:off x="6132362" y="3734235"/>
            <a:ext cx="5455768" cy="320040"/>
          </a:xfrm>
          <a:prstGeom prst="rect">
            <a:avLst/>
          </a:prstGeom>
          <a:noFill/>
          <a:ln/>
        </p:spPr>
        <p:txBody>
          <a:bodyPr wrap="square" lIns="0" tIns="0" rIns="0" bIns="0" rtlCol="0" anchor="ctr"/>
          <a:lstStyle/>
          <a:p>
            <a:pPr marL="0" indent="0" algn="ctr">
              <a:buNone/>
            </a:pPr>
            <a:r>
              <a:rPr lang="en-US" sz="1300" b="1" kern="0" spc="1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UI 화면 캡처 영역</a:t>
            </a:r>
            <a:endParaRPr lang="en-US" sz="1300" dirty="0">
              <a:latin typeface="Pretendard" panose="02000503000000020004" pitchFamily="50" charset="-127"/>
              <a:ea typeface="Pretendard" panose="02000503000000020004" pitchFamily="50" charset="-127"/>
              <a:cs typeface="Pretendard" panose="02000503000000020004" pitchFamily="50" charset="-127"/>
            </a:endParaRPr>
          </a:p>
        </p:txBody>
      </p:sp>
      <p:pic>
        <p:nvPicPr>
          <p:cNvPr id="22" name="그림 21">
            <a:extLst>
              <a:ext uri="{FF2B5EF4-FFF2-40B4-BE49-F238E27FC236}">
                <a16:creationId xmlns:a16="http://schemas.microsoft.com/office/drawing/2014/main" id="{B9BBAA44-9C53-4635-96CA-851C9163DA80}"/>
              </a:ext>
            </a:extLst>
          </p:cNvPr>
          <p:cNvPicPr>
            <a:picLocks noChangeAspect="1"/>
          </p:cNvPicPr>
          <p:nvPr/>
        </p:nvPicPr>
        <p:blipFill>
          <a:blip r:embed="rId4"/>
          <a:stretch>
            <a:fillRect/>
          </a:stretch>
        </p:blipFill>
        <p:spPr>
          <a:xfrm>
            <a:off x="6344988" y="4558700"/>
            <a:ext cx="5359823" cy="428450"/>
          </a:xfrm>
          <a:prstGeom prst="roundRect">
            <a:avLst>
              <a:gd name="adj" fmla="val 32229"/>
            </a:avLst>
          </a:prstGeom>
        </p:spPr>
      </p:pic>
      <p:pic>
        <p:nvPicPr>
          <p:cNvPr id="23" name="그림 22">
            <a:extLst>
              <a:ext uri="{FF2B5EF4-FFF2-40B4-BE49-F238E27FC236}">
                <a16:creationId xmlns:a16="http://schemas.microsoft.com/office/drawing/2014/main" id="{AC26AAFF-1387-4826-9D81-C74B16C0AA53}"/>
              </a:ext>
            </a:extLst>
          </p:cNvPr>
          <p:cNvPicPr>
            <a:picLocks noChangeAspect="1"/>
          </p:cNvPicPr>
          <p:nvPr/>
        </p:nvPicPr>
        <p:blipFill>
          <a:blip r:embed="rId5"/>
          <a:stretch>
            <a:fillRect/>
          </a:stretch>
        </p:blipFill>
        <p:spPr>
          <a:xfrm>
            <a:off x="6342284" y="2767076"/>
            <a:ext cx="5392212" cy="1875417"/>
          </a:xfrm>
          <a:prstGeom prst="roundRect">
            <a:avLst>
              <a:gd name="adj" fmla="val 8033"/>
            </a:avLst>
          </a:prstGeom>
        </p:spPr>
      </p:pic>
      <p:pic>
        <p:nvPicPr>
          <p:cNvPr id="24" name="그림 23">
            <a:extLst>
              <a:ext uri="{FF2B5EF4-FFF2-40B4-BE49-F238E27FC236}">
                <a16:creationId xmlns:a16="http://schemas.microsoft.com/office/drawing/2014/main" id="{8F91536B-5A70-4075-B4B6-4E1199013DA9}"/>
              </a:ext>
            </a:extLst>
          </p:cNvPr>
          <p:cNvPicPr>
            <a:picLocks noChangeAspect="1"/>
          </p:cNvPicPr>
          <p:nvPr/>
        </p:nvPicPr>
        <p:blipFill rotWithShape="1">
          <a:blip r:embed="rId6"/>
          <a:srcRect t="46610" r="1524" b="3014"/>
          <a:stretch/>
        </p:blipFill>
        <p:spPr>
          <a:xfrm>
            <a:off x="434110" y="2449801"/>
            <a:ext cx="5465354" cy="2617715"/>
          </a:xfrm>
          <a:prstGeom prst="rect">
            <a:avLst/>
          </a:prstGeom>
        </p:spPr>
      </p:pic>
      <p:sp>
        <p:nvSpPr>
          <p:cNvPr id="37" name="직사각형 36">
            <a:extLst>
              <a:ext uri="{FF2B5EF4-FFF2-40B4-BE49-F238E27FC236}">
                <a16:creationId xmlns:a16="http://schemas.microsoft.com/office/drawing/2014/main" id="{3540149C-57FE-440B-B8DF-28929A561240}"/>
              </a:ext>
            </a:extLst>
          </p:cNvPr>
          <p:cNvSpPr/>
          <p:nvPr/>
        </p:nvSpPr>
        <p:spPr>
          <a:xfrm>
            <a:off x="1145052" y="4749281"/>
            <a:ext cx="3128367" cy="289248"/>
          </a:xfrm>
          <a:prstGeom prst="rect">
            <a:avLst/>
          </a:prstGeom>
          <a:noFill/>
          <a:ln w="44450" cmpd="sng">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365760"/>
            <a:ext cx="5486400" cy="274320"/>
          </a:xfrm>
          <a:prstGeom prst="rect">
            <a:avLst/>
          </a:prstGeom>
          <a:noFill/>
          <a:ln/>
        </p:spPr>
        <p:txBody>
          <a:bodyPr wrap="square" lIns="0" tIns="0" rIns="0" bIns="0" rtlCol="0" anchor="ctr"/>
          <a:lstStyle/>
          <a:p>
            <a:r>
              <a:rPr lang="en-US" sz="12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05. </a:t>
            </a:r>
            <a:r>
              <a:rPr lang="ko-KR" altLang="en-US" sz="12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핵심 구현 및 시스템 개선</a:t>
            </a:r>
            <a:endParaRPr lang="en-US" altLang="ko-KR" sz="1200" dirty="0">
              <a:latin typeface="Pretendard" panose="02000503000000020004" pitchFamily="50" charset="-127"/>
              <a:ea typeface="Pretendard" panose="02000503000000020004" pitchFamily="50" charset="-127"/>
              <a:cs typeface="Pretendard" panose="02000503000000020004" pitchFamily="50" charset="-127"/>
            </a:endParaRPr>
          </a:p>
        </p:txBody>
      </p:sp>
      <p:pic>
        <p:nvPicPr>
          <p:cNvPr id="3" name="Image 0" descr="Woongjin_logo_transparent.png"/>
          <p:cNvPicPr>
            <a:picLocks noChangeAspect="1"/>
          </p:cNvPicPr>
          <p:nvPr/>
        </p:nvPicPr>
        <p:blipFill>
          <a:blip r:embed="rId3"/>
          <a:stretch>
            <a:fillRect/>
          </a:stretch>
        </p:blipFill>
        <p:spPr>
          <a:xfrm>
            <a:off x="10911535" y="262890"/>
            <a:ext cx="822960" cy="480060"/>
          </a:xfrm>
          <a:prstGeom prst="rect">
            <a:avLst/>
          </a:prstGeom>
        </p:spPr>
      </p:pic>
      <p:sp>
        <p:nvSpPr>
          <p:cNvPr id="4" name="Text 1"/>
          <p:cNvSpPr/>
          <p:nvPr/>
        </p:nvSpPr>
        <p:spPr>
          <a:xfrm>
            <a:off x="457200" y="6446520"/>
            <a:ext cx="2743200" cy="228600"/>
          </a:xfrm>
          <a:prstGeom prst="rect">
            <a:avLst/>
          </a:prstGeom>
          <a:noFill/>
          <a:ln/>
        </p:spPr>
        <p:txBody>
          <a:bodyPr wrap="square" lIns="0" tIns="0" rIns="0" bIns="0" rtlCol="0" anchor="ctr"/>
          <a:lstStyle/>
          <a:p>
            <a:pPr marL="0" indent="0" algn="l">
              <a:buNone/>
            </a:pPr>
            <a:r>
              <a:rPr lang="en-US" sz="10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12</a:t>
            </a:r>
            <a:endParaRPr lang="en-US" sz="1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6" name="Text 3"/>
          <p:cNvSpPr/>
          <p:nvPr/>
        </p:nvSpPr>
        <p:spPr>
          <a:xfrm>
            <a:off x="457200" y="914400"/>
            <a:ext cx="11277295" cy="685800"/>
          </a:xfrm>
          <a:prstGeom prst="rect">
            <a:avLst/>
          </a:prstGeom>
          <a:noFill/>
          <a:ln/>
        </p:spPr>
        <p:txBody>
          <a:bodyPr wrap="square" lIns="0" tIns="0" rIns="0" bIns="0" rtlCol="0" anchor="t"/>
          <a:lstStyle/>
          <a:p>
            <a:r>
              <a:rPr lang="ko-KR" altLang="en-US" sz="2400" b="1" dirty="0">
                <a:latin typeface="Pretendard" panose="02000503000000020004" pitchFamily="50" charset="-127"/>
                <a:ea typeface="Pretendard" panose="02000503000000020004" pitchFamily="50" charset="-127"/>
                <a:cs typeface="Pretendard" panose="02000503000000020004" pitchFamily="50" charset="-127"/>
              </a:rPr>
              <a:t>배치 기반 통계 집계 최적화</a:t>
            </a:r>
            <a:endParaRPr lang="en-US" sz="2400" b="1"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7" name="Text 4"/>
          <p:cNvSpPr/>
          <p:nvPr/>
        </p:nvSpPr>
        <p:spPr>
          <a:xfrm>
            <a:off x="457200" y="1401561"/>
            <a:ext cx="11277295" cy="292608"/>
          </a:xfrm>
          <a:prstGeom prst="rect">
            <a:avLst/>
          </a:prstGeom>
          <a:noFill/>
          <a:ln/>
        </p:spPr>
        <p:txBody>
          <a:bodyPr wrap="square" lIns="0" tIns="0" rIns="0" bIns="0" rtlCol="0" anchor="t"/>
          <a:lstStyle/>
          <a:p>
            <a:r>
              <a:rPr lang="en-US" altLang="ko-KR" sz="1600" dirty="0">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rPr>
              <a:t>Spring Batch</a:t>
            </a:r>
            <a:r>
              <a:rPr lang="ko-KR" altLang="en-US" sz="1600" dirty="0">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rPr>
              <a:t>로 응답 데이터를 사전 집계하여</a:t>
            </a:r>
            <a:r>
              <a:rPr lang="en-US" altLang="ko-KR" sz="1600" dirty="0">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rPr>
              <a:t> </a:t>
            </a:r>
            <a:r>
              <a:rPr lang="ko-KR" altLang="en-US" sz="1600" dirty="0">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rPr>
              <a:t>조회 성능을 </a:t>
            </a:r>
            <a:r>
              <a:rPr lang="ko-KR" altLang="en-US" sz="1600" dirty="0" err="1">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rPr>
              <a:t>안정화했습니다</a:t>
            </a:r>
            <a:r>
              <a:rPr lang="en-US" altLang="ko-KR" sz="1600" dirty="0">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rPr>
              <a:t>.</a:t>
            </a:r>
            <a:endParaRPr lang="en-US" sz="1600" dirty="0">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endParaRPr>
          </a:p>
        </p:txBody>
      </p:sp>
      <p:grpSp>
        <p:nvGrpSpPr>
          <p:cNvPr id="17" name="그룹 16">
            <a:extLst>
              <a:ext uri="{FF2B5EF4-FFF2-40B4-BE49-F238E27FC236}">
                <a16:creationId xmlns:a16="http://schemas.microsoft.com/office/drawing/2014/main" id="{BB00D107-E7D3-4967-B75F-9BF9265CC157}"/>
              </a:ext>
            </a:extLst>
          </p:cNvPr>
          <p:cNvGrpSpPr/>
          <p:nvPr/>
        </p:nvGrpSpPr>
        <p:grpSpPr>
          <a:xfrm>
            <a:off x="6121782" y="1952730"/>
            <a:ext cx="5852160" cy="4162252"/>
            <a:chOff x="457200" y="2033275"/>
            <a:chExt cx="5852160" cy="4162252"/>
          </a:xfrm>
        </p:grpSpPr>
        <p:sp>
          <p:nvSpPr>
            <p:cNvPr id="8" name="Shape 5"/>
            <p:cNvSpPr/>
            <p:nvPr/>
          </p:nvSpPr>
          <p:spPr>
            <a:xfrm>
              <a:off x="457200" y="2033275"/>
              <a:ext cx="5852160" cy="4162252"/>
            </a:xfrm>
            <a:prstGeom prst="roundRect">
              <a:avLst>
                <a:gd name="adj" fmla="val 3059"/>
              </a:avLst>
            </a:prstGeom>
            <a:solidFill>
              <a:srgbClr val="F8F9FB"/>
            </a:solidFill>
            <a:ln w="9525">
              <a:solidFill>
                <a:srgbClr val="E5E7EB"/>
              </a:solidFill>
              <a:prstDash val="solid"/>
            </a:ln>
            <a:effectLst>
              <a:outerShdw blurRad="76200" dist="25400" dir="5400000" algn="bl" rotWithShape="0">
                <a:srgbClr val="000000">
                  <a:alpha val="8000"/>
                </a:srgbClr>
              </a:outerShdw>
            </a:effectLst>
          </p:spPr>
        </p:sp>
        <p:sp>
          <p:nvSpPr>
            <p:cNvPr id="9" name="Text 6"/>
            <p:cNvSpPr/>
            <p:nvPr/>
          </p:nvSpPr>
          <p:spPr>
            <a:xfrm>
              <a:off x="640080" y="2136388"/>
              <a:ext cx="3657600" cy="201168"/>
            </a:xfrm>
            <a:prstGeom prst="rect">
              <a:avLst/>
            </a:prstGeom>
            <a:noFill/>
            <a:ln/>
          </p:spPr>
          <p:txBody>
            <a:bodyPr wrap="square" lIns="0" tIns="0" rIns="0" bIns="0" rtlCol="0" anchor="t"/>
            <a:lstStyle/>
            <a:p>
              <a:pPr marL="0" indent="0" algn="l">
                <a:buNone/>
              </a:pPr>
              <a:r>
                <a:rPr lang="en-US" sz="900" b="1" kern="0" spc="200" dirty="0">
                  <a:solidFill>
                    <a:srgbClr val="1456F0"/>
                  </a:solidFill>
                  <a:latin typeface="Pretendard" panose="02000503000000020004" pitchFamily="50" charset="-127"/>
                  <a:ea typeface="Pretendard" panose="02000503000000020004" pitchFamily="50" charset="-127"/>
                  <a:cs typeface="Pretendard" panose="02000503000000020004" pitchFamily="50" charset="-127"/>
                </a:rPr>
                <a:t>BATCH PIPELINE</a:t>
              </a:r>
              <a:endParaRPr lang="en-US" sz="9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0" name="Text 7"/>
            <p:cNvSpPr/>
            <p:nvPr/>
          </p:nvSpPr>
          <p:spPr>
            <a:xfrm>
              <a:off x="640080" y="2337556"/>
              <a:ext cx="5486400" cy="274320"/>
            </a:xfrm>
            <a:prstGeom prst="rect">
              <a:avLst/>
            </a:prstGeom>
            <a:noFill/>
            <a:ln/>
          </p:spPr>
          <p:txBody>
            <a:bodyPr wrap="square" lIns="0" tIns="0" rIns="0" bIns="0" rtlCol="0" anchor="t"/>
            <a:lstStyle/>
            <a:p>
              <a:r>
                <a:rPr lang="en-US" altLang="ko-KR" sz="1400" b="1" dirty="0">
                  <a:latin typeface="Pretendard" panose="02000503000000020004" pitchFamily="50" charset="-127"/>
                  <a:ea typeface="Pretendard" panose="02000503000000020004" pitchFamily="50" charset="-127"/>
                  <a:cs typeface="Pretendard" panose="02000503000000020004" pitchFamily="50" charset="-127"/>
                </a:rPr>
                <a:t>Spring Batch </a:t>
              </a:r>
              <a:r>
                <a:rPr lang="ko-KR" altLang="en-US" sz="1400" b="1" dirty="0">
                  <a:latin typeface="Pretendard" panose="02000503000000020004" pitchFamily="50" charset="-127"/>
                  <a:ea typeface="Pretendard" panose="02000503000000020004" pitchFamily="50" charset="-127"/>
                  <a:cs typeface="Pretendard" panose="02000503000000020004" pitchFamily="50" charset="-127"/>
                </a:rPr>
                <a:t>기반 통계 사전 집계 구조</a:t>
              </a:r>
              <a:endParaRPr lang="en-US" sz="1300" b="1"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1" name="Shape 8"/>
            <p:cNvSpPr/>
            <p:nvPr/>
          </p:nvSpPr>
          <p:spPr>
            <a:xfrm>
              <a:off x="685800" y="2767324"/>
              <a:ext cx="5394960" cy="274320"/>
            </a:xfrm>
            <a:prstGeom prst="roundRect">
              <a:avLst>
                <a:gd name="adj" fmla="val 20000"/>
              </a:avLst>
            </a:prstGeom>
            <a:solidFill>
              <a:srgbClr val="FFF8E6"/>
            </a:solidFill>
            <a:ln w="6350">
              <a:solidFill>
                <a:srgbClr val="E8D38A"/>
              </a:solidFill>
              <a:prstDash val="solid"/>
            </a:ln>
          </p:spPr>
        </p:sp>
        <p:sp>
          <p:nvSpPr>
            <p:cNvPr id="12" name="Text 9"/>
            <p:cNvSpPr/>
            <p:nvPr/>
          </p:nvSpPr>
          <p:spPr>
            <a:xfrm>
              <a:off x="777240" y="2767324"/>
              <a:ext cx="5212080" cy="274320"/>
            </a:xfrm>
            <a:prstGeom prst="rect">
              <a:avLst/>
            </a:prstGeom>
            <a:noFill/>
            <a:ln/>
          </p:spPr>
          <p:txBody>
            <a:bodyPr wrap="square" lIns="0" tIns="0" rIns="0" bIns="0" rtlCol="0" anchor="ctr"/>
            <a:lstStyle/>
            <a:p>
              <a:r>
                <a:rPr lang="en-US" sz="900" b="1" kern="0" spc="150" dirty="0">
                  <a:solidFill>
                    <a:srgbClr val="B07E1C"/>
                  </a:solidFill>
                  <a:latin typeface="Pretendard" panose="02000503000000020004" pitchFamily="50" charset="-127"/>
                  <a:ea typeface="Pretendard" panose="02000503000000020004" pitchFamily="50" charset="-127"/>
                  <a:cs typeface="Pretendard" panose="02000503000000020004" pitchFamily="50" charset="-127"/>
                </a:rPr>
                <a:t>SCHEDULE  </a:t>
              </a:r>
              <a:r>
                <a:rPr lang="ko-KR" altLang="en-US" sz="900" dirty="0">
                  <a:latin typeface="Pretendard" panose="02000503000000020004" pitchFamily="50" charset="-127"/>
                  <a:ea typeface="Pretendard" panose="02000503000000020004" pitchFamily="50" charset="-127"/>
                  <a:cs typeface="Pretendard" panose="02000503000000020004" pitchFamily="50" charset="-127"/>
                </a:rPr>
                <a:t>매일 </a:t>
              </a:r>
              <a:r>
                <a:rPr lang="en-US" altLang="ko-KR" sz="900" dirty="0">
                  <a:latin typeface="Pretendard" panose="02000503000000020004" pitchFamily="50" charset="-127"/>
                  <a:ea typeface="Pretendard" panose="02000503000000020004" pitchFamily="50" charset="-127"/>
                  <a:cs typeface="Pretendard" panose="02000503000000020004" pitchFamily="50" charset="-127"/>
                </a:rPr>
                <a:t>08:00 </a:t>
              </a:r>
              <a:r>
                <a:rPr lang="ko-KR" altLang="en-US" sz="900" dirty="0">
                  <a:latin typeface="Pretendard" panose="02000503000000020004" pitchFamily="50" charset="-127"/>
                  <a:ea typeface="Pretendard" panose="02000503000000020004" pitchFamily="50" charset="-127"/>
                  <a:cs typeface="Pretendard" panose="02000503000000020004" pitchFamily="50" charset="-127"/>
                </a:rPr>
                <a:t>자동 집계</a:t>
              </a:r>
              <a:endParaRPr lang="en-US" sz="9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3" name="Shape 10"/>
            <p:cNvSpPr/>
            <p:nvPr/>
          </p:nvSpPr>
          <p:spPr>
            <a:xfrm>
              <a:off x="685800" y="3178804"/>
              <a:ext cx="1603248" cy="1005840"/>
            </a:xfrm>
            <a:prstGeom prst="roundRect">
              <a:avLst>
                <a:gd name="adj" fmla="val 9091"/>
              </a:avLst>
            </a:prstGeom>
            <a:solidFill>
              <a:srgbClr val="FFFFFF"/>
            </a:solidFill>
            <a:ln w="6350">
              <a:solidFill>
                <a:srgbClr val="8E8E93"/>
              </a:solidFill>
              <a:prstDash val="solid"/>
            </a:ln>
          </p:spPr>
        </p:sp>
        <p:sp>
          <p:nvSpPr>
            <p:cNvPr id="14" name="Shape 11"/>
            <p:cNvSpPr/>
            <p:nvPr/>
          </p:nvSpPr>
          <p:spPr>
            <a:xfrm>
              <a:off x="850392" y="3288532"/>
              <a:ext cx="1274064" cy="201168"/>
            </a:xfrm>
            <a:prstGeom prst="roundRect">
              <a:avLst>
                <a:gd name="adj" fmla="val 22727"/>
              </a:avLst>
            </a:prstGeom>
            <a:solidFill>
              <a:srgbClr val="8E8E93"/>
            </a:solidFill>
            <a:ln w="12700">
              <a:solidFill>
                <a:srgbClr val="8E8E93"/>
              </a:solidFill>
              <a:prstDash val="solid"/>
            </a:ln>
          </p:spPr>
        </p:sp>
        <p:sp>
          <p:nvSpPr>
            <p:cNvPr id="15" name="Text 12"/>
            <p:cNvSpPr/>
            <p:nvPr/>
          </p:nvSpPr>
          <p:spPr>
            <a:xfrm>
              <a:off x="850392" y="3288532"/>
              <a:ext cx="1274064" cy="201168"/>
            </a:xfrm>
            <a:prstGeom prst="rect">
              <a:avLst/>
            </a:prstGeom>
            <a:noFill/>
            <a:ln/>
          </p:spPr>
          <p:txBody>
            <a:bodyPr wrap="square" lIns="0" tIns="0" rIns="0" bIns="0" rtlCol="0" anchor="ctr"/>
            <a:lstStyle/>
            <a:p>
              <a:pPr marL="0" indent="0" algn="ctr">
                <a:buNone/>
              </a:pPr>
              <a:r>
                <a:rPr lang="en-US" sz="850" b="1" kern="0" spc="150" dirty="0">
                  <a:solidFill>
                    <a:srgbClr val="FFFFFF"/>
                  </a:solidFill>
                  <a:latin typeface="Pretendard" panose="02000503000000020004" pitchFamily="50" charset="-127"/>
                  <a:ea typeface="Pretendard" panose="02000503000000020004" pitchFamily="50" charset="-127"/>
                  <a:cs typeface="Pretendard" panose="02000503000000020004" pitchFamily="50" charset="-127"/>
                </a:rPr>
                <a:t>READER</a:t>
              </a:r>
              <a:endParaRPr lang="en-US" sz="85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6" name="Text 13"/>
            <p:cNvSpPr/>
            <p:nvPr/>
          </p:nvSpPr>
          <p:spPr>
            <a:xfrm>
              <a:off x="777240" y="3709156"/>
              <a:ext cx="1420368" cy="256032"/>
            </a:xfrm>
            <a:prstGeom prst="rect">
              <a:avLst/>
            </a:prstGeom>
            <a:noFill/>
            <a:ln/>
          </p:spPr>
          <p:txBody>
            <a:bodyPr wrap="square" lIns="0" tIns="0" rIns="0" bIns="0" rtlCol="0" anchor="t"/>
            <a:lstStyle/>
            <a:p>
              <a:pPr marL="0" indent="0" algn="ctr">
                <a:buNone/>
              </a:pPr>
              <a:r>
                <a:rPr lang="ko-KR" altLang="en-US" sz="1100" b="1" dirty="0">
                  <a:latin typeface="Pretendard" panose="02000503000000020004" pitchFamily="50" charset="-127"/>
                  <a:ea typeface="Pretendard" panose="02000503000000020004" pitchFamily="50" charset="-127"/>
                  <a:cs typeface="Pretendard" panose="02000503000000020004" pitchFamily="50" charset="-127"/>
                </a:rPr>
                <a:t>응답 데이터 조회</a:t>
              </a:r>
              <a:endParaRPr lang="en-US" sz="1100" b="1"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8" name="Text 15"/>
            <p:cNvSpPr/>
            <p:nvPr/>
          </p:nvSpPr>
          <p:spPr>
            <a:xfrm>
              <a:off x="2289048" y="3178804"/>
              <a:ext cx="292608" cy="1005840"/>
            </a:xfrm>
            <a:prstGeom prst="rect">
              <a:avLst/>
            </a:prstGeom>
            <a:noFill/>
            <a:ln/>
          </p:spPr>
          <p:txBody>
            <a:bodyPr wrap="square" lIns="0" tIns="0" rIns="0" bIns="0" rtlCol="0" anchor="ctr"/>
            <a:lstStyle/>
            <a:p>
              <a:pPr marL="0" indent="0" algn="ctr">
                <a:buNone/>
              </a:pPr>
              <a:r>
                <a:rPr lang="en-US" sz="2600" b="1" dirty="0">
                  <a:solidFill>
                    <a:srgbClr val="1456F0"/>
                  </a:solidFill>
                  <a:latin typeface="Pretendard" panose="02000503000000020004" pitchFamily="50" charset="-127"/>
                  <a:ea typeface="Pretendard" panose="02000503000000020004" pitchFamily="50" charset="-127"/>
                  <a:cs typeface="Pretendard" panose="02000503000000020004" pitchFamily="50" charset="-127"/>
                </a:rPr>
                <a:t>›</a:t>
              </a:r>
              <a:endParaRPr lang="en-US" sz="26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9" name="Shape 16"/>
            <p:cNvSpPr/>
            <p:nvPr/>
          </p:nvSpPr>
          <p:spPr>
            <a:xfrm>
              <a:off x="2581656" y="3178804"/>
              <a:ext cx="1603248" cy="1005840"/>
            </a:xfrm>
            <a:prstGeom prst="roundRect">
              <a:avLst>
                <a:gd name="adj" fmla="val 9091"/>
              </a:avLst>
            </a:prstGeom>
            <a:solidFill>
              <a:srgbClr val="EEF4FF"/>
            </a:solidFill>
            <a:ln w="15240">
              <a:solidFill>
                <a:srgbClr val="1456F0"/>
              </a:solidFill>
              <a:prstDash val="solid"/>
            </a:ln>
            <a:effectLst>
              <a:outerShdw blurRad="190500" dist="50800" dir="5400000" algn="bl" rotWithShape="0">
                <a:srgbClr val="2C1E74">
                  <a:alpha val="16000"/>
                </a:srgbClr>
              </a:outerShdw>
            </a:effectLst>
          </p:spPr>
        </p:sp>
        <p:sp>
          <p:nvSpPr>
            <p:cNvPr id="20" name="Shape 17"/>
            <p:cNvSpPr/>
            <p:nvPr/>
          </p:nvSpPr>
          <p:spPr>
            <a:xfrm>
              <a:off x="2746248" y="3288532"/>
              <a:ext cx="1274064" cy="201168"/>
            </a:xfrm>
            <a:prstGeom prst="roundRect">
              <a:avLst>
                <a:gd name="adj" fmla="val 22727"/>
              </a:avLst>
            </a:prstGeom>
            <a:solidFill>
              <a:srgbClr val="1456F0"/>
            </a:solidFill>
            <a:ln w="12700">
              <a:solidFill>
                <a:srgbClr val="1456F0"/>
              </a:solidFill>
              <a:prstDash val="solid"/>
            </a:ln>
          </p:spPr>
        </p:sp>
        <p:sp>
          <p:nvSpPr>
            <p:cNvPr id="21" name="Text 18"/>
            <p:cNvSpPr/>
            <p:nvPr/>
          </p:nvSpPr>
          <p:spPr>
            <a:xfrm>
              <a:off x="2746248" y="3288532"/>
              <a:ext cx="1274064" cy="201168"/>
            </a:xfrm>
            <a:prstGeom prst="rect">
              <a:avLst/>
            </a:prstGeom>
            <a:noFill/>
            <a:ln/>
          </p:spPr>
          <p:txBody>
            <a:bodyPr wrap="square" lIns="0" tIns="0" rIns="0" bIns="0" rtlCol="0" anchor="ctr"/>
            <a:lstStyle/>
            <a:p>
              <a:pPr marL="0" indent="0" algn="ctr">
                <a:buNone/>
              </a:pPr>
              <a:r>
                <a:rPr lang="en-US" sz="850" b="1" kern="0" spc="150" dirty="0">
                  <a:solidFill>
                    <a:srgbClr val="FFFFFF"/>
                  </a:solidFill>
                  <a:latin typeface="Pretendard" panose="02000503000000020004" pitchFamily="50" charset="-127"/>
                  <a:ea typeface="Pretendard" panose="02000503000000020004" pitchFamily="50" charset="-127"/>
                  <a:cs typeface="Pretendard" panose="02000503000000020004" pitchFamily="50" charset="-127"/>
                </a:rPr>
                <a:t>PROCESSOR</a:t>
              </a:r>
              <a:endParaRPr lang="en-US" sz="85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2" name="Text 19"/>
            <p:cNvSpPr/>
            <p:nvPr/>
          </p:nvSpPr>
          <p:spPr>
            <a:xfrm>
              <a:off x="2673096" y="3709156"/>
              <a:ext cx="1420368" cy="256032"/>
            </a:xfrm>
            <a:prstGeom prst="rect">
              <a:avLst/>
            </a:prstGeom>
            <a:noFill/>
            <a:ln/>
          </p:spPr>
          <p:txBody>
            <a:bodyPr wrap="square" lIns="0" tIns="0" rIns="0" bIns="0" rtlCol="0" anchor="t"/>
            <a:lstStyle/>
            <a:p>
              <a:pPr algn="ctr"/>
              <a:r>
                <a:rPr lang="ko-KR" altLang="en-US" sz="1100" b="1" dirty="0">
                  <a:latin typeface="Pretendard" panose="02000503000000020004" pitchFamily="50" charset="-127"/>
                  <a:ea typeface="Pretendard" panose="02000503000000020004" pitchFamily="50" charset="-127"/>
                  <a:cs typeface="Pretendard" panose="02000503000000020004" pitchFamily="50" charset="-127"/>
                </a:rPr>
                <a:t>문항 유형별 통계 집계 </a:t>
              </a:r>
              <a:endParaRPr lang="en-US" sz="1100" b="1"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4" name="Text 21"/>
            <p:cNvSpPr/>
            <p:nvPr/>
          </p:nvSpPr>
          <p:spPr>
            <a:xfrm>
              <a:off x="4184904" y="3178804"/>
              <a:ext cx="292608" cy="1005840"/>
            </a:xfrm>
            <a:prstGeom prst="rect">
              <a:avLst/>
            </a:prstGeom>
            <a:noFill/>
            <a:ln/>
          </p:spPr>
          <p:txBody>
            <a:bodyPr wrap="square" lIns="0" tIns="0" rIns="0" bIns="0" rtlCol="0" anchor="ctr"/>
            <a:lstStyle/>
            <a:p>
              <a:pPr marL="0" indent="0" algn="ctr">
                <a:buNone/>
              </a:pPr>
              <a:r>
                <a:rPr lang="en-US" sz="2600" b="1" dirty="0">
                  <a:solidFill>
                    <a:srgbClr val="1456F0"/>
                  </a:solidFill>
                  <a:latin typeface="Pretendard" panose="02000503000000020004" pitchFamily="50" charset="-127"/>
                  <a:ea typeface="Pretendard" panose="02000503000000020004" pitchFamily="50" charset="-127"/>
                  <a:cs typeface="Pretendard" panose="02000503000000020004" pitchFamily="50" charset="-127"/>
                </a:rPr>
                <a:t>›</a:t>
              </a:r>
              <a:endParaRPr lang="en-US" sz="26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5" name="Shape 22"/>
            <p:cNvSpPr/>
            <p:nvPr/>
          </p:nvSpPr>
          <p:spPr>
            <a:xfrm>
              <a:off x="4477512" y="3178804"/>
              <a:ext cx="1603248" cy="1005840"/>
            </a:xfrm>
            <a:prstGeom prst="roundRect">
              <a:avLst>
                <a:gd name="adj" fmla="val 9091"/>
              </a:avLst>
            </a:prstGeom>
            <a:solidFill>
              <a:srgbClr val="FDEEF8"/>
            </a:solidFill>
            <a:ln w="6350">
              <a:solidFill>
                <a:srgbClr val="EA5EC1"/>
              </a:solidFill>
              <a:prstDash val="solid"/>
            </a:ln>
          </p:spPr>
        </p:sp>
        <p:sp>
          <p:nvSpPr>
            <p:cNvPr id="26" name="Shape 23"/>
            <p:cNvSpPr/>
            <p:nvPr/>
          </p:nvSpPr>
          <p:spPr>
            <a:xfrm>
              <a:off x="4642104" y="3288532"/>
              <a:ext cx="1274064" cy="201168"/>
            </a:xfrm>
            <a:prstGeom prst="roundRect">
              <a:avLst>
                <a:gd name="adj" fmla="val 22727"/>
              </a:avLst>
            </a:prstGeom>
            <a:solidFill>
              <a:srgbClr val="EA5EC1"/>
            </a:solidFill>
            <a:ln w="12700">
              <a:solidFill>
                <a:srgbClr val="EA5EC1"/>
              </a:solidFill>
              <a:prstDash val="solid"/>
            </a:ln>
          </p:spPr>
        </p:sp>
        <p:sp>
          <p:nvSpPr>
            <p:cNvPr id="27" name="Text 24"/>
            <p:cNvSpPr/>
            <p:nvPr/>
          </p:nvSpPr>
          <p:spPr>
            <a:xfrm>
              <a:off x="4642104" y="3288532"/>
              <a:ext cx="1274064" cy="201168"/>
            </a:xfrm>
            <a:prstGeom prst="rect">
              <a:avLst/>
            </a:prstGeom>
            <a:noFill/>
            <a:ln/>
          </p:spPr>
          <p:txBody>
            <a:bodyPr wrap="square" lIns="0" tIns="0" rIns="0" bIns="0" rtlCol="0" anchor="ctr"/>
            <a:lstStyle/>
            <a:p>
              <a:pPr marL="0" indent="0" algn="ctr">
                <a:buNone/>
              </a:pPr>
              <a:r>
                <a:rPr lang="en-US" sz="850" b="1" kern="0" spc="150" dirty="0">
                  <a:solidFill>
                    <a:srgbClr val="FFFFFF"/>
                  </a:solidFill>
                  <a:latin typeface="Pretendard" panose="02000503000000020004" pitchFamily="50" charset="-127"/>
                  <a:ea typeface="Pretendard" panose="02000503000000020004" pitchFamily="50" charset="-127"/>
                  <a:cs typeface="Pretendard" panose="02000503000000020004" pitchFamily="50" charset="-127"/>
                </a:rPr>
                <a:t>WRITER</a:t>
              </a:r>
              <a:endParaRPr lang="en-US" sz="85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8" name="Text 25"/>
            <p:cNvSpPr/>
            <p:nvPr/>
          </p:nvSpPr>
          <p:spPr>
            <a:xfrm>
              <a:off x="4568952" y="3697876"/>
              <a:ext cx="1420368" cy="256032"/>
            </a:xfrm>
            <a:prstGeom prst="rect">
              <a:avLst/>
            </a:prstGeom>
            <a:noFill/>
            <a:ln/>
          </p:spPr>
          <p:txBody>
            <a:bodyPr wrap="square" lIns="0" tIns="0" rIns="0" bIns="0" rtlCol="0" anchor="t"/>
            <a:lstStyle/>
            <a:p>
              <a:pPr algn="ctr"/>
              <a:r>
                <a:rPr lang="ko-KR" altLang="en-US" sz="1100" b="1" dirty="0">
                  <a:latin typeface="Pretendard" panose="02000503000000020004" pitchFamily="50" charset="-127"/>
                  <a:ea typeface="Pretendard" panose="02000503000000020004" pitchFamily="50" charset="-127"/>
                  <a:cs typeface="Pretendard" panose="02000503000000020004" pitchFamily="50" charset="-127"/>
                </a:rPr>
                <a:t>통계 테이블 갱신 </a:t>
              </a:r>
              <a:endParaRPr lang="en-US" sz="1100" b="1"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0" name="Shape 27"/>
            <p:cNvSpPr/>
            <p:nvPr/>
          </p:nvSpPr>
          <p:spPr>
            <a:xfrm>
              <a:off x="685800" y="4413244"/>
              <a:ext cx="2560320" cy="777240"/>
            </a:xfrm>
            <a:prstGeom prst="roundRect">
              <a:avLst>
                <a:gd name="adj" fmla="val 9412"/>
              </a:avLst>
            </a:prstGeom>
            <a:solidFill>
              <a:srgbClr val="FFFFFF"/>
            </a:solidFill>
            <a:ln w="6350">
              <a:solidFill>
                <a:srgbClr val="E5E7EB"/>
              </a:solidFill>
              <a:prstDash val="solid"/>
            </a:ln>
          </p:spPr>
        </p:sp>
        <p:sp>
          <p:nvSpPr>
            <p:cNvPr id="31" name="Text 28"/>
            <p:cNvSpPr/>
            <p:nvPr/>
          </p:nvSpPr>
          <p:spPr>
            <a:xfrm>
              <a:off x="777240" y="4486396"/>
              <a:ext cx="2377440" cy="164592"/>
            </a:xfrm>
            <a:prstGeom prst="rect">
              <a:avLst/>
            </a:prstGeom>
            <a:noFill/>
            <a:ln/>
          </p:spPr>
          <p:txBody>
            <a:bodyPr wrap="square" lIns="0" tIns="0" rIns="0" bIns="0" rtlCol="0" anchor="t"/>
            <a:lstStyle/>
            <a:p>
              <a:pPr marL="0" indent="0" algn="l">
                <a:buNone/>
              </a:pPr>
              <a:r>
                <a:rPr lang="en-US" sz="800" b="1" kern="0" spc="15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CLIENT</a:t>
              </a:r>
              <a:endParaRPr lang="en-US" sz="8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2" name="Text 29"/>
            <p:cNvSpPr/>
            <p:nvPr/>
          </p:nvSpPr>
          <p:spPr>
            <a:xfrm>
              <a:off x="777240" y="4650988"/>
              <a:ext cx="2377440" cy="219456"/>
            </a:xfrm>
            <a:prstGeom prst="rect">
              <a:avLst/>
            </a:prstGeom>
            <a:noFill/>
            <a:ln/>
          </p:spPr>
          <p:txBody>
            <a:bodyPr wrap="square" lIns="0" tIns="0" rIns="0" bIns="0" rtlCol="0" anchor="t"/>
            <a:lstStyle/>
            <a:p>
              <a:r>
                <a:rPr lang="en-US" sz="1000" b="1"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2</a:t>
              </a:r>
              <a:r>
                <a:rPr lang="ko-KR" altLang="en-US" sz="1000" b="1"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초 마다 </a:t>
              </a:r>
              <a:r>
                <a:rPr lang="en-US" altLang="ko-KR" sz="1000" dirty="0">
                  <a:latin typeface="Pretendard" panose="02000503000000020004" pitchFamily="50" charset="-127"/>
                  <a:ea typeface="Pretendard" panose="02000503000000020004" pitchFamily="50" charset="-127"/>
                  <a:cs typeface="Pretendard" panose="02000503000000020004" pitchFamily="50" charset="-127"/>
                </a:rPr>
                <a:t>polling</a:t>
              </a:r>
              <a:r>
                <a:rPr lang="ko-KR" altLang="en-US" sz="1000" dirty="0">
                  <a:latin typeface="Pretendard" panose="02000503000000020004" pitchFamily="50" charset="-127"/>
                  <a:ea typeface="Pretendard" panose="02000503000000020004" pitchFamily="50" charset="-127"/>
                  <a:cs typeface="Pretendard" panose="02000503000000020004" pitchFamily="50" charset="-127"/>
                </a:rPr>
                <a:t>으로 완료 확인 </a:t>
              </a:r>
              <a:endParaRPr lang="en-US" sz="1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3" name="Text 30"/>
            <p:cNvSpPr/>
            <p:nvPr/>
          </p:nvSpPr>
          <p:spPr>
            <a:xfrm>
              <a:off x="777240" y="4870444"/>
              <a:ext cx="2377440" cy="201168"/>
            </a:xfrm>
            <a:prstGeom prst="rect">
              <a:avLst/>
            </a:prstGeom>
            <a:noFill/>
            <a:ln/>
          </p:spPr>
          <p:txBody>
            <a:bodyPr wrap="square" lIns="0" tIns="0" rIns="0" bIns="0" rtlCol="0" anchor="t"/>
            <a:lstStyle/>
            <a:p>
              <a:r>
                <a:rPr lang="ko-KR" altLang="en-US" sz="900" dirty="0">
                  <a:latin typeface="Pretendard" panose="02000503000000020004" pitchFamily="50" charset="-127"/>
                  <a:ea typeface="Pretendard" panose="02000503000000020004" pitchFamily="50" charset="-127"/>
                  <a:cs typeface="Pretendard" panose="02000503000000020004" pitchFamily="50" charset="-127"/>
                </a:rPr>
                <a:t>최신 통계 화면 조회</a:t>
              </a:r>
              <a:endParaRPr lang="en-US" sz="85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4" name="Text 31"/>
            <p:cNvSpPr/>
            <p:nvPr/>
          </p:nvSpPr>
          <p:spPr>
            <a:xfrm>
              <a:off x="3246120" y="4413244"/>
              <a:ext cx="274320" cy="777240"/>
            </a:xfrm>
            <a:prstGeom prst="rect">
              <a:avLst/>
            </a:prstGeom>
            <a:noFill/>
            <a:ln/>
          </p:spPr>
          <p:txBody>
            <a:bodyPr wrap="square" lIns="0" tIns="0" rIns="0" bIns="0" rtlCol="0" anchor="ctr"/>
            <a:lstStyle/>
            <a:p>
              <a:pPr marL="0" indent="0" algn="ctr">
                <a:buNone/>
              </a:pPr>
              <a:r>
                <a:rPr lang="en-US" sz="1600" b="1" dirty="0">
                  <a:solidFill>
                    <a:srgbClr val="1456F0"/>
                  </a:solidFill>
                  <a:latin typeface="Pretendard" panose="02000503000000020004" pitchFamily="50" charset="-127"/>
                  <a:ea typeface="Pretendard" panose="02000503000000020004" pitchFamily="50" charset="-127"/>
                  <a:cs typeface="Pretendard" panose="02000503000000020004" pitchFamily="50" charset="-127"/>
                </a:rPr>
                <a:t>⇄</a:t>
              </a:r>
              <a:endParaRPr lang="en-US" sz="16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5" name="Shape 32"/>
            <p:cNvSpPr/>
            <p:nvPr/>
          </p:nvSpPr>
          <p:spPr>
            <a:xfrm>
              <a:off x="3520440" y="4413244"/>
              <a:ext cx="2560320" cy="777240"/>
            </a:xfrm>
            <a:prstGeom prst="roundRect">
              <a:avLst>
                <a:gd name="adj" fmla="val 9412"/>
              </a:avLst>
            </a:prstGeom>
            <a:solidFill>
              <a:srgbClr val="EEF4FF"/>
            </a:solidFill>
            <a:ln w="6350">
              <a:solidFill>
                <a:srgbClr val="BFDBFE"/>
              </a:solidFill>
              <a:prstDash val="solid"/>
            </a:ln>
          </p:spPr>
        </p:sp>
        <p:sp>
          <p:nvSpPr>
            <p:cNvPr id="36" name="Text 33"/>
            <p:cNvSpPr/>
            <p:nvPr/>
          </p:nvSpPr>
          <p:spPr>
            <a:xfrm>
              <a:off x="3611880" y="4486396"/>
              <a:ext cx="2377440" cy="164592"/>
            </a:xfrm>
            <a:prstGeom prst="rect">
              <a:avLst/>
            </a:prstGeom>
            <a:noFill/>
            <a:ln/>
          </p:spPr>
          <p:txBody>
            <a:bodyPr wrap="square" lIns="0" tIns="0" rIns="0" bIns="0" rtlCol="0" anchor="t"/>
            <a:lstStyle/>
            <a:p>
              <a:pPr marL="0" indent="0" algn="l">
                <a:buNone/>
              </a:pPr>
              <a:r>
                <a:rPr lang="en-US" sz="800" b="1" kern="0" spc="150" dirty="0">
                  <a:solidFill>
                    <a:srgbClr val="1456F0"/>
                  </a:solidFill>
                  <a:latin typeface="Pretendard" panose="02000503000000020004" pitchFamily="50" charset="-127"/>
                  <a:ea typeface="Pretendard" panose="02000503000000020004" pitchFamily="50" charset="-127"/>
                  <a:cs typeface="Pretendard" panose="02000503000000020004" pitchFamily="50" charset="-127"/>
                </a:rPr>
                <a:t>ASYNC</a:t>
              </a:r>
              <a:endParaRPr lang="en-US" sz="8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7" name="Text 34"/>
            <p:cNvSpPr/>
            <p:nvPr/>
          </p:nvSpPr>
          <p:spPr>
            <a:xfrm>
              <a:off x="3611880" y="4650988"/>
              <a:ext cx="2377440" cy="219456"/>
            </a:xfrm>
            <a:prstGeom prst="rect">
              <a:avLst/>
            </a:prstGeom>
            <a:noFill/>
            <a:ln/>
          </p:spPr>
          <p:txBody>
            <a:bodyPr wrap="square" lIns="0" tIns="0" rIns="0" bIns="0" rtlCol="0" anchor="t"/>
            <a:lstStyle/>
            <a:p>
              <a:r>
                <a:rPr lang="ko-KR" altLang="en-US" sz="1000" dirty="0">
                  <a:latin typeface="Pretendard" panose="02000503000000020004" pitchFamily="50" charset="-127"/>
                  <a:ea typeface="Pretendard" panose="02000503000000020004" pitchFamily="50" charset="-127"/>
                  <a:cs typeface="Pretendard" panose="02000503000000020004" pitchFamily="50" charset="-127"/>
                </a:rPr>
                <a:t>집계 요청 즉시 응답 반환</a:t>
              </a:r>
              <a:endParaRPr lang="en-US" sz="1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8" name="Text 35"/>
            <p:cNvSpPr/>
            <p:nvPr/>
          </p:nvSpPr>
          <p:spPr>
            <a:xfrm>
              <a:off x="3611880" y="4870444"/>
              <a:ext cx="2377440" cy="201168"/>
            </a:xfrm>
            <a:prstGeom prst="rect">
              <a:avLst/>
            </a:prstGeom>
            <a:noFill/>
            <a:ln/>
          </p:spPr>
          <p:txBody>
            <a:bodyPr wrap="square" lIns="0" tIns="0" rIns="0" bIns="0" rtlCol="0" anchor="t"/>
            <a:lstStyle/>
            <a:p>
              <a:r>
                <a:rPr lang="ko-KR" altLang="en-US" sz="900" dirty="0">
                  <a:latin typeface="Pretendard" panose="02000503000000020004" pitchFamily="50" charset="-127"/>
                  <a:ea typeface="Pretendard" panose="02000503000000020004" pitchFamily="50" charset="-127"/>
                  <a:cs typeface="Pretendard" panose="02000503000000020004" pitchFamily="50" charset="-127"/>
                </a:rPr>
                <a:t>배치 </a:t>
              </a:r>
              <a:r>
                <a:rPr lang="en-US" altLang="ko-KR" sz="900" dirty="0">
                  <a:latin typeface="Pretendard" panose="02000503000000020004" pitchFamily="50" charset="-127"/>
                  <a:ea typeface="Pretendard" panose="02000503000000020004" pitchFamily="50" charset="-127"/>
                  <a:cs typeface="Pretendard" panose="02000503000000020004" pitchFamily="50" charset="-127"/>
                </a:rPr>
                <a:t>Job </a:t>
              </a:r>
              <a:r>
                <a:rPr lang="ko-KR" altLang="en-US" sz="900" dirty="0">
                  <a:latin typeface="Pretendard" panose="02000503000000020004" pitchFamily="50" charset="-127"/>
                  <a:ea typeface="Pretendard" panose="02000503000000020004" pitchFamily="50" charset="-127"/>
                  <a:cs typeface="Pretendard" panose="02000503000000020004" pitchFamily="50" charset="-127"/>
                </a:rPr>
                <a:t>백그라운드 실행</a:t>
              </a:r>
              <a:endParaRPr lang="en-US" sz="85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90" name="Shape 8">
              <a:extLst>
                <a:ext uri="{FF2B5EF4-FFF2-40B4-BE49-F238E27FC236}">
                  <a16:creationId xmlns:a16="http://schemas.microsoft.com/office/drawing/2014/main" id="{E5BE5AC1-0FDA-40C0-B1BF-AF12387DDA64}"/>
                </a:ext>
              </a:extLst>
            </p:cNvPr>
            <p:cNvSpPr/>
            <p:nvPr/>
          </p:nvSpPr>
          <p:spPr>
            <a:xfrm>
              <a:off x="715625" y="5449045"/>
              <a:ext cx="5394960" cy="274320"/>
            </a:xfrm>
            <a:prstGeom prst="roundRect">
              <a:avLst>
                <a:gd name="adj" fmla="val 20000"/>
              </a:avLst>
            </a:prstGeom>
            <a:solidFill>
              <a:srgbClr val="FFF8E6"/>
            </a:solidFill>
            <a:ln w="6350">
              <a:solidFill>
                <a:srgbClr val="E8D38A"/>
              </a:solidFill>
              <a:prstDash val="solid"/>
            </a:ln>
          </p:spPr>
        </p:sp>
        <p:sp>
          <p:nvSpPr>
            <p:cNvPr id="91" name="Text 9">
              <a:extLst>
                <a:ext uri="{FF2B5EF4-FFF2-40B4-BE49-F238E27FC236}">
                  <a16:creationId xmlns:a16="http://schemas.microsoft.com/office/drawing/2014/main" id="{09A73302-7995-482B-893C-3E8E70480576}"/>
                </a:ext>
              </a:extLst>
            </p:cNvPr>
            <p:cNvSpPr/>
            <p:nvPr/>
          </p:nvSpPr>
          <p:spPr>
            <a:xfrm>
              <a:off x="777240" y="5449045"/>
              <a:ext cx="5212080" cy="274320"/>
            </a:xfrm>
            <a:prstGeom prst="rect">
              <a:avLst/>
            </a:prstGeom>
            <a:noFill/>
            <a:ln/>
          </p:spPr>
          <p:txBody>
            <a:bodyPr wrap="square" lIns="0" tIns="0" rIns="0" bIns="0" rtlCol="0" anchor="ctr"/>
            <a:lstStyle/>
            <a:p>
              <a:r>
                <a:rPr lang="en-US" sz="900" b="1" kern="0" spc="150" dirty="0">
                  <a:solidFill>
                    <a:srgbClr val="B07E1C"/>
                  </a:solidFill>
                  <a:latin typeface="Pretendard" panose="02000503000000020004" pitchFamily="50" charset="-127"/>
                  <a:ea typeface="Pretendard" panose="02000503000000020004" pitchFamily="50" charset="-127"/>
                  <a:cs typeface="Pretendard" panose="02000503000000020004" pitchFamily="50" charset="-127"/>
                </a:rPr>
                <a:t>ON-DEMAND  </a:t>
              </a:r>
              <a:r>
                <a:rPr lang="ko-KR" altLang="en-US" sz="900" kern="0" spc="150" dirty="0">
                  <a:latin typeface="Pretendard" panose="02000503000000020004" pitchFamily="50" charset="-127"/>
                  <a:ea typeface="Pretendard" panose="02000503000000020004" pitchFamily="50" charset="-127"/>
                  <a:cs typeface="Pretendard" panose="02000503000000020004" pitchFamily="50" charset="-127"/>
                </a:rPr>
                <a:t>수동 배치</a:t>
              </a:r>
              <a:endParaRPr lang="en-US" sz="900" dirty="0">
                <a:latin typeface="Pretendard" panose="02000503000000020004" pitchFamily="50" charset="-127"/>
                <a:ea typeface="Pretendard" panose="02000503000000020004" pitchFamily="50" charset="-127"/>
                <a:cs typeface="Pretendard" panose="02000503000000020004" pitchFamily="50" charset="-127"/>
              </a:endParaRPr>
            </a:p>
          </p:txBody>
        </p:sp>
      </p:grpSp>
      <p:sp>
        <p:nvSpPr>
          <p:cNvPr id="73" name="Shape 11">
            <a:extLst>
              <a:ext uri="{FF2B5EF4-FFF2-40B4-BE49-F238E27FC236}">
                <a16:creationId xmlns:a16="http://schemas.microsoft.com/office/drawing/2014/main" id="{44174CC9-1F70-4689-94E7-5DB469EF1483}"/>
              </a:ext>
            </a:extLst>
          </p:cNvPr>
          <p:cNvSpPr/>
          <p:nvPr/>
        </p:nvSpPr>
        <p:spPr>
          <a:xfrm>
            <a:off x="446658" y="1952730"/>
            <a:ext cx="5455768" cy="4162252"/>
          </a:xfrm>
          <a:prstGeom prst="roundRect">
            <a:avLst>
              <a:gd name="adj" fmla="val 8000"/>
            </a:avLst>
          </a:prstGeom>
          <a:solidFill>
            <a:srgbClr val="F8F9FB"/>
          </a:solidFill>
          <a:ln w="12700">
            <a:solidFill>
              <a:srgbClr val="E5E7EB"/>
            </a:solidFill>
            <a:prstDash val="solid"/>
          </a:ln>
          <a:effectLst>
            <a:outerShdw blurRad="76200" dist="25400" dir="5400000" algn="bl" rotWithShape="0">
              <a:srgbClr val="000000">
                <a:alpha val="8000"/>
              </a:srgbClr>
            </a:outerShdw>
          </a:effectLst>
        </p:spPr>
        <p:txBody>
          <a:bodyPr/>
          <a:lstStyle/>
          <a:p>
            <a:endParaRPr lang="ko-KR" altLang="en-US" dirty="0"/>
          </a:p>
        </p:txBody>
      </p:sp>
      <p:sp>
        <p:nvSpPr>
          <p:cNvPr id="80" name="Shape 12">
            <a:extLst>
              <a:ext uri="{FF2B5EF4-FFF2-40B4-BE49-F238E27FC236}">
                <a16:creationId xmlns:a16="http://schemas.microsoft.com/office/drawing/2014/main" id="{5811E789-8697-4B5A-8830-F218CDA6ACAA}"/>
              </a:ext>
            </a:extLst>
          </p:cNvPr>
          <p:cNvSpPr/>
          <p:nvPr/>
        </p:nvSpPr>
        <p:spPr>
          <a:xfrm>
            <a:off x="446658" y="1952731"/>
            <a:ext cx="5455768" cy="329184"/>
          </a:xfrm>
          <a:prstGeom prst="rect">
            <a:avLst/>
          </a:prstGeom>
          <a:solidFill>
            <a:srgbClr val="EEF0F3"/>
          </a:solidFill>
          <a:ln w="12700">
            <a:solidFill>
              <a:srgbClr val="E5E7EB"/>
            </a:solidFill>
            <a:prstDash val="solid"/>
          </a:ln>
        </p:spPr>
      </p:sp>
      <p:sp>
        <p:nvSpPr>
          <p:cNvPr id="81" name="Shape 13">
            <a:extLst>
              <a:ext uri="{FF2B5EF4-FFF2-40B4-BE49-F238E27FC236}">
                <a16:creationId xmlns:a16="http://schemas.microsoft.com/office/drawing/2014/main" id="{F76C3861-65D4-45DF-A8F1-7BB50C251728}"/>
              </a:ext>
            </a:extLst>
          </p:cNvPr>
          <p:cNvSpPr/>
          <p:nvPr/>
        </p:nvSpPr>
        <p:spPr>
          <a:xfrm>
            <a:off x="554862" y="2067031"/>
            <a:ext cx="118872" cy="118872"/>
          </a:xfrm>
          <a:prstGeom prst="ellipse">
            <a:avLst/>
          </a:prstGeom>
          <a:solidFill>
            <a:srgbClr val="E0826B"/>
          </a:solidFill>
          <a:ln w="12700">
            <a:solidFill>
              <a:srgbClr val="E0826B"/>
            </a:solidFill>
            <a:prstDash val="solid"/>
          </a:ln>
        </p:spPr>
      </p:sp>
      <p:sp>
        <p:nvSpPr>
          <p:cNvPr id="83" name="Shape 14">
            <a:extLst>
              <a:ext uri="{FF2B5EF4-FFF2-40B4-BE49-F238E27FC236}">
                <a16:creationId xmlns:a16="http://schemas.microsoft.com/office/drawing/2014/main" id="{CE6204E4-9760-4EF7-A334-84ABDDAE3209}"/>
              </a:ext>
            </a:extLst>
          </p:cNvPr>
          <p:cNvSpPr/>
          <p:nvPr/>
        </p:nvSpPr>
        <p:spPr>
          <a:xfrm>
            <a:off x="710310" y="2067031"/>
            <a:ext cx="118872" cy="118872"/>
          </a:xfrm>
          <a:prstGeom prst="ellipse">
            <a:avLst/>
          </a:prstGeom>
          <a:solidFill>
            <a:srgbClr val="E3C66D"/>
          </a:solidFill>
          <a:ln w="12700">
            <a:solidFill>
              <a:srgbClr val="E3C66D"/>
            </a:solidFill>
            <a:prstDash val="solid"/>
          </a:ln>
        </p:spPr>
      </p:sp>
      <p:sp>
        <p:nvSpPr>
          <p:cNvPr id="84" name="Shape 15">
            <a:extLst>
              <a:ext uri="{FF2B5EF4-FFF2-40B4-BE49-F238E27FC236}">
                <a16:creationId xmlns:a16="http://schemas.microsoft.com/office/drawing/2014/main" id="{A49EC0AF-E510-47DD-81AF-E100E5018885}"/>
              </a:ext>
            </a:extLst>
          </p:cNvPr>
          <p:cNvSpPr/>
          <p:nvPr/>
        </p:nvSpPr>
        <p:spPr>
          <a:xfrm>
            <a:off x="865758" y="2067031"/>
            <a:ext cx="118872" cy="118872"/>
          </a:xfrm>
          <a:prstGeom prst="ellipse">
            <a:avLst/>
          </a:prstGeom>
          <a:solidFill>
            <a:srgbClr val="9DC97A"/>
          </a:solidFill>
          <a:ln w="12700">
            <a:solidFill>
              <a:srgbClr val="9DC97A"/>
            </a:solidFill>
            <a:prstDash val="solid"/>
          </a:ln>
        </p:spPr>
      </p:sp>
      <p:sp>
        <p:nvSpPr>
          <p:cNvPr id="85" name="Shape 16">
            <a:extLst>
              <a:ext uri="{FF2B5EF4-FFF2-40B4-BE49-F238E27FC236}">
                <a16:creationId xmlns:a16="http://schemas.microsoft.com/office/drawing/2014/main" id="{8E212DDB-B638-48E3-870E-5C847C42A348}"/>
              </a:ext>
            </a:extLst>
          </p:cNvPr>
          <p:cNvSpPr/>
          <p:nvPr/>
        </p:nvSpPr>
        <p:spPr>
          <a:xfrm>
            <a:off x="1112646" y="2039599"/>
            <a:ext cx="4587088" cy="182880"/>
          </a:xfrm>
          <a:prstGeom prst="roundRect">
            <a:avLst>
              <a:gd name="adj" fmla="val 20000"/>
            </a:avLst>
          </a:prstGeom>
          <a:solidFill>
            <a:srgbClr val="FFFFFF"/>
          </a:solidFill>
          <a:ln w="6350">
            <a:solidFill>
              <a:srgbClr val="E5E7EB"/>
            </a:solidFill>
            <a:prstDash val="solid"/>
          </a:ln>
        </p:spPr>
      </p:sp>
      <p:sp>
        <p:nvSpPr>
          <p:cNvPr id="86" name="Text 17">
            <a:extLst>
              <a:ext uri="{FF2B5EF4-FFF2-40B4-BE49-F238E27FC236}">
                <a16:creationId xmlns:a16="http://schemas.microsoft.com/office/drawing/2014/main" id="{7375A476-EBC9-4BC3-AB96-9909C40EA386}"/>
              </a:ext>
            </a:extLst>
          </p:cNvPr>
          <p:cNvSpPr/>
          <p:nvPr/>
        </p:nvSpPr>
        <p:spPr>
          <a:xfrm>
            <a:off x="1158366" y="2039599"/>
            <a:ext cx="4495648" cy="182880"/>
          </a:xfrm>
          <a:prstGeom prst="rect">
            <a:avLst/>
          </a:prstGeom>
          <a:noFill/>
          <a:ln/>
        </p:spPr>
        <p:txBody>
          <a:bodyPr wrap="square" lIns="0" tIns="0" rIns="0" bIns="0" rtlCol="0" anchor="ctr"/>
          <a:lstStyle/>
          <a:p>
            <a:r>
              <a:rPr lang="ko-KR" altLang="en-US" sz="9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엑셀 내보내기 </a:t>
            </a:r>
            <a:r>
              <a:rPr lang="en-US" altLang="ko-KR" sz="900" dirty="0" err="1">
                <a:solidFill>
                  <a:srgbClr val="8E8E93"/>
                </a:solidFill>
                <a:latin typeface="Pretendard" panose="02000503000000020004" pitchFamily="50" charset="-127"/>
                <a:ea typeface="Pretendard" panose="02000503000000020004" pitchFamily="50" charset="-127"/>
                <a:cs typeface="Pretendard" panose="02000503000000020004" pitchFamily="50" charset="-127"/>
              </a:rPr>
              <a:t>내역</a:t>
            </a:r>
            <a:r>
              <a:rPr lang="en-US" altLang="ko-KR" sz="9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 — </a:t>
            </a:r>
            <a:r>
              <a:rPr lang="ko-KR" altLang="en-US" sz="9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이력 </a:t>
            </a:r>
            <a:r>
              <a:rPr lang="en-US" altLang="ko-KR" sz="900" dirty="0" err="1">
                <a:solidFill>
                  <a:srgbClr val="8E8E93"/>
                </a:solidFill>
                <a:latin typeface="Pretendard" panose="02000503000000020004" pitchFamily="50" charset="-127"/>
                <a:ea typeface="Pretendard" panose="02000503000000020004" pitchFamily="50" charset="-127"/>
                <a:cs typeface="Pretendard" panose="02000503000000020004" pitchFamily="50" charset="-127"/>
              </a:rPr>
              <a:t>개별</a:t>
            </a:r>
            <a:r>
              <a:rPr lang="en-US" altLang="ko-KR" sz="9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 </a:t>
            </a:r>
            <a:r>
              <a:rPr lang="en-US" altLang="ko-KR" sz="900" dirty="0" err="1">
                <a:solidFill>
                  <a:srgbClr val="8E8E93"/>
                </a:solidFill>
                <a:latin typeface="Pretendard" panose="02000503000000020004" pitchFamily="50" charset="-127"/>
                <a:ea typeface="Pretendard" panose="02000503000000020004" pitchFamily="50" charset="-127"/>
                <a:cs typeface="Pretendard" panose="02000503000000020004" pitchFamily="50" charset="-127"/>
              </a:rPr>
              <a:t>조회</a:t>
            </a:r>
            <a:endParaRPr lang="en-US" altLang="ko-KR" sz="900" dirty="0">
              <a:latin typeface="Pretendard" panose="02000503000000020004" pitchFamily="50" charset="-127"/>
              <a:ea typeface="Pretendard" panose="02000503000000020004" pitchFamily="50" charset="-127"/>
              <a:cs typeface="Pretendard" panose="02000503000000020004" pitchFamily="50" charset="-127"/>
            </a:endParaRPr>
          </a:p>
        </p:txBody>
      </p:sp>
      <p:pic>
        <p:nvPicPr>
          <p:cNvPr id="29" name="그림 28">
            <a:extLst>
              <a:ext uri="{FF2B5EF4-FFF2-40B4-BE49-F238E27FC236}">
                <a16:creationId xmlns:a16="http://schemas.microsoft.com/office/drawing/2014/main" id="{F518E433-7AB0-4D3E-87A7-0DAE473D48F0}"/>
              </a:ext>
            </a:extLst>
          </p:cNvPr>
          <p:cNvPicPr>
            <a:picLocks noChangeAspect="1"/>
          </p:cNvPicPr>
          <p:nvPr/>
        </p:nvPicPr>
        <p:blipFill rotWithShape="1">
          <a:blip r:embed="rId4"/>
          <a:srcRect l="7291" t="18367" r="7380" b="43177"/>
          <a:stretch/>
        </p:blipFill>
        <p:spPr>
          <a:xfrm>
            <a:off x="457200" y="2480804"/>
            <a:ext cx="5435982" cy="1403839"/>
          </a:xfrm>
          <a:prstGeom prst="rect">
            <a:avLst/>
          </a:prstGeom>
        </p:spPr>
      </p:pic>
      <p:pic>
        <p:nvPicPr>
          <p:cNvPr id="39" name="그림 38">
            <a:extLst>
              <a:ext uri="{FF2B5EF4-FFF2-40B4-BE49-F238E27FC236}">
                <a16:creationId xmlns:a16="http://schemas.microsoft.com/office/drawing/2014/main" id="{251415B5-A731-4A92-BA58-FD7E85FFDB0E}"/>
              </a:ext>
            </a:extLst>
          </p:cNvPr>
          <p:cNvPicPr>
            <a:picLocks noChangeAspect="1"/>
          </p:cNvPicPr>
          <p:nvPr/>
        </p:nvPicPr>
        <p:blipFill rotWithShape="1">
          <a:blip r:embed="rId5"/>
          <a:srcRect l="7729" t="55835" r="7200" b="13333"/>
          <a:stretch/>
        </p:blipFill>
        <p:spPr>
          <a:xfrm>
            <a:off x="513752" y="3873363"/>
            <a:ext cx="5379430" cy="1110551"/>
          </a:xfrm>
          <a:prstGeom prst="rect">
            <a:avLst/>
          </a:prstGeom>
        </p:spPr>
      </p:pic>
      <p:pic>
        <p:nvPicPr>
          <p:cNvPr id="89" name="그림 88">
            <a:extLst>
              <a:ext uri="{FF2B5EF4-FFF2-40B4-BE49-F238E27FC236}">
                <a16:creationId xmlns:a16="http://schemas.microsoft.com/office/drawing/2014/main" id="{77DC1A15-8F91-4040-8A91-37A0E5F118FB}"/>
              </a:ext>
            </a:extLst>
          </p:cNvPr>
          <p:cNvPicPr>
            <a:picLocks noChangeAspect="1"/>
          </p:cNvPicPr>
          <p:nvPr/>
        </p:nvPicPr>
        <p:blipFill>
          <a:blip r:embed="rId6"/>
          <a:stretch>
            <a:fillRect/>
          </a:stretch>
        </p:blipFill>
        <p:spPr>
          <a:xfrm>
            <a:off x="5770476" y="4057929"/>
            <a:ext cx="323225" cy="323225"/>
          </a:xfrm>
          <a:prstGeom prst="rect">
            <a:avLst/>
          </a:prstGeom>
        </p:spPr>
      </p:pic>
      <p:pic>
        <p:nvPicPr>
          <p:cNvPr id="48" name="그림 47">
            <a:extLst>
              <a:ext uri="{FF2B5EF4-FFF2-40B4-BE49-F238E27FC236}">
                <a16:creationId xmlns:a16="http://schemas.microsoft.com/office/drawing/2014/main" id="{B7989982-49AE-4629-B123-4E84C79FB1A0}"/>
              </a:ext>
            </a:extLst>
          </p:cNvPr>
          <p:cNvPicPr>
            <a:picLocks noChangeAspect="1"/>
          </p:cNvPicPr>
          <p:nvPr/>
        </p:nvPicPr>
        <p:blipFill rotWithShape="1">
          <a:blip r:embed="rId7"/>
          <a:srcRect l="6413" t="20437" r="7103" b="15238"/>
          <a:stretch/>
        </p:blipFill>
        <p:spPr>
          <a:xfrm>
            <a:off x="456550" y="3894660"/>
            <a:ext cx="5436632" cy="2151578"/>
          </a:xfrm>
          <a:prstGeom prst="roundRect">
            <a:avLst>
              <a:gd name="adj" fmla="val 7618"/>
            </a:avLst>
          </a:prstGeom>
        </p:spPr>
      </p:pic>
    </p:spTree>
    <p:extLst>
      <p:ext uri="{BB962C8B-B14F-4D97-AF65-F5344CB8AC3E}">
        <p14:creationId xmlns:p14="http://schemas.microsoft.com/office/powerpoint/2010/main" val="383210324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89"/>
                                        </p:tgtEl>
                                        <p:attrNameLst>
                                          <p:attrName>style.visibility</p:attrName>
                                        </p:attrNameLst>
                                      </p:cBhvr>
                                      <p:to>
                                        <p:strVal val="hidden"/>
                                      </p:to>
                                    </p:set>
                                  </p:childTnLst>
                                </p:cTn>
                              </p:par>
                              <p:par>
                                <p:cTn id="11" presetID="1" presetClass="entr" presetSubtype="0" fill="hold" nodeType="withEffect">
                                  <p:stCondLst>
                                    <p:cond delay="0"/>
                                  </p:stCondLst>
                                  <p:childTnLst>
                                    <p:set>
                                      <p:cBhvr>
                                        <p:cTn id="12" dur="1" fill="hold">
                                          <p:stCondLst>
                                            <p:cond delay="0"/>
                                          </p:stCondLst>
                                        </p:cTn>
                                        <p:tgtEl>
                                          <p:spTgt spid="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365760"/>
            <a:ext cx="5486400" cy="274320"/>
          </a:xfrm>
          <a:prstGeom prst="rect">
            <a:avLst/>
          </a:prstGeom>
          <a:noFill/>
          <a:ln/>
        </p:spPr>
        <p:txBody>
          <a:bodyPr wrap="square" lIns="0" tIns="0" rIns="0" bIns="0" rtlCol="0" anchor="ctr"/>
          <a:lstStyle/>
          <a:p>
            <a:r>
              <a:rPr lang="en-US" sz="12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06. </a:t>
            </a:r>
            <a:r>
              <a:rPr lang="ko-KR" altLang="en-US" sz="12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핵심 구현 및 시스템 개선</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pic>
        <p:nvPicPr>
          <p:cNvPr id="3" name="Image 0" descr="Woongjin_logo_transparent.png"/>
          <p:cNvPicPr>
            <a:picLocks noChangeAspect="1"/>
          </p:cNvPicPr>
          <p:nvPr/>
        </p:nvPicPr>
        <p:blipFill>
          <a:blip r:embed="rId3"/>
          <a:stretch>
            <a:fillRect/>
          </a:stretch>
        </p:blipFill>
        <p:spPr>
          <a:xfrm>
            <a:off x="10911535" y="262890"/>
            <a:ext cx="822960" cy="480060"/>
          </a:xfrm>
          <a:prstGeom prst="rect">
            <a:avLst/>
          </a:prstGeom>
        </p:spPr>
      </p:pic>
      <p:sp>
        <p:nvSpPr>
          <p:cNvPr id="4" name="Text 1"/>
          <p:cNvSpPr/>
          <p:nvPr/>
        </p:nvSpPr>
        <p:spPr>
          <a:xfrm>
            <a:off x="457200" y="6446520"/>
            <a:ext cx="2743200" cy="228600"/>
          </a:xfrm>
          <a:prstGeom prst="rect">
            <a:avLst/>
          </a:prstGeom>
          <a:noFill/>
          <a:ln/>
        </p:spPr>
        <p:txBody>
          <a:bodyPr wrap="square" lIns="0" tIns="0" rIns="0" bIns="0" rtlCol="0" anchor="ctr"/>
          <a:lstStyle/>
          <a:p>
            <a:pPr marL="0" indent="0" algn="l">
              <a:buNone/>
            </a:pPr>
            <a:r>
              <a:rPr lang="en-US" sz="10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13</a:t>
            </a:r>
            <a:endParaRPr lang="en-US" sz="1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6" name="Text 3"/>
          <p:cNvSpPr/>
          <p:nvPr/>
        </p:nvSpPr>
        <p:spPr>
          <a:xfrm>
            <a:off x="457200" y="914400"/>
            <a:ext cx="11277295" cy="685800"/>
          </a:xfrm>
          <a:prstGeom prst="rect">
            <a:avLst/>
          </a:prstGeom>
          <a:noFill/>
          <a:ln/>
        </p:spPr>
        <p:txBody>
          <a:bodyPr wrap="square" lIns="0" tIns="0" rIns="0" bIns="0" rtlCol="0" anchor="t"/>
          <a:lstStyle/>
          <a:p>
            <a:r>
              <a:rPr lang="ko-KR" altLang="en-US" sz="2400" b="1" dirty="0">
                <a:latin typeface="Pretendard" panose="02000503000000020004" pitchFamily="50" charset="-127"/>
                <a:ea typeface="Pretendard" panose="02000503000000020004" pitchFamily="50" charset="-127"/>
                <a:cs typeface="Pretendard" panose="02000503000000020004" pitchFamily="50" charset="-127"/>
              </a:rPr>
              <a:t>설문</a:t>
            </a:r>
            <a:r>
              <a:rPr lang="en-US" altLang="ko-KR" sz="2400" b="1" dirty="0">
                <a:latin typeface="Pretendard" panose="02000503000000020004" pitchFamily="50" charset="-127"/>
                <a:ea typeface="Pretendard" panose="02000503000000020004" pitchFamily="50" charset="-127"/>
                <a:cs typeface="Pretendard" panose="02000503000000020004" pitchFamily="50" charset="-127"/>
              </a:rPr>
              <a:t> </a:t>
            </a:r>
            <a:r>
              <a:rPr lang="ko-KR" altLang="en-US" sz="2400" b="1" dirty="0">
                <a:latin typeface="Pretendard" panose="02000503000000020004" pitchFamily="50" charset="-127"/>
                <a:ea typeface="Pretendard" panose="02000503000000020004" pitchFamily="50" charset="-127"/>
                <a:cs typeface="Pretendard" panose="02000503000000020004" pitchFamily="50" charset="-127"/>
              </a:rPr>
              <a:t>자동 저장 및 이어하기 </a:t>
            </a:r>
            <a:endParaRPr lang="en-US" sz="2400" b="1"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7" name="Text 4"/>
          <p:cNvSpPr/>
          <p:nvPr/>
        </p:nvSpPr>
        <p:spPr>
          <a:xfrm>
            <a:off x="457199" y="1424178"/>
            <a:ext cx="11277295" cy="292608"/>
          </a:xfrm>
          <a:prstGeom prst="rect">
            <a:avLst/>
          </a:prstGeom>
          <a:noFill/>
          <a:ln/>
        </p:spPr>
        <p:txBody>
          <a:bodyPr wrap="square" lIns="0" tIns="0" rIns="0" bIns="0" rtlCol="0" anchor="t"/>
          <a:lstStyle/>
          <a:p>
            <a:r>
              <a:rPr lang="ko-KR" altLang="en-US" sz="1600" dirty="0">
                <a:solidFill>
                  <a:schemeClr val="bg2">
                    <a:lumMod val="50000"/>
                  </a:schemeClr>
                </a:solidFill>
                <a:latin typeface="Pretendard" panose="02000503000000020004" pitchFamily="50" charset="-127"/>
                <a:ea typeface="Pretendard" panose="02000503000000020004" pitchFamily="50" charset="-127"/>
                <a:cs typeface="Pretendard" panose="02000503000000020004" pitchFamily="50" charset="-127"/>
              </a:rPr>
              <a:t>응답 내용을 주기적으로 임시 저장하여</a:t>
            </a:r>
            <a:r>
              <a:rPr lang="en-US" altLang="ko-KR" sz="1600" dirty="0">
                <a:solidFill>
                  <a:schemeClr val="bg2">
                    <a:lumMod val="50000"/>
                  </a:schemeClr>
                </a:solidFill>
                <a:latin typeface="Pretendard" panose="02000503000000020004" pitchFamily="50" charset="-127"/>
                <a:ea typeface="Pretendard" panose="02000503000000020004" pitchFamily="50" charset="-127"/>
                <a:cs typeface="Pretendard" panose="02000503000000020004" pitchFamily="50" charset="-127"/>
              </a:rPr>
              <a:t> </a:t>
            </a:r>
            <a:r>
              <a:rPr lang="ko-KR" altLang="en-US" sz="1600" dirty="0">
                <a:solidFill>
                  <a:schemeClr val="bg2">
                    <a:lumMod val="50000"/>
                  </a:schemeClr>
                </a:solidFill>
                <a:latin typeface="Pretendard" panose="02000503000000020004" pitchFamily="50" charset="-127"/>
                <a:ea typeface="Pretendard" panose="02000503000000020004" pitchFamily="50" charset="-127"/>
                <a:cs typeface="Pretendard" panose="02000503000000020004" pitchFamily="50" charset="-127"/>
              </a:rPr>
              <a:t>페이지 이탈 후에도 이어서 작성할 수 있도록 기능을 추가하였습니다</a:t>
            </a:r>
            <a:r>
              <a:rPr lang="en-US" altLang="ko-KR" sz="1600" dirty="0">
                <a:solidFill>
                  <a:schemeClr val="bg2">
                    <a:lumMod val="50000"/>
                  </a:schemeClr>
                </a:solidFill>
                <a:latin typeface="Pretendard" panose="02000503000000020004" pitchFamily="50" charset="-127"/>
                <a:ea typeface="Pretendard" panose="02000503000000020004" pitchFamily="50" charset="-127"/>
                <a:cs typeface="Pretendard" panose="02000503000000020004" pitchFamily="50" charset="-127"/>
              </a:rPr>
              <a:t>.</a:t>
            </a:r>
          </a:p>
        </p:txBody>
      </p:sp>
      <p:sp>
        <p:nvSpPr>
          <p:cNvPr id="144" name="Text 19">
            <a:extLst>
              <a:ext uri="{FF2B5EF4-FFF2-40B4-BE49-F238E27FC236}">
                <a16:creationId xmlns:a16="http://schemas.microsoft.com/office/drawing/2014/main" id="{918A4D15-048A-4C9C-A5F9-BA3397A95D18}"/>
              </a:ext>
            </a:extLst>
          </p:cNvPr>
          <p:cNvSpPr/>
          <p:nvPr/>
        </p:nvSpPr>
        <p:spPr>
          <a:xfrm>
            <a:off x="457200" y="2025396"/>
            <a:ext cx="914400" cy="201168"/>
          </a:xfrm>
          <a:prstGeom prst="rect">
            <a:avLst/>
          </a:prstGeom>
          <a:noFill/>
          <a:ln/>
        </p:spPr>
        <p:txBody>
          <a:bodyPr wrap="square" lIns="0" tIns="0" rIns="0" bIns="0" rtlCol="0" anchor="t"/>
          <a:lstStyle/>
          <a:p>
            <a:pPr marL="0" indent="0" algn="l">
              <a:buNone/>
            </a:pPr>
            <a:r>
              <a:rPr lang="en-US" sz="900" b="1" kern="0" spc="200" dirty="0">
                <a:solidFill>
                  <a:srgbClr val="1456F0"/>
                </a:solidFill>
                <a:latin typeface="Pretendard" panose="02000503000000020004" pitchFamily="50" charset="-127"/>
                <a:ea typeface="Pretendard" panose="02000503000000020004" pitchFamily="50" charset="-127"/>
                <a:cs typeface="Pretendard" panose="02000503000000020004" pitchFamily="50" charset="-127"/>
              </a:rPr>
              <a:t>FLOW</a:t>
            </a:r>
            <a:endParaRPr lang="en-US" sz="9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45" name="Text 20">
            <a:extLst>
              <a:ext uri="{FF2B5EF4-FFF2-40B4-BE49-F238E27FC236}">
                <a16:creationId xmlns:a16="http://schemas.microsoft.com/office/drawing/2014/main" id="{246ABBF6-CF11-4513-AB75-2AABBBE45483}"/>
              </a:ext>
            </a:extLst>
          </p:cNvPr>
          <p:cNvSpPr/>
          <p:nvPr/>
        </p:nvSpPr>
        <p:spPr>
          <a:xfrm>
            <a:off x="457200" y="2226564"/>
            <a:ext cx="5577840" cy="274320"/>
          </a:xfrm>
          <a:prstGeom prst="rect">
            <a:avLst/>
          </a:prstGeom>
          <a:noFill/>
          <a:ln/>
        </p:spPr>
        <p:txBody>
          <a:bodyPr wrap="square" lIns="0" tIns="0" rIns="0" bIns="0" rtlCol="0" anchor="t"/>
          <a:lstStyle/>
          <a:p>
            <a:r>
              <a:rPr lang="ko-KR" altLang="en-US" b="1" dirty="0">
                <a:latin typeface="Pretendard" panose="02000503000000020004" pitchFamily="50" charset="-127"/>
                <a:ea typeface="Pretendard" panose="02000503000000020004" pitchFamily="50" charset="-127"/>
                <a:cs typeface="Pretendard" panose="02000503000000020004" pitchFamily="50" charset="-127"/>
              </a:rPr>
              <a:t>자동 저장 및 이어하기 흐름</a:t>
            </a:r>
            <a:endParaRPr lang="en-US" b="1" dirty="0">
              <a:latin typeface="Pretendard" panose="02000503000000020004" pitchFamily="50" charset="-127"/>
              <a:ea typeface="Pretendard" panose="02000503000000020004" pitchFamily="50" charset="-127"/>
              <a:cs typeface="Pretendard" panose="02000503000000020004" pitchFamily="50" charset="-127"/>
            </a:endParaRPr>
          </a:p>
        </p:txBody>
      </p:sp>
      <p:grpSp>
        <p:nvGrpSpPr>
          <p:cNvPr id="49" name="그룹 48">
            <a:extLst>
              <a:ext uri="{FF2B5EF4-FFF2-40B4-BE49-F238E27FC236}">
                <a16:creationId xmlns:a16="http://schemas.microsoft.com/office/drawing/2014/main" id="{A51FC9B0-7BE9-480C-B30C-58DF4FA2FAFD}"/>
              </a:ext>
            </a:extLst>
          </p:cNvPr>
          <p:cNvGrpSpPr/>
          <p:nvPr/>
        </p:nvGrpSpPr>
        <p:grpSpPr>
          <a:xfrm>
            <a:off x="457200" y="2702051"/>
            <a:ext cx="2466975" cy="3073598"/>
            <a:chOff x="457200" y="2702051"/>
            <a:chExt cx="2466975" cy="3073598"/>
          </a:xfrm>
        </p:grpSpPr>
        <p:sp>
          <p:nvSpPr>
            <p:cNvPr id="146" name="Shape 21">
              <a:extLst>
                <a:ext uri="{FF2B5EF4-FFF2-40B4-BE49-F238E27FC236}">
                  <a16:creationId xmlns:a16="http://schemas.microsoft.com/office/drawing/2014/main" id="{A79265AF-A526-4CB5-82A5-0F7C588CB628}"/>
                </a:ext>
              </a:extLst>
            </p:cNvPr>
            <p:cNvSpPr/>
            <p:nvPr/>
          </p:nvSpPr>
          <p:spPr>
            <a:xfrm>
              <a:off x="457200" y="2702051"/>
              <a:ext cx="2466975" cy="3073598"/>
            </a:xfrm>
            <a:prstGeom prst="roundRect">
              <a:avLst>
                <a:gd name="adj" fmla="val 10526"/>
              </a:avLst>
            </a:prstGeom>
            <a:solidFill>
              <a:srgbClr val="F8F9FB"/>
            </a:solidFill>
            <a:ln w="6350">
              <a:solidFill>
                <a:srgbClr val="E5E7EB"/>
              </a:solidFill>
              <a:prstDash val="solid"/>
            </a:ln>
          </p:spPr>
          <p:txBody>
            <a:bodyPr/>
            <a:lstStyle/>
            <a:p>
              <a:endParaRPr lang="ko-KR" altLang="en-US" dirty="0"/>
            </a:p>
          </p:txBody>
        </p:sp>
        <p:sp>
          <p:nvSpPr>
            <p:cNvPr id="149" name="Text 24">
              <a:extLst>
                <a:ext uri="{FF2B5EF4-FFF2-40B4-BE49-F238E27FC236}">
                  <a16:creationId xmlns:a16="http://schemas.microsoft.com/office/drawing/2014/main" id="{6CD695F2-1492-4D04-AD53-B3461B1897F4}"/>
                </a:ext>
              </a:extLst>
            </p:cNvPr>
            <p:cNvSpPr/>
            <p:nvPr/>
          </p:nvSpPr>
          <p:spPr>
            <a:xfrm>
              <a:off x="1030604" y="4402836"/>
              <a:ext cx="1188720" cy="201168"/>
            </a:xfrm>
            <a:prstGeom prst="rect">
              <a:avLst/>
            </a:prstGeom>
            <a:noFill/>
            <a:ln/>
          </p:spPr>
          <p:txBody>
            <a:bodyPr wrap="square" lIns="0" tIns="0" rIns="0" bIns="0" rtlCol="0" anchor="t"/>
            <a:lstStyle/>
            <a:p>
              <a:pPr marL="0" indent="0" algn="ctr">
                <a:buNone/>
              </a:pPr>
              <a:r>
                <a:rPr lang="en-US" sz="1600" b="1"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응답 입력</a:t>
              </a:r>
              <a:endParaRPr lang="en-US" sz="16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50" name="Text 25">
              <a:extLst>
                <a:ext uri="{FF2B5EF4-FFF2-40B4-BE49-F238E27FC236}">
                  <a16:creationId xmlns:a16="http://schemas.microsoft.com/office/drawing/2014/main" id="{D5307018-B0D2-4666-8A1B-3768AEF161C3}"/>
                </a:ext>
              </a:extLst>
            </p:cNvPr>
            <p:cNvSpPr/>
            <p:nvPr/>
          </p:nvSpPr>
          <p:spPr>
            <a:xfrm>
              <a:off x="802001" y="4727147"/>
              <a:ext cx="1743076" cy="224493"/>
            </a:xfrm>
            <a:prstGeom prst="rect">
              <a:avLst/>
            </a:prstGeom>
            <a:noFill/>
            <a:ln/>
          </p:spPr>
          <p:txBody>
            <a:bodyPr wrap="square" lIns="0" tIns="0" rIns="0" bIns="0" rtlCol="0" anchor="t"/>
            <a:lstStyle/>
            <a:p>
              <a:pPr algn="ctr"/>
              <a:r>
                <a:rPr lang="ko-KR" altLang="en-US" sz="1200" dirty="0">
                  <a:latin typeface="Pretendard" panose="02000503000000020004" pitchFamily="50" charset="-127"/>
                  <a:ea typeface="Pretendard" panose="02000503000000020004" pitchFamily="50" charset="-127"/>
                  <a:cs typeface="Pretendard" panose="02000503000000020004" pitchFamily="50" charset="-127"/>
                </a:rPr>
                <a:t>사용자가 설문 문항에 응답</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pic>
          <p:nvPicPr>
            <p:cNvPr id="225" name="그림 224">
              <a:extLst>
                <a:ext uri="{FF2B5EF4-FFF2-40B4-BE49-F238E27FC236}">
                  <a16:creationId xmlns:a16="http://schemas.microsoft.com/office/drawing/2014/main" id="{E97FB5A6-A98E-4F5E-87B7-03CC55E689F3}"/>
                </a:ext>
              </a:extLst>
            </p:cNvPr>
            <p:cNvPicPr>
              <a:picLocks noChangeAspect="1"/>
            </p:cNvPicPr>
            <p:nvPr/>
          </p:nvPicPr>
          <p:blipFill>
            <a:blip r:embed="rId4"/>
            <a:stretch>
              <a:fillRect/>
            </a:stretch>
          </p:blipFill>
          <p:spPr>
            <a:xfrm>
              <a:off x="1162050" y="3002260"/>
              <a:ext cx="1057274" cy="1057274"/>
            </a:xfrm>
            <a:prstGeom prst="rect">
              <a:avLst/>
            </a:prstGeom>
          </p:spPr>
        </p:pic>
      </p:grpSp>
      <p:grpSp>
        <p:nvGrpSpPr>
          <p:cNvPr id="51" name="그룹 50">
            <a:extLst>
              <a:ext uri="{FF2B5EF4-FFF2-40B4-BE49-F238E27FC236}">
                <a16:creationId xmlns:a16="http://schemas.microsoft.com/office/drawing/2014/main" id="{6FCE6956-5059-4788-9978-AFA1089462D3}"/>
              </a:ext>
            </a:extLst>
          </p:cNvPr>
          <p:cNvGrpSpPr/>
          <p:nvPr/>
        </p:nvGrpSpPr>
        <p:grpSpPr>
          <a:xfrm>
            <a:off x="5761634" y="2702051"/>
            <a:ext cx="2848965" cy="3073599"/>
            <a:chOff x="5761634" y="2702051"/>
            <a:chExt cx="2848965" cy="3073599"/>
          </a:xfrm>
        </p:grpSpPr>
        <p:sp>
          <p:nvSpPr>
            <p:cNvPr id="230" name="Shape 21">
              <a:extLst>
                <a:ext uri="{FF2B5EF4-FFF2-40B4-BE49-F238E27FC236}">
                  <a16:creationId xmlns:a16="http://schemas.microsoft.com/office/drawing/2014/main" id="{3069CA04-65E2-4CC4-ABD1-4F614B1AE92A}"/>
                </a:ext>
              </a:extLst>
            </p:cNvPr>
            <p:cNvSpPr/>
            <p:nvPr/>
          </p:nvSpPr>
          <p:spPr>
            <a:xfrm>
              <a:off x="6143624" y="2702051"/>
              <a:ext cx="2466975" cy="3073599"/>
            </a:xfrm>
            <a:prstGeom prst="roundRect">
              <a:avLst>
                <a:gd name="adj" fmla="val 10526"/>
              </a:avLst>
            </a:prstGeom>
            <a:solidFill>
              <a:srgbClr val="F8F9FB"/>
            </a:solidFill>
            <a:ln w="6350">
              <a:solidFill>
                <a:srgbClr val="E5E7EB"/>
              </a:solidFill>
              <a:prstDash val="solid"/>
            </a:ln>
          </p:spPr>
          <p:txBody>
            <a:bodyPr/>
            <a:lstStyle/>
            <a:p>
              <a:endParaRPr lang="ko-KR" altLang="en-US" dirty="0"/>
            </a:p>
          </p:txBody>
        </p:sp>
        <p:sp>
          <p:nvSpPr>
            <p:cNvPr id="231" name="Text 24">
              <a:extLst>
                <a:ext uri="{FF2B5EF4-FFF2-40B4-BE49-F238E27FC236}">
                  <a16:creationId xmlns:a16="http://schemas.microsoft.com/office/drawing/2014/main" id="{E3BAEEEA-C22F-4EF5-9DAF-708C5743C039}"/>
                </a:ext>
              </a:extLst>
            </p:cNvPr>
            <p:cNvSpPr/>
            <p:nvPr/>
          </p:nvSpPr>
          <p:spPr>
            <a:xfrm>
              <a:off x="6717028" y="4402836"/>
              <a:ext cx="1188720" cy="201168"/>
            </a:xfrm>
            <a:prstGeom prst="rect">
              <a:avLst/>
            </a:prstGeom>
            <a:noFill/>
            <a:ln/>
          </p:spPr>
          <p:txBody>
            <a:bodyPr wrap="square" lIns="0" tIns="0" rIns="0" bIns="0" rtlCol="0" anchor="t"/>
            <a:lstStyle/>
            <a:p>
              <a:pPr algn="ctr"/>
              <a:r>
                <a:rPr lang="ko-KR" altLang="en-US" sz="1600" b="1" dirty="0">
                  <a:latin typeface="Pretendard" panose="02000503000000020004" pitchFamily="50" charset="-127"/>
                  <a:ea typeface="Pretendard" panose="02000503000000020004" pitchFamily="50" charset="-127"/>
                  <a:cs typeface="Pretendard" panose="02000503000000020004" pitchFamily="50" charset="-127"/>
                </a:rPr>
                <a:t>이탈</a:t>
              </a:r>
              <a:r>
                <a:rPr lang="en-US" altLang="ko-KR" sz="1600" b="1" dirty="0">
                  <a:latin typeface="Pretendard" panose="02000503000000020004" pitchFamily="50" charset="-127"/>
                  <a:ea typeface="Pretendard" panose="02000503000000020004" pitchFamily="50" charset="-127"/>
                  <a:cs typeface="Pretendard" panose="02000503000000020004" pitchFamily="50" charset="-127"/>
                </a:rPr>
                <a:t>·</a:t>
              </a:r>
              <a:r>
                <a:rPr lang="ko-KR" altLang="en-US" sz="1600" b="1" dirty="0">
                  <a:latin typeface="Pretendard" panose="02000503000000020004" pitchFamily="50" charset="-127"/>
                  <a:ea typeface="Pretendard" panose="02000503000000020004" pitchFamily="50" charset="-127"/>
                  <a:cs typeface="Pretendard" panose="02000503000000020004" pitchFamily="50" charset="-127"/>
                </a:rPr>
                <a:t>중단</a:t>
              </a:r>
              <a:endParaRPr lang="en-US" sz="1600" b="1"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32" name="Text 25">
              <a:extLst>
                <a:ext uri="{FF2B5EF4-FFF2-40B4-BE49-F238E27FC236}">
                  <a16:creationId xmlns:a16="http://schemas.microsoft.com/office/drawing/2014/main" id="{A48DEC56-41A4-4EC4-BEAC-DA229972E4A2}"/>
                </a:ext>
              </a:extLst>
            </p:cNvPr>
            <p:cNvSpPr/>
            <p:nvPr/>
          </p:nvSpPr>
          <p:spPr>
            <a:xfrm>
              <a:off x="6137872" y="4755425"/>
              <a:ext cx="2472727" cy="236926"/>
            </a:xfrm>
            <a:prstGeom prst="rect">
              <a:avLst/>
            </a:prstGeom>
            <a:noFill/>
            <a:ln/>
          </p:spPr>
          <p:txBody>
            <a:bodyPr wrap="square" lIns="0" tIns="0" rIns="0" bIns="0" rtlCol="0" anchor="t"/>
            <a:lstStyle/>
            <a:p>
              <a:pPr algn="ctr"/>
              <a:r>
                <a:rPr lang="ko-KR" altLang="en-US" sz="1200" dirty="0">
                  <a:latin typeface="Pretendard" panose="02000503000000020004" pitchFamily="50" charset="-127"/>
                  <a:ea typeface="Pretendard" panose="02000503000000020004" pitchFamily="50" charset="-127"/>
                  <a:cs typeface="Pretendard" panose="02000503000000020004" pitchFamily="50" charset="-127"/>
                </a:rPr>
                <a:t>페이지 이탈 또는 브라우저 종료</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pic>
          <p:nvPicPr>
            <p:cNvPr id="45" name="그림 44">
              <a:extLst>
                <a:ext uri="{FF2B5EF4-FFF2-40B4-BE49-F238E27FC236}">
                  <a16:creationId xmlns:a16="http://schemas.microsoft.com/office/drawing/2014/main" id="{7DB6BBDA-277C-4632-BEA7-8959F066158F}"/>
                </a:ext>
              </a:extLst>
            </p:cNvPr>
            <p:cNvPicPr>
              <a:picLocks noChangeAspect="1"/>
            </p:cNvPicPr>
            <p:nvPr/>
          </p:nvPicPr>
          <p:blipFill>
            <a:blip r:embed="rId5"/>
            <a:stretch>
              <a:fillRect/>
            </a:stretch>
          </p:blipFill>
          <p:spPr>
            <a:xfrm>
              <a:off x="6780834" y="3049511"/>
              <a:ext cx="1235964" cy="1235964"/>
            </a:xfrm>
            <a:prstGeom prst="rect">
              <a:avLst/>
            </a:prstGeom>
          </p:spPr>
        </p:pic>
        <p:sp>
          <p:nvSpPr>
            <p:cNvPr id="254" name="Text 15">
              <a:extLst>
                <a:ext uri="{FF2B5EF4-FFF2-40B4-BE49-F238E27FC236}">
                  <a16:creationId xmlns:a16="http://schemas.microsoft.com/office/drawing/2014/main" id="{8E5E410B-B472-4BE9-AA8A-48C6C9C56D5A}"/>
                </a:ext>
              </a:extLst>
            </p:cNvPr>
            <p:cNvSpPr/>
            <p:nvPr/>
          </p:nvSpPr>
          <p:spPr>
            <a:xfrm>
              <a:off x="5761634" y="3680331"/>
              <a:ext cx="376238" cy="1005840"/>
            </a:xfrm>
            <a:prstGeom prst="rect">
              <a:avLst/>
            </a:prstGeom>
            <a:noFill/>
            <a:ln/>
          </p:spPr>
          <p:txBody>
            <a:bodyPr wrap="square" lIns="0" tIns="0" rIns="0" bIns="0" rtlCol="0" anchor="ctr"/>
            <a:lstStyle/>
            <a:p>
              <a:pPr marL="0" indent="0" algn="ctr">
                <a:buNone/>
              </a:pPr>
              <a:r>
                <a:rPr lang="en-US" sz="2600" b="1" dirty="0">
                  <a:solidFill>
                    <a:srgbClr val="1456F0"/>
                  </a:solidFill>
                  <a:latin typeface="Pretendard" panose="02000503000000020004" pitchFamily="50" charset="-127"/>
                  <a:ea typeface="Pretendard" panose="02000503000000020004" pitchFamily="50" charset="-127"/>
                  <a:cs typeface="Pretendard" panose="02000503000000020004" pitchFamily="50" charset="-127"/>
                </a:rPr>
                <a:t>›</a:t>
              </a:r>
              <a:endParaRPr lang="en-US" sz="2600" dirty="0">
                <a:latin typeface="Pretendard" panose="02000503000000020004" pitchFamily="50" charset="-127"/>
                <a:ea typeface="Pretendard" panose="02000503000000020004" pitchFamily="50" charset="-127"/>
                <a:cs typeface="Pretendard" panose="02000503000000020004" pitchFamily="50" charset="-127"/>
              </a:endParaRPr>
            </a:p>
          </p:txBody>
        </p:sp>
      </p:grpSp>
      <p:grpSp>
        <p:nvGrpSpPr>
          <p:cNvPr id="50" name="그룹 49">
            <a:extLst>
              <a:ext uri="{FF2B5EF4-FFF2-40B4-BE49-F238E27FC236}">
                <a16:creationId xmlns:a16="http://schemas.microsoft.com/office/drawing/2014/main" id="{377F6CBF-ADEC-4FAD-B86B-E055EBEF7A60}"/>
              </a:ext>
            </a:extLst>
          </p:cNvPr>
          <p:cNvGrpSpPr/>
          <p:nvPr/>
        </p:nvGrpSpPr>
        <p:grpSpPr>
          <a:xfrm>
            <a:off x="2924174" y="2702052"/>
            <a:ext cx="2843213" cy="3073598"/>
            <a:chOff x="2924174" y="2702052"/>
            <a:chExt cx="2843213" cy="3073598"/>
          </a:xfrm>
        </p:grpSpPr>
        <p:sp>
          <p:nvSpPr>
            <p:cNvPr id="226" name="Shape 21">
              <a:extLst>
                <a:ext uri="{FF2B5EF4-FFF2-40B4-BE49-F238E27FC236}">
                  <a16:creationId xmlns:a16="http://schemas.microsoft.com/office/drawing/2014/main" id="{B4DBF18C-FE1F-42C6-93CB-D6A08DF36546}"/>
                </a:ext>
              </a:extLst>
            </p:cNvPr>
            <p:cNvSpPr/>
            <p:nvPr/>
          </p:nvSpPr>
          <p:spPr>
            <a:xfrm>
              <a:off x="3300412" y="2702052"/>
              <a:ext cx="2466975" cy="3073598"/>
            </a:xfrm>
            <a:prstGeom prst="roundRect">
              <a:avLst>
                <a:gd name="adj" fmla="val 10526"/>
              </a:avLst>
            </a:prstGeom>
            <a:solidFill>
              <a:srgbClr val="F8F9FB"/>
            </a:solidFill>
            <a:ln w="6350">
              <a:solidFill>
                <a:srgbClr val="E5E7EB"/>
              </a:solidFill>
              <a:prstDash val="solid"/>
            </a:ln>
          </p:spPr>
          <p:txBody>
            <a:bodyPr/>
            <a:lstStyle/>
            <a:p>
              <a:endParaRPr lang="ko-KR" altLang="en-US" dirty="0"/>
            </a:p>
          </p:txBody>
        </p:sp>
        <p:sp>
          <p:nvSpPr>
            <p:cNvPr id="227" name="Text 24">
              <a:extLst>
                <a:ext uri="{FF2B5EF4-FFF2-40B4-BE49-F238E27FC236}">
                  <a16:creationId xmlns:a16="http://schemas.microsoft.com/office/drawing/2014/main" id="{AE26B240-48D8-45CD-8771-570F15EEF170}"/>
                </a:ext>
              </a:extLst>
            </p:cNvPr>
            <p:cNvSpPr/>
            <p:nvPr/>
          </p:nvSpPr>
          <p:spPr>
            <a:xfrm>
              <a:off x="3742821" y="4402836"/>
              <a:ext cx="1576404" cy="201168"/>
            </a:xfrm>
            <a:prstGeom prst="rect">
              <a:avLst/>
            </a:prstGeom>
            <a:noFill/>
            <a:ln/>
          </p:spPr>
          <p:txBody>
            <a:bodyPr wrap="square" lIns="0" tIns="0" rIns="0" bIns="0" rtlCol="0" anchor="t"/>
            <a:lstStyle/>
            <a:p>
              <a:pPr algn="ctr"/>
              <a:r>
                <a:rPr lang="ko-KR" altLang="en-US" sz="1600" b="1" dirty="0">
                  <a:latin typeface="Pretendard" panose="02000503000000020004" pitchFamily="50" charset="-127"/>
                  <a:ea typeface="Pretendard" panose="02000503000000020004" pitchFamily="50" charset="-127"/>
                  <a:cs typeface="Pretendard" panose="02000503000000020004" pitchFamily="50" charset="-127"/>
                </a:rPr>
                <a:t>설문 자동 저장</a:t>
              </a:r>
              <a:endParaRPr lang="en-US" sz="1600" b="1"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28" name="Text 25">
              <a:extLst>
                <a:ext uri="{FF2B5EF4-FFF2-40B4-BE49-F238E27FC236}">
                  <a16:creationId xmlns:a16="http://schemas.microsoft.com/office/drawing/2014/main" id="{A2E52CAE-6ED1-4C82-8BBF-09CBBB1E0ABE}"/>
                </a:ext>
              </a:extLst>
            </p:cNvPr>
            <p:cNvSpPr/>
            <p:nvPr/>
          </p:nvSpPr>
          <p:spPr>
            <a:xfrm>
              <a:off x="3300412" y="4736375"/>
              <a:ext cx="2461222" cy="255976"/>
            </a:xfrm>
            <a:prstGeom prst="rect">
              <a:avLst/>
            </a:prstGeom>
            <a:noFill/>
            <a:ln/>
          </p:spPr>
          <p:txBody>
            <a:bodyPr wrap="square" lIns="0" tIns="0" rIns="0" bIns="0" rtlCol="0" anchor="t"/>
            <a:lstStyle/>
            <a:p>
              <a:pPr algn="ctr"/>
              <a:r>
                <a:rPr lang="en-US" altLang="ko-KR" sz="1200" dirty="0">
                  <a:latin typeface="Pretendard" panose="02000503000000020004" pitchFamily="50" charset="-127"/>
                  <a:ea typeface="Pretendard" panose="02000503000000020004" pitchFamily="50" charset="-127"/>
                  <a:cs typeface="Pretendard" panose="02000503000000020004" pitchFamily="50" charset="-127"/>
                </a:rPr>
                <a:t>1</a:t>
              </a:r>
              <a:r>
                <a:rPr lang="ko-KR" altLang="en-US" sz="1200" dirty="0">
                  <a:latin typeface="Pretendard" panose="02000503000000020004" pitchFamily="50" charset="-127"/>
                  <a:ea typeface="Pretendard" panose="02000503000000020004" pitchFamily="50" charset="-127"/>
                  <a:cs typeface="Pretendard" panose="02000503000000020004" pitchFamily="50" charset="-127"/>
                </a:rPr>
                <a:t>분 주기로 </a:t>
              </a:r>
              <a:r>
                <a:rPr lang="en-US" altLang="ko-KR" sz="1200" dirty="0">
                  <a:latin typeface="Pretendard" panose="02000503000000020004" pitchFamily="50" charset="-127"/>
                  <a:ea typeface="Pretendard" panose="02000503000000020004" pitchFamily="50" charset="-127"/>
                  <a:cs typeface="Pretendard" panose="02000503000000020004" pitchFamily="50" charset="-127"/>
                </a:rPr>
                <a:t>Redis </a:t>
              </a:r>
              <a:r>
                <a:rPr lang="ko-KR" altLang="en-US" sz="1200" dirty="0">
                  <a:latin typeface="Pretendard" panose="02000503000000020004" pitchFamily="50" charset="-127"/>
                  <a:ea typeface="Pretendard" panose="02000503000000020004" pitchFamily="50" charset="-127"/>
                  <a:cs typeface="Pretendard" panose="02000503000000020004" pitchFamily="50" charset="-127"/>
                </a:rPr>
                <a:t>저장</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pic>
          <p:nvPicPr>
            <p:cNvPr id="43" name="그림 42">
              <a:extLst>
                <a:ext uri="{FF2B5EF4-FFF2-40B4-BE49-F238E27FC236}">
                  <a16:creationId xmlns:a16="http://schemas.microsoft.com/office/drawing/2014/main" id="{6DDE2CBE-A258-41FF-A565-038E0D7BF00A}"/>
                </a:ext>
              </a:extLst>
            </p:cNvPr>
            <p:cNvPicPr>
              <a:picLocks noChangeAspect="1"/>
            </p:cNvPicPr>
            <p:nvPr/>
          </p:nvPicPr>
          <p:blipFill>
            <a:blip r:embed="rId6"/>
            <a:stretch>
              <a:fillRect/>
            </a:stretch>
          </p:blipFill>
          <p:spPr>
            <a:xfrm>
              <a:off x="3936663" y="2936537"/>
              <a:ext cx="1188720" cy="1188720"/>
            </a:xfrm>
            <a:prstGeom prst="rect">
              <a:avLst/>
            </a:prstGeom>
          </p:spPr>
        </p:pic>
        <p:sp>
          <p:nvSpPr>
            <p:cNvPr id="253" name="Text 15">
              <a:extLst>
                <a:ext uri="{FF2B5EF4-FFF2-40B4-BE49-F238E27FC236}">
                  <a16:creationId xmlns:a16="http://schemas.microsoft.com/office/drawing/2014/main" id="{EE7AA46F-7904-405B-B4A5-673DAF4ECDD2}"/>
                </a:ext>
              </a:extLst>
            </p:cNvPr>
            <p:cNvSpPr/>
            <p:nvPr/>
          </p:nvSpPr>
          <p:spPr>
            <a:xfrm>
              <a:off x="2924174" y="3680331"/>
              <a:ext cx="376238" cy="1005840"/>
            </a:xfrm>
            <a:prstGeom prst="rect">
              <a:avLst/>
            </a:prstGeom>
            <a:noFill/>
            <a:ln/>
          </p:spPr>
          <p:txBody>
            <a:bodyPr wrap="square" lIns="0" tIns="0" rIns="0" bIns="0" rtlCol="0" anchor="ctr"/>
            <a:lstStyle/>
            <a:p>
              <a:pPr marL="0" indent="0" algn="ctr">
                <a:buNone/>
              </a:pPr>
              <a:r>
                <a:rPr lang="en-US" sz="2600" b="1" dirty="0">
                  <a:solidFill>
                    <a:srgbClr val="1456F0"/>
                  </a:solidFill>
                  <a:latin typeface="Pretendard" panose="02000503000000020004" pitchFamily="50" charset="-127"/>
                  <a:ea typeface="Pretendard" panose="02000503000000020004" pitchFamily="50" charset="-127"/>
                  <a:cs typeface="Pretendard" panose="02000503000000020004" pitchFamily="50" charset="-127"/>
                </a:rPr>
                <a:t>›</a:t>
              </a:r>
              <a:endParaRPr lang="en-US" sz="26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56" name="Text 25">
              <a:extLst>
                <a:ext uri="{FF2B5EF4-FFF2-40B4-BE49-F238E27FC236}">
                  <a16:creationId xmlns:a16="http://schemas.microsoft.com/office/drawing/2014/main" id="{66A351E4-FA5D-43C3-9002-86EAD3644D88}"/>
                </a:ext>
              </a:extLst>
            </p:cNvPr>
            <p:cNvSpPr/>
            <p:nvPr/>
          </p:nvSpPr>
          <p:spPr>
            <a:xfrm>
              <a:off x="3300412" y="5015273"/>
              <a:ext cx="2461222" cy="255976"/>
            </a:xfrm>
            <a:prstGeom prst="rect">
              <a:avLst/>
            </a:prstGeom>
            <a:noFill/>
            <a:ln/>
          </p:spPr>
          <p:txBody>
            <a:bodyPr wrap="square" lIns="0" tIns="0" rIns="0" bIns="0" rtlCol="0" anchor="t"/>
            <a:lstStyle/>
            <a:p>
              <a:pPr algn="ctr"/>
              <a:r>
                <a:rPr lang="en-US" altLang="ko-KR" sz="1200" dirty="0">
                  <a:latin typeface="Pretendard" panose="02000503000000020004" pitchFamily="50" charset="-127"/>
                  <a:ea typeface="Pretendard" panose="02000503000000020004" pitchFamily="50" charset="-127"/>
                  <a:cs typeface="Pretendard" panose="02000503000000020004" pitchFamily="50" charset="-127"/>
                </a:rPr>
                <a:t>TTL 7</a:t>
              </a:r>
              <a:r>
                <a:rPr lang="ko-KR" altLang="en-US" sz="1200" dirty="0">
                  <a:latin typeface="Pretendard" panose="02000503000000020004" pitchFamily="50" charset="-127"/>
                  <a:ea typeface="Pretendard" panose="02000503000000020004" pitchFamily="50" charset="-127"/>
                  <a:cs typeface="Pretendard" panose="02000503000000020004" pitchFamily="50" charset="-127"/>
                </a:rPr>
                <a:t>일</a:t>
              </a:r>
              <a:r>
                <a:rPr lang="en-US" altLang="ko-KR" sz="1200" dirty="0">
                  <a:latin typeface="Pretendard" panose="02000503000000020004" pitchFamily="50" charset="-127"/>
                  <a:ea typeface="Pretendard" panose="02000503000000020004" pitchFamily="50" charset="-127"/>
                  <a:cs typeface="Pretendard" panose="02000503000000020004" pitchFamily="50" charset="-127"/>
                </a:rPr>
                <a:t> </a:t>
              </a:r>
              <a:r>
                <a:rPr lang="ko-KR" altLang="en-US" sz="1200" dirty="0">
                  <a:latin typeface="Pretendard" panose="02000503000000020004" pitchFamily="50" charset="-127"/>
                  <a:ea typeface="Pretendard" panose="02000503000000020004" pitchFamily="50" charset="-127"/>
                  <a:cs typeface="Pretendard" panose="02000503000000020004" pitchFamily="50" charset="-127"/>
                </a:rPr>
                <a:t>적용</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grpSp>
      <p:grpSp>
        <p:nvGrpSpPr>
          <p:cNvPr id="52" name="그룹 51">
            <a:extLst>
              <a:ext uri="{FF2B5EF4-FFF2-40B4-BE49-F238E27FC236}">
                <a16:creationId xmlns:a16="http://schemas.microsoft.com/office/drawing/2014/main" id="{CBBBCCC1-B1C0-47E5-924D-52DE981D121D}"/>
              </a:ext>
            </a:extLst>
          </p:cNvPr>
          <p:cNvGrpSpPr/>
          <p:nvPr/>
        </p:nvGrpSpPr>
        <p:grpSpPr>
          <a:xfrm>
            <a:off x="8610599" y="2583599"/>
            <a:ext cx="2843212" cy="3192051"/>
            <a:chOff x="8610599" y="2583599"/>
            <a:chExt cx="2843212" cy="3192051"/>
          </a:xfrm>
        </p:grpSpPr>
        <p:sp>
          <p:nvSpPr>
            <p:cNvPr id="234" name="Shape 21">
              <a:extLst>
                <a:ext uri="{FF2B5EF4-FFF2-40B4-BE49-F238E27FC236}">
                  <a16:creationId xmlns:a16="http://schemas.microsoft.com/office/drawing/2014/main" id="{3212F0CA-3EC0-41C6-8F2F-FCEF5CE362C8}"/>
                </a:ext>
              </a:extLst>
            </p:cNvPr>
            <p:cNvSpPr/>
            <p:nvPr/>
          </p:nvSpPr>
          <p:spPr>
            <a:xfrm>
              <a:off x="8986836" y="2702052"/>
              <a:ext cx="2466975" cy="3073598"/>
            </a:xfrm>
            <a:prstGeom prst="roundRect">
              <a:avLst>
                <a:gd name="adj" fmla="val 10526"/>
              </a:avLst>
            </a:prstGeom>
            <a:solidFill>
              <a:srgbClr val="F8F9FB"/>
            </a:solidFill>
            <a:ln w="6350">
              <a:solidFill>
                <a:srgbClr val="E5E7EB"/>
              </a:solidFill>
              <a:prstDash val="solid"/>
            </a:ln>
          </p:spPr>
          <p:txBody>
            <a:bodyPr/>
            <a:lstStyle/>
            <a:p>
              <a:endParaRPr lang="ko-KR" altLang="en-US" dirty="0"/>
            </a:p>
          </p:txBody>
        </p:sp>
        <p:sp>
          <p:nvSpPr>
            <p:cNvPr id="251" name="Text 24">
              <a:extLst>
                <a:ext uri="{FF2B5EF4-FFF2-40B4-BE49-F238E27FC236}">
                  <a16:creationId xmlns:a16="http://schemas.microsoft.com/office/drawing/2014/main" id="{5866A9B8-95CF-451A-94D6-DA357EF6E5D5}"/>
                </a:ext>
              </a:extLst>
            </p:cNvPr>
            <p:cNvSpPr/>
            <p:nvPr/>
          </p:nvSpPr>
          <p:spPr>
            <a:xfrm>
              <a:off x="9568788" y="4402836"/>
              <a:ext cx="1188720" cy="201168"/>
            </a:xfrm>
            <a:prstGeom prst="rect">
              <a:avLst/>
            </a:prstGeom>
            <a:noFill/>
            <a:ln/>
          </p:spPr>
          <p:txBody>
            <a:bodyPr wrap="square" lIns="0" tIns="0" rIns="0" bIns="0" rtlCol="0" anchor="t"/>
            <a:lstStyle/>
            <a:p>
              <a:pPr algn="ctr"/>
              <a:r>
                <a:rPr lang="ko-KR" altLang="en-US" sz="1600" b="1" dirty="0">
                  <a:latin typeface="Pretendard" panose="02000503000000020004" pitchFamily="50" charset="-127"/>
                  <a:ea typeface="Pretendard" panose="02000503000000020004" pitchFamily="50" charset="-127"/>
                  <a:cs typeface="Pretendard" panose="02000503000000020004" pitchFamily="50" charset="-127"/>
                </a:rPr>
                <a:t>설문 이어하기</a:t>
              </a:r>
              <a:endParaRPr lang="en-US" sz="1600" b="1"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52" name="Text 25">
              <a:extLst>
                <a:ext uri="{FF2B5EF4-FFF2-40B4-BE49-F238E27FC236}">
                  <a16:creationId xmlns:a16="http://schemas.microsoft.com/office/drawing/2014/main" id="{521162A4-F4FD-4220-9C93-69E9D80771F4}"/>
                </a:ext>
              </a:extLst>
            </p:cNvPr>
            <p:cNvSpPr/>
            <p:nvPr/>
          </p:nvSpPr>
          <p:spPr>
            <a:xfrm>
              <a:off x="8986837" y="4755425"/>
              <a:ext cx="2466974" cy="196215"/>
            </a:xfrm>
            <a:prstGeom prst="rect">
              <a:avLst/>
            </a:prstGeom>
            <a:noFill/>
            <a:ln/>
          </p:spPr>
          <p:txBody>
            <a:bodyPr wrap="square" lIns="0" tIns="0" rIns="0" bIns="0" rtlCol="0" anchor="t"/>
            <a:lstStyle/>
            <a:p>
              <a:pPr algn="ctr"/>
              <a:r>
                <a:rPr lang="en-US" altLang="ko-KR" sz="1200" dirty="0">
                  <a:latin typeface="Pretendard" panose="02000503000000020004" pitchFamily="50" charset="-127"/>
                  <a:ea typeface="Pretendard" panose="02000503000000020004" pitchFamily="50" charset="-127"/>
                  <a:cs typeface="Pretendard" panose="02000503000000020004" pitchFamily="50" charset="-127"/>
                </a:rPr>
                <a:t>Redis Key </a:t>
              </a:r>
              <a:r>
                <a:rPr lang="ko-KR" altLang="en-US" sz="1200" dirty="0">
                  <a:latin typeface="Pretendard" panose="02000503000000020004" pitchFamily="50" charset="-127"/>
                  <a:ea typeface="Pretendard" panose="02000503000000020004" pitchFamily="50" charset="-127"/>
                  <a:cs typeface="Pretendard" panose="02000503000000020004" pitchFamily="50" charset="-127"/>
                </a:rPr>
                <a:t>조회 후 응답 복원</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55" name="Text 15">
              <a:extLst>
                <a:ext uri="{FF2B5EF4-FFF2-40B4-BE49-F238E27FC236}">
                  <a16:creationId xmlns:a16="http://schemas.microsoft.com/office/drawing/2014/main" id="{A63347B7-771B-4F22-8EFA-44626954D48C}"/>
                </a:ext>
              </a:extLst>
            </p:cNvPr>
            <p:cNvSpPr/>
            <p:nvPr/>
          </p:nvSpPr>
          <p:spPr>
            <a:xfrm>
              <a:off x="8610599" y="3680331"/>
              <a:ext cx="376238" cy="1005840"/>
            </a:xfrm>
            <a:prstGeom prst="rect">
              <a:avLst/>
            </a:prstGeom>
            <a:noFill/>
            <a:ln/>
          </p:spPr>
          <p:txBody>
            <a:bodyPr wrap="square" lIns="0" tIns="0" rIns="0" bIns="0" rtlCol="0" anchor="ctr"/>
            <a:lstStyle/>
            <a:p>
              <a:pPr marL="0" indent="0" algn="ctr">
                <a:buNone/>
              </a:pPr>
              <a:r>
                <a:rPr lang="en-US" sz="2600" b="1" dirty="0">
                  <a:solidFill>
                    <a:srgbClr val="1456F0"/>
                  </a:solidFill>
                  <a:latin typeface="Pretendard" panose="02000503000000020004" pitchFamily="50" charset="-127"/>
                  <a:ea typeface="Pretendard" panose="02000503000000020004" pitchFamily="50" charset="-127"/>
                  <a:cs typeface="Pretendard" panose="02000503000000020004" pitchFamily="50" charset="-127"/>
                </a:rPr>
                <a:t>›</a:t>
              </a:r>
              <a:endParaRPr lang="en-US" sz="2600" dirty="0">
                <a:latin typeface="Pretendard" panose="02000503000000020004" pitchFamily="50" charset="-127"/>
                <a:ea typeface="Pretendard" panose="02000503000000020004" pitchFamily="50" charset="-127"/>
                <a:cs typeface="Pretendard" panose="02000503000000020004" pitchFamily="50" charset="-127"/>
              </a:endParaRPr>
            </a:p>
          </p:txBody>
        </p:sp>
        <p:pic>
          <p:nvPicPr>
            <p:cNvPr id="46" name="그림 45">
              <a:extLst>
                <a:ext uri="{FF2B5EF4-FFF2-40B4-BE49-F238E27FC236}">
                  <a16:creationId xmlns:a16="http://schemas.microsoft.com/office/drawing/2014/main" id="{292E76A7-3F27-4EE6-AFBB-F0CCABB7CAFE}"/>
                </a:ext>
              </a:extLst>
            </p:cNvPr>
            <p:cNvPicPr>
              <a:picLocks noChangeAspect="1"/>
            </p:cNvPicPr>
            <p:nvPr/>
          </p:nvPicPr>
          <p:blipFill>
            <a:blip r:embed="rId7"/>
            <a:stretch>
              <a:fillRect/>
            </a:stretch>
          </p:blipFill>
          <p:spPr>
            <a:xfrm>
              <a:off x="9120214" y="2583599"/>
              <a:ext cx="2079671" cy="2079671"/>
            </a:xfrm>
            <a:prstGeom prst="rect">
              <a:avLst/>
            </a:prstGeom>
          </p:spPr>
        </p:pic>
      </p:gr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365760"/>
            <a:ext cx="6400800" cy="274320"/>
          </a:xfrm>
          <a:prstGeom prst="rect">
            <a:avLst/>
          </a:prstGeom>
          <a:noFill/>
          <a:ln/>
        </p:spPr>
        <p:txBody>
          <a:bodyPr wrap="square" lIns="0" tIns="0" rIns="0" bIns="0" rtlCol="0" anchor="ctr"/>
          <a:lstStyle/>
          <a:p>
            <a:r>
              <a:rPr lang="en-US" sz="1200" dirty="0">
                <a:solidFill>
                  <a:srgbClr val="8E8E93"/>
                </a:solidFill>
                <a:latin typeface="Pretendard" pitchFamily="34" charset="0"/>
                <a:ea typeface="Pretendard" pitchFamily="34" charset="-122"/>
                <a:cs typeface="Pretendard" pitchFamily="34" charset="-120"/>
              </a:rPr>
              <a:t>05. </a:t>
            </a:r>
            <a:r>
              <a:rPr lang="ko-KR" altLang="en-US" sz="12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핵심 구현 및 시스템 개선</a:t>
            </a:r>
            <a:endParaRPr lang="en-US" sz="1200" dirty="0"/>
          </a:p>
        </p:txBody>
      </p:sp>
      <p:pic>
        <p:nvPicPr>
          <p:cNvPr id="3" name="Image 0" descr="Woongjin_logo_transparent.png"/>
          <p:cNvPicPr>
            <a:picLocks noChangeAspect="1"/>
          </p:cNvPicPr>
          <p:nvPr/>
        </p:nvPicPr>
        <p:blipFill>
          <a:blip r:embed="rId3"/>
          <a:stretch>
            <a:fillRect/>
          </a:stretch>
        </p:blipFill>
        <p:spPr>
          <a:xfrm>
            <a:off x="10911535" y="262890"/>
            <a:ext cx="822960" cy="480060"/>
          </a:xfrm>
          <a:prstGeom prst="rect">
            <a:avLst/>
          </a:prstGeom>
        </p:spPr>
      </p:pic>
      <p:sp>
        <p:nvSpPr>
          <p:cNvPr id="4" name="Text 1"/>
          <p:cNvSpPr/>
          <p:nvPr/>
        </p:nvSpPr>
        <p:spPr>
          <a:xfrm>
            <a:off x="457200" y="914400"/>
            <a:ext cx="11277295" cy="685800"/>
          </a:xfrm>
          <a:prstGeom prst="rect">
            <a:avLst/>
          </a:prstGeom>
          <a:noFill/>
          <a:ln/>
        </p:spPr>
        <p:txBody>
          <a:bodyPr wrap="square" lIns="0" tIns="0" rIns="0" bIns="0" rtlCol="0" anchor="t"/>
          <a:lstStyle/>
          <a:p>
            <a:r>
              <a:rPr lang="en-US" altLang="ko-KR" sz="2400" b="1" dirty="0">
                <a:latin typeface="Pretendard" panose="02000503000000020004" pitchFamily="50" charset="-127"/>
                <a:ea typeface="Pretendard" panose="02000503000000020004" pitchFamily="50" charset="-127"/>
                <a:cs typeface="Pretendard" panose="02000503000000020004" pitchFamily="50" charset="-127"/>
              </a:rPr>
              <a:t>Java/Spring </a:t>
            </a:r>
            <a:r>
              <a:rPr lang="ko-KR" altLang="en-US" sz="2400" b="1" dirty="0">
                <a:latin typeface="Pretendard" panose="02000503000000020004" pitchFamily="50" charset="-127"/>
                <a:ea typeface="Pretendard" panose="02000503000000020004" pitchFamily="50" charset="-127"/>
                <a:cs typeface="Pretendard" panose="02000503000000020004" pitchFamily="50" charset="-127"/>
              </a:rPr>
              <a:t>기반 시스템 구조 개선</a:t>
            </a:r>
            <a:endParaRPr lang="en-US" sz="2400" b="1"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5" name="Text 2"/>
          <p:cNvSpPr/>
          <p:nvPr/>
        </p:nvSpPr>
        <p:spPr>
          <a:xfrm>
            <a:off x="457200" y="1426464"/>
            <a:ext cx="11277295" cy="292608"/>
          </a:xfrm>
          <a:prstGeom prst="rect">
            <a:avLst/>
          </a:prstGeom>
          <a:noFill/>
          <a:ln/>
        </p:spPr>
        <p:txBody>
          <a:bodyPr wrap="square" lIns="0" tIns="0" rIns="0" bIns="0" rtlCol="0" anchor="t"/>
          <a:lstStyle/>
          <a:p>
            <a:pPr marL="0" indent="0" algn="l">
              <a:buNone/>
            </a:pPr>
            <a:r>
              <a:rPr lang="en-US" sz="1600" dirty="0">
                <a:solidFill>
                  <a:srgbClr val="45515E"/>
                </a:solidFill>
                <a:latin typeface="Pretendard" pitchFamily="34" charset="0"/>
                <a:ea typeface="Pretendard" pitchFamily="34" charset="-122"/>
                <a:cs typeface="Pretendard" pitchFamily="34" charset="-120"/>
              </a:rPr>
              <a:t>Java · Spring 기반의 계층형 구조로 책임을 분리해 설계했습니다.</a:t>
            </a:r>
            <a:endParaRPr lang="en-US" sz="1600" dirty="0"/>
          </a:p>
        </p:txBody>
      </p:sp>
      <p:sp>
        <p:nvSpPr>
          <p:cNvPr id="6" name="Shape 3"/>
          <p:cNvSpPr/>
          <p:nvPr/>
        </p:nvSpPr>
        <p:spPr>
          <a:xfrm>
            <a:off x="1828800" y="2096215"/>
            <a:ext cx="8534095" cy="841248"/>
          </a:xfrm>
          <a:prstGeom prst="roundRect">
            <a:avLst>
              <a:gd name="adj" fmla="val 10870"/>
            </a:avLst>
          </a:prstGeom>
          <a:solidFill>
            <a:srgbClr val="FFFFFF"/>
          </a:solidFill>
          <a:ln w="12700">
            <a:solidFill>
              <a:srgbClr val="18181B"/>
            </a:solidFill>
            <a:prstDash val="solid"/>
          </a:ln>
          <a:effectLst>
            <a:outerShdw blurRad="76200" dist="25400" dir="5400000" algn="bl" rotWithShape="0">
              <a:srgbClr val="000000">
                <a:alpha val="8000"/>
              </a:srgbClr>
            </a:outerShdw>
          </a:effectLst>
        </p:spPr>
      </p:sp>
      <p:sp>
        <p:nvSpPr>
          <p:cNvPr id="7" name="Shape 4"/>
          <p:cNvSpPr/>
          <p:nvPr/>
        </p:nvSpPr>
        <p:spPr>
          <a:xfrm>
            <a:off x="1828800" y="2096215"/>
            <a:ext cx="73152" cy="841248"/>
          </a:xfrm>
          <a:prstGeom prst="rect">
            <a:avLst/>
          </a:prstGeom>
          <a:solidFill>
            <a:srgbClr val="18181B"/>
          </a:solidFill>
          <a:ln w="12700">
            <a:solidFill>
              <a:srgbClr val="18181B"/>
            </a:solidFill>
            <a:prstDash val="solid"/>
          </a:ln>
        </p:spPr>
      </p:sp>
      <p:sp>
        <p:nvSpPr>
          <p:cNvPr id="10" name="Text 7"/>
          <p:cNvSpPr/>
          <p:nvPr/>
        </p:nvSpPr>
        <p:spPr>
          <a:xfrm>
            <a:off x="2980944" y="2242519"/>
            <a:ext cx="7107631" cy="182880"/>
          </a:xfrm>
          <a:prstGeom prst="rect">
            <a:avLst/>
          </a:prstGeom>
          <a:noFill/>
          <a:ln/>
        </p:spPr>
        <p:txBody>
          <a:bodyPr wrap="square" lIns="0" tIns="0" rIns="0" bIns="0" rtlCol="0" anchor="t"/>
          <a:lstStyle/>
          <a:p>
            <a:pPr marL="0" indent="0" algn="l">
              <a:buNone/>
            </a:pPr>
            <a:r>
              <a:rPr lang="en-US" sz="900" b="1" kern="0" spc="150" dirty="0">
                <a:solidFill>
                  <a:srgbClr val="18181B"/>
                </a:solidFill>
                <a:latin typeface="Pretendard" pitchFamily="34" charset="0"/>
                <a:ea typeface="Pretendard" pitchFamily="34" charset="-122"/>
                <a:cs typeface="Pretendard" pitchFamily="34" charset="-120"/>
              </a:rPr>
              <a:t>SECURITY</a:t>
            </a:r>
            <a:endParaRPr lang="en-US" sz="900" dirty="0"/>
          </a:p>
        </p:txBody>
      </p:sp>
      <p:sp>
        <p:nvSpPr>
          <p:cNvPr id="11" name="Text 8"/>
          <p:cNvSpPr/>
          <p:nvPr/>
        </p:nvSpPr>
        <p:spPr>
          <a:xfrm>
            <a:off x="2980944" y="2443687"/>
            <a:ext cx="2743200" cy="310896"/>
          </a:xfrm>
          <a:prstGeom prst="rect">
            <a:avLst/>
          </a:prstGeom>
          <a:noFill/>
          <a:ln/>
        </p:spPr>
        <p:txBody>
          <a:bodyPr wrap="square" lIns="0" tIns="0" rIns="0" bIns="0" rtlCol="0" anchor="t"/>
          <a:lstStyle/>
          <a:p>
            <a:pPr marL="0" indent="0" algn="l">
              <a:buNone/>
            </a:pPr>
            <a:r>
              <a:rPr lang="en-US" sz="1600" b="1" dirty="0" err="1">
                <a:solidFill>
                  <a:srgbClr val="222222"/>
                </a:solidFill>
                <a:latin typeface="Pretendard" pitchFamily="34" charset="0"/>
                <a:ea typeface="Pretendard" pitchFamily="34" charset="-122"/>
                <a:cs typeface="Pretendard" pitchFamily="34" charset="-120"/>
              </a:rPr>
              <a:t>보안</a:t>
            </a:r>
            <a:endParaRPr lang="en-US" sz="1600" dirty="0"/>
          </a:p>
        </p:txBody>
      </p:sp>
      <p:sp>
        <p:nvSpPr>
          <p:cNvPr id="12" name="Text 9"/>
          <p:cNvSpPr/>
          <p:nvPr/>
        </p:nvSpPr>
        <p:spPr>
          <a:xfrm>
            <a:off x="5724144" y="2461975"/>
            <a:ext cx="4364431" cy="274320"/>
          </a:xfrm>
          <a:prstGeom prst="rect">
            <a:avLst/>
          </a:prstGeom>
          <a:noFill/>
          <a:ln/>
        </p:spPr>
        <p:txBody>
          <a:bodyPr wrap="square" lIns="0" tIns="0" rIns="0" bIns="0" rtlCol="0" anchor="ctr"/>
          <a:lstStyle/>
          <a:p>
            <a:pPr marL="0" indent="0" algn="r">
              <a:buNone/>
            </a:pPr>
            <a:r>
              <a:rPr lang="en-US" sz="1100" b="1" dirty="0">
                <a:solidFill>
                  <a:srgbClr val="18181B"/>
                </a:solidFill>
                <a:latin typeface="Pretendard" pitchFamily="34" charset="0"/>
                <a:ea typeface="Pretendard" pitchFamily="34" charset="-122"/>
                <a:cs typeface="Pretendard" pitchFamily="34" charset="-120"/>
              </a:rPr>
              <a:t>Spring Security · JWT</a:t>
            </a:r>
            <a:endParaRPr lang="en-US" sz="1100" dirty="0"/>
          </a:p>
        </p:txBody>
      </p:sp>
      <p:sp>
        <p:nvSpPr>
          <p:cNvPr id="13" name="Text 10"/>
          <p:cNvSpPr/>
          <p:nvPr/>
        </p:nvSpPr>
        <p:spPr>
          <a:xfrm>
            <a:off x="5867248" y="2900887"/>
            <a:ext cx="457200" cy="237744"/>
          </a:xfrm>
          <a:prstGeom prst="rect">
            <a:avLst/>
          </a:prstGeom>
          <a:noFill/>
          <a:ln/>
        </p:spPr>
        <p:txBody>
          <a:bodyPr wrap="square" lIns="0" tIns="0" rIns="0" bIns="0" rtlCol="0" anchor="ctr"/>
          <a:lstStyle/>
          <a:p>
            <a:pPr marL="0" indent="0" algn="ctr">
              <a:buNone/>
            </a:pPr>
            <a:r>
              <a:rPr lang="en-US" sz="1400" b="1" dirty="0">
                <a:solidFill>
                  <a:srgbClr val="8E8E93"/>
                </a:solidFill>
                <a:latin typeface="Pretendard" pitchFamily="34" charset="0"/>
                <a:ea typeface="Pretendard" pitchFamily="34" charset="-122"/>
                <a:cs typeface="Pretendard" pitchFamily="34" charset="-120"/>
              </a:rPr>
              <a:t>▾</a:t>
            </a:r>
            <a:endParaRPr lang="en-US" sz="1400" dirty="0"/>
          </a:p>
        </p:txBody>
      </p:sp>
      <p:sp>
        <p:nvSpPr>
          <p:cNvPr id="14" name="Shape 11"/>
          <p:cNvSpPr/>
          <p:nvPr/>
        </p:nvSpPr>
        <p:spPr>
          <a:xfrm>
            <a:off x="1828800" y="3102055"/>
            <a:ext cx="8534095" cy="841248"/>
          </a:xfrm>
          <a:prstGeom prst="roundRect">
            <a:avLst>
              <a:gd name="adj" fmla="val 10870"/>
            </a:avLst>
          </a:prstGeom>
          <a:solidFill>
            <a:srgbClr val="EEF4FF"/>
          </a:solidFill>
          <a:ln w="12700">
            <a:solidFill>
              <a:srgbClr val="1456F0"/>
            </a:solidFill>
            <a:prstDash val="solid"/>
          </a:ln>
          <a:effectLst>
            <a:outerShdw blurRad="76200" dist="25400" dir="5400000" algn="bl" rotWithShape="0">
              <a:srgbClr val="000000">
                <a:alpha val="8000"/>
              </a:srgbClr>
            </a:outerShdw>
          </a:effectLst>
        </p:spPr>
      </p:sp>
      <p:sp>
        <p:nvSpPr>
          <p:cNvPr id="15" name="Shape 12"/>
          <p:cNvSpPr/>
          <p:nvPr/>
        </p:nvSpPr>
        <p:spPr>
          <a:xfrm>
            <a:off x="1828800" y="3102055"/>
            <a:ext cx="73152" cy="841248"/>
          </a:xfrm>
          <a:prstGeom prst="rect">
            <a:avLst/>
          </a:prstGeom>
          <a:solidFill>
            <a:srgbClr val="1456F0"/>
          </a:solidFill>
          <a:ln w="12700">
            <a:solidFill>
              <a:srgbClr val="1456F0"/>
            </a:solidFill>
            <a:prstDash val="solid"/>
          </a:ln>
        </p:spPr>
      </p:sp>
      <p:sp>
        <p:nvSpPr>
          <p:cNvPr id="18" name="Text 15"/>
          <p:cNvSpPr/>
          <p:nvPr/>
        </p:nvSpPr>
        <p:spPr>
          <a:xfrm>
            <a:off x="2980944" y="3248359"/>
            <a:ext cx="7107631" cy="182880"/>
          </a:xfrm>
          <a:prstGeom prst="rect">
            <a:avLst/>
          </a:prstGeom>
          <a:noFill/>
          <a:ln/>
        </p:spPr>
        <p:txBody>
          <a:bodyPr wrap="square" lIns="0" tIns="0" rIns="0" bIns="0" rtlCol="0" anchor="t"/>
          <a:lstStyle/>
          <a:p>
            <a:pPr marL="0" indent="0" algn="l">
              <a:buNone/>
            </a:pPr>
            <a:r>
              <a:rPr lang="en-US" sz="900" b="1" kern="0" spc="150" dirty="0">
                <a:solidFill>
                  <a:srgbClr val="1456F0"/>
                </a:solidFill>
                <a:latin typeface="Pretendard" pitchFamily="34" charset="0"/>
                <a:ea typeface="Pretendard" pitchFamily="34" charset="-122"/>
                <a:cs typeface="Pretendard" pitchFamily="34" charset="-120"/>
              </a:rPr>
              <a:t>WEB LAYER</a:t>
            </a:r>
            <a:endParaRPr lang="en-US" sz="900" dirty="0"/>
          </a:p>
        </p:txBody>
      </p:sp>
      <p:sp>
        <p:nvSpPr>
          <p:cNvPr id="19" name="Text 16"/>
          <p:cNvSpPr/>
          <p:nvPr/>
        </p:nvSpPr>
        <p:spPr>
          <a:xfrm>
            <a:off x="2980944" y="3449527"/>
            <a:ext cx="2743200" cy="310896"/>
          </a:xfrm>
          <a:prstGeom prst="rect">
            <a:avLst/>
          </a:prstGeom>
          <a:noFill/>
          <a:ln/>
        </p:spPr>
        <p:txBody>
          <a:bodyPr wrap="square" lIns="0" tIns="0" rIns="0" bIns="0" rtlCol="0" anchor="t"/>
          <a:lstStyle/>
          <a:p>
            <a:pPr marL="0" indent="0" algn="l">
              <a:buNone/>
            </a:pPr>
            <a:r>
              <a:rPr lang="en-US" sz="1600" b="1" dirty="0">
                <a:solidFill>
                  <a:srgbClr val="222222"/>
                </a:solidFill>
                <a:latin typeface="Pretendard" pitchFamily="34" charset="0"/>
                <a:ea typeface="Pretendard" pitchFamily="34" charset="-122"/>
                <a:cs typeface="Pretendard" pitchFamily="34" charset="-120"/>
              </a:rPr>
              <a:t>프레젠테이션 계층</a:t>
            </a:r>
            <a:endParaRPr lang="en-US" sz="1600" dirty="0"/>
          </a:p>
        </p:txBody>
      </p:sp>
      <p:sp>
        <p:nvSpPr>
          <p:cNvPr id="20" name="Text 17"/>
          <p:cNvSpPr/>
          <p:nvPr/>
        </p:nvSpPr>
        <p:spPr>
          <a:xfrm>
            <a:off x="5724144" y="3467815"/>
            <a:ext cx="4364431" cy="274320"/>
          </a:xfrm>
          <a:prstGeom prst="rect">
            <a:avLst/>
          </a:prstGeom>
          <a:noFill/>
          <a:ln/>
        </p:spPr>
        <p:txBody>
          <a:bodyPr wrap="square" lIns="0" tIns="0" rIns="0" bIns="0" rtlCol="0" anchor="ctr"/>
          <a:lstStyle/>
          <a:p>
            <a:pPr marL="0" indent="0" algn="r">
              <a:buNone/>
            </a:pPr>
            <a:r>
              <a:rPr lang="en-US" sz="1100" b="1" dirty="0" err="1">
                <a:solidFill>
                  <a:srgbClr val="1456F0"/>
                </a:solidFill>
                <a:latin typeface="Pretendard" pitchFamily="34" charset="0"/>
                <a:ea typeface="Pretendard" pitchFamily="34" charset="-122"/>
                <a:cs typeface="Pretendard" pitchFamily="34" charset="-120"/>
              </a:rPr>
              <a:t>Thymeleaf</a:t>
            </a:r>
            <a:r>
              <a:rPr lang="en-US" sz="1100" b="1" dirty="0">
                <a:solidFill>
                  <a:srgbClr val="1456F0"/>
                </a:solidFill>
                <a:latin typeface="Pretendard" pitchFamily="34" charset="0"/>
                <a:ea typeface="Pretendard" pitchFamily="34" charset="-122"/>
                <a:cs typeface="Pretendard" pitchFamily="34" charset="-120"/>
              </a:rPr>
              <a:t> · Alpine.js · TailwindCSS</a:t>
            </a:r>
            <a:endParaRPr lang="en-US" sz="1100" dirty="0"/>
          </a:p>
        </p:txBody>
      </p:sp>
      <p:sp>
        <p:nvSpPr>
          <p:cNvPr id="21" name="Text 18"/>
          <p:cNvSpPr/>
          <p:nvPr/>
        </p:nvSpPr>
        <p:spPr>
          <a:xfrm>
            <a:off x="5867248" y="3906727"/>
            <a:ext cx="457200" cy="237744"/>
          </a:xfrm>
          <a:prstGeom prst="rect">
            <a:avLst/>
          </a:prstGeom>
          <a:noFill/>
          <a:ln/>
        </p:spPr>
        <p:txBody>
          <a:bodyPr wrap="square" lIns="0" tIns="0" rIns="0" bIns="0" rtlCol="0" anchor="ctr"/>
          <a:lstStyle/>
          <a:p>
            <a:pPr marL="0" indent="0" algn="ctr">
              <a:buNone/>
            </a:pPr>
            <a:r>
              <a:rPr lang="en-US" sz="1400" b="1" dirty="0">
                <a:solidFill>
                  <a:srgbClr val="8E8E93"/>
                </a:solidFill>
                <a:latin typeface="Pretendard" pitchFamily="34" charset="0"/>
                <a:ea typeface="Pretendard" pitchFamily="34" charset="-122"/>
                <a:cs typeface="Pretendard" pitchFamily="34" charset="-120"/>
              </a:rPr>
              <a:t>▾</a:t>
            </a:r>
            <a:endParaRPr lang="en-US" sz="1400" dirty="0"/>
          </a:p>
        </p:txBody>
      </p:sp>
      <p:sp>
        <p:nvSpPr>
          <p:cNvPr id="22" name="Shape 19"/>
          <p:cNvSpPr/>
          <p:nvPr/>
        </p:nvSpPr>
        <p:spPr>
          <a:xfrm>
            <a:off x="1828800" y="4107895"/>
            <a:ext cx="8534095" cy="841248"/>
          </a:xfrm>
          <a:prstGeom prst="roundRect">
            <a:avLst>
              <a:gd name="adj" fmla="val 10870"/>
            </a:avLst>
          </a:prstGeom>
          <a:solidFill>
            <a:srgbClr val="FFFFFF"/>
          </a:solidFill>
          <a:ln w="12700">
            <a:solidFill>
              <a:srgbClr val="EA5EC1"/>
            </a:solidFill>
            <a:prstDash val="solid"/>
          </a:ln>
          <a:effectLst>
            <a:outerShdw blurRad="76200" dist="25400" dir="5400000" algn="bl" rotWithShape="0">
              <a:srgbClr val="000000">
                <a:alpha val="8000"/>
              </a:srgbClr>
            </a:outerShdw>
          </a:effectLst>
        </p:spPr>
      </p:sp>
      <p:sp>
        <p:nvSpPr>
          <p:cNvPr id="23" name="Shape 20"/>
          <p:cNvSpPr/>
          <p:nvPr/>
        </p:nvSpPr>
        <p:spPr>
          <a:xfrm>
            <a:off x="1828800" y="4107895"/>
            <a:ext cx="73152" cy="841248"/>
          </a:xfrm>
          <a:prstGeom prst="rect">
            <a:avLst/>
          </a:prstGeom>
          <a:solidFill>
            <a:srgbClr val="EA5EC1"/>
          </a:solidFill>
          <a:ln w="12700">
            <a:solidFill>
              <a:srgbClr val="EA5EC1"/>
            </a:solidFill>
            <a:prstDash val="solid"/>
          </a:ln>
        </p:spPr>
      </p:sp>
      <p:sp>
        <p:nvSpPr>
          <p:cNvPr id="26" name="Text 23"/>
          <p:cNvSpPr/>
          <p:nvPr/>
        </p:nvSpPr>
        <p:spPr>
          <a:xfrm>
            <a:off x="2980944" y="4254199"/>
            <a:ext cx="7107631" cy="182880"/>
          </a:xfrm>
          <a:prstGeom prst="rect">
            <a:avLst/>
          </a:prstGeom>
          <a:noFill/>
          <a:ln/>
        </p:spPr>
        <p:txBody>
          <a:bodyPr wrap="square" lIns="0" tIns="0" rIns="0" bIns="0" rtlCol="0" anchor="t"/>
          <a:lstStyle/>
          <a:p>
            <a:pPr marL="0" indent="0" algn="l">
              <a:buNone/>
            </a:pPr>
            <a:r>
              <a:rPr lang="en-US" sz="900" b="1" kern="0" spc="150" dirty="0">
                <a:solidFill>
                  <a:srgbClr val="EA5EC1"/>
                </a:solidFill>
                <a:latin typeface="Pretendard" pitchFamily="34" charset="0"/>
                <a:ea typeface="Pretendard" pitchFamily="34" charset="-122"/>
                <a:cs typeface="Pretendard" pitchFamily="34" charset="-120"/>
              </a:rPr>
              <a:t>BUSINESS LAYER</a:t>
            </a:r>
            <a:endParaRPr lang="en-US" sz="900" dirty="0"/>
          </a:p>
        </p:txBody>
      </p:sp>
      <p:sp>
        <p:nvSpPr>
          <p:cNvPr id="27" name="Text 24"/>
          <p:cNvSpPr/>
          <p:nvPr/>
        </p:nvSpPr>
        <p:spPr>
          <a:xfrm>
            <a:off x="2980944" y="4455367"/>
            <a:ext cx="2743200" cy="310896"/>
          </a:xfrm>
          <a:prstGeom prst="rect">
            <a:avLst/>
          </a:prstGeom>
          <a:noFill/>
          <a:ln/>
        </p:spPr>
        <p:txBody>
          <a:bodyPr wrap="square" lIns="0" tIns="0" rIns="0" bIns="0" rtlCol="0" anchor="t"/>
          <a:lstStyle/>
          <a:p>
            <a:pPr marL="0" indent="0" algn="l">
              <a:buNone/>
            </a:pPr>
            <a:r>
              <a:rPr lang="en-US" sz="1600" b="1" dirty="0">
                <a:solidFill>
                  <a:srgbClr val="222222"/>
                </a:solidFill>
                <a:latin typeface="Pretendard" pitchFamily="34" charset="0"/>
                <a:ea typeface="Pretendard" pitchFamily="34" charset="-122"/>
                <a:cs typeface="Pretendard" pitchFamily="34" charset="-120"/>
              </a:rPr>
              <a:t>비즈니스 계층</a:t>
            </a:r>
            <a:endParaRPr lang="en-US" sz="1600" dirty="0"/>
          </a:p>
        </p:txBody>
      </p:sp>
      <p:sp>
        <p:nvSpPr>
          <p:cNvPr id="28" name="Text 25"/>
          <p:cNvSpPr/>
          <p:nvPr/>
        </p:nvSpPr>
        <p:spPr>
          <a:xfrm>
            <a:off x="5724144" y="4473655"/>
            <a:ext cx="4364431" cy="274320"/>
          </a:xfrm>
          <a:prstGeom prst="rect">
            <a:avLst/>
          </a:prstGeom>
          <a:noFill/>
          <a:ln/>
        </p:spPr>
        <p:txBody>
          <a:bodyPr wrap="square" lIns="0" tIns="0" rIns="0" bIns="0" rtlCol="0" anchor="ctr"/>
          <a:lstStyle/>
          <a:p>
            <a:pPr marL="0" indent="0" algn="r">
              <a:buNone/>
            </a:pPr>
            <a:r>
              <a:rPr lang="en-US" sz="1100" b="1" dirty="0">
                <a:solidFill>
                  <a:srgbClr val="EA5EC1"/>
                </a:solidFill>
                <a:latin typeface="Pretendard" pitchFamily="34" charset="0"/>
                <a:ea typeface="Pretendard" pitchFamily="34" charset="-122"/>
                <a:cs typeface="Pretendard" pitchFamily="34" charset="-120"/>
              </a:rPr>
              <a:t>Domain Service · Spring Batch</a:t>
            </a:r>
            <a:endParaRPr lang="en-US" sz="1100" dirty="0"/>
          </a:p>
        </p:txBody>
      </p:sp>
      <p:sp>
        <p:nvSpPr>
          <p:cNvPr id="29" name="Text 26"/>
          <p:cNvSpPr/>
          <p:nvPr/>
        </p:nvSpPr>
        <p:spPr>
          <a:xfrm>
            <a:off x="5867248" y="4912567"/>
            <a:ext cx="457200" cy="237744"/>
          </a:xfrm>
          <a:prstGeom prst="rect">
            <a:avLst/>
          </a:prstGeom>
          <a:noFill/>
          <a:ln/>
        </p:spPr>
        <p:txBody>
          <a:bodyPr wrap="square" lIns="0" tIns="0" rIns="0" bIns="0" rtlCol="0" anchor="ctr"/>
          <a:lstStyle/>
          <a:p>
            <a:pPr marL="0" indent="0" algn="ctr">
              <a:buNone/>
            </a:pPr>
            <a:r>
              <a:rPr lang="en-US" sz="1400" b="1" dirty="0">
                <a:solidFill>
                  <a:srgbClr val="8E8E93"/>
                </a:solidFill>
                <a:latin typeface="Pretendard" pitchFamily="34" charset="0"/>
                <a:ea typeface="Pretendard" pitchFamily="34" charset="-122"/>
                <a:cs typeface="Pretendard" pitchFamily="34" charset="-120"/>
              </a:rPr>
              <a:t>▾</a:t>
            </a:r>
            <a:endParaRPr lang="en-US" sz="1400" dirty="0"/>
          </a:p>
        </p:txBody>
      </p:sp>
      <p:sp>
        <p:nvSpPr>
          <p:cNvPr id="30" name="Shape 27"/>
          <p:cNvSpPr/>
          <p:nvPr/>
        </p:nvSpPr>
        <p:spPr>
          <a:xfrm>
            <a:off x="1828800" y="5113735"/>
            <a:ext cx="8534095" cy="841248"/>
          </a:xfrm>
          <a:prstGeom prst="roundRect">
            <a:avLst>
              <a:gd name="adj" fmla="val 10870"/>
            </a:avLst>
          </a:prstGeom>
          <a:solidFill>
            <a:srgbClr val="FFFFFF"/>
          </a:solidFill>
          <a:ln w="12700">
            <a:solidFill>
              <a:srgbClr val="1456F0"/>
            </a:solidFill>
            <a:prstDash val="solid"/>
          </a:ln>
          <a:effectLst>
            <a:outerShdw blurRad="76200" dist="25400" dir="5400000" algn="bl" rotWithShape="0">
              <a:srgbClr val="000000">
                <a:alpha val="8000"/>
              </a:srgbClr>
            </a:outerShdw>
          </a:effectLst>
        </p:spPr>
      </p:sp>
      <p:sp>
        <p:nvSpPr>
          <p:cNvPr id="31" name="Shape 28"/>
          <p:cNvSpPr/>
          <p:nvPr/>
        </p:nvSpPr>
        <p:spPr>
          <a:xfrm>
            <a:off x="1828800" y="5113735"/>
            <a:ext cx="73152" cy="841248"/>
          </a:xfrm>
          <a:prstGeom prst="rect">
            <a:avLst/>
          </a:prstGeom>
          <a:solidFill>
            <a:srgbClr val="1456F0"/>
          </a:solidFill>
          <a:ln w="12700">
            <a:solidFill>
              <a:srgbClr val="1456F0"/>
            </a:solidFill>
            <a:prstDash val="solid"/>
          </a:ln>
        </p:spPr>
      </p:sp>
      <p:sp>
        <p:nvSpPr>
          <p:cNvPr id="34" name="Text 31"/>
          <p:cNvSpPr/>
          <p:nvPr/>
        </p:nvSpPr>
        <p:spPr>
          <a:xfrm>
            <a:off x="2980944" y="5260039"/>
            <a:ext cx="7107631" cy="182880"/>
          </a:xfrm>
          <a:prstGeom prst="rect">
            <a:avLst/>
          </a:prstGeom>
          <a:noFill/>
          <a:ln/>
        </p:spPr>
        <p:txBody>
          <a:bodyPr wrap="square" lIns="0" tIns="0" rIns="0" bIns="0" rtlCol="0" anchor="t"/>
          <a:lstStyle/>
          <a:p>
            <a:pPr marL="0" indent="0" algn="l">
              <a:buNone/>
            </a:pPr>
            <a:r>
              <a:rPr lang="en-US" sz="900" b="1" kern="0" spc="150" dirty="0">
                <a:solidFill>
                  <a:srgbClr val="1456F0"/>
                </a:solidFill>
                <a:latin typeface="Pretendard" pitchFamily="34" charset="0"/>
                <a:ea typeface="Pretendard" pitchFamily="34" charset="-122"/>
                <a:cs typeface="Pretendard" pitchFamily="34" charset="-120"/>
              </a:rPr>
              <a:t>DATA · INFRA LAYER</a:t>
            </a:r>
            <a:endParaRPr lang="en-US" sz="900" dirty="0"/>
          </a:p>
        </p:txBody>
      </p:sp>
      <p:sp>
        <p:nvSpPr>
          <p:cNvPr id="35" name="Text 32"/>
          <p:cNvSpPr/>
          <p:nvPr/>
        </p:nvSpPr>
        <p:spPr>
          <a:xfrm>
            <a:off x="2980944" y="5461207"/>
            <a:ext cx="2743200" cy="310896"/>
          </a:xfrm>
          <a:prstGeom prst="rect">
            <a:avLst/>
          </a:prstGeom>
          <a:noFill/>
          <a:ln/>
        </p:spPr>
        <p:txBody>
          <a:bodyPr wrap="square" lIns="0" tIns="0" rIns="0" bIns="0" rtlCol="0" anchor="t"/>
          <a:lstStyle/>
          <a:p>
            <a:pPr marL="0" indent="0" algn="l">
              <a:buNone/>
            </a:pPr>
            <a:r>
              <a:rPr lang="en-US" sz="1600" b="1" dirty="0">
                <a:solidFill>
                  <a:srgbClr val="222222"/>
                </a:solidFill>
                <a:latin typeface="Pretendard" pitchFamily="34" charset="0"/>
                <a:ea typeface="Pretendard" pitchFamily="34" charset="-122"/>
                <a:cs typeface="Pretendard" pitchFamily="34" charset="-120"/>
              </a:rPr>
              <a:t>데이터 · 인프라 계층</a:t>
            </a:r>
            <a:endParaRPr lang="en-US" sz="1600" dirty="0"/>
          </a:p>
        </p:txBody>
      </p:sp>
      <p:sp>
        <p:nvSpPr>
          <p:cNvPr id="36" name="Text 33"/>
          <p:cNvSpPr/>
          <p:nvPr/>
        </p:nvSpPr>
        <p:spPr>
          <a:xfrm>
            <a:off x="5724144" y="5479495"/>
            <a:ext cx="4364431" cy="274320"/>
          </a:xfrm>
          <a:prstGeom prst="rect">
            <a:avLst/>
          </a:prstGeom>
          <a:noFill/>
          <a:ln/>
        </p:spPr>
        <p:txBody>
          <a:bodyPr wrap="square" lIns="0" tIns="0" rIns="0" bIns="0" rtlCol="0" anchor="ctr"/>
          <a:lstStyle/>
          <a:p>
            <a:pPr marL="0" indent="0" algn="r">
              <a:buNone/>
            </a:pPr>
            <a:r>
              <a:rPr lang="en-US" sz="1100" b="1" dirty="0">
                <a:solidFill>
                  <a:srgbClr val="1456F0"/>
                </a:solidFill>
                <a:latin typeface="Pretendard" pitchFamily="34" charset="0"/>
                <a:ea typeface="Pretendard" pitchFamily="34" charset="-122"/>
                <a:cs typeface="Pretendard" pitchFamily="34" charset="-120"/>
              </a:rPr>
              <a:t>JPA · QueryDSL · MySQL · Redis</a:t>
            </a:r>
            <a:endParaRPr lang="en-US" sz="1100" dirty="0"/>
          </a:p>
        </p:txBody>
      </p:sp>
      <p:pic>
        <p:nvPicPr>
          <p:cNvPr id="39" name="그림 38">
            <a:extLst>
              <a:ext uri="{FF2B5EF4-FFF2-40B4-BE49-F238E27FC236}">
                <a16:creationId xmlns:a16="http://schemas.microsoft.com/office/drawing/2014/main" id="{CBF7D53F-B5A7-4181-BD26-9616C6C73F40}"/>
              </a:ext>
            </a:extLst>
          </p:cNvPr>
          <p:cNvPicPr>
            <a:picLocks noChangeAspect="1"/>
          </p:cNvPicPr>
          <p:nvPr/>
        </p:nvPicPr>
        <p:blipFill>
          <a:blip r:embed="rId4"/>
          <a:stretch>
            <a:fillRect/>
          </a:stretch>
        </p:blipFill>
        <p:spPr>
          <a:xfrm>
            <a:off x="2103425" y="2193067"/>
            <a:ext cx="630936" cy="630936"/>
          </a:xfrm>
          <a:prstGeom prst="rect">
            <a:avLst/>
          </a:prstGeom>
        </p:spPr>
      </p:pic>
      <p:pic>
        <p:nvPicPr>
          <p:cNvPr id="40" name="그림 39">
            <a:extLst>
              <a:ext uri="{FF2B5EF4-FFF2-40B4-BE49-F238E27FC236}">
                <a16:creationId xmlns:a16="http://schemas.microsoft.com/office/drawing/2014/main" id="{74DF5C20-538D-4B4B-8570-F8801693E322}"/>
              </a:ext>
            </a:extLst>
          </p:cNvPr>
          <p:cNvPicPr>
            <a:picLocks noChangeAspect="1"/>
          </p:cNvPicPr>
          <p:nvPr/>
        </p:nvPicPr>
        <p:blipFill>
          <a:blip r:embed="rId5"/>
          <a:stretch>
            <a:fillRect/>
          </a:stretch>
        </p:blipFill>
        <p:spPr>
          <a:xfrm>
            <a:off x="2148840" y="3234161"/>
            <a:ext cx="579276" cy="579276"/>
          </a:xfrm>
          <a:prstGeom prst="rect">
            <a:avLst/>
          </a:prstGeom>
        </p:spPr>
      </p:pic>
      <p:pic>
        <p:nvPicPr>
          <p:cNvPr id="41" name="그림 40">
            <a:extLst>
              <a:ext uri="{FF2B5EF4-FFF2-40B4-BE49-F238E27FC236}">
                <a16:creationId xmlns:a16="http://schemas.microsoft.com/office/drawing/2014/main" id="{C59C99A9-842F-4A07-A54A-72D1A95F56FC}"/>
              </a:ext>
            </a:extLst>
          </p:cNvPr>
          <p:cNvPicPr>
            <a:picLocks noChangeAspect="1"/>
          </p:cNvPicPr>
          <p:nvPr/>
        </p:nvPicPr>
        <p:blipFill>
          <a:blip r:embed="rId6"/>
          <a:stretch>
            <a:fillRect/>
          </a:stretch>
        </p:blipFill>
        <p:spPr>
          <a:xfrm>
            <a:off x="2107463" y="4222289"/>
            <a:ext cx="641852" cy="641852"/>
          </a:xfrm>
          <a:prstGeom prst="rect">
            <a:avLst/>
          </a:prstGeom>
        </p:spPr>
      </p:pic>
      <p:pic>
        <p:nvPicPr>
          <p:cNvPr id="42" name="그림 41">
            <a:extLst>
              <a:ext uri="{FF2B5EF4-FFF2-40B4-BE49-F238E27FC236}">
                <a16:creationId xmlns:a16="http://schemas.microsoft.com/office/drawing/2014/main" id="{31A26258-986F-4940-9A6E-406E530C2398}"/>
              </a:ext>
            </a:extLst>
          </p:cNvPr>
          <p:cNvPicPr>
            <a:picLocks noChangeAspect="1"/>
          </p:cNvPicPr>
          <p:nvPr/>
        </p:nvPicPr>
        <p:blipFill>
          <a:blip r:embed="rId7"/>
          <a:stretch>
            <a:fillRect/>
          </a:stretch>
        </p:blipFill>
        <p:spPr>
          <a:xfrm>
            <a:off x="2148841" y="5260040"/>
            <a:ext cx="579276" cy="579276"/>
          </a:xfrm>
          <a:prstGeom prst="rect">
            <a:avLst/>
          </a:prstGeom>
        </p:spPr>
      </p:pic>
      <p:sp>
        <p:nvSpPr>
          <p:cNvPr id="44" name="Text 1">
            <a:extLst>
              <a:ext uri="{FF2B5EF4-FFF2-40B4-BE49-F238E27FC236}">
                <a16:creationId xmlns:a16="http://schemas.microsoft.com/office/drawing/2014/main" id="{6153960A-60E7-4BA2-A92E-86D3FFF95536}"/>
              </a:ext>
            </a:extLst>
          </p:cNvPr>
          <p:cNvSpPr/>
          <p:nvPr/>
        </p:nvSpPr>
        <p:spPr>
          <a:xfrm>
            <a:off x="457200" y="6446520"/>
            <a:ext cx="2743200" cy="228600"/>
          </a:xfrm>
          <a:prstGeom prst="rect">
            <a:avLst/>
          </a:prstGeom>
          <a:noFill/>
          <a:ln/>
        </p:spPr>
        <p:txBody>
          <a:bodyPr wrap="square" lIns="0" tIns="0" rIns="0" bIns="0" rtlCol="0" anchor="ctr"/>
          <a:lstStyle/>
          <a:p>
            <a:pPr marL="0" indent="0" algn="l">
              <a:buNone/>
            </a:pPr>
            <a:r>
              <a:rPr lang="en-US" sz="10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14</a:t>
            </a:r>
            <a:endParaRPr lang="en-US" sz="1000" dirty="0">
              <a:latin typeface="Pretendard" panose="02000503000000020004" pitchFamily="50" charset="-127"/>
              <a:ea typeface="Pretendard" panose="02000503000000020004" pitchFamily="50" charset="-127"/>
              <a:cs typeface="Pretendard" panose="02000503000000020004" pitchFamily="50" charset="-127"/>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a:extLst>
              <a:ext uri="{FF2B5EF4-FFF2-40B4-BE49-F238E27FC236}">
                <a16:creationId xmlns:a16="http://schemas.microsoft.com/office/drawing/2014/main" id="{7583D6CB-80B7-49C1-8223-AF40E98A9F3C}"/>
              </a:ext>
            </a:extLst>
          </p:cNvPr>
          <p:cNvSpPr/>
          <p:nvPr/>
        </p:nvSpPr>
        <p:spPr>
          <a:xfrm>
            <a:off x="457200" y="1367027"/>
            <a:ext cx="11277295" cy="4211839"/>
          </a:xfrm>
          <a:prstGeom prst="rect">
            <a:avLst/>
          </a:prstGeom>
          <a:noFill/>
          <a:ln/>
        </p:spPr>
        <p:txBody>
          <a:bodyPr wrap="square" lIns="0" tIns="0" rIns="0" bIns="0" rtlCol="0" anchor="t"/>
          <a:lstStyle/>
          <a:p>
            <a:pPr algn="ctr"/>
            <a:endParaRPr lang="en-US" altLang="ko-KR" sz="6000" dirty="0">
              <a:latin typeface="Pretendard" panose="02000503000000020004" pitchFamily="50" charset="-127"/>
              <a:ea typeface="Pretendard" panose="02000503000000020004" pitchFamily="50" charset="-127"/>
              <a:cs typeface="Pretendard" panose="02000503000000020004" pitchFamily="50" charset="-127"/>
            </a:endParaRPr>
          </a:p>
          <a:p>
            <a:pPr algn="ctr"/>
            <a:endParaRPr lang="en-US" altLang="ko-KR" sz="6000" dirty="0">
              <a:latin typeface="Pretendard" panose="02000503000000020004" pitchFamily="50" charset="-127"/>
              <a:ea typeface="Pretendard" panose="02000503000000020004" pitchFamily="50" charset="-127"/>
              <a:cs typeface="Pretendard" panose="02000503000000020004" pitchFamily="50" charset="-127"/>
            </a:endParaRPr>
          </a:p>
          <a:p>
            <a:pPr algn="ctr"/>
            <a:r>
              <a:rPr lang="ko-KR" altLang="en-US" sz="6000" dirty="0">
                <a:latin typeface="Pretendard" panose="02000503000000020004" pitchFamily="50" charset="-127"/>
                <a:ea typeface="Pretendard" panose="02000503000000020004" pitchFamily="50" charset="-127"/>
                <a:cs typeface="Pretendard" panose="02000503000000020004" pitchFamily="50" charset="-127"/>
              </a:rPr>
              <a:t>감사합니다</a:t>
            </a:r>
            <a:r>
              <a:rPr lang="en-US" altLang="ko-KR" sz="6000" dirty="0">
                <a:latin typeface="Pretendard" panose="02000503000000020004" pitchFamily="50" charset="-127"/>
                <a:ea typeface="Pretendard" panose="02000503000000020004" pitchFamily="50" charset="-127"/>
                <a:cs typeface="Pretendard" panose="02000503000000020004" pitchFamily="50" charset="-127"/>
              </a:rPr>
              <a:t>.</a:t>
            </a:r>
            <a:endParaRPr lang="en-US" sz="6000" dirty="0">
              <a:latin typeface="Pretendard" panose="02000503000000020004" pitchFamily="50" charset="-127"/>
              <a:ea typeface="Pretendard" panose="02000503000000020004" pitchFamily="50" charset="-127"/>
              <a:cs typeface="Pretendard" panose="02000503000000020004" pitchFamily="50" charset="-127"/>
            </a:endParaRPr>
          </a:p>
        </p:txBody>
      </p:sp>
    </p:spTree>
    <p:extLst>
      <p:ext uri="{BB962C8B-B14F-4D97-AF65-F5344CB8AC3E}">
        <p14:creationId xmlns:p14="http://schemas.microsoft.com/office/powerpoint/2010/main" val="523585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3400</TotalTime>
  <Words>1163</Words>
  <Application>Microsoft Office PowerPoint</Application>
  <PresentationFormat>와이드스크린</PresentationFormat>
  <Paragraphs>421</Paragraphs>
  <Slides>15</Slides>
  <Notes>14</Notes>
  <HiddenSlides>0</HiddenSlides>
  <MMClips>0</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15</vt:i4>
      </vt:variant>
    </vt:vector>
  </HeadingPairs>
  <TitlesOfParts>
    <vt:vector size="20" baseType="lpstr">
      <vt:lpstr>Pretendard</vt:lpstr>
      <vt:lpstr>Calibri</vt:lpstr>
      <vt:lpstr>Arial</vt:lpstr>
      <vt:lpstr>맑은 고딕</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레거시 설문조사 서비스 개선</dc:title>
  <dc:subject>PptxGenJS Presentation</dc:subject>
  <dc:creator>웅진씽크빅</dc:creator>
  <cp:lastModifiedBy>user</cp:lastModifiedBy>
  <cp:revision>194</cp:revision>
  <dcterms:created xsi:type="dcterms:W3CDTF">2026-05-18T12:01:15Z</dcterms:created>
  <dcterms:modified xsi:type="dcterms:W3CDTF">2026-05-28T09:01:49Z</dcterms:modified>
</cp:coreProperties>
</file>