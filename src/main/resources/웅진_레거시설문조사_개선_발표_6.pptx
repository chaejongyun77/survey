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38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프로젝트 개요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웅진씽크빅 설문조사 서비스 운영 현황 분석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배경 및 목적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88230" y="149047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dirty="0" err="1"/>
              <a:t>웅진씽크빅은</a:t>
            </a:r>
            <a:r>
              <a:rPr lang="ko-KR" altLang="en-US" sz="1400" dirty="0"/>
              <a:t> 전국 지국 영업조직원을 대상으로 업무 만족도 및 제품 피드백 수집을 위해 설문조사 서비스를 적극 활용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234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배경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709640"/>
            <a:ext cx="5547208" cy="1399032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828512"/>
            <a:ext cx="64008" cy="128016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9"/>
          <p:cNvSpPr/>
          <p:nvPr/>
        </p:nvSpPr>
        <p:spPr>
          <a:xfrm>
            <a:off x="658368" y="28925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892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현황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8368" y="3212560"/>
            <a:ext cx="518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22222"/>
                </a:solidFill>
                <a:latin typeface=" pretender"/>
              </a:rPr>
              <a:t>본사에서 </a:t>
            </a:r>
            <a:r>
              <a:rPr lang="ko-KR" altLang="en-US" sz="1400" b="1" dirty="0">
                <a:solidFill>
                  <a:srgbClr val="222222"/>
                </a:solidFill>
                <a:latin typeface="PreT"/>
              </a:rPr>
              <a:t>적극적으로</a:t>
            </a:r>
            <a:r>
              <a:rPr lang="ko-KR" altLang="en-US" sz="1400" b="1" dirty="0">
                <a:solidFill>
                  <a:srgbClr val="222222"/>
                </a:solidFill>
                <a:latin typeface=" pretender"/>
              </a:rPr>
              <a:t> 활용하고 있는 설문조사 서비스</a:t>
            </a:r>
            <a:endParaRPr lang="en-US" sz="1400" dirty="0">
              <a:latin typeface=" pretender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8368" y="3550888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ko-KR" altLang="en-US" sz="1050" dirty="0"/>
              <a:t>전국 지국 영업조직원을 대상으로 업무 만족도 및 제품 피드백 수집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8368" y="3715480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ko-KR" altLang="en-US" sz="1050" dirty="0"/>
              <a:t>주 사용층인 </a:t>
            </a:r>
            <a:r>
              <a:rPr lang="en-US" altLang="ko-KR" sz="1050" dirty="0"/>
              <a:t>40~50</a:t>
            </a:r>
            <a:r>
              <a:rPr lang="ko-KR" altLang="en-US" sz="1050" dirty="0"/>
              <a:t>대 영업조직원의 접근성 고려 필요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87288" y="2709640"/>
            <a:ext cx="5547208" cy="1389888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Shape 15"/>
          <p:cNvSpPr/>
          <p:nvPr/>
        </p:nvSpPr>
        <p:spPr>
          <a:xfrm>
            <a:off x="6187288" y="2798303"/>
            <a:ext cx="64008" cy="12801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88456" y="28925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F4F2"/>
          </a:solidFill>
          <a:ln w="6350">
            <a:solidFill>
              <a:srgbClr val="F4B5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8456" y="2892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필요성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88456" y="3212560"/>
            <a:ext cx="518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관리자 효율성과 사용자 편의성 측면의 개선 필요</a:t>
            </a:r>
            <a:endParaRPr lang="en-US" sz="1400" b="1" dirty="0"/>
          </a:p>
        </p:txBody>
      </p:sp>
      <p:sp>
        <p:nvSpPr>
          <p:cNvPr id="22" name="Text 19"/>
          <p:cNvSpPr/>
          <p:nvPr/>
        </p:nvSpPr>
        <p:spPr>
          <a:xfrm>
            <a:off x="6388456" y="3531381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: </a:t>
            </a:r>
            <a:r>
              <a:rPr lang="ko-KR" altLang="en-US" sz="1050" dirty="0"/>
              <a:t>통계 해석 및 데이터 관리 효율성 부족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88456" y="3715480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: </a:t>
            </a:r>
            <a:r>
              <a:rPr lang="ko-KR" altLang="en-US" sz="1050" dirty="0"/>
              <a:t>직관적이지 않은 </a:t>
            </a:r>
            <a:r>
              <a:rPr lang="en-US" altLang="ko-KR" sz="1050" dirty="0"/>
              <a:t>UI·UX</a:t>
            </a:r>
            <a:r>
              <a:rPr lang="ko-KR" altLang="en-US" sz="1050" dirty="0"/>
              <a:t>로 설문 참여 부담 증가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" y="450799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목적</a:t>
            </a: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기존 핵심 기능은 유지하면서 3가지 방향으로 고도화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4928616"/>
            <a:ext cx="3637178" cy="1252728"/>
          </a:xfrm>
          <a:prstGeom prst="roundRect">
            <a:avLst>
              <a:gd name="adj" fmla="val 11679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4928616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5074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3134258" y="512978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34258" y="5129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58368" y="5577840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kern="0" spc="-2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</a:t>
            </a:r>
            <a:r>
              <a:rPr lang="en-US" sz="1350" b="1" kern="0" spc="-2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350" b="1" kern="0" spc="-2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다운로드 </a:t>
            </a:r>
            <a:r>
              <a:rPr lang="en-US" sz="1350" b="1" kern="0" spc="-2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</a:t>
            </a:r>
            <a:r>
              <a:rPr lang="en-US" sz="1350" b="1" kern="0" spc="-2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50" b="1" kern="0" spc="-2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</a:t>
            </a:r>
            <a:r>
              <a:rPr lang="en-US" sz="1350" b="1" kern="0" spc="-2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350" b="1" kern="0" spc="-2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58368" y="5797296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277258" y="4928616"/>
            <a:ext cx="3637178" cy="1252728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277258" y="4928616"/>
            <a:ext cx="363717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78426" y="5074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6954317" y="512978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54317" y="5129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460139" y="5584207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350" b="1" kern="0" spc="-2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 </a:t>
            </a:r>
            <a:r>
              <a:rPr lang="en-US" sz="1350" b="1" kern="0" spc="-2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</a:t>
            </a:r>
            <a:r>
              <a:rPr lang="en-US" sz="1350" b="1" kern="0" spc="-2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편의성 향상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4478426" y="5797296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097317" y="4928616"/>
            <a:ext cx="3637178" cy="1252728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097317" y="4928616"/>
            <a:ext cx="3637178" cy="54864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98485" y="5074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10774375" y="512978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74375" y="5129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298485" y="5554596"/>
            <a:ext cx="3271418" cy="42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b="1" dirty="0"/>
              <a:t>Java/Spring </a:t>
            </a:r>
            <a:r>
              <a:rPr lang="ko-KR" altLang="en-US" sz="1400" b="1" dirty="0"/>
              <a:t>기반 </a:t>
            </a:r>
            <a:r>
              <a:rPr lang="ko-KR" altLang="en-US" sz="1400" b="1" dirty="0" err="1"/>
              <a:t>재구현</a:t>
            </a:r>
            <a:r>
              <a:rPr lang="ko-KR" altLang="en-US" sz="1400" b="1" dirty="0"/>
              <a:t> 및</a:t>
            </a:r>
            <a:endParaRPr lang="en-US" altLang="ko-KR" sz="1400" b="1" dirty="0"/>
          </a:p>
          <a:p>
            <a:pPr algn="ctr"/>
            <a:r>
              <a:rPr lang="ko-KR" altLang="en-US" sz="1400" b="1" dirty="0"/>
              <a:t> 유지보수성 향상</a:t>
            </a:r>
            <a:endParaRPr lang="en-US" sz="1350" b="1" dirty="0"/>
          </a:p>
        </p:txBody>
      </p:sp>
      <p:sp>
        <p:nvSpPr>
          <p:cNvPr id="46" name="Text 43"/>
          <p:cNvSpPr/>
          <p:nvPr/>
        </p:nvSpPr>
        <p:spPr>
          <a:xfrm>
            <a:off x="8298485" y="5797296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48" name="Text 5"/>
          <p:cNvSpPr/>
          <p:nvPr/>
        </p:nvSpPr>
        <p:spPr>
          <a:xfrm>
            <a:off x="457200" y="19964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50" name="Text 21"/>
          <p:cNvSpPr/>
          <p:nvPr/>
        </p:nvSpPr>
        <p:spPr>
          <a:xfrm>
            <a:off x="457200" y="4270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DCFE9A50-C47F-4166-BC8C-B0741817BCC2}"/>
              </a:ext>
            </a:extLst>
          </p:cNvPr>
          <p:cNvSpPr/>
          <p:nvPr/>
        </p:nvSpPr>
        <p:spPr>
          <a:xfrm>
            <a:off x="6388456" y="3899579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ko-KR" altLang="en-US" sz="105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: </a:t>
            </a:r>
            <a:r>
              <a:rPr lang="ko-KR" altLang="en-US" sz="1050" dirty="0" err="1"/>
              <a:t>레거시</a:t>
            </a:r>
            <a:r>
              <a:rPr lang="ko-KR" altLang="en-US" sz="1050" dirty="0"/>
              <a:t> 구조로 인한 유지보수 및 확장성 한계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기존 시스템 진단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영업조직원 인터뷰 · 사용성 테스트 결과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시스템의 한계점 (1) 사용자 측면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/>
              <a:t>기존 설문 응답 과정에서 사용자가 겪는 </a:t>
            </a:r>
            <a:r>
              <a:rPr lang="en-US" altLang="ko-KR" sz="1600" dirty="0"/>
              <a:t>4</a:t>
            </a:r>
            <a:r>
              <a:rPr lang="ko-KR" altLang="en-US" sz="1600" dirty="0"/>
              <a:t>가지 불편 요소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4846320" cy="3611880"/>
          </a:xfrm>
          <a:prstGeom prst="roundRect">
            <a:avLst>
              <a:gd name="adj" fmla="val 4051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331720"/>
            <a:ext cx="4846320" cy="384048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2459736"/>
            <a:ext cx="128016" cy="128016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459736"/>
            <a:ext cx="128016" cy="128016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2459736"/>
            <a:ext cx="128016" cy="128016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80160" y="2423160"/>
            <a:ext cx="38404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25880" y="2423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설문조사 화면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화면 캡처 영역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설문조사 서비스의 응답 화면 스크린샷이 위치합니다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5568" y="54406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레거시 설문조사 서비스 응답 화면 (영업조직원 사용자 화면)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77840" y="2331720"/>
            <a:ext cx="6156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</a:rPr>
              <a:t>Problem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77840" y="2542032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과정에서 사용자가 겪는 4가지 불편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577840" y="2907792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2907792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79008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01868" y="3291840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문항 유형별 응답 방식 인지 어려움</a:t>
            </a:r>
            <a:endParaRPr lang="en-US" sz="1300" b="1" dirty="0"/>
          </a:p>
        </p:txBody>
      </p:sp>
      <p:sp>
        <p:nvSpPr>
          <p:cNvPr id="28" name="Text 25"/>
          <p:cNvSpPr/>
          <p:nvPr/>
        </p:nvSpPr>
        <p:spPr>
          <a:xfrm>
            <a:off x="5779008" y="3803904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단일선택</a:t>
            </a:r>
            <a:r>
              <a:rPr lang="en-US" altLang="ko-KR" sz="1000" dirty="0"/>
              <a:t>, </a:t>
            </a:r>
            <a:r>
              <a:rPr lang="ko-KR" altLang="en-US" sz="1000" dirty="0"/>
              <a:t>복수선택</a:t>
            </a:r>
            <a:r>
              <a:rPr lang="en-US" altLang="ko-KR" sz="1000" dirty="0"/>
              <a:t>, </a:t>
            </a:r>
            <a:r>
              <a:rPr lang="ko-KR" altLang="en-US" sz="1000" dirty="0"/>
              <a:t>순위선택형 등 사용자가 응답 방법을 파악하는 데 시간이 소요됩니다</a:t>
            </a:r>
            <a:r>
              <a:rPr lang="en-US" altLang="ko-KR" sz="1000" dirty="0"/>
              <a:t>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747608" y="2907792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Shape 27"/>
          <p:cNvSpPr/>
          <p:nvPr/>
        </p:nvSpPr>
        <p:spPr>
          <a:xfrm>
            <a:off x="8747608" y="2907792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48776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0820095" y="30723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948776" y="3291840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조건분기 응답 흐름 파악 어려움</a:t>
            </a:r>
            <a:endParaRPr lang="en-US" sz="1300" b="1" dirty="0"/>
          </a:p>
        </p:txBody>
      </p:sp>
      <p:sp>
        <p:nvSpPr>
          <p:cNvPr id="35" name="Text 32"/>
          <p:cNvSpPr/>
          <p:nvPr/>
        </p:nvSpPr>
        <p:spPr>
          <a:xfrm>
            <a:off x="8948776" y="3803904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특정 선택지에 따라</a:t>
            </a:r>
            <a:r>
              <a:rPr lang="en-US" altLang="ko-KR" sz="1000" dirty="0"/>
              <a:t> </a:t>
            </a:r>
            <a:r>
              <a:rPr lang="ko-KR" altLang="en-US" sz="1000" dirty="0"/>
              <a:t>연결 관계와 화면 변화가 즉시 드러나지 않아 사용자가 조건분기 구조를 인지하기 어렵습니다</a:t>
            </a:r>
            <a:r>
              <a:rPr lang="en-US" altLang="ko-KR" sz="1000" dirty="0"/>
              <a:t>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577840" y="4507992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577840" y="4507992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79008" y="4672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779008" y="5010912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페이지 이탈 시 작성 내용 유실</a:t>
            </a:r>
            <a:endParaRPr lang="en-US" sz="1300" b="1" dirty="0"/>
          </a:p>
        </p:txBody>
      </p:sp>
      <p:sp>
        <p:nvSpPr>
          <p:cNvPr id="42" name="Text 39"/>
          <p:cNvSpPr/>
          <p:nvPr/>
        </p:nvSpPr>
        <p:spPr>
          <a:xfrm>
            <a:off x="5779008" y="5404104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작성 중 화면을 벗어나면 입력한 응답이 보존되지 않아</a:t>
            </a:r>
            <a:r>
              <a:rPr lang="en-US" altLang="ko-KR" sz="1000" dirty="0"/>
              <a:t>, </a:t>
            </a:r>
            <a:r>
              <a:rPr lang="ko-KR" altLang="en-US" sz="1000" dirty="0"/>
              <a:t>처음부터 다시 작성해야 하는 부담이 발생합니다</a:t>
            </a:r>
            <a:r>
              <a:rPr lang="en-US" altLang="ko-KR" sz="1000" dirty="0"/>
              <a:t>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747608" y="4507992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747608" y="4507992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48776" y="4672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948776" y="5010912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설문 진행 상태 확인 어려움</a:t>
            </a:r>
            <a:endParaRPr lang="en-US" sz="1300" b="1" dirty="0"/>
          </a:p>
        </p:txBody>
      </p:sp>
      <p:sp>
        <p:nvSpPr>
          <p:cNvPr id="49" name="Text 46"/>
          <p:cNvSpPr/>
          <p:nvPr/>
        </p:nvSpPr>
        <p:spPr>
          <a:xfrm>
            <a:off x="8948776" y="5404104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전체 문항 대비 남은 문항 수를 확인하기 어려워</a:t>
            </a:r>
            <a:r>
              <a:rPr lang="en-US" altLang="ko-KR" sz="1000" dirty="0"/>
              <a:t> </a:t>
            </a:r>
            <a:r>
              <a:rPr lang="ko-KR" altLang="en-US" sz="1000" dirty="0"/>
              <a:t>사용자가 설문 완료까지의 소요를 예측하기 어렵습니다</a:t>
            </a:r>
            <a:r>
              <a:rPr lang="en-US" altLang="ko-KR" sz="1000" dirty="0"/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기존 시스템 진단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본사 운영 담당자 인터뷰 · 통계 화면 사용성 분석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시스템의 한계점 (2) 관리자 측면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/>
              <a:t>설문 관리 측면에서 관리자가 겪는 </a:t>
            </a:r>
            <a:r>
              <a:rPr lang="en-US" altLang="ko-KR" sz="1600" dirty="0"/>
              <a:t>3</a:t>
            </a:r>
            <a:r>
              <a:rPr lang="ko-KR" altLang="en-US" sz="1600" dirty="0"/>
              <a:t>가지 불편 요소</a:t>
            </a:r>
            <a:endParaRPr lang="en-US" altLang="ko-KR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520598"/>
            <a:ext cx="4846320" cy="3611880"/>
          </a:xfrm>
          <a:prstGeom prst="roundRect">
            <a:avLst>
              <a:gd name="adj" fmla="val 4051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4846320" cy="384048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2459736"/>
            <a:ext cx="128016" cy="128016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459736"/>
            <a:ext cx="128016" cy="128016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2459736"/>
            <a:ext cx="128016" cy="128016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80160" y="2423160"/>
            <a:ext cx="38404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25880" y="2423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통계 분석 화면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화면 캡처 영역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설문 통계 화면(숫자 위주 결과) 스크린샷이 위치합니다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5440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80160" y="54406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레거시 설문조사 서비스 통계 화면 (본사 관리자 화면)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77840" y="2542032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측면에서 </a:t>
            </a:r>
            <a:r>
              <a:rPr lang="en-US" sz="14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관리자가</a:t>
            </a: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겪는 3가지 불편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577840" y="2907792"/>
            <a:ext cx="6156655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2907792"/>
            <a:ext cx="64008" cy="10515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79008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779008" y="3383280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텍스트 중심 통계 화면으로 한눈에 파악 어려움</a:t>
            </a:r>
            <a:r>
              <a:rPr lang="ko-KR" altLang="en-US" sz="1400" dirty="0"/>
              <a:t> 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779008" y="3694176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/>
              <a:t>텍스트 중심 통계 화면으로 주요 결과를 관리자가 빠르게 파악하기 어려움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577840" y="4123944"/>
            <a:ext cx="6156655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577840" y="4123944"/>
            <a:ext cx="64008" cy="10515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79008" y="4288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779008" y="4599432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전체 응답률 및 비율 통계 해석 어려움</a:t>
            </a:r>
            <a:r>
              <a:rPr lang="ko-KR" altLang="en-US" sz="1400" dirty="0"/>
              <a:t> </a:t>
            </a:r>
            <a:endParaRPr lang="en-US" sz="1400" b="1" dirty="0"/>
          </a:p>
        </p:txBody>
      </p:sp>
      <p:sp>
        <p:nvSpPr>
          <p:cNvPr id="35" name="Text 32"/>
          <p:cNvSpPr/>
          <p:nvPr/>
        </p:nvSpPr>
        <p:spPr>
          <a:xfrm>
            <a:off x="5779008" y="4910328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/>
              <a:t>응답 수 중심으로만 제공되어 설문 전체 응답률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미응답</a:t>
            </a:r>
            <a:r>
              <a:rPr lang="ko-KR" altLang="en-US" sz="1050" dirty="0"/>
              <a:t> 현황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보기별</a:t>
            </a:r>
            <a:r>
              <a:rPr lang="ko-KR" altLang="en-US" sz="1050" dirty="0"/>
              <a:t> 비율을 직관적으로 해석하기 어려움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577840" y="5340096"/>
            <a:ext cx="6156655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577840" y="5340096"/>
            <a:ext cx="64008" cy="10515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79008" y="5504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779008" y="5815584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엑셀 다운로드 이력 관리 부재</a:t>
            </a:r>
            <a:r>
              <a:rPr lang="ko-KR" altLang="en-US" sz="1400" dirty="0"/>
              <a:t> 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779008" y="6126480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/>
              <a:t>통계 파일 다운로드 이력이 남지 않아 데이터 다운로드 내역 추적과 관리 안정성 확보에 한계 </a:t>
            </a:r>
            <a:endParaRPr lang="en-US" sz="105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17FA2E85-F28A-42DB-997E-598CA4ACF1A2}"/>
              </a:ext>
            </a:extLst>
          </p:cNvPr>
          <p:cNvSpPr/>
          <p:nvPr/>
        </p:nvSpPr>
        <p:spPr>
          <a:xfrm>
            <a:off x="5577840" y="2331720"/>
            <a:ext cx="6156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</a:rPr>
              <a:t>Problem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개선 방향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프로젝트 To-Be 설계안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핵심 개선 </a:t>
            </a:r>
            <a:r>
              <a:rPr lang="en-US" sz="3600" b="1" kern="0" spc="-5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</a:t>
            </a: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 To-Be )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/>
              <a:t>기존 핵심 기능은 유지하면서 </a:t>
            </a:r>
            <a:r>
              <a:rPr lang="ko-KR" altLang="en-US" sz="1600" b="1" dirty="0"/>
              <a:t>관리자 효율성</a:t>
            </a:r>
            <a:r>
              <a:rPr lang="en-US" altLang="ko-KR" sz="1600" dirty="0"/>
              <a:t>, </a:t>
            </a:r>
            <a:r>
              <a:rPr lang="ko-KR" altLang="en-US" sz="1600" b="1" dirty="0"/>
              <a:t>사용자 편의성</a:t>
            </a:r>
            <a:r>
              <a:rPr lang="en-US" altLang="ko-KR" sz="1600" dirty="0"/>
              <a:t>, </a:t>
            </a:r>
            <a:r>
              <a:rPr lang="ko-KR" altLang="en-US" sz="1600" b="1" dirty="0"/>
              <a:t>시스템 유지보수성</a:t>
            </a:r>
            <a:r>
              <a:rPr lang="ko-KR" altLang="en-US" sz="1600" dirty="0"/>
              <a:t>을 중심으로 </a:t>
            </a:r>
            <a:r>
              <a:rPr lang="ko-KR" altLang="en-US" sz="1600" dirty="0" err="1"/>
              <a:t>고도화했습니다</a:t>
            </a:r>
            <a:r>
              <a:rPr lang="en-US" altLang="ko-KR" sz="1600" dirty="0"/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395728"/>
            <a:ext cx="3637178" cy="3971803"/>
          </a:xfrm>
          <a:prstGeom prst="roundRect">
            <a:avLst>
              <a:gd name="adj" fmla="val 4525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331720"/>
            <a:ext cx="3637178" cy="6400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5877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587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TRACK 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645920" y="2587752"/>
            <a:ext cx="2311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· 본사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8368" y="297180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b="1" dirty="0"/>
              <a:t>설문 통계 분석 및 이력 관리 강화</a:t>
            </a:r>
            <a:endParaRPr lang="en-US" sz="1600" b="1" dirty="0"/>
          </a:p>
        </p:txBody>
      </p:sp>
      <p:sp>
        <p:nvSpPr>
          <p:cNvPr id="14" name="Text 11"/>
          <p:cNvSpPr/>
          <p:nvPr/>
        </p:nvSpPr>
        <p:spPr>
          <a:xfrm>
            <a:off x="658368" y="3410712"/>
            <a:ext cx="327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/>
              <a:t>통계 가독성과 이력 추적성을 함께 강화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" y="3813048"/>
            <a:ext cx="323484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968496"/>
            <a:ext cx="201168" cy="20116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14400" y="3931920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/>
              <a:t>전체 응답률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비율 기반 통계 시각화</a:t>
            </a:r>
            <a:endParaRPr lang="en-US" sz="1150" b="1" dirty="0"/>
          </a:p>
        </p:txBody>
      </p:sp>
      <p:sp>
        <p:nvSpPr>
          <p:cNvPr id="19" name="Text 16"/>
          <p:cNvSpPr/>
          <p:nvPr/>
        </p:nvSpPr>
        <p:spPr>
          <a:xfrm>
            <a:off x="914400" y="420624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총 대상자</a:t>
            </a:r>
            <a:r>
              <a:rPr lang="en-US" altLang="ko-KR" sz="1000" dirty="0"/>
              <a:t>, </a:t>
            </a:r>
            <a:r>
              <a:rPr lang="ko-KR" altLang="en-US" sz="1000" dirty="0"/>
              <a:t>응답 완료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미응답</a:t>
            </a:r>
            <a:r>
              <a:rPr lang="en-US" altLang="ko-KR" sz="1000" dirty="0"/>
              <a:t>, </a:t>
            </a:r>
            <a:r>
              <a:rPr lang="ko-KR" altLang="en-US" sz="1000" dirty="0"/>
              <a:t>응답률을 카드 및 막대그래프 </a:t>
            </a:r>
            <a:r>
              <a:rPr lang="en-US" altLang="ko-KR" sz="1000" dirty="0"/>
              <a:t>UI</a:t>
            </a:r>
            <a:r>
              <a:rPr lang="ko-KR" altLang="en-US" sz="1000" dirty="0"/>
              <a:t>로 제공하여 설문 진행 현황을 한눈에 파악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58368" y="4782313"/>
            <a:ext cx="201168" cy="20116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478231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14400" y="4745737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/>
              <a:t>통계 유형별 엑셀 시트 분리</a:t>
            </a:r>
            <a:endParaRPr lang="en-US" sz="1150" b="1" dirty="0"/>
          </a:p>
        </p:txBody>
      </p:sp>
      <p:sp>
        <p:nvSpPr>
          <p:cNvPr id="23" name="Text 20"/>
          <p:cNvSpPr/>
          <p:nvPr/>
        </p:nvSpPr>
        <p:spPr>
          <a:xfrm>
            <a:off x="914400" y="5020057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설문 요약</a:t>
            </a:r>
            <a:r>
              <a:rPr lang="en-US" altLang="ko-KR" sz="1000" dirty="0"/>
              <a:t>·</a:t>
            </a:r>
            <a:r>
              <a:rPr lang="ko-KR" altLang="en-US" sz="1000" dirty="0" err="1"/>
              <a:t>조직별</a:t>
            </a:r>
            <a:r>
              <a:rPr lang="en-US" altLang="ko-KR" sz="1000" dirty="0"/>
              <a:t>·</a:t>
            </a:r>
            <a:r>
              <a:rPr lang="ko-KR" altLang="en-US" sz="1000" dirty="0"/>
              <a:t>문항별</a:t>
            </a:r>
            <a:r>
              <a:rPr lang="en-US" altLang="ko-KR" sz="1000" dirty="0"/>
              <a:t>·</a:t>
            </a:r>
            <a:r>
              <a:rPr lang="ko-KR" altLang="en-US" sz="1000" dirty="0"/>
              <a:t>응답자별 시트를 분리해 데이터 확인 및 재가공 편의성 강화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58368" y="5532121"/>
            <a:ext cx="201168" cy="20116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5532121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14400" y="5495545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다운로드 이력 추적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14400" y="5769865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다운로드 사용자와 시점을 기록하고 팝업으로 조회해 데이터 추적성 및 관리 안정성 확보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258971" y="2331719"/>
            <a:ext cx="3637178" cy="4035811"/>
          </a:xfrm>
          <a:prstGeom prst="roundRect">
            <a:avLst>
              <a:gd name="adj" fmla="val 4525"/>
            </a:avLst>
          </a:prstGeom>
          <a:solidFill>
            <a:srgbClr val="FDEEF8"/>
          </a:solidFill>
          <a:ln w="9525">
            <a:solidFill>
              <a:srgbClr val="F4C2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277258" y="2331720"/>
            <a:ext cx="3637178" cy="64008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78426" y="25877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78426" y="2587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TRACK 02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65978" y="2587752"/>
            <a:ext cx="2311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· 영업조직원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478426" y="297180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2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 참여 편의성 향상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478426" y="3410712"/>
            <a:ext cx="327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/>
              <a:t>직관적인 응답 화면과 설문 상태 유지로 설문 참여 부담 완화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478426" y="3813048"/>
            <a:ext cx="323484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78426" y="3968496"/>
            <a:ext cx="201168" cy="20116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78426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734458" y="3931920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/>
              <a:t>설문 응답 화면 </a:t>
            </a:r>
            <a:r>
              <a:rPr lang="en-US" altLang="ko-KR" sz="1200" b="1" dirty="0"/>
              <a:t>UI </a:t>
            </a:r>
            <a:r>
              <a:rPr lang="ko-KR" altLang="en-US" sz="1200" b="1" dirty="0"/>
              <a:t>및 </a:t>
            </a:r>
            <a:r>
              <a:rPr lang="en-US" altLang="ko-KR" sz="1200" b="1" dirty="0"/>
              <a:t>UX </a:t>
            </a:r>
            <a:r>
              <a:rPr lang="ko-KR" altLang="en-US" sz="1200" b="1" dirty="0"/>
              <a:t>개선</a:t>
            </a:r>
            <a:endParaRPr lang="en-US" sz="1150" b="1" dirty="0"/>
          </a:p>
        </p:txBody>
      </p:sp>
      <p:sp>
        <p:nvSpPr>
          <p:cNvPr id="39" name="Text 36"/>
          <p:cNvSpPr/>
          <p:nvPr/>
        </p:nvSpPr>
        <p:spPr>
          <a:xfrm>
            <a:off x="4734458" y="420624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문항 유형을 명확히 구분하고 조건분기 흐름을 명시해서</a:t>
            </a:r>
            <a:r>
              <a:rPr lang="en-US" altLang="ko-KR" sz="1000" dirty="0"/>
              <a:t> </a:t>
            </a:r>
            <a:r>
              <a:rPr lang="ko-KR" altLang="en-US" sz="1000" dirty="0"/>
              <a:t>참여자의</a:t>
            </a:r>
            <a:r>
              <a:rPr lang="en-US" altLang="ko-KR" sz="1000" dirty="0"/>
              <a:t> </a:t>
            </a:r>
            <a:r>
              <a:rPr lang="ko-KR" altLang="en-US" sz="1000" dirty="0"/>
              <a:t>응답 방식 인지 부담 완화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460139" y="4718304"/>
            <a:ext cx="201168" cy="20116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460139" y="4718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716171" y="4681728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진행률 표시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4716171" y="4956048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전체 문항 대비 남은 문항 수를 시각화해 참여자가 설문 완료 시점을 예측 가능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460139" y="5468112"/>
            <a:ext cx="201168" cy="20116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460139" y="5468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716171" y="5431536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/>
              <a:t>임시저장 및 이어하기 프로세스 도입</a:t>
            </a:r>
            <a:endParaRPr lang="en-US" sz="1150" b="1" dirty="0"/>
          </a:p>
        </p:txBody>
      </p:sp>
      <p:sp>
        <p:nvSpPr>
          <p:cNvPr id="47" name="Text 44"/>
          <p:cNvSpPr/>
          <p:nvPr/>
        </p:nvSpPr>
        <p:spPr>
          <a:xfrm>
            <a:off x="4716171" y="5705856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페이지 이탈</a:t>
            </a:r>
            <a:r>
              <a:rPr lang="en-US" altLang="ko-KR" sz="1000" dirty="0"/>
              <a:t> </a:t>
            </a:r>
            <a:r>
              <a:rPr lang="ko-KR" altLang="en-US" sz="1000" dirty="0"/>
              <a:t>및 중단 시에도 작성 내용을 보존하고</a:t>
            </a:r>
            <a:r>
              <a:rPr lang="en-US" altLang="ko-KR" sz="1000" dirty="0"/>
              <a:t> </a:t>
            </a:r>
            <a:r>
              <a:rPr lang="ko-KR" altLang="en-US" sz="1000" dirty="0" err="1"/>
              <a:t>재접속</a:t>
            </a:r>
            <a:r>
              <a:rPr lang="ko-KR" altLang="en-US" sz="1000" dirty="0"/>
              <a:t> 시 중단 지점부터 이어서 참여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133891" y="2328023"/>
            <a:ext cx="3637178" cy="4035810"/>
          </a:xfrm>
          <a:prstGeom prst="roundRect">
            <a:avLst>
              <a:gd name="adj" fmla="val 4525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8097317" y="2331720"/>
            <a:ext cx="3637178" cy="64008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298485" y="25877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98485" y="2587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TRACK 03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9286037" y="2587752"/>
            <a:ext cx="2311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· 아키텍처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8298485" y="297180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2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유지보수성 및 확장성 향상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298485" y="3410712"/>
            <a:ext cx="327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50" dirty="0"/>
              <a:t>Java/Spring </a:t>
            </a:r>
            <a:r>
              <a:rPr lang="ko-KR" altLang="en-US" sz="1050" dirty="0"/>
              <a:t>기반 재구현으로 유지보수 가능한 운영 구조 마련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8298485" y="3813048"/>
            <a:ext cx="323484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298485" y="3968496"/>
            <a:ext cx="201168" cy="201168"/>
          </a:xfrm>
          <a:prstGeom prst="ellipse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298485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8554517" y="3931920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.NET 레거시 → Java / Spring 재구현</a:t>
            </a:r>
            <a:endParaRPr lang="en-US" sz="1150" dirty="0"/>
          </a:p>
        </p:txBody>
      </p:sp>
      <p:sp>
        <p:nvSpPr>
          <p:cNvPr id="59" name="Text 56"/>
          <p:cNvSpPr/>
          <p:nvPr/>
        </p:nvSpPr>
        <p:spPr>
          <a:xfrm>
            <a:off x="8554517" y="420624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기존 </a:t>
            </a:r>
            <a:r>
              <a:rPr lang="en-US" altLang="ko-KR" sz="1000" dirty="0"/>
              <a:t>.NET </a:t>
            </a:r>
            <a:r>
              <a:rPr lang="ko-KR" altLang="en-US" sz="1000" dirty="0"/>
              <a:t>기반 설문 시스템을 </a:t>
            </a:r>
            <a:r>
              <a:rPr lang="en-US" altLang="ko-KR" sz="1000" dirty="0"/>
              <a:t>Java/Spring </a:t>
            </a:r>
            <a:r>
              <a:rPr lang="ko-KR" altLang="en-US" sz="1000" dirty="0"/>
              <a:t>환경으로 </a:t>
            </a:r>
            <a:r>
              <a:rPr lang="ko-KR" altLang="en-US" sz="1000" dirty="0" err="1"/>
              <a:t>재구현하여</a:t>
            </a:r>
            <a:r>
              <a:rPr lang="en-US" altLang="ko-KR" sz="1000" dirty="0"/>
              <a:t> </a:t>
            </a:r>
            <a:r>
              <a:rPr lang="ko-KR" altLang="en-US" sz="1000" dirty="0"/>
              <a:t>사내 개발</a:t>
            </a:r>
            <a:r>
              <a:rPr lang="en-US" altLang="ko-KR" sz="1000" dirty="0"/>
              <a:t> </a:t>
            </a:r>
            <a:r>
              <a:rPr lang="ko-KR" altLang="en-US" sz="1000" dirty="0"/>
              <a:t>및 운영 체계에 맞는 유지보수 기반 마련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8280198" y="4718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주요 개선 기능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UI/UX 개선안 · 사용성 검증 결과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개선 기능 (1) 직관적 UI 및 UX 개</a:t>
            </a:r>
            <a:r>
              <a:rPr lang="ko-KR" alt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/>
              <a:t>설문 참여자가 쉽게 이해하고 응답할 수 있도록 화면 구조와 응답 흐름을 개선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5455768" cy="2331720"/>
          </a:xfrm>
          <a:prstGeom prst="roundRect">
            <a:avLst>
              <a:gd name="adj" fmla="val 6275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331720"/>
            <a:ext cx="5455768" cy="347472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2441448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2441448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2688" y="2441448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88720" y="2414016"/>
            <a:ext cx="454136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2414016"/>
            <a:ext cx="444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설문조사 화면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200400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화면 캡처 영역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3520440"/>
            <a:ext cx="545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설문 응답 화면 스크린샷이 위치합니다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42062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206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278728" y="2331720"/>
            <a:ext cx="5455768" cy="2331720"/>
          </a:xfrm>
          <a:prstGeom prst="roundRect">
            <a:avLst>
              <a:gd name="adj" fmla="val 6275"/>
            </a:avLst>
          </a:prstGeom>
          <a:solidFill>
            <a:srgbClr val="F4F8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78728" y="2331720"/>
            <a:ext cx="5455768" cy="347472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25032" y="2441448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9624" y="2441448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54216" y="2441448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010248" y="2414016"/>
            <a:ext cx="454136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55968" y="2414016"/>
            <a:ext cx="444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개선된 설문조사 화면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78728" y="3200400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화면 캡처 영역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278728" y="3520440"/>
            <a:ext cx="545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개선된 설문 응답 화면 스크린샷이 위치합니다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61608" y="42062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61608" y="4206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894680" y="3296412"/>
            <a:ext cx="402336" cy="40233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894680" y="32964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457200" y="4800600"/>
            <a:ext cx="3637178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57200" y="4800600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" y="4983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3179978" y="502005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179978" y="5020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가독성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58368" y="5440680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설문 응답 화면 가독성 개선</a:t>
            </a:r>
            <a:endParaRPr lang="en-US" sz="1350" b="1" dirty="0"/>
          </a:p>
        </p:txBody>
      </p:sp>
      <p:sp>
        <p:nvSpPr>
          <p:cNvPr id="40" name="Text 37"/>
          <p:cNvSpPr/>
          <p:nvPr/>
        </p:nvSpPr>
        <p:spPr>
          <a:xfrm>
            <a:off x="658368" y="576072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/>
              <a:t>문항 단위 카드 레이아웃을 적용해 사용자가 문항과 선택지를 쉽게 구분하도록 개선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77258" y="4800600"/>
            <a:ext cx="3637178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277258" y="4800600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478426" y="4983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7000037" y="502005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00037" y="5020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직관성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478426" y="5440680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순위선택형 </a:t>
            </a:r>
            <a:r>
              <a:rPr lang="en-US" altLang="ko-KR" sz="1400" b="1" dirty="0"/>
              <a:t>Drag &amp; Drop </a:t>
            </a:r>
            <a:r>
              <a:rPr lang="ko-KR" altLang="en-US" sz="1400" b="1" dirty="0"/>
              <a:t>적용</a:t>
            </a:r>
            <a:endParaRPr lang="en-US" sz="1350" b="1" dirty="0"/>
          </a:p>
        </p:txBody>
      </p:sp>
      <p:sp>
        <p:nvSpPr>
          <p:cNvPr id="47" name="Text 44"/>
          <p:cNvSpPr/>
          <p:nvPr/>
        </p:nvSpPr>
        <p:spPr>
          <a:xfrm>
            <a:off x="4478426" y="576072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50" dirty="0"/>
              <a:t>Select Box</a:t>
            </a:r>
            <a:r>
              <a:rPr lang="ko-KR" altLang="en-US" sz="1050" dirty="0"/>
              <a:t>로 순위를 선택하던 방식을 </a:t>
            </a:r>
            <a:r>
              <a:rPr lang="en-US" altLang="ko-KR" sz="1050" dirty="0"/>
              <a:t>Drag &amp; Drop</a:t>
            </a:r>
            <a:r>
              <a:rPr lang="ko-KR" altLang="en-US" sz="1050" dirty="0"/>
              <a:t>으로 변경하여</a:t>
            </a:r>
            <a:r>
              <a:rPr lang="en-US" altLang="ko-KR" sz="1050" dirty="0"/>
              <a:t> </a:t>
            </a:r>
            <a:r>
              <a:rPr lang="ko-KR" altLang="en-US" sz="1050" dirty="0"/>
              <a:t>사용자가 항목을 직접 이동하며 순서를 정할 수 있도록 개선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8097317" y="4800600"/>
            <a:ext cx="3637178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8097317" y="4800600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298485" y="4983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8298485" y="5440680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조건분기 흐름 안내 개선</a:t>
            </a:r>
            <a:endParaRPr lang="en-US" sz="1350" b="1" dirty="0"/>
          </a:p>
        </p:txBody>
      </p:sp>
      <p:sp>
        <p:nvSpPr>
          <p:cNvPr id="54" name="Text 51"/>
          <p:cNvSpPr/>
          <p:nvPr/>
        </p:nvSpPr>
        <p:spPr>
          <a:xfrm>
            <a:off x="8298485" y="576072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/>
              <a:t>선택에 따라 추가되는 문항의 연결 관계를 명확히 보여줘 응답 흐름 개선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주요 개선 기능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응답 상태 유지 아키텍처 설계서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b="1" kern="0" spc="-5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</a:t>
            </a: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3600" b="1" kern="0" spc="-5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3600" b="1" kern="0" spc="-5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</a:t>
            </a: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(2) </a:t>
            </a:r>
            <a:r>
              <a:rPr lang="ko-KR" altLang="en-US" sz="3600" dirty="0"/>
              <a:t>진행률 표시 및</a:t>
            </a:r>
            <a:r>
              <a:rPr lang="en-US" altLang="ko-KR" sz="3600" dirty="0"/>
              <a:t> </a:t>
            </a:r>
            <a:r>
              <a:rPr lang="ko-KR" altLang="en-US" sz="3600" dirty="0"/>
              <a:t>설문 이어하기 도입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/>
              <a:t>설문 중 이탈하더라도 작성 내용을 보존하고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재접속</a:t>
            </a:r>
            <a:r>
              <a:rPr lang="ko-KR" altLang="en-US" sz="1600" dirty="0"/>
              <a:t> 시 중단 지점부터 이어서 참여할 수 있도록 추가했습니다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273451"/>
            <a:ext cx="6035040" cy="1325880"/>
          </a:xfrm>
          <a:prstGeom prst="roundRect">
            <a:avLst>
              <a:gd name="adj" fmla="val 11034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6035040" cy="347472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2441448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2441448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2688" y="2441448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88720" y="2414016"/>
            <a:ext cx="512064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24140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 응답 화면 — 진행률 표시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152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 진행률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3736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12 문항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3136392"/>
            <a:ext cx="548640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3136392"/>
            <a:ext cx="3675888" cy="146304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383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4문항 · 약 2분 소요 예상  </a:t>
            </a:r>
            <a:r>
              <a:rPr lang="en-US" sz="10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</a:t>
            </a: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단계: 제품 만족도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822192"/>
            <a:ext cx="6035040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5800" y="3986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85800" y="41879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자동 저장 및 이어하기 흐름</a:t>
            </a:r>
            <a:endParaRPr lang="en-US" sz="1300" b="1" dirty="0"/>
          </a:p>
        </p:txBody>
      </p:sp>
      <p:sp>
        <p:nvSpPr>
          <p:cNvPr id="24" name="Shape 21"/>
          <p:cNvSpPr/>
          <p:nvPr/>
        </p:nvSpPr>
        <p:spPr>
          <a:xfrm>
            <a:off x="685800" y="4663440"/>
            <a:ext cx="1188720" cy="949420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15568" y="4773168"/>
            <a:ext cx="329184" cy="329184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15568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5800" y="5120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입력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" y="5303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/>
              <a:t>사용자가 문항에 응답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874520" y="466344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2148840" y="4663440"/>
            <a:ext cx="1188720" cy="949420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78608" y="4773168"/>
            <a:ext cx="329184" cy="329184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78608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148840" y="5120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저장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194560" y="5303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/>
              <a:t>작성 중인 응답 내용 저장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337560" y="466344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3611880" y="4663440"/>
            <a:ext cx="1188720" cy="949420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041648" y="4773168"/>
            <a:ext cx="329184" cy="329184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41648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3611880" y="5120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1100" b="1"/>
              <a:t>이탈</a:t>
            </a:r>
            <a:r>
              <a:rPr lang="en-US" altLang="ko-KR" sz="1100" b="1"/>
              <a:t>·</a:t>
            </a:r>
            <a:r>
              <a:rPr lang="ko-KR" altLang="en-US" sz="1100" b="1"/>
              <a:t>중단</a:t>
            </a:r>
            <a:r>
              <a:rPr lang="ko-KR" altLang="en-US" sz="1100"/>
              <a:t> 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657600" y="5303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</a:t>
            </a: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en-US" sz="8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</a:t>
            </a: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8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단절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800600" y="466344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200" dirty="0"/>
          </a:p>
        </p:txBody>
      </p:sp>
      <p:sp>
        <p:nvSpPr>
          <p:cNvPr id="42" name="Shape 39"/>
          <p:cNvSpPr/>
          <p:nvPr/>
        </p:nvSpPr>
        <p:spPr>
          <a:xfrm>
            <a:off x="5074920" y="4663440"/>
            <a:ext cx="1188720" cy="949420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504688" y="4773168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04688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074920" y="5120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이어하기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120640" y="5303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 err="1"/>
              <a:t>재접속</a:t>
            </a:r>
            <a:r>
              <a:rPr lang="ko-KR" altLang="en-US" sz="900" dirty="0"/>
              <a:t> 시 중단 지점부터 재개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6675120" y="2331720"/>
            <a:ext cx="50593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IMPROVEMENTS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675120" y="2542032"/>
            <a:ext cx="5059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설문 참여를 돕는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가지 기능</a:t>
            </a:r>
            <a:endParaRPr lang="en-US" sz="1300" b="1" dirty="0"/>
          </a:p>
        </p:txBody>
      </p:sp>
      <p:sp>
        <p:nvSpPr>
          <p:cNvPr id="51" name="Shape 48"/>
          <p:cNvSpPr/>
          <p:nvPr/>
        </p:nvSpPr>
        <p:spPr>
          <a:xfrm>
            <a:off x="6675120" y="2832938"/>
            <a:ext cx="5059375" cy="1078992"/>
          </a:xfrm>
          <a:prstGeom prst="roundRect">
            <a:avLst>
              <a:gd name="adj" fmla="val 11017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675120" y="2926080"/>
            <a:ext cx="64008" cy="107899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876288" y="3037511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56" name="Text 53"/>
          <p:cNvSpPr/>
          <p:nvPr/>
        </p:nvSpPr>
        <p:spPr>
          <a:xfrm>
            <a:off x="6876288" y="3434739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-2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진행률 표시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6876288" y="3709059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전체 문항 대비 남은 문항 수를 시각화해 설문 완료 시점을 쉽게 파악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675120" y="4065675"/>
            <a:ext cx="5059375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675120" y="4114800"/>
            <a:ext cx="64008" cy="107899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876288" y="4211979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63" name="Text 60"/>
          <p:cNvSpPr/>
          <p:nvPr/>
        </p:nvSpPr>
        <p:spPr>
          <a:xfrm>
            <a:off x="6876288" y="4632603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b="1" dirty="0"/>
              <a:t>작성 내용 자동 저장</a:t>
            </a:r>
            <a:endParaRPr lang="en-US" sz="1300" b="1" dirty="0"/>
          </a:p>
        </p:txBody>
      </p:sp>
      <p:sp>
        <p:nvSpPr>
          <p:cNvPr id="64" name="Text 61"/>
          <p:cNvSpPr/>
          <p:nvPr/>
        </p:nvSpPr>
        <p:spPr>
          <a:xfrm>
            <a:off x="6876288" y="4906923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응답 중 입력한 내용을 자동으로 저장해 페이지 이탈이나 중단 상황에서도 작성 내용 유실을 방지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6675120" y="5303520"/>
            <a:ext cx="5059375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675120" y="5303520"/>
            <a:ext cx="64008" cy="107899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876288" y="54498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70" name="Text 67"/>
          <p:cNvSpPr/>
          <p:nvPr/>
        </p:nvSpPr>
        <p:spPr>
          <a:xfrm>
            <a:off x="6876288" y="5870448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b="1" dirty="0"/>
              <a:t>중단 지점부터 이어하기</a:t>
            </a:r>
            <a:endParaRPr lang="en-US" sz="1300" b="1" dirty="0"/>
          </a:p>
        </p:txBody>
      </p:sp>
      <p:sp>
        <p:nvSpPr>
          <p:cNvPr id="71" name="Text 68"/>
          <p:cNvSpPr/>
          <p:nvPr/>
        </p:nvSpPr>
        <p:spPr>
          <a:xfrm>
            <a:off x="6876288" y="6144768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 err="1"/>
              <a:t>재접속</a:t>
            </a:r>
            <a:r>
              <a:rPr lang="ko-KR" altLang="en-US" sz="1000" dirty="0"/>
              <a:t> 시 이전 응답 위치부터 이어서 참여할 수 있어 </a:t>
            </a:r>
            <a:r>
              <a:rPr lang="ko-KR" altLang="en-US" sz="1000" dirty="0" err="1"/>
              <a:t>재작성</a:t>
            </a:r>
            <a:r>
              <a:rPr lang="ko-KR" altLang="en-US" sz="1000" dirty="0"/>
              <a:t> 부담을 완화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주요 개선 기능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통계 대시보드 개선 설계서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개선 기능 (3) </a:t>
            </a:r>
            <a:r>
              <a:rPr lang="ko-KR" altLang="en-US" sz="2800" b="1" dirty="0"/>
              <a:t>전체 및 </a:t>
            </a:r>
            <a:r>
              <a:rPr lang="ko-KR" altLang="en-US" sz="2800" b="1" dirty="0" err="1"/>
              <a:t>조직별</a:t>
            </a:r>
            <a:r>
              <a:rPr lang="ko-KR" altLang="en-US" sz="2800" b="1" dirty="0"/>
              <a:t> 응답 현황 개선</a:t>
            </a:r>
            <a:endParaRPr lang="en-US" sz="2800" b="1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/>
              <a:t>전체 응답률과 </a:t>
            </a:r>
            <a:r>
              <a:rPr lang="ko-KR" altLang="en-US" sz="1600" dirty="0" err="1"/>
              <a:t>조직별</a:t>
            </a:r>
            <a:r>
              <a:rPr lang="ko-KR" altLang="en-US" sz="1600" dirty="0"/>
              <a:t> 참여 현황을 한눈에 파악할 수 있도록 통계 페이지를 개선하였습니다</a:t>
            </a:r>
            <a:r>
              <a:rPr lang="en-US" altLang="ko-KR" sz="1600" dirty="0"/>
              <a:t>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45059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 </a:t>
            </a:r>
            <a:r>
              <a:rPr lang="en-US" sz="14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</a:t>
            </a: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78728" y="2240280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78728" y="245059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조직별 </a:t>
            </a:r>
            <a:r>
              <a:rPr lang="en-US" sz="14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</a:t>
            </a: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841498"/>
            <a:ext cx="5455768" cy="160020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841498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942082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" y="2942082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" y="2942082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3000" y="2914650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2914650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현황 — 전체 요약 대시보드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1792" y="3298698"/>
            <a:ext cx="121306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3445002"/>
            <a:ext cx="91440" cy="91440"/>
          </a:xfrm>
          <a:prstGeom prst="ellipse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9536" y="3408426"/>
            <a:ext cx="9387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대상자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1792" y="3682746"/>
            <a:ext cx="12130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1,248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1926298" y="3298698"/>
            <a:ext cx="121306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036026" y="3445002"/>
            <a:ext cx="91440" cy="91440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64042" y="3408426"/>
            <a:ext cx="9387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완료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926298" y="3682746"/>
            <a:ext cx="12130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-5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892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3230804" y="3298698"/>
            <a:ext cx="121306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40532" y="3445002"/>
            <a:ext cx="91440" cy="91440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68548" y="3408426"/>
            <a:ext cx="9387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미응답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230804" y="3682746"/>
            <a:ext cx="12130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-50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356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4535310" y="3298698"/>
            <a:ext cx="1213066" cy="1005840"/>
          </a:xfrm>
          <a:prstGeom prst="roundRect">
            <a:avLst>
              <a:gd name="adj" fmla="val 7273"/>
            </a:avLst>
          </a:prstGeom>
          <a:solidFill>
            <a:srgbClr val="1456F0"/>
          </a:solidFill>
          <a:ln w="6350">
            <a:solidFill>
              <a:srgbClr val="1456F0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45038" y="344500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73054" y="3408426"/>
            <a:ext cx="9387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응답률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35310" y="3682746"/>
            <a:ext cx="12130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-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71.5%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457200" y="4542282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7200" y="4542282"/>
            <a:ext cx="545576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4743450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설문 진행 현황을 한눈에 파악</a:t>
            </a:r>
            <a:endParaRPr lang="en-US" sz="1300" b="1" dirty="0"/>
          </a:p>
        </p:txBody>
      </p:sp>
      <p:sp>
        <p:nvSpPr>
          <p:cNvPr id="40" name="Text 37"/>
          <p:cNvSpPr/>
          <p:nvPr/>
        </p:nvSpPr>
        <p:spPr>
          <a:xfrm>
            <a:off x="658368" y="5136642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050" dirty="0"/>
              <a:t>총 대상자</a:t>
            </a:r>
            <a:r>
              <a:rPr lang="en-US" altLang="ko-KR" sz="1050" dirty="0"/>
              <a:t>·</a:t>
            </a:r>
            <a:r>
              <a:rPr lang="ko-KR" altLang="en-US" sz="1050" dirty="0"/>
              <a:t>응답 완료</a:t>
            </a:r>
            <a:r>
              <a:rPr lang="en-US" altLang="ko-KR" sz="1050" dirty="0"/>
              <a:t>·</a:t>
            </a:r>
            <a:r>
              <a:rPr lang="ko-KR" altLang="en-US" sz="1050" dirty="0" err="1"/>
              <a:t>미응답</a:t>
            </a:r>
            <a:r>
              <a:rPr lang="en-US" altLang="ko-KR" sz="1050" dirty="0"/>
              <a:t>·</a:t>
            </a:r>
            <a:r>
              <a:rPr lang="ko-KR" altLang="en-US" sz="1050" dirty="0"/>
              <a:t>응답률을 카드형 </a:t>
            </a:r>
            <a:r>
              <a:rPr lang="en-US" altLang="ko-KR" sz="1050" dirty="0"/>
              <a:t>UI</a:t>
            </a:r>
            <a:r>
              <a:rPr lang="ko-KR" altLang="en-US" sz="1050" dirty="0"/>
              <a:t>로 상단 배치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58368" y="5392674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응답률을 제공해 설문</a:t>
            </a:r>
            <a:r>
              <a:rPr lang="ko-KR" altLang="en-US" sz="1050" dirty="0"/>
              <a:t> 진행 상황을 빠르게 확인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278728" y="2841498"/>
            <a:ext cx="5455768" cy="160020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278728" y="2841498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6744" y="2942082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62192" y="2942082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717640" y="2942082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64528" y="2914650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10248" y="2914650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현황 — 조직별 트리 뷰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443320" y="329869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198968" y="3358134"/>
            <a:ext cx="2730856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198968" y="3358134"/>
            <a:ext cx="1952562" cy="109728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929823" y="329869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71.5%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479896" y="3563874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644488" y="356387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영업본부 A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8198968" y="3623310"/>
            <a:ext cx="2730856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198968" y="3623310"/>
            <a:ext cx="2250225" cy="109728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929823" y="356387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82.4%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6681064" y="3829050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6845656" y="382905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 A-1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8198968" y="3888486"/>
            <a:ext cx="2730856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198968" y="3888486"/>
            <a:ext cx="2403153" cy="109728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0929823" y="382905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88.0%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6681064" y="409422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6845656" y="409422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 A-2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198968" y="4153662"/>
            <a:ext cx="2730856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198968" y="4153662"/>
            <a:ext cx="1146959" cy="109728"/>
          </a:xfrm>
          <a:prstGeom prst="roundRect">
            <a:avLst>
              <a:gd name="adj" fmla="val 50000"/>
            </a:avLst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0929823" y="409422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42.0%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6278728" y="4542282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6278728" y="4542282"/>
            <a:ext cx="545576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479896" y="4743450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 err="1"/>
              <a:t>조직별</a:t>
            </a:r>
            <a:r>
              <a:rPr lang="ko-KR" altLang="en-US" sz="1400" b="1" dirty="0"/>
              <a:t> 응답률을 트리 구조와 </a:t>
            </a:r>
            <a:r>
              <a:rPr lang="en-US" altLang="ko-KR" sz="1400" b="1" dirty="0"/>
              <a:t>Progress Bar</a:t>
            </a:r>
            <a:r>
              <a:rPr lang="ko-KR" altLang="en-US" sz="1400" b="1" dirty="0"/>
              <a:t>로 시각화</a:t>
            </a:r>
            <a:endParaRPr lang="en-US" sz="1300" b="1" dirty="0"/>
          </a:p>
        </p:txBody>
      </p:sp>
      <p:sp>
        <p:nvSpPr>
          <p:cNvPr id="72" name="Text 69"/>
          <p:cNvSpPr/>
          <p:nvPr/>
        </p:nvSpPr>
        <p:spPr>
          <a:xfrm>
            <a:off x="6479896" y="5136642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050" dirty="0"/>
              <a:t>부서부터 </a:t>
            </a:r>
            <a:r>
              <a:rPr lang="en-US" altLang="ko-KR" sz="1050" dirty="0"/>
              <a:t>UNIT</a:t>
            </a:r>
            <a:r>
              <a:rPr lang="ko-KR" altLang="en-US" sz="1050" dirty="0"/>
              <a:t>까지 </a:t>
            </a:r>
            <a:r>
              <a:rPr lang="ko-KR" altLang="en-US" sz="1050" dirty="0" err="1"/>
              <a:t>조직별</a:t>
            </a:r>
            <a:r>
              <a:rPr lang="ko-KR" altLang="en-US" sz="1050" dirty="0"/>
              <a:t> 참여도 비교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6479896" y="5392674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050" b="1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참여율 </a:t>
            </a:r>
            <a:r>
              <a:rPr lang="ko-KR" altLang="en-US" sz="1050" dirty="0"/>
              <a:t>저조 조직을 색상으로 구분해 독려 조직 파악 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주요 개선 기능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통계 대시보드 개선 설계서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개선 기능 (4) </a:t>
            </a:r>
            <a:r>
              <a:rPr lang="ko-KR" altLang="en-US" sz="2800" b="1" dirty="0"/>
              <a:t>문항별</a:t>
            </a:r>
            <a:r>
              <a:rPr lang="en-US" altLang="ko-KR" sz="2800" b="1" dirty="0"/>
              <a:t>·</a:t>
            </a:r>
            <a:r>
              <a:rPr lang="ko-KR" altLang="en-US" sz="2800" b="1" dirty="0"/>
              <a:t>응답자별 답변 현황 개선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/>
              <a:t>문항별 응답률과 응답자별 답변 현황을 한눈에 파악할 수 있도록 통계 페이지를 개선하였습니다</a:t>
            </a:r>
            <a:r>
              <a:rPr lang="en-US" altLang="ko-KR" sz="1600" dirty="0"/>
              <a:t>.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45059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문항별 응답 현황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78728" y="2240280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78728" y="245059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응답자별 답변 현황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857500"/>
            <a:ext cx="5455768" cy="160020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857500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958084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" y="2958084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" y="2958084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3000" y="2930652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2930652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문항 결과 — Q3. 신제품 만족도 (단일선택)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" y="33147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매우 만족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600200" y="3360420"/>
            <a:ext cx="3233776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00200" y="3360420"/>
            <a:ext cx="1358186" cy="109728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33976" y="33147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312 · 42.0%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21792" y="35615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만족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600200" y="3607308"/>
            <a:ext cx="3233776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00200" y="3607308"/>
            <a:ext cx="1167393" cy="10972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33976" y="35615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268 · 36.1%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21792" y="38084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600200" y="3854196"/>
            <a:ext cx="3233776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00200" y="3854196"/>
            <a:ext cx="540041" cy="10972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33976" y="38084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 · 16.7%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21792" y="40553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불만족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600200" y="4101084"/>
            <a:ext cx="3233776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00200" y="4101084"/>
            <a:ext cx="168156" cy="10972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33976" y="40553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· 5.2%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558284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7200" y="4558284"/>
            <a:ext cx="545576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4759452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문항별 결과를 직관적으로 비교</a:t>
            </a:r>
            <a:endParaRPr lang="en-US" sz="1300" b="1" dirty="0"/>
          </a:p>
        </p:txBody>
      </p:sp>
      <p:sp>
        <p:nvSpPr>
          <p:cNvPr id="40" name="Text 37"/>
          <p:cNvSpPr/>
          <p:nvPr/>
        </p:nvSpPr>
        <p:spPr>
          <a:xfrm>
            <a:off x="658368" y="5152644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050" dirty="0" err="1"/>
              <a:t>보기별</a:t>
            </a:r>
            <a:r>
              <a:rPr lang="ko-KR" altLang="en-US" sz="1050" dirty="0"/>
              <a:t> 응답 수와 비율</a:t>
            </a:r>
            <a:r>
              <a:rPr lang="en-US" altLang="ko-KR" sz="1050" dirty="0"/>
              <a:t>(%)</a:t>
            </a:r>
            <a:r>
              <a:rPr lang="ko-KR" altLang="en-US" sz="1050" dirty="0"/>
              <a:t>을 </a:t>
            </a:r>
            <a:r>
              <a:rPr lang="en-US" altLang="ko-KR" sz="1050" dirty="0"/>
              <a:t>Progress Bar</a:t>
            </a:r>
            <a:r>
              <a:rPr lang="ko-KR" altLang="en-US" sz="1050" dirty="0"/>
              <a:t>로 시각화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58368" y="5408676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050" dirty="0"/>
              <a:t>갱신 버튼과 최근 집계 시점을 제공해 통계 데이터 최신 상태 확인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278728" y="2857500"/>
            <a:ext cx="5455768" cy="160020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278728" y="2857500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6744" y="2958084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62192" y="2958084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717640" y="2958084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64528" y="2930652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10248" y="2930652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응답자별 답변 내역 — 개별 조회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443320" y="3314700"/>
            <a:ext cx="5126584" cy="237744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43320" y="3314700"/>
            <a:ext cx="1127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7571168" y="3314700"/>
            <a:ext cx="666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8237624" y="3314700"/>
            <a:ext cx="666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8904080" y="3314700"/>
            <a:ext cx="666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9570536" y="3314700"/>
            <a:ext cx="666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10236991" y="3314700"/>
            <a:ext cx="666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10903447" y="3314700"/>
            <a:ext cx="666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6498184" y="3552444"/>
            <a:ext cx="1072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영업본부 A / UNIT A-1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626032" y="3552444"/>
            <a:ext cx="611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김민재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8237624" y="3552444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8904080" y="3552444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9570536" y="3552444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10236991" y="3552444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10903447" y="3552444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6443320" y="3799332"/>
            <a:ext cx="512658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443320" y="3799332"/>
            <a:ext cx="5126584" cy="246888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498184" y="3799332"/>
            <a:ext cx="1072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영업본부 A / UNIT A-2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7626032" y="3799332"/>
            <a:ext cx="611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이서연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8237624" y="3799332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8904080" y="3799332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570536" y="3799332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10236991" y="3799332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10903447" y="3799332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6443320" y="4046220"/>
            <a:ext cx="512658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498184" y="4046220"/>
            <a:ext cx="1072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영업본부 B / UNIT B-1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7626032" y="4046220"/>
            <a:ext cx="611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박지훈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8237624" y="4046220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8904080" y="4046220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9570536" y="4046220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10236991" y="4046220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000" dirty="0"/>
          </a:p>
        </p:txBody>
      </p:sp>
      <p:sp>
        <p:nvSpPr>
          <p:cNvPr id="81" name="Text 78"/>
          <p:cNvSpPr/>
          <p:nvPr/>
        </p:nvSpPr>
        <p:spPr>
          <a:xfrm>
            <a:off x="10903447" y="4046220"/>
            <a:ext cx="666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6443320" y="4293108"/>
            <a:ext cx="512658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6278728" y="4558284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4" name="Shape 81"/>
          <p:cNvSpPr/>
          <p:nvPr/>
        </p:nvSpPr>
        <p:spPr>
          <a:xfrm>
            <a:off x="6278728" y="4558284"/>
            <a:ext cx="545576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479896" y="4759452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답변까지 — 상세 분석 편의성 증대</a:t>
            </a:r>
            <a:endParaRPr lang="en-US" sz="1300" dirty="0"/>
          </a:p>
        </p:txBody>
      </p:sp>
      <p:sp>
        <p:nvSpPr>
          <p:cNvPr id="86" name="Text 83"/>
          <p:cNvSpPr/>
          <p:nvPr/>
        </p:nvSpPr>
        <p:spPr>
          <a:xfrm>
            <a:off x="6479896" y="5152644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050" dirty="0"/>
              <a:t>응답자별 문항 답변 내역을 그리드</a:t>
            </a:r>
            <a:r>
              <a:rPr lang="en-US" altLang="ko-KR" sz="1050" dirty="0"/>
              <a:t>(</a:t>
            </a:r>
            <a:r>
              <a:rPr lang="ko-KR" altLang="en-US" sz="1050" dirty="0"/>
              <a:t>표</a:t>
            </a:r>
            <a:r>
              <a:rPr lang="en-US" altLang="ko-KR" sz="1050" dirty="0"/>
              <a:t>) </a:t>
            </a:r>
            <a:r>
              <a:rPr lang="ko-KR" altLang="en-US" sz="1050" dirty="0"/>
              <a:t>형태로 조회</a:t>
            </a:r>
            <a:endParaRPr lang="en-US" sz="1050" dirty="0"/>
          </a:p>
        </p:txBody>
      </p:sp>
      <p:sp>
        <p:nvSpPr>
          <p:cNvPr id="87" name="Text 84"/>
          <p:cNvSpPr/>
          <p:nvPr/>
        </p:nvSpPr>
        <p:spPr>
          <a:xfrm>
            <a:off x="6479896" y="5408676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050" dirty="0"/>
              <a:t>부서</a:t>
            </a:r>
            <a:r>
              <a:rPr lang="en-US" altLang="ko-KR" sz="1050" dirty="0"/>
              <a:t>·</a:t>
            </a:r>
            <a:r>
              <a:rPr lang="ko-KR" altLang="en-US" sz="1050" dirty="0"/>
              <a:t>이름과 문항별 답변을 함께 제공해 개별 응답 내용 확인</a:t>
            </a:r>
            <a:endParaRPr lang="en-US" sz="1050" dirty="0"/>
          </a:p>
        </p:txBody>
      </p:sp>
      <p:sp>
        <p:nvSpPr>
          <p:cNvPr id="88" name="Text 85"/>
          <p:cNvSpPr/>
          <p:nvPr/>
        </p:nvSpPr>
        <p:spPr>
          <a:xfrm>
            <a:off x="6479896" y="5664708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주요 개선 기능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데이터 활용·보안 강화 설계서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개선 기능 (5) </a:t>
            </a:r>
            <a:r>
              <a:rPr lang="ko-KR" altLang="en-US" sz="3200" b="1" dirty="0"/>
              <a:t>엑셀 내보내기 및 이력 관리</a:t>
            </a:r>
            <a:endParaRPr lang="en-US" sz="3200" b="1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600" dirty="0"/>
              <a:t>4</a:t>
            </a:r>
            <a:r>
              <a:rPr lang="ko-KR" altLang="en-US" sz="1600" dirty="0"/>
              <a:t>개 통계 데이터를 시트별로 분리해 엑셀로 내보내고</a:t>
            </a:r>
            <a:r>
              <a:rPr lang="en-US" altLang="ko-KR" sz="1600" dirty="0"/>
              <a:t>, </a:t>
            </a:r>
            <a:r>
              <a:rPr lang="ko-KR" altLang="en-US" sz="1600" dirty="0"/>
              <a:t>내보내기 이력을 기록</a:t>
            </a:r>
            <a:r>
              <a:rPr lang="en-US" altLang="ko-KR" sz="1600" dirty="0"/>
              <a:t>·</a:t>
            </a:r>
            <a:r>
              <a:rPr lang="ko-KR" altLang="en-US" sz="1600" dirty="0"/>
              <a:t>조회할 수 있도록 개선했습니다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45059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b="1" dirty="0"/>
              <a:t>4</a:t>
            </a:r>
            <a:r>
              <a:rPr lang="ko-KR" altLang="en-US" sz="1400" b="1" dirty="0"/>
              <a:t>개 통계 유형별 엑셀 시트 분리</a:t>
            </a:r>
            <a:endParaRPr lang="en-US" sz="1400" b="1" dirty="0"/>
          </a:p>
        </p:txBody>
      </p:sp>
      <p:sp>
        <p:nvSpPr>
          <p:cNvPr id="11" name="Text 8"/>
          <p:cNvSpPr/>
          <p:nvPr/>
        </p:nvSpPr>
        <p:spPr>
          <a:xfrm>
            <a:off x="6278728" y="2240280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78728" y="245059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엑셀 내보내기 이력 관리</a:t>
            </a:r>
            <a:endParaRPr lang="en-US" sz="1400" b="1" dirty="0"/>
          </a:p>
        </p:txBody>
      </p:sp>
      <p:sp>
        <p:nvSpPr>
          <p:cNvPr id="14" name="Shape 11"/>
          <p:cNvSpPr/>
          <p:nvPr/>
        </p:nvSpPr>
        <p:spPr>
          <a:xfrm>
            <a:off x="457200" y="2862072"/>
            <a:ext cx="5455768" cy="160020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862072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962656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" y="2962656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" y="2962656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3000" y="2935224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2935224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설문결과_2026Q1.xlsx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1792" y="3282696"/>
            <a:ext cx="5126584" cy="201168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3282696"/>
            <a:ext cx="15991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문항 ID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385517" y="3282696"/>
            <a:ext cx="15991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수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094378" y="3282696"/>
            <a:ext cx="15991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 (%)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76656" y="3483864"/>
            <a:ext cx="15991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Q1_매우만족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385517" y="3483864"/>
            <a:ext cx="15991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094378" y="3483864"/>
            <a:ext cx="15991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42.0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21792" y="3666744"/>
            <a:ext cx="5126584" cy="18288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656" y="3666744"/>
            <a:ext cx="15991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Q1_만족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385517" y="3666744"/>
            <a:ext cx="15991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268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094378" y="3666744"/>
            <a:ext cx="15991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36.1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6656" y="3849624"/>
            <a:ext cx="15991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Q1_보통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385517" y="3849624"/>
            <a:ext cx="15991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094378" y="3849624"/>
            <a:ext cx="15991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16.7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21792" y="4032504"/>
            <a:ext cx="512658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1792" y="416966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1792" y="41696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요약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545336" y="416966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545336" y="41696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조직별 현황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468880" y="416966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1456F0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68880" y="41696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문항별 분석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392424" y="416966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392424" y="41696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응답자별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24327" y="4562856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57200" y="4562856"/>
            <a:ext cx="545576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8368" y="4764024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한 번의 내보내기로 </a:t>
            </a:r>
            <a:r>
              <a:rPr lang="ko-KR" altLang="en-US" sz="1400" b="1" dirty="0" err="1"/>
              <a:t>통계별</a:t>
            </a:r>
            <a:r>
              <a:rPr lang="ko-KR" altLang="en-US" sz="1400" b="1" dirty="0"/>
              <a:t> 데이터 확인</a:t>
            </a:r>
            <a:endParaRPr lang="en-US" sz="1300" b="1" dirty="0"/>
          </a:p>
        </p:txBody>
      </p:sp>
      <p:sp>
        <p:nvSpPr>
          <p:cNvPr id="47" name="Text 44"/>
          <p:cNvSpPr/>
          <p:nvPr/>
        </p:nvSpPr>
        <p:spPr>
          <a:xfrm>
            <a:off x="658368" y="5157216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ko-KR" altLang="en-US" sz="1050" dirty="0"/>
              <a:t>전체 요약</a:t>
            </a:r>
            <a:r>
              <a:rPr lang="en-US" altLang="ko-KR" sz="1050" dirty="0"/>
              <a:t>·</a:t>
            </a:r>
            <a:r>
              <a:rPr lang="ko-KR" altLang="en-US" sz="1050" dirty="0" err="1"/>
              <a:t>조직별</a:t>
            </a:r>
            <a:r>
              <a:rPr lang="ko-KR" altLang="en-US" sz="1050" dirty="0"/>
              <a:t> 현황</a:t>
            </a:r>
            <a:r>
              <a:rPr lang="en-US" altLang="ko-KR" sz="1050" dirty="0"/>
              <a:t>·</a:t>
            </a:r>
            <a:r>
              <a:rPr lang="ko-KR" altLang="en-US" sz="1050" dirty="0"/>
              <a:t>문항별 분석</a:t>
            </a:r>
            <a:r>
              <a:rPr lang="en-US" altLang="ko-KR" sz="1050" dirty="0"/>
              <a:t>·</a:t>
            </a:r>
            <a:r>
              <a:rPr lang="ko-KR" altLang="en-US" sz="1050" dirty="0"/>
              <a:t>응답자별 데이터를 시트별로 분리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658368" y="5413248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ko-KR" altLang="en-US" sz="1050" dirty="0"/>
              <a:t>단일 엑셀 파일 안에서 통계 유형별 데이터를 바로 확인 가능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278728" y="2862072"/>
            <a:ext cx="5455768" cy="1600200"/>
          </a:xfrm>
          <a:prstGeom prst="roundRect">
            <a:avLst>
              <a:gd name="adj" fmla="val 8000"/>
            </a:avLst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6278728" y="2862072"/>
            <a:ext cx="5455768" cy="1600200"/>
          </a:xfrm>
          <a:prstGeom prst="rect">
            <a:avLst/>
          </a:prstGeom>
          <a:solidFill>
            <a:srgbClr val="DADFE6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644488" y="3090672"/>
            <a:ext cx="4724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644488" y="3090672"/>
            <a:ext cx="47242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781648" y="3090672"/>
            <a:ext cx="426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다운로드 이력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11094415" y="30906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644488" y="3364992"/>
            <a:ext cx="472424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781648" y="3419856"/>
            <a:ext cx="4449928" cy="201168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827368" y="3419856"/>
            <a:ext cx="112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8028848" y="3419856"/>
            <a:ext cx="13508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일시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9452825" y="3419856"/>
            <a:ext cx="112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10654305" y="3419856"/>
            <a:ext cx="549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6827368" y="3621024"/>
            <a:ext cx="112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김관리 (admin01)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8028848" y="3621024"/>
            <a:ext cx="13508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2026-04-12  14:23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9452825" y="3621024"/>
            <a:ext cx="112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Q1_전체요약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10654305" y="3621024"/>
            <a:ext cx="549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6781648" y="3822192"/>
            <a:ext cx="4449928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781648" y="3822192"/>
            <a:ext cx="4449928" cy="201168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827368" y="3822192"/>
            <a:ext cx="112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박운영 (ops02)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8028848" y="3822192"/>
            <a:ext cx="13508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2026-04-12  10:08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9452825" y="3822192"/>
            <a:ext cx="112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Q1_조직별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10654305" y="3822192"/>
            <a:ext cx="549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6781648" y="4023360"/>
            <a:ext cx="4449928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827368" y="4023360"/>
            <a:ext cx="112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이지원 (admin02)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8028848" y="4023360"/>
            <a:ext cx="13508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2026-04-11  17:45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9452825" y="4023360"/>
            <a:ext cx="112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Q1_응답자별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10654305" y="4023360"/>
            <a:ext cx="549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6781648" y="4224528"/>
            <a:ext cx="4449928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278728" y="4562856"/>
            <a:ext cx="5455768" cy="1490472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6278728" y="4562856"/>
            <a:ext cx="545576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479896" y="4764024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/>
              <a:t>누가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언제 내보냈는지 이력으로 확인</a:t>
            </a:r>
            <a:endParaRPr lang="en-US" sz="1300" b="1" dirty="0"/>
          </a:p>
        </p:txBody>
      </p:sp>
      <p:sp>
        <p:nvSpPr>
          <p:cNvPr id="81" name="Text 78"/>
          <p:cNvSpPr/>
          <p:nvPr/>
        </p:nvSpPr>
        <p:spPr>
          <a:xfrm>
            <a:off x="6479896" y="5157216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ko-KR" altLang="en-US" sz="1050" dirty="0"/>
              <a:t>엑셀 내보내기 시 사용자</a:t>
            </a:r>
            <a:r>
              <a:rPr lang="en-US" altLang="ko-KR" sz="1050" dirty="0"/>
              <a:t>, </a:t>
            </a:r>
            <a:r>
              <a:rPr lang="ko-KR" altLang="en-US" sz="1050" dirty="0"/>
              <a:t>일시</a:t>
            </a:r>
            <a:r>
              <a:rPr lang="en-US" altLang="ko-KR" sz="1050" dirty="0"/>
              <a:t>, </a:t>
            </a:r>
            <a:r>
              <a:rPr lang="ko-KR" altLang="en-US" sz="1050" dirty="0"/>
              <a:t>파일 이름을 저장</a:t>
            </a:r>
            <a:endParaRPr lang="en-US" altLang="ko-KR" sz="1050" dirty="0"/>
          </a:p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82" name="Text 79"/>
          <p:cNvSpPr/>
          <p:nvPr/>
        </p:nvSpPr>
        <p:spPr>
          <a:xfrm>
            <a:off x="6479896" y="5413248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ko-KR" altLang="en-US" sz="1050" dirty="0"/>
              <a:t>네비게이션 바에서 엑셀 내보내기 내역 조회 가능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6479896" y="5669280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ko-KR" altLang="en-US" sz="1050" dirty="0"/>
              <a:t>다운로드 내역 추적으로 데이터 관리 안정성 강화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시스템 아키텍처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시스템 아키텍처 설계서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아키텍처 및 기술 스택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/>
              <a:t>데모 사이트와 설문 서버의 연동</a:t>
            </a:r>
            <a:r>
              <a:rPr lang="en-US" altLang="ko-KR" sz="1600" dirty="0"/>
              <a:t>, </a:t>
            </a:r>
            <a:r>
              <a:rPr lang="ko-KR" altLang="en-US" sz="1600" dirty="0"/>
              <a:t>인증 구조</a:t>
            </a:r>
            <a:r>
              <a:rPr lang="en-US" altLang="ko-KR" sz="1600" dirty="0"/>
              <a:t>, </a:t>
            </a:r>
            <a:r>
              <a:rPr lang="ko-KR" altLang="en-US" sz="1600" dirty="0"/>
              <a:t>계층별 책임 분리를 중심으로 시스템 아키텍처를 구성했습니다</a:t>
            </a:r>
            <a:r>
              <a:rPr lang="en-US" altLang="ko-KR" sz="1600" dirty="0"/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5852160" cy="3886200"/>
          </a:xfrm>
          <a:prstGeom prst="roundRect">
            <a:avLst>
              <a:gd name="adj" fmla="val 3059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4780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679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dirty="0"/>
              <a:t>설문 시스템 아키텍처 구조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310896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1638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사이트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33649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 8081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108960" y="3108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⇆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063240" y="3063240"/>
            <a:ext cx="640080" cy="164592"/>
          </a:xfrm>
          <a:prstGeom prst="roundRect">
            <a:avLst>
              <a:gd name="adj" fmla="val 44444"/>
            </a:avLst>
          </a:prstGeom>
          <a:solidFill>
            <a:srgbClr val="EE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2384" y="3023616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X-Internal-Api-Key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3657600" y="310896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31638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서버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749040" y="33649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 8080  ·  </a:t>
            </a:r>
            <a:r>
              <a:rPr lang="ko-KR" altLang="en-US" sz="900" dirty="0"/>
              <a:t>메인 애플리케이션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5800" y="3749040"/>
            <a:ext cx="5394960" cy="365760"/>
          </a:xfrm>
          <a:prstGeom prst="roundRect">
            <a:avLst>
              <a:gd name="adj" fmla="val 15000"/>
            </a:avLst>
          </a:prstGeom>
          <a:solidFill>
            <a:srgbClr val="FFF8E6"/>
          </a:solidFill>
          <a:ln w="6350">
            <a:solidFill>
              <a:srgbClr val="E8D3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749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kern="0" spc="150" dirty="0">
                <a:solidFill>
                  <a:srgbClr val="B07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  </a:t>
            </a:r>
            <a:r>
              <a:rPr lang="en-US" altLang="ko-KR" sz="1000" dirty="0"/>
              <a:t>Spring Security · JWT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5800" y="4279392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" y="4279392"/>
            <a:ext cx="54864" cy="56692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2104" y="43342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LAYER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832104" y="453542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프레젠테이션 계층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560320" y="45079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MVC · Thymeleaf · Alpine.js · TailwindCSS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85800" y="493776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5800" y="4937760"/>
            <a:ext cx="54864" cy="566928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2104" y="49926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LAYER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832104" y="51937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계층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560320" y="5143403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Domain Service + Spring Batch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85800" y="5596128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5800" y="5596128"/>
            <a:ext cx="54864" cy="566928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2104" y="56509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· INFRA LAYER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832104" y="58521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데이터·인프라 계층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560320" y="5779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JPA  · QueryDSL + MySQL · Redis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446520" y="2331720"/>
            <a:ext cx="5287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INTENT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446520" y="2532888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계층의 설계 의도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446520" y="2907792"/>
            <a:ext cx="5287975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446520" y="2907792"/>
            <a:ext cx="64008" cy="7589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629400" y="3054096"/>
            <a:ext cx="292608" cy="29260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2940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995160" y="3054096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연동 · 보안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6629400" y="3396996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내부 </a:t>
            </a:r>
            <a:r>
              <a:rPr lang="en-US" altLang="ko-KR" sz="1000" dirty="0"/>
              <a:t>API Key </a:t>
            </a:r>
            <a:r>
              <a:rPr lang="ko-KR" altLang="en-US" sz="1000" dirty="0"/>
              <a:t>검증과 </a:t>
            </a:r>
            <a:r>
              <a:rPr lang="en-US" altLang="ko-KR" sz="1000" dirty="0"/>
              <a:t>Spring Security </a:t>
            </a:r>
            <a:r>
              <a:rPr lang="ko-KR" altLang="en-US" sz="1000" dirty="0"/>
              <a:t>이중 필터 체인으로 관리자</a:t>
            </a:r>
            <a:r>
              <a:rPr lang="en-US" altLang="ko-KR" sz="1000" dirty="0"/>
              <a:t>·</a:t>
            </a:r>
            <a:r>
              <a:rPr lang="ko-KR" altLang="en-US" sz="1000" dirty="0"/>
              <a:t>참여자 인증 체계를 분리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446520" y="3758184"/>
            <a:ext cx="5287975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446520" y="3758184"/>
            <a:ext cx="64008" cy="758952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629400" y="3904488"/>
            <a:ext cx="292608" cy="29260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29400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6995160" y="3904488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· Business 계층</a:t>
            </a:r>
            <a:endParaRPr lang="en-US" sz="1250" dirty="0"/>
          </a:p>
        </p:txBody>
      </p:sp>
      <p:sp>
        <p:nvSpPr>
          <p:cNvPr id="53" name="Text 50"/>
          <p:cNvSpPr/>
          <p:nvPr/>
        </p:nvSpPr>
        <p:spPr>
          <a:xfrm>
            <a:off x="6629400" y="4215384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dirty="0"/>
              <a:t>SSR </a:t>
            </a:r>
            <a:r>
              <a:rPr lang="ko-KR" altLang="en-US" sz="1000" dirty="0"/>
              <a:t>기반 화면 구성과 서비스 계층 중심 설계로 화면 처리와 비즈니스 로직 책임을 분리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6446520" y="4608576"/>
            <a:ext cx="5287975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446520" y="4608576"/>
            <a:ext cx="64008" cy="758952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629400" y="4754880"/>
            <a:ext cx="292608" cy="292608"/>
          </a:xfrm>
          <a:prstGeom prst="ellipse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62940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6995160" y="475488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· Infra 계층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6629400" y="5065776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쿼리 특성에 따라 데이터 접근 기술을 구분 적용하고</a:t>
            </a:r>
            <a:r>
              <a:rPr lang="en-US" altLang="ko-KR" sz="1000" dirty="0"/>
              <a:t>, Redis</a:t>
            </a:r>
            <a:r>
              <a:rPr lang="ko-KR" altLang="en-US" sz="1000" dirty="0"/>
              <a:t>와 </a:t>
            </a:r>
            <a:r>
              <a:rPr lang="en-US" altLang="ko-KR" sz="1000" dirty="0"/>
              <a:t>MySQL</a:t>
            </a:r>
            <a:r>
              <a:rPr lang="ko-KR" altLang="en-US" sz="1000" dirty="0"/>
              <a:t>의 저장 역할을 분리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6446520" y="5458968"/>
            <a:ext cx="5287975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46520" y="5458968"/>
            <a:ext cx="64008" cy="7589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629400" y="5605272"/>
            <a:ext cx="292608" cy="292608"/>
          </a:xfrm>
          <a:prstGeom prst="ellipse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629400" y="5605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6995160" y="560527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기술 스택</a:t>
            </a:r>
            <a:endParaRPr lang="en-US" sz="1250" dirty="0"/>
          </a:p>
        </p:txBody>
      </p:sp>
      <p:sp>
        <p:nvSpPr>
          <p:cNvPr id="65" name="Text 62"/>
          <p:cNvSpPr/>
          <p:nvPr/>
        </p:nvSpPr>
        <p:spPr>
          <a:xfrm>
            <a:off x="6629400" y="5916168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Java 17 · Spring Boot 3.5  / </a:t>
            </a:r>
            <a:r>
              <a:rPr lang="en-US" sz="9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Thymeleaf</a:t>
            </a: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Alpine.js · TailwindCSS  /  Apache POI · Gradle </a:t>
            </a:r>
            <a:r>
              <a:rPr lang="en-US" altLang="ko-KR" sz="1000" dirty="0"/>
              <a:t>· MySQL · Redis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주요 기술 적용 사례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인증·상태 관리 설계서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기술 적용 사례 (1) 보안 및 상태 관리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iframe 진입부터 종료까지, 이중 검증·일회용 토큰·HttpOnly 쿠키로 안전한 인증 플로우를 설계했습니다.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171700"/>
            <a:ext cx="5852160" cy="3886200"/>
          </a:xfrm>
          <a:prstGeom prst="roundRect">
            <a:avLst>
              <a:gd name="adj" fmla="val 3059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3180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AUTH SEQUENCE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5191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 참여 인증 플로우 (5단계)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2948940"/>
            <a:ext cx="17068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8E8E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985516"/>
            <a:ext cx="170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사이트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3150108"/>
            <a:ext cx="170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 8081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529840" y="2948940"/>
            <a:ext cx="1706880" cy="365760"/>
          </a:xfrm>
          <a:prstGeom prst="roundRect">
            <a:avLst>
              <a:gd name="adj" fmla="val 20000"/>
            </a:avLst>
          </a:prstGeom>
          <a:solidFill>
            <a:srgbClr val="EEF4FF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29840" y="2985516"/>
            <a:ext cx="170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서버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529840" y="3150108"/>
            <a:ext cx="170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 8080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373880" y="2948940"/>
            <a:ext cx="1706880" cy="365760"/>
          </a:xfrm>
          <a:prstGeom prst="roundRect">
            <a:avLst>
              <a:gd name="adj" fmla="val 20000"/>
            </a:avLst>
          </a:prstGeom>
          <a:solidFill>
            <a:srgbClr val="FFF4F2"/>
          </a:solidFill>
          <a:ln w="6350">
            <a:solidFill>
              <a:srgbClr val="D947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73880" y="2985516"/>
            <a:ext cx="170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Redis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373880" y="3150108"/>
            <a:ext cx="170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Cache · Token Store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539240" y="3360420"/>
            <a:ext cx="0" cy="2514600"/>
          </a:xfrm>
          <a:prstGeom prst="line">
            <a:avLst/>
          </a:pr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3383280" y="3360420"/>
            <a:ext cx="0" cy="2514600"/>
          </a:xfrm>
          <a:prstGeom prst="line">
            <a:avLst/>
          </a:pr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5227320" y="3360420"/>
            <a:ext cx="0" cy="2514600"/>
          </a:xfrm>
          <a:prstGeom prst="line">
            <a:avLst/>
          </a:pr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1539240" y="3525012"/>
            <a:ext cx="1844040" cy="0"/>
          </a:xfrm>
          <a:prstGeom prst="line">
            <a:avLst/>
          </a:prstGeom>
          <a:noFill/>
          <a:ln w="19050">
            <a:solidFill>
              <a:srgbClr val="1456F0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1539240" y="328726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서버 간 사전 검증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539240" y="356158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X-Internal-Api-Key · 대상자/중복 검증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383280" y="3982212"/>
            <a:ext cx="1844040" cy="0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headEnd type="non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3383280" y="374446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일회용 토큰 발급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383280" y="401878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Redis 1분 TTL · 조회 즉시 폐기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1539240" y="4439412"/>
            <a:ext cx="1844040" cy="0"/>
          </a:xfrm>
          <a:prstGeom prst="line">
            <a:avLst/>
          </a:prstGeom>
          <a:noFill/>
          <a:ln w="19050">
            <a:solidFill>
              <a:srgbClr val="1456F0"/>
            </a:solidFill>
            <a:prstDash val="solid"/>
            <a:headEnd type="triangle"/>
            <a:tailEnd type="none"/>
          </a:ln>
        </p:spPr>
      </p:sp>
      <p:sp>
        <p:nvSpPr>
          <p:cNvPr id="30" name="Text 27"/>
          <p:cNvSpPr/>
          <p:nvPr/>
        </p:nvSpPr>
        <p:spPr>
          <a:xfrm>
            <a:off x="1539240" y="420166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iframe 모달 호출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539240" y="447598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X-Frame-Options 제어 · 설문 인트로 오픈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3383280" y="4896612"/>
            <a:ext cx="1844040" cy="0"/>
          </a:xfrm>
          <a:prstGeom prst="line">
            <a:avLst/>
          </a:prstGeom>
          <a:noFill/>
          <a:ln w="19050">
            <a:solidFill>
              <a:srgbClr val="1456F0"/>
            </a:solidFill>
            <a:prstDash val="solid"/>
            <a:headEnd type="none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3383280" y="465886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Client JWT 발급 + 저장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383280" y="493318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Redis 토큰 검증 → HttpOnly 쿠키 저장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1539240" y="5353812"/>
            <a:ext cx="1844040" cy="0"/>
          </a:xfrm>
          <a:prstGeom prst="line">
            <a:avLst/>
          </a:prstGeom>
          <a:noFill/>
          <a:ln w="19050">
            <a:solidFill>
              <a:srgbClr val="EA5EC1"/>
            </a:solidFill>
            <a:prstDash val="solid"/>
            <a:headEnd type="none"/>
            <a:tailEnd type="triangle"/>
          </a:ln>
        </p:spPr>
      </p:sp>
      <p:sp>
        <p:nvSpPr>
          <p:cNvPr id="36" name="Text 33"/>
          <p:cNvSpPr/>
          <p:nvPr/>
        </p:nvSpPr>
        <p:spPr>
          <a:xfrm>
            <a:off x="1539240" y="511606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상태 유지 · 종료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539240" y="539038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ClientTokenFilter 검증 · postMessage로 모달 종료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446520" y="2171700"/>
            <a:ext cx="5287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BREAKDOWN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446520" y="2372868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기술 포인트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446520" y="2747772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446520" y="2747772"/>
            <a:ext cx="54864" cy="65836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592824" y="2912364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92824" y="29123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76872" y="285750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간 사전 검증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6976872" y="3113532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X-Internal-Api-Key 기반 내부 API 호출 — 대상자·중복 제출 여부 사전 차단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446520" y="3479292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4F2"/>
          </a:solidFill>
          <a:ln w="9525">
            <a:solidFill>
              <a:srgbClr val="F4B5A8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446520" y="3479292"/>
            <a:ext cx="54864" cy="658368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592824" y="3643884"/>
            <a:ext cx="310896" cy="310896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592824" y="36438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976872" y="358902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일회용 토큰 발급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6976872" y="3845052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Redis에 1분 TTL 토큰 저장, 조회 즉시 폐기 — 재사용 원천 차단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446520" y="4210812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6446520" y="4210812"/>
            <a:ext cx="54864" cy="65836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592824" y="4375404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592824" y="43754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976872" y="432054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iframe 모달 호출</a:t>
            </a:r>
            <a:endParaRPr lang="en-US" sz="1150" dirty="0"/>
          </a:p>
        </p:txBody>
      </p:sp>
      <p:sp>
        <p:nvSpPr>
          <p:cNvPr id="63" name="Text 60"/>
          <p:cNvSpPr/>
          <p:nvPr/>
        </p:nvSpPr>
        <p:spPr>
          <a:xfrm>
            <a:off x="6976872" y="4576572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X-Frame-Options 제어로 신뢰 도메인에서만 설문 인트로 모달 오픈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6446520" y="4942332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6446520" y="4942332"/>
            <a:ext cx="54864" cy="65836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592824" y="5106924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592824" y="5106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6976872" y="505206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Client JWT 발급·저장</a:t>
            </a:r>
            <a:endParaRPr lang="en-US" sz="1150" dirty="0"/>
          </a:p>
        </p:txBody>
      </p:sp>
      <p:sp>
        <p:nvSpPr>
          <p:cNvPr id="71" name="Text 68"/>
          <p:cNvSpPr/>
          <p:nvPr/>
        </p:nvSpPr>
        <p:spPr>
          <a:xfrm>
            <a:off x="6976872" y="5308092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Redis 토큰 검증 후 사용자 식별 JWT 생성 → HttpOnly 쿠키로 저장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6446520" y="5673852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6446520" y="5673852"/>
            <a:ext cx="54864" cy="658368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592824" y="5838444"/>
            <a:ext cx="310896" cy="310896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592824" y="58384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6976872" y="578358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유지 · 종료</a:t>
            </a:r>
            <a:endParaRPr lang="en-US" sz="1150" dirty="0"/>
          </a:p>
        </p:txBody>
      </p:sp>
      <p:sp>
        <p:nvSpPr>
          <p:cNvPr id="79" name="Text 76"/>
          <p:cNvSpPr/>
          <p:nvPr/>
        </p:nvSpPr>
        <p:spPr>
          <a:xfrm>
            <a:off x="6976872" y="6039612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ClientTokenFilter가 쿠키 검증, 완료 시 postMessage로 부모 창과 통신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주요 기술 적용 사례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통계 배치 처리 아키텍처 설계서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기술 적용 사례 (2) 통계 성능 최적화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Batch · 비동기 전환 · 수동 갱신 안전장치로 대용량 통계의 안정성과 응답성을 동시에 확보했습니다.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5852160" cy="3886200"/>
          </a:xfrm>
          <a:prstGeom prst="roundRect">
            <a:avLst>
              <a:gd name="adj" fmla="val 3059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478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BATCH PIPELINE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679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Batch 통계 집계 파이프라인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310896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FFF8E6"/>
          </a:solidFill>
          <a:ln w="6350">
            <a:solidFill>
              <a:srgbClr val="E8D3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108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B07E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SCHEDULE  </a:t>
            </a:r>
            <a:r>
              <a:rPr lang="en-US" sz="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08:00 자동 실행  ·  timestamp 파라미터로 동일 파라미터 중복 실행 정책 우회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5800" y="3520440"/>
            <a:ext cx="160324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8E8E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" y="3630168"/>
            <a:ext cx="1274064" cy="201168"/>
          </a:xfrm>
          <a:prstGeom prst="roundRect">
            <a:avLst>
              <a:gd name="adj" fmla="val 22727"/>
            </a:avLst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" y="3630168"/>
            <a:ext cx="127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READER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77240" y="3886200"/>
            <a:ext cx="142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 조회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4142232"/>
            <a:ext cx="142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JSON 원본 읽기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289048" y="35204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2581656" y="3520440"/>
            <a:ext cx="1603248" cy="1005840"/>
          </a:xfrm>
          <a:prstGeom prst="roundRect">
            <a:avLst>
              <a:gd name="adj" fmla="val 9091"/>
            </a:avLst>
          </a:prstGeom>
          <a:solidFill>
            <a:srgbClr val="EEF4FF"/>
          </a:solidFill>
          <a:ln w="15240">
            <a:solidFill>
              <a:srgbClr val="1456F0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6248" y="3630168"/>
            <a:ext cx="1274064" cy="201168"/>
          </a:xfrm>
          <a:prstGeom prst="roundRect">
            <a:avLst>
              <a:gd name="adj" fmla="val 2272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6248" y="3630168"/>
            <a:ext cx="127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PROCESSOR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673096" y="3886200"/>
            <a:ext cx="142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파싱 + 집계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673096" y="4142232"/>
            <a:ext cx="142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문항 타입별 동적 분기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선택·척도·주관식·순위형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184904" y="35204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4477512" y="3520440"/>
            <a:ext cx="1603248" cy="1005840"/>
          </a:xfrm>
          <a:prstGeom prst="roundRect">
            <a:avLst>
              <a:gd name="adj" fmla="val 9091"/>
            </a:avLst>
          </a:prstGeom>
          <a:solidFill>
            <a:srgbClr val="FDEEF8"/>
          </a:solidFill>
          <a:ln w="6350">
            <a:solidFill>
              <a:srgbClr val="EA5EC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42104" y="3630168"/>
            <a:ext cx="1274064" cy="201168"/>
          </a:xfrm>
          <a:prstGeom prst="roundRect">
            <a:avLst>
              <a:gd name="adj" fmla="val 22727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42104" y="3630168"/>
            <a:ext cx="127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WRITER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568952" y="3886200"/>
            <a:ext cx="142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Delete + Insert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68952" y="4142232"/>
            <a:ext cx="142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트랜잭션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무중단 DB 갱신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85800" y="4754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48280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CLIENT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77240" y="49926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77240" y="5212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폴링 (/status) 으로 완료 확인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246120" y="47548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⇄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520440" y="4754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E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11880" y="48280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611880" y="49926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SimpleAsyncTaskExecutor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611880" y="5212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즉시 응답 — 서버 지연 없음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85800" y="566928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7240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FAILSAFE  </a:t>
            </a:r>
            <a:r>
              <a:rPr lang="en-US" sz="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‘수동 집계’ API — 배치 실패·즉시 갱신 필요 시 실시간 통계 화면 재생성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446520" y="2331720"/>
            <a:ext cx="5287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OPTIMIZATION POINTS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46520" y="2532888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최적화 포인트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446520" y="2907792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446520" y="2907792"/>
            <a:ext cx="54864" cy="65836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92824" y="3072384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92824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976872" y="301752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파싱 · 맞춤 집계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10500055" y="3026664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500055" y="30266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Processor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976872" y="3273552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 JSON 파싱·문항 그룹핑 → 선택·척도·주관식·순위형 등 타입별 동적 분기 처리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446520" y="3639312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DEEF8"/>
          </a:solidFill>
          <a:ln w="9525">
            <a:solidFill>
              <a:srgbClr val="F4C2E2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446520" y="3639312"/>
            <a:ext cx="54864" cy="658368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592824" y="3803904"/>
            <a:ext cx="310896" cy="310896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92824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976872" y="374904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무중단 DB 갱신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10500055" y="3758184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A5EC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500055" y="37581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5E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Writer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6976872" y="4005072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Delete + Insert를 단일 Step 트랜잭션에 묶어 갱신 중에도 빈 화면 노출 차단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6446520" y="4370832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446520" y="4370832"/>
            <a:ext cx="54864" cy="65836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592824" y="4535424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92824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6976872" y="448056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스케줄링 자동 실행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10500055" y="4489704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500055" y="44897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Scheduler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6976872" y="4736592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08:00 자동 실행 + timestamp 파라미터로 동일 파라미터 중복 정책 우회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6446520" y="5102352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6446520" y="5102352"/>
            <a:ext cx="54864" cy="65836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592824" y="5266944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592824" y="5266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6976872" y="521208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 → 비동기 전환</a:t>
            </a:r>
            <a:endParaRPr lang="en-US" sz="1150" dirty="0"/>
          </a:p>
        </p:txBody>
      </p:sp>
      <p:sp>
        <p:nvSpPr>
          <p:cNvPr id="72" name="Shape 69"/>
          <p:cNvSpPr/>
          <p:nvPr/>
        </p:nvSpPr>
        <p:spPr>
          <a:xfrm>
            <a:off x="10500055" y="5221224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0500055" y="52212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6976872" y="5468112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SimpleAsyncTaskExecutor 도입 — 요청 즉시 응답, 클라이언트는 /status 폴링으로 완료 확인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6446520" y="5833872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6446520" y="5833872"/>
            <a:ext cx="54864" cy="658368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592824" y="5998464"/>
            <a:ext cx="310896" cy="310896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592824" y="5998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6976872" y="594360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안전장치: 수동 갱신</a:t>
            </a:r>
            <a:endParaRPr lang="en-US" sz="1150" dirty="0"/>
          </a:p>
        </p:txBody>
      </p:sp>
      <p:sp>
        <p:nvSpPr>
          <p:cNvPr id="80" name="Shape 77"/>
          <p:cNvSpPr/>
          <p:nvPr/>
        </p:nvSpPr>
        <p:spPr>
          <a:xfrm>
            <a:off x="10500055" y="5952744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6350">
            <a:solidFill>
              <a:srgbClr val="D9472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0500055" y="59527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Failsafe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6976872" y="6199632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배치 실패·즉시 확인 대비 관리자 직접 ‘수동 집계’ API 제공 — 실시간 화면 재생성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주요 기술 적용 사례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05295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Source. 엑셀 출력·감사 추적 설계서 (2026)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기술 적용 사례 (3) 대용량 데이터 처리 및 엑셀 출력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SXSSF 스트리밍 · SheetWriter 책임 분리 · Audit Trail로 대용량 출력의 성능·구조·보안을 동시에 잡았습니다.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5852160" cy="3886200"/>
          </a:xfrm>
          <a:prstGeom prst="roundRect">
            <a:avLst>
              <a:gd name="adj" fmla="val 3059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4780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EXCEL EXPORT PIPELINE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679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요청 → 4종 통계 → 스트리밍 → 감사 기록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3108960"/>
            <a:ext cx="5394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218688"/>
            <a:ext cx="146304" cy="146304"/>
          </a:xfrm>
          <a:prstGeom prst="ellipse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  </a:t>
            </a:r>
            <a:r>
              <a:rPr lang="en-US" sz="9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엑셀 다운로드 API 요청 (관리자 → 서버)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3474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SHEET WRITER × 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514600" y="34747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객체별 작성 책임 분리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85800" y="3639312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" y="3749040"/>
            <a:ext cx="320040" cy="9144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913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41513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SheetWriter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057400" y="3639312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30552" y="3749040"/>
            <a:ext cx="320040" cy="9144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057400" y="3913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부서별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057400" y="41513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SheetWriter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429000" y="3639312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02152" y="3749040"/>
            <a:ext cx="320040" cy="9144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29000" y="3913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응답자별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29000" y="41513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SheetWriter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800600" y="3639312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73752" y="3749040"/>
            <a:ext cx="320040" cy="9144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00600" y="3913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문항별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00600" y="41513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SheetWriter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85800" y="4581144"/>
            <a:ext cx="5394960" cy="685800"/>
          </a:xfrm>
          <a:prstGeom prst="roundRect">
            <a:avLst>
              <a:gd name="adj" fmla="val 13333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22960" y="46725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STREAMING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22960" y="4837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SXSSFWorkbook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743200" y="47457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 단위 disk flush — 메모리 안정 유지, OOM 방지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2743200" y="49469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대용량 응답 데이터도 일정한 메모리로 안정적 처리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85800" y="5404104"/>
            <a:ext cx="25831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2960" y="5477256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DELIVERY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22960" y="5641848"/>
            <a:ext cx="2400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xlsx 응답 반환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22960" y="5824728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관리자에 파일 전달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497580" y="5404104"/>
            <a:ext cx="2583180" cy="594360"/>
          </a:xfrm>
          <a:prstGeom prst="roundRect">
            <a:avLst>
              <a:gd name="adj" fmla="val 12308"/>
            </a:avLst>
          </a:prstGeom>
          <a:solidFill>
            <a:srgbClr val="FFF4F2"/>
          </a:solidFill>
          <a:ln w="6350">
            <a:solidFill>
              <a:srgbClr val="F4B5A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34740" y="5477256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634740" y="5641848"/>
            <a:ext cx="2400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 자동 기록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634740" y="5824728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Append-only · 누가·언제·무엇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446520" y="2331720"/>
            <a:ext cx="5287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TECHNIQUES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446520" y="2532888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기술 포인트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6446520" y="2907792"/>
            <a:ext cx="5287975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446520" y="2907792"/>
            <a:ext cx="54864" cy="107899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92824" y="2989404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92824" y="29894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976872" y="3035808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효율적 데이터 수집·구조화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0500055" y="3054096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500055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OOP 설계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6629400" y="336499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 1회 요청으로 4종 통계(요약·부서별·응답자별·문항별) 일괄 조회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629400" y="363931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시트별 SheetWriter 객체 분리 — 책임 분리·가독성·유지보수성 향상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6446520" y="4105656"/>
            <a:ext cx="5287975" cy="1078992"/>
          </a:xfrm>
          <a:prstGeom prst="roundRect">
            <a:avLst>
              <a:gd name="adj" fmla="val 10169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6446520" y="4105656"/>
            <a:ext cx="54864" cy="107899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592824" y="4174578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592824" y="4174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976872" y="4233672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SXSSF 기반 메모리 최적화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10500055" y="425196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0500055" y="42519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최적화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6629400" y="4562856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SXSSFWorkbook 도입 — Row 단위 disk flush 스트리밍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6629400" y="4837176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오버플로우(OOM) 방지 — 대용량도 안정 메모리 유지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6446520" y="5303520"/>
            <a:ext cx="5287975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446520" y="5303520"/>
            <a:ext cx="54864" cy="1078992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592824" y="5383850"/>
            <a:ext cx="310896" cy="310896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592824" y="53838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976872" y="5431536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 추적 · 보안 강화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10500055" y="5449824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2F3F5"/>
          </a:solidFill>
          <a:ln w="6350">
            <a:solidFill>
              <a:srgbClr val="D9472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0500055" y="54498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6629400" y="5760720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시점 자동 이력 기록 — 누가·언제·어떤 통계 (Append-only)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6629400" y="6035040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</a:t>
            </a: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페이지에서 페이징 조회 — 추적성·거버넌스 확보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2412</Words>
  <Application>Microsoft Office PowerPoint</Application>
  <PresentationFormat>와이드스크린</PresentationFormat>
  <Paragraphs>500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 pretender</vt:lpstr>
      <vt:lpstr>PreT</vt:lpstr>
      <vt:lpstr>Pretendard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레거시 설문조사 서비스 개선</dc:title>
  <dc:subject>PptxGenJS Presentation</dc:subject>
  <dc:creator>웅진씽크빅</dc:creator>
  <cp:lastModifiedBy>user</cp:lastModifiedBy>
  <cp:revision>35</cp:revision>
  <dcterms:created xsi:type="dcterms:W3CDTF">2026-05-18T12:01:15Z</dcterms:created>
  <dcterms:modified xsi:type="dcterms:W3CDTF">2026-05-19T09:01:38Z</dcterms:modified>
</cp:coreProperties>
</file>