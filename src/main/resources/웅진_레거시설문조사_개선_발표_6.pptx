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0" r:id="rId13"/>
    <p:sldId id="269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5380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82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33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CONTENTS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94360" y="2066543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1417320" y="2176271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00200" y="2245531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600" b="1" kern="0" spc="-30" dirty="0">
                <a:solidFill>
                  <a:srgbClr val="222222"/>
                </a:solidFill>
                <a:latin typeface="Pretendard" pitchFamily="34" charset="0"/>
              </a:rPr>
              <a:t>프로젝트 개요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679191"/>
            <a:ext cx="11002975" cy="0"/>
          </a:xfrm>
          <a:prstGeom prst="line">
            <a:avLst/>
          </a:prstGeom>
          <a:noFill/>
          <a:ln w="6350">
            <a:solidFill>
              <a:srgbClr val="F2F3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2724911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altLang="ko-KR" sz="3000" dirty="0"/>
          </a:p>
        </p:txBody>
      </p:sp>
      <p:sp>
        <p:nvSpPr>
          <p:cNvPr id="19" name="Text 16"/>
          <p:cNvSpPr/>
          <p:nvPr/>
        </p:nvSpPr>
        <p:spPr>
          <a:xfrm>
            <a:off x="2378413" y="12573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94360" y="3337559"/>
            <a:ext cx="11002975" cy="0"/>
          </a:xfrm>
          <a:prstGeom prst="line">
            <a:avLst/>
          </a:prstGeom>
          <a:noFill/>
          <a:ln w="6350">
            <a:solidFill>
              <a:srgbClr val="F2F3F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94360" y="3383279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000" dirty="0"/>
          </a:p>
        </p:txBody>
      </p:sp>
      <p:sp>
        <p:nvSpPr>
          <p:cNvPr id="25" name="Shape 22"/>
          <p:cNvSpPr/>
          <p:nvPr/>
        </p:nvSpPr>
        <p:spPr>
          <a:xfrm>
            <a:off x="1417320" y="3493007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600200" y="352958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-3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kern="0" spc="-3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kern="0" spc="-3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(TO –BE)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94360" y="3995927"/>
            <a:ext cx="11002975" cy="0"/>
          </a:xfrm>
          <a:prstGeom prst="line">
            <a:avLst/>
          </a:prstGeom>
          <a:noFill/>
          <a:ln w="6350">
            <a:solidFill>
              <a:srgbClr val="F2F3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4360" y="4041647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3000" dirty="0"/>
          </a:p>
        </p:txBody>
      </p:sp>
      <p:sp>
        <p:nvSpPr>
          <p:cNvPr id="35" name="Text 32"/>
          <p:cNvSpPr/>
          <p:nvPr/>
        </p:nvSpPr>
        <p:spPr>
          <a:xfrm>
            <a:off x="1600200" y="4114799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600200" y="4219955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600" b="1" kern="0" spc="-30" dirty="0">
                <a:solidFill>
                  <a:srgbClr val="222222"/>
                </a:solidFill>
                <a:latin typeface="Pretendard" pitchFamily="34" charset="0"/>
              </a:rPr>
              <a:t>주요 기능 고도화</a:t>
            </a:r>
            <a:endParaRPr lang="en-US" sz="1600" dirty="0"/>
          </a:p>
        </p:txBody>
      </p:sp>
      <p:sp>
        <p:nvSpPr>
          <p:cNvPr id="40" name="Text 37"/>
          <p:cNvSpPr/>
          <p:nvPr/>
        </p:nvSpPr>
        <p:spPr>
          <a:xfrm>
            <a:off x="594360" y="4700015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altLang="ko-KR" sz="3000" dirty="0"/>
          </a:p>
        </p:txBody>
      </p:sp>
      <p:sp>
        <p:nvSpPr>
          <p:cNvPr id="43" name="Text 40"/>
          <p:cNvSpPr/>
          <p:nvPr/>
        </p:nvSpPr>
        <p:spPr>
          <a:xfrm>
            <a:off x="1600200" y="4850891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600" b="1" kern="0" spc="-30" dirty="0">
                <a:solidFill>
                  <a:srgbClr val="222222"/>
                </a:solidFill>
                <a:latin typeface="Pretendard" pitchFamily="34" charset="0"/>
              </a:rPr>
              <a:t>시스템 아키텍처 및 기술 스택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594360" y="5312663"/>
            <a:ext cx="11002975" cy="0"/>
          </a:xfrm>
          <a:prstGeom prst="line">
            <a:avLst/>
          </a:prstGeom>
          <a:noFill/>
          <a:ln w="6350">
            <a:solidFill>
              <a:srgbClr val="F2F3F5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Text 45"/>
          <p:cNvSpPr/>
          <p:nvPr/>
        </p:nvSpPr>
        <p:spPr>
          <a:xfrm>
            <a:off x="594360" y="5358383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3000" b="1" kern="0" spc="-1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altLang="ko-KR" sz="3000" dirty="0"/>
          </a:p>
        </p:txBody>
      </p:sp>
      <p:sp>
        <p:nvSpPr>
          <p:cNvPr id="51" name="Text 48"/>
          <p:cNvSpPr/>
          <p:nvPr/>
        </p:nvSpPr>
        <p:spPr>
          <a:xfrm>
            <a:off x="1600200" y="5528715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kern="0" spc="-3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기술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kern="0" spc="-3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</a:t>
            </a:r>
            <a:endParaRPr lang="en-US" sz="160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ACEC23A1-FA94-4A7E-AEF5-790AE8574C91}"/>
              </a:ext>
            </a:extLst>
          </p:cNvPr>
          <p:cNvSpPr/>
          <p:nvPr/>
        </p:nvSpPr>
        <p:spPr>
          <a:xfrm>
            <a:off x="1417320" y="2842519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7" name="Shape 28">
            <a:extLst>
              <a:ext uri="{FF2B5EF4-FFF2-40B4-BE49-F238E27FC236}">
                <a16:creationId xmlns:a16="http://schemas.microsoft.com/office/drawing/2014/main" id="{69E64F25-3C0F-4F91-A819-FFAD11D239AD}"/>
              </a:ext>
            </a:extLst>
          </p:cNvPr>
          <p:cNvSpPr/>
          <p:nvPr/>
        </p:nvSpPr>
        <p:spPr>
          <a:xfrm>
            <a:off x="594360" y="3364991"/>
            <a:ext cx="11002975" cy="0"/>
          </a:xfrm>
          <a:prstGeom prst="line">
            <a:avLst/>
          </a:prstGeom>
          <a:noFill/>
          <a:ln w="6350">
            <a:solidFill>
              <a:srgbClr val="F2F3F5"/>
            </a:solidFill>
            <a:prstDash val="solid"/>
          </a:ln>
        </p:spPr>
      </p:sp>
      <p:sp>
        <p:nvSpPr>
          <p:cNvPr id="63" name="Shape 22">
            <a:extLst>
              <a:ext uri="{FF2B5EF4-FFF2-40B4-BE49-F238E27FC236}">
                <a16:creationId xmlns:a16="http://schemas.microsoft.com/office/drawing/2014/main" id="{79D0AE60-0049-4667-A9DD-C5DAFDE20A69}"/>
              </a:ext>
            </a:extLst>
          </p:cNvPr>
          <p:cNvSpPr/>
          <p:nvPr/>
        </p:nvSpPr>
        <p:spPr>
          <a:xfrm>
            <a:off x="1417320" y="4165091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4" name="Shape 22">
            <a:extLst>
              <a:ext uri="{FF2B5EF4-FFF2-40B4-BE49-F238E27FC236}">
                <a16:creationId xmlns:a16="http://schemas.microsoft.com/office/drawing/2014/main" id="{C6326832-1B6D-43AD-8EF4-5DE182EEF19E}"/>
              </a:ext>
            </a:extLst>
          </p:cNvPr>
          <p:cNvSpPr/>
          <p:nvPr/>
        </p:nvSpPr>
        <p:spPr>
          <a:xfrm>
            <a:off x="1417320" y="4798070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5" name="Shape 22">
            <a:extLst>
              <a:ext uri="{FF2B5EF4-FFF2-40B4-BE49-F238E27FC236}">
                <a16:creationId xmlns:a16="http://schemas.microsoft.com/office/drawing/2014/main" id="{2EE68D42-A8C4-4CB3-A495-B2CA481B1822}"/>
              </a:ext>
            </a:extLst>
          </p:cNvPr>
          <p:cNvSpPr/>
          <p:nvPr/>
        </p:nvSpPr>
        <p:spPr>
          <a:xfrm>
            <a:off x="1417320" y="5481828"/>
            <a:ext cx="36576" cy="34747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8" name="Text 24">
            <a:extLst>
              <a:ext uri="{FF2B5EF4-FFF2-40B4-BE49-F238E27FC236}">
                <a16:creationId xmlns:a16="http://schemas.microsoft.com/office/drawing/2014/main" id="{D4F03CE6-2814-499F-B753-8A8232394B86}"/>
              </a:ext>
            </a:extLst>
          </p:cNvPr>
          <p:cNvSpPr/>
          <p:nvPr/>
        </p:nvSpPr>
        <p:spPr>
          <a:xfrm>
            <a:off x="1600200" y="2895243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b="1" kern="0" spc="-30" dirty="0">
                <a:solidFill>
                  <a:srgbClr val="222222"/>
                </a:solidFill>
                <a:latin typeface="Pretendard" pitchFamily="34" charset="0"/>
              </a:rPr>
              <a:t>기존 시스템 한계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en-US" altLang="ko-KR" sz="1600" b="1" kern="0" spc="-30" dirty="0">
                <a:solidFill>
                  <a:srgbClr val="222222"/>
                </a:solidFill>
                <a:latin typeface="Pretendard" pitchFamily="34" charset="0"/>
              </a:rPr>
              <a:t>AS – IS</a:t>
            </a:r>
            <a:r>
              <a:rPr lang="en-US" sz="1600" b="1" kern="0" spc="-3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15868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프로젝트 개요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배경 및 목적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88230" y="1364008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 err="1"/>
              <a:t>웅진씽크빅은</a:t>
            </a:r>
            <a:r>
              <a:rPr lang="ko-KR" altLang="en-US" sz="1600" dirty="0"/>
              <a:t> 전국 지국 영업조직원을 대상으로 업무 만족도 및 제품 피드백 수집을 위해 설문조사 서비스를 적극 활용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2341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배경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457200" y="2615184"/>
            <a:ext cx="5547208" cy="1399032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8368" y="2781864"/>
            <a:ext cx="5181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22222"/>
                </a:solidFill>
                <a:latin typeface=" pretender"/>
              </a:rPr>
              <a:t>본사에서 </a:t>
            </a:r>
            <a:r>
              <a:rPr lang="ko-KR" altLang="en-US" sz="1400" b="1" dirty="0">
                <a:solidFill>
                  <a:srgbClr val="222222"/>
                </a:solidFill>
                <a:latin typeface="PreT"/>
              </a:rPr>
              <a:t>적극적으로</a:t>
            </a:r>
            <a:r>
              <a:rPr lang="ko-KR" altLang="en-US" sz="1400" b="1" dirty="0">
                <a:solidFill>
                  <a:srgbClr val="222222"/>
                </a:solidFill>
                <a:latin typeface=" pretender"/>
              </a:rPr>
              <a:t> 활용하고 있는 설문조사 서비스</a:t>
            </a:r>
            <a:endParaRPr lang="en-US" sz="1400" dirty="0">
              <a:latin typeface=" pretender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58368" y="3293587"/>
            <a:ext cx="518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</a:t>
            </a:r>
            <a:r>
              <a:rPr lang="en-US" sz="12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</a:t>
            </a:r>
            <a:r>
              <a:rPr lang="ko-KR" altLang="en-US" sz="1200" dirty="0"/>
              <a:t>전국 지국 영업조직원을 대상으로 업무 만족도 및 제품 피드백 수집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58368" y="3543252"/>
            <a:ext cx="518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</a:t>
            </a:r>
            <a:r>
              <a:rPr lang="en-US" sz="12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200" dirty="0"/>
              <a:t>주 사용층인 </a:t>
            </a:r>
            <a:r>
              <a:rPr lang="en-US" altLang="ko-KR" sz="1200" dirty="0"/>
              <a:t>40~50</a:t>
            </a:r>
            <a:r>
              <a:rPr lang="ko-KR" altLang="en-US" sz="1200" dirty="0"/>
              <a:t>대 영업조직원의 접근성 고려 필요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7288" y="2634392"/>
            <a:ext cx="5547208" cy="1389888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8" name="Shape 15"/>
          <p:cNvSpPr/>
          <p:nvPr/>
        </p:nvSpPr>
        <p:spPr>
          <a:xfrm>
            <a:off x="6187288" y="2621790"/>
            <a:ext cx="64008" cy="128016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2172" y="2783079"/>
            <a:ext cx="5181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관리자 효율성과 사용자 편의성 측면의 개선 필요                                                                                                        </a:t>
            </a:r>
            <a:endParaRPr lang="en-US" sz="1400" b="1" dirty="0"/>
          </a:p>
        </p:txBody>
      </p:sp>
      <p:sp>
        <p:nvSpPr>
          <p:cNvPr id="22" name="Text 19"/>
          <p:cNvSpPr/>
          <p:nvPr/>
        </p:nvSpPr>
        <p:spPr>
          <a:xfrm>
            <a:off x="6388456" y="3203454"/>
            <a:ext cx="518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</a:t>
            </a: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</a:t>
            </a:r>
            <a:r>
              <a:rPr lang="en-US" sz="120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</a:t>
            </a:r>
            <a:r>
              <a:rPr lang="en-US" sz="12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ko-KR" altLang="en-US" sz="1200" dirty="0"/>
              <a:t>통계 해석 및 데이터 관리 효율성 부족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388456" y="3437216"/>
            <a:ext cx="518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en-US" sz="12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: </a:t>
            </a:r>
            <a:r>
              <a:rPr lang="ko-KR" altLang="en-US" sz="1200" dirty="0"/>
              <a:t>직관적이지 않은 </a:t>
            </a:r>
            <a:r>
              <a:rPr lang="en-US" altLang="ko-KR" sz="1200" dirty="0"/>
              <a:t>UI·UX</a:t>
            </a:r>
            <a:r>
              <a:rPr lang="ko-KR" altLang="en-US" sz="1200" dirty="0"/>
              <a:t>로 설문 참여 부담 증가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57200" y="4507992"/>
            <a:ext cx="11277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</a:t>
            </a:r>
            <a:r>
              <a:rPr lang="en-US" sz="18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</a:t>
            </a:r>
            <a:r>
              <a:rPr lang="en-US" sz="1200" b="1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기존 핵심 기능은 유지하면서 3가지 방향으로 고도화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457200" y="4928616"/>
            <a:ext cx="3637178" cy="1252728"/>
          </a:xfrm>
          <a:prstGeom prst="roundRect">
            <a:avLst>
              <a:gd name="adj" fmla="val 11679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928616"/>
            <a:ext cx="363717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58368" y="5074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3134258" y="5129784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134258" y="512978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" y="55778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350" b="1" kern="0" spc="-20" dirty="0">
                <a:solidFill>
                  <a:srgbClr val="222222"/>
                </a:solidFill>
                <a:latin typeface="Pretendard" pitchFamily="34" charset="0"/>
              </a:rPr>
              <a:t>설문 운영 효율성 향상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58368" y="5797296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277258" y="4928616"/>
            <a:ext cx="3637178" cy="1252728"/>
          </a:xfrm>
          <a:prstGeom prst="roundRect">
            <a:avLst>
              <a:gd name="adj" fmla="val 1167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277258" y="4928616"/>
            <a:ext cx="3637178" cy="54864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78426" y="5074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kern="0" spc="-5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954317" y="5129784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954317" y="512978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460139" y="5584207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350" b="1" kern="0" spc="-2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</a:t>
            </a:r>
            <a:r>
              <a:rPr lang="en-US" sz="1350" b="1" kern="0" spc="-2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</a:t>
            </a:r>
            <a:r>
              <a:rPr lang="en-US" sz="1350" b="1" kern="0" spc="-2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편의성 향상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4478426" y="5797296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097317" y="4928616"/>
            <a:ext cx="3637178" cy="1252728"/>
          </a:xfrm>
          <a:prstGeom prst="roundRect">
            <a:avLst>
              <a:gd name="adj" fmla="val 1167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097317" y="4928616"/>
            <a:ext cx="3637178" cy="54864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8298485" y="507492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kern="0" spc="-5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10774375" y="5129784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774375" y="5129784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8298485" y="5554596"/>
            <a:ext cx="3271418" cy="425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altLang="ko-KR" sz="1400" b="1" dirty="0"/>
              <a:t>Java/Spring </a:t>
            </a:r>
            <a:r>
              <a:rPr lang="ko-KR" altLang="en-US" sz="1400" b="1" dirty="0"/>
              <a:t>기반 </a:t>
            </a:r>
            <a:r>
              <a:rPr lang="ko-KR" altLang="en-US" sz="1400" b="1" dirty="0" err="1"/>
              <a:t>재구현</a:t>
            </a:r>
            <a:r>
              <a:rPr lang="ko-KR" altLang="en-US" sz="1400" b="1" dirty="0"/>
              <a:t> 및</a:t>
            </a:r>
            <a:endParaRPr lang="en-US" altLang="ko-KR" sz="1400" b="1" dirty="0"/>
          </a:p>
          <a:p>
            <a:pPr algn="ctr"/>
            <a:r>
              <a:rPr lang="ko-KR" altLang="en-US" sz="1400" b="1" dirty="0"/>
              <a:t> 유지보수성 향상</a:t>
            </a:r>
            <a:endParaRPr lang="en-US" sz="1350" b="1" dirty="0"/>
          </a:p>
        </p:txBody>
      </p:sp>
      <p:sp>
        <p:nvSpPr>
          <p:cNvPr id="46" name="Text 43"/>
          <p:cNvSpPr/>
          <p:nvPr/>
        </p:nvSpPr>
        <p:spPr>
          <a:xfrm>
            <a:off x="8298485" y="5797296"/>
            <a:ext cx="327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48" name="Text 5"/>
          <p:cNvSpPr/>
          <p:nvPr/>
        </p:nvSpPr>
        <p:spPr>
          <a:xfrm>
            <a:off x="457200" y="199640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0" name="Text 21"/>
          <p:cNvSpPr/>
          <p:nvPr/>
        </p:nvSpPr>
        <p:spPr>
          <a:xfrm>
            <a:off x="457200" y="427024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</a:t>
            </a:r>
            <a:endParaRPr lang="en-US" sz="1000" dirty="0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DCFE9A50-C47F-4166-BC8C-B0741817BCC2}"/>
              </a:ext>
            </a:extLst>
          </p:cNvPr>
          <p:cNvSpPr/>
          <p:nvPr/>
        </p:nvSpPr>
        <p:spPr>
          <a:xfrm>
            <a:off x="6388456" y="3673111"/>
            <a:ext cx="5181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ko-KR" altLang="en-US" sz="1200" dirty="0"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r>
              <a:rPr lang="en-US" sz="12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ko-KR" altLang="en-US" sz="1200" dirty="0" err="1"/>
              <a:t>레거시</a:t>
            </a:r>
            <a:r>
              <a:rPr lang="ko-KR" altLang="en-US" sz="1200" dirty="0"/>
              <a:t> 구조로 인한 유지보수 및 확장성 한계</a:t>
            </a:r>
            <a:endParaRPr lang="en-US" sz="1200" dirty="0"/>
          </a:p>
        </p:txBody>
      </p:sp>
      <p:sp>
        <p:nvSpPr>
          <p:cNvPr id="51" name="Shape 15">
            <a:extLst>
              <a:ext uri="{FF2B5EF4-FFF2-40B4-BE49-F238E27FC236}">
                <a16:creationId xmlns:a16="http://schemas.microsoft.com/office/drawing/2014/main" id="{3BA8D4D0-9033-40BE-B7AB-EA4F1B33CB85}"/>
              </a:ext>
            </a:extLst>
          </p:cNvPr>
          <p:cNvSpPr/>
          <p:nvPr/>
        </p:nvSpPr>
        <p:spPr>
          <a:xfrm>
            <a:off x="475488" y="2621790"/>
            <a:ext cx="64008" cy="128016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</a:t>
            </a:r>
            <a:r>
              <a:rPr lang="en-US" sz="1200" dirty="0" err="1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 err="1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r>
              <a:rPr lang="ko-KR" alt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한계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시스템의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한계점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- 사용자 측면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199" y="1394460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기존 설문 응답 과정에서 사용자가 겪는 </a:t>
            </a:r>
            <a:r>
              <a:rPr lang="en-US" altLang="ko-KR" sz="1600" dirty="0"/>
              <a:t>4</a:t>
            </a:r>
            <a:r>
              <a:rPr lang="ko-KR" altLang="en-US" sz="1600" dirty="0"/>
              <a:t>가지 불편 요소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112264"/>
            <a:ext cx="4846320" cy="3611880"/>
          </a:xfrm>
          <a:prstGeom prst="roundRect">
            <a:avLst>
              <a:gd name="adj" fmla="val 4051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112264"/>
            <a:ext cx="4846320" cy="384048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" y="2240280"/>
            <a:ext cx="128016" cy="128016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672" y="2240280"/>
            <a:ext cx="128016" cy="128016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240280"/>
            <a:ext cx="128016" cy="128016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203704"/>
            <a:ext cx="384048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25880" y="220370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설문조사 화면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86061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화면 캡처 영역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38953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577840" y="2112264"/>
            <a:ext cx="6156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</a:rPr>
              <a:t>Problem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577840" y="2322576"/>
            <a:ext cx="6156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과정에서 사용자가 겪는 4가지 불편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577840" y="2688336"/>
            <a:ext cx="2986888" cy="1463040"/>
          </a:xfrm>
          <a:prstGeom prst="roundRect">
            <a:avLst>
              <a:gd name="adj" fmla="val 81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577840" y="2688336"/>
            <a:ext cx="64008" cy="146304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79008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801868" y="3072384"/>
            <a:ext cx="260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문항 유형별 응답 방식 인지 어려움</a:t>
            </a:r>
            <a:endParaRPr lang="en-US" sz="1300" b="1" dirty="0"/>
          </a:p>
        </p:txBody>
      </p:sp>
      <p:sp>
        <p:nvSpPr>
          <p:cNvPr id="28" name="Text 25"/>
          <p:cNvSpPr/>
          <p:nvPr/>
        </p:nvSpPr>
        <p:spPr>
          <a:xfrm>
            <a:off x="5779008" y="3584448"/>
            <a:ext cx="2602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복수선택 문항의 선택 조건과 순위선택형 문항의 우선순위 지정 방식이 직관적으로 드러나지 않아 이해하는데 시간이 소요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747608" y="2688336"/>
            <a:ext cx="2986888" cy="1463040"/>
          </a:xfrm>
          <a:prstGeom prst="roundRect">
            <a:avLst>
              <a:gd name="adj" fmla="val 81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0" name="Shape 27"/>
          <p:cNvSpPr/>
          <p:nvPr/>
        </p:nvSpPr>
        <p:spPr>
          <a:xfrm>
            <a:off x="8747608" y="2688336"/>
            <a:ext cx="64008" cy="146304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48776" y="2852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0820095" y="285292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948776" y="3072384"/>
            <a:ext cx="260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조건분기 응답 흐름 파악 어려움</a:t>
            </a:r>
            <a:endParaRPr lang="en-US" sz="1300" b="1" dirty="0"/>
          </a:p>
        </p:txBody>
      </p:sp>
      <p:sp>
        <p:nvSpPr>
          <p:cNvPr id="35" name="Text 32"/>
          <p:cNvSpPr/>
          <p:nvPr/>
        </p:nvSpPr>
        <p:spPr>
          <a:xfrm>
            <a:off x="8948776" y="3584448"/>
            <a:ext cx="2602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특정 선택지에 따라</a:t>
            </a:r>
            <a:r>
              <a:rPr lang="en-US" altLang="ko-KR" sz="1000" dirty="0"/>
              <a:t> </a:t>
            </a:r>
            <a:r>
              <a:rPr lang="ko-KR" altLang="en-US" sz="1000" dirty="0"/>
              <a:t>연결 관계와 화면 변화가 즉시 드러나지 않아 사용자가 조건분기 구조를 인지하기 어려움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577840" y="4288536"/>
            <a:ext cx="2986888" cy="1463040"/>
          </a:xfrm>
          <a:prstGeom prst="roundRect">
            <a:avLst>
              <a:gd name="adj" fmla="val 81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577840" y="4288536"/>
            <a:ext cx="64008" cy="146304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44531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5779008" y="4723168"/>
            <a:ext cx="260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페이지 이탈 시 작성 내용 유실</a:t>
            </a:r>
            <a:endParaRPr lang="en-US" sz="1300" b="1" dirty="0"/>
          </a:p>
        </p:txBody>
      </p:sp>
      <p:sp>
        <p:nvSpPr>
          <p:cNvPr id="42" name="Text 39"/>
          <p:cNvSpPr/>
          <p:nvPr/>
        </p:nvSpPr>
        <p:spPr>
          <a:xfrm>
            <a:off x="5779008" y="5184648"/>
            <a:ext cx="2602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작성 중 화면을 벗어나면 입력한 응답이 저장되지 않아</a:t>
            </a:r>
            <a:r>
              <a:rPr lang="en-US" altLang="ko-KR" sz="1000" dirty="0"/>
              <a:t> </a:t>
            </a:r>
            <a:r>
              <a:rPr lang="ko-KR" altLang="en-US" sz="1000" dirty="0"/>
              <a:t>처음부터 다시 작성해야 하는 부담이 발생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747608" y="4288536"/>
            <a:ext cx="2986888" cy="1463040"/>
          </a:xfrm>
          <a:prstGeom prst="roundRect">
            <a:avLst>
              <a:gd name="adj" fmla="val 812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47608" y="4288536"/>
            <a:ext cx="64008" cy="146304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948776" y="44531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948776" y="4723168"/>
            <a:ext cx="260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설문 진행 상태 확인 어려움</a:t>
            </a:r>
            <a:endParaRPr lang="en-US" sz="1300" b="1" dirty="0"/>
          </a:p>
        </p:txBody>
      </p:sp>
      <p:sp>
        <p:nvSpPr>
          <p:cNvPr id="49" name="Text 46"/>
          <p:cNvSpPr/>
          <p:nvPr/>
        </p:nvSpPr>
        <p:spPr>
          <a:xfrm>
            <a:off x="8948776" y="5184648"/>
            <a:ext cx="2602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전체 문항 대비 남은 문항 수를 확인하기 어려워</a:t>
            </a:r>
            <a:r>
              <a:rPr lang="en-US" altLang="ko-KR" sz="1000" dirty="0"/>
              <a:t> </a:t>
            </a:r>
            <a:r>
              <a:rPr lang="ko-KR" altLang="en-US" sz="1000" dirty="0"/>
              <a:t>사용자가 설문 완료까지의 소요를 예측하기 어려움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</a:t>
            </a:r>
            <a:r>
              <a:rPr lang="en-US" sz="1200" dirty="0" err="1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</a:t>
            </a: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200" dirty="0" err="1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</a:t>
            </a:r>
            <a:r>
              <a:rPr lang="ko-KR" alt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 한계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시스템의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한계점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-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측면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1393779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설문 운영 측면에서 관리자가 겪는 </a:t>
            </a:r>
            <a:r>
              <a:rPr lang="en-US" altLang="ko-KR" sz="1600" dirty="0"/>
              <a:t>3</a:t>
            </a:r>
            <a:r>
              <a:rPr lang="ko-KR" altLang="en-US" sz="1600" dirty="0"/>
              <a:t>가지 불편 요소</a:t>
            </a:r>
            <a:endParaRPr lang="en-US" altLang="ko-KR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227990"/>
            <a:ext cx="4846320" cy="3880202"/>
          </a:xfrm>
          <a:prstGeom prst="roundRect">
            <a:avLst>
              <a:gd name="adj" fmla="val 4051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4846320" cy="384048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1792" y="2167128"/>
            <a:ext cx="128016" cy="128016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4672" y="2167128"/>
            <a:ext cx="128016" cy="128016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87552" y="2167128"/>
            <a:ext cx="128016" cy="128016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0552"/>
            <a:ext cx="3840480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25880" y="213055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통계 분석 화면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96129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화면 캡처 영역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7200" y="38221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40080" y="51480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577840" y="2249424"/>
            <a:ext cx="6156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확인 과정에서 </a:t>
            </a:r>
            <a:r>
              <a:rPr lang="en-US" sz="16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관리자가</a:t>
            </a:r>
            <a:r>
              <a:rPr lang="en-US" sz="16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겪는 3가지 불편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577840" y="2615184"/>
            <a:ext cx="6156655" cy="1051560"/>
          </a:xfrm>
          <a:prstGeom prst="roundRect">
            <a:avLst>
              <a:gd name="adj" fmla="val 1130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577840" y="2615184"/>
            <a:ext cx="64008" cy="105156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779008" y="27797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779008" y="3026664"/>
            <a:ext cx="5790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텍스트 중심 통계 화면으로 핵심 지표 파악 어려움</a:t>
            </a:r>
            <a:r>
              <a:rPr lang="ko-KR" altLang="en-US" sz="1400" dirty="0"/>
              <a:t> 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779008" y="3401568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텍스트 위주의 통계 화면으로 구성되어 주요 결과와 진행 현황을 빠르게 파악하기 어려움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577840" y="3831336"/>
            <a:ext cx="6156655" cy="1051560"/>
          </a:xfrm>
          <a:prstGeom prst="roundRect">
            <a:avLst>
              <a:gd name="adj" fmla="val 1130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577840" y="3831336"/>
            <a:ext cx="64008" cy="105156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79008" y="39959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5779008" y="4233477"/>
            <a:ext cx="5790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전체 응답률 및 세부 비율 파악 어려움</a:t>
            </a:r>
            <a:endParaRPr lang="en-US" sz="1400" b="1" dirty="0"/>
          </a:p>
        </p:txBody>
      </p:sp>
      <p:sp>
        <p:nvSpPr>
          <p:cNvPr id="35" name="Text 32"/>
          <p:cNvSpPr/>
          <p:nvPr/>
        </p:nvSpPr>
        <p:spPr>
          <a:xfrm>
            <a:off x="5779008" y="4550794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응답 수 중심으로만 제공되어 설문 전체 응답률</a:t>
            </a:r>
            <a:r>
              <a:rPr lang="en-US" altLang="ko-KR" sz="1050" dirty="0"/>
              <a:t>, </a:t>
            </a:r>
            <a:r>
              <a:rPr lang="ko-KR" altLang="en-US" sz="1050" dirty="0" err="1"/>
              <a:t>미응답</a:t>
            </a:r>
            <a:r>
              <a:rPr lang="ko-KR" altLang="en-US" sz="1050" dirty="0"/>
              <a:t> 현황</a:t>
            </a:r>
            <a:r>
              <a:rPr lang="en-US" altLang="ko-KR" sz="1050" dirty="0"/>
              <a:t>, </a:t>
            </a:r>
            <a:r>
              <a:rPr lang="ko-KR" altLang="en-US" sz="1050" dirty="0" err="1"/>
              <a:t>보기별</a:t>
            </a:r>
            <a:r>
              <a:rPr lang="ko-KR" altLang="en-US" sz="1050" dirty="0"/>
              <a:t> 비율을 직관적으로 해석하기 어려움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577840" y="5047488"/>
            <a:ext cx="6156655" cy="1051560"/>
          </a:xfrm>
          <a:prstGeom prst="roundRect">
            <a:avLst>
              <a:gd name="adj" fmla="val 1130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577840" y="5047488"/>
            <a:ext cx="64008" cy="1051560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79008" y="5212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5779008" y="5426964"/>
            <a:ext cx="5790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엑셀 다운로드 이력 관리 부재</a:t>
            </a:r>
            <a:r>
              <a:rPr lang="ko-KR" altLang="en-US" sz="1400" dirty="0"/>
              <a:t> 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779008" y="5833872"/>
            <a:ext cx="5790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통계 파일 다운로드 이력이 남지 않아 엑셀 다운로드 내역 추적과 관리 안정성 확보에 한계 </a:t>
            </a:r>
            <a:endParaRPr lang="en-US" sz="105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17FA2E85-F28A-42DB-997E-598CA4ACF1A2}"/>
              </a:ext>
            </a:extLst>
          </p:cNvPr>
          <p:cNvSpPr/>
          <p:nvPr/>
        </p:nvSpPr>
        <p:spPr>
          <a:xfrm>
            <a:off x="5577840" y="2039112"/>
            <a:ext cx="6156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</a:rPr>
              <a:t>Problem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</a:t>
            </a:r>
            <a:r>
              <a:rPr lang="ko-KR" alt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개선</a:t>
            </a: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방향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핵심 개선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(To-Be)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17323" y="1405889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기존 기능은 유지하고</a:t>
            </a:r>
            <a:r>
              <a:rPr lang="en-US" altLang="ko-KR" sz="1600" dirty="0"/>
              <a:t> </a:t>
            </a:r>
            <a:r>
              <a:rPr lang="ko-KR" altLang="en-US" sz="1600" dirty="0"/>
              <a:t>관리자</a:t>
            </a:r>
            <a:r>
              <a:rPr lang="en-US" altLang="ko-KR" sz="1600" dirty="0"/>
              <a:t>·</a:t>
            </a:r>
            <a:r>
              <a:rPr lang="ko-KR" altLang="en-US" sz="1600" dirty="0"/>
              <a:t>사용자</a:t>
            </a:r>
            <a:r>
              <a:rPr lang="en-US" altLang="ko-KR" sz="1600" dirty="0"/>
              <a:t>·</a:t>
            </a:r>
            <a:r>
              <a:rPr lang="ko-KR" altLang="en-US" sz="1600" dirty="0"/>
              <a:t>시스템 관점의 핵심 불편사항을 개선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121408"/>
            <a:ext cx="3637178" cy="3971803"/>
          </a:xfrm>
          <a:prstGeom prst="roundRect">
            <a:avLst>
              <a:gd name="adj" fmla="val 4525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057400"/>
            <a:ext cx="3637178" cy="64008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231343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" y="2313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 01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645920" y="2313432"/>
            <a:ext cx="2311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관리자 · 본사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26974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b="1" dirty="0"/>
              <a:t>설문 통계 분석 및 이력 관리 강화</a:t>
            </a:r>
            <a:endParaRPr lang="en-US" sz="1600" b="1" dirty="0"/>
          </a:p>
        </p:txBody>
      </p:sp>
      <p:sp>
        <p:nvSpPr>
          <p:cNvPr id="14" name="Text 11"/>
          <p:cNvSpPr/>
          <p:nvPr/>
        </p:nvSpPr>
        <p:spPr>
          <a:xfrm>
            <a:off x="658368" y="3136392"/>
            <a:ext cx="327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통계 가독성과 이력 추적성을 함께 강화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" y="3538728"/>
            <a:ext cx="323484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694176"/>
            <a:ext cx="201168" cy="201168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36941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14400" y="365760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전체 응답률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비율 기반 통계 시각화</a:t>
            </a:r>
            <a:endParaRPr lang="en-US" sz="1150" b="1" dirty="0"/>
          </a:p>
        </p:txBody>
      </p:sp>
      <p:sp>
        <p:nvSpPr>
          <p:cNvPr id="19" name="Text 16"/>
          <p:cNvSpPr/>
          <p:nvPr/>
        </p:nvSpPr>
        <p:spPr>
          <a:xfrm>
            <a:off x="914400" y="3931920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총 대상자</a:t>
            </a:r>
            <a:r>
              <a:rPr lang="en-US" altLang="ko-KR" sz="1000" dirty="0"/>
              <a:t>, </a:t>
            </a:r>
            <a:r>
              <a:rPr lang="ko-KR" altLang="en-US" sz="1000" dirty="0"/>
              <a:t>응답 완료</a:t>
            </a:r>
            <a:r>
              <a:rPr lang="en-US" altLang="ko-KR" sz="1000" dirty="0"/>
              <a:t>, </a:t>
            </a:r>
            <a:r>
              <a:rPr lang="ko-KR" altLang="en-US" sz="1000" dirty="0" err="1"/>
              <a:t>미응답</a:t>
            </a:r>
            <a:r>
              <a:rPr lang="en-US" altLang="ko-KR" sz="1000" dirty="0"/>
              <a:t>, </a:t>
            </a:r>
            <a:r>
              <a:rPr lang="ko-KR" altLang="en-US" sz="1000" dirty="0"/>
              <a:t>응답률을 카드 및 막대그래프 </a:t>
            </a:r>
            <a:r>
              <a:rPr lang="en-US" altLang="ko-KR" sz="1000" dirty="0"/>
              <a:t>UI</a:t>
            </a:r>
            <a:r>
              <a:rPr lang="ko-KR" altLang="en-US" sz="1000" dirty="0"/>
              <a:t>로 제공하여 설문 진행 현황을 한눈에 파악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8368" y="4507993"/>
            <a:ext cx="201168" cy="201168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8368" y="4507993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14400" y="4471417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통계 유형별 엑셀 시트 분리</a:t>
            </a:r>
            <a:endParaRPr lang="en-US" sz="1150" b="1" dirty="0"/>
          </a:p>
        </p:txBody>
      </p:sp>
      <p:sp>
        <p:nvSpPr>
          <p:cNvPr id="23" name="Text 20"/>
          <p:cNvSpPr/>
          <p:nvPr/>
        </p:nvSpPr>
        <p:spPr>
          <a:xfrm>
            <a:off x="914400" y="4745737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설문 요약</a:t>
            </a:r>
            <a:r>
              <a:rPr lang="en-US" altLang="ko-KR" sz="1000" dirty="0"/>
              <a:t>·</a:t>
            </a:r>
            <a:r>
              <a:rPr lang="ko-KR" altLang="en-US" sz="1000" dirty="0" err="1"/>
              <a:t>조직별</a:t>
            </a:r>
            <a:r>
              <a:rPr lang="en-US" altLang="ko-KR" sz="1000" dirty="0"/>
              <a:t>·</a:t>
            </a:r>
            <a:r>
              <a:rPr lang="ko-KR" altLang="en-US" sz="1000" dirty="0"/>
              <a:t>문항별</a:t>
            </a:r>
            <a:r>
              <a:rPr lang="en-US" altLang="ko-KR" sz="1000" dirty="0"/>
              <a:t>·</a:t>
            </a:r>
            <a:r>
              <a:rPr lang="ko-KR" altLang="en-US" sz="1000" dirty="0"/>
              <a:t>응답자별 시트를 분리해 데이터 확인 및 재가공 편의성 강화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58368" y="5257801"/>
            <a:ext cx="201168" cy="201168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" y="5257801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914400" y="5221225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다운로드 이력 추적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914400" y="5495545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다운로드 사용자와 시점을 기록하고 팝업으로 조회해 데이터 추적성 및 관리 안정성 확보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58971" y="2057399"/>
            <a:ext cx="3637178" cy="4035811"/>
          </a:xfrm>
          <a:prstGeom prst="roundRect">
            <a:avLst>
              <a:gd name="adj" fmla="val 4525"/>
            </a:avLst>
          </a:prstGeom>
          <a:solidFill>
            <a:srgbClr val="FDEEF8"/>
          </a:solidFill>
          <a:ln w="9525">
            <a:solidFill>
              <a:srgbClr val="F4C2E2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4277258" y="2057400"/>
            <a:ext cx="3637178" cy="64008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78426" y="231343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478426" y="2313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 02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65978" y="2313432"/>
            <a:ext cx="2311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· 영업조직원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4478426" y="26974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-2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참여 편의성 향상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4478426" y="3136392"/>
            <a:ext cx="327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직관적인 응답 화면과 설문 상태 유지로 설문 참여 부담 완화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478426" y="3538728"/>
            <a:ext cx="323484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8426" y="3694176"/>
            <a:ext cx="201168" cy="201168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78426" y="36941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4734458" y="365760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설문 응답 화면 </a:t>
            </a:r>
            <a:r>
              <a:rPr lang="en-US" altLang="ko-KR" sz="1200" b="1" dirty="0"/>
              <a:t>UI </a:t>
            </a:r>
            <a:r>
              <a:rPr lang="ko-KR" altLang="en-US" sz="1200" b="1" dirty="0"/>
              <a:t>및 </a:t>
            </a:r>
            <a:r>
              <a:rPr lang="en-US" altLang="ko-KR" sz="1200" b="1" dirty="0"/>
              <a:t>UX </a:t>
            </a:r>
            <a:r>
              <a:rPr lang="ko-KR" altLang="en-US" sz="1200" b="1" dirty="0"/>
              <a:t>개선</a:t>
            </a:r>
            <a:endParaRPr lang="en-US" sz="1150" b="1" dirty="0"/>
          </a:p>
        </p:txBody>
      </p:sp>
      <p:sp>
        <p:nvSpPr>
          <p:cNvPr id="39" name="Text 36"/>
          <p:cNvSpPr/>
          <p:nvPr/>
        </p:nvSpPr>
        <p:spPr>
          <a:xfrm>
            <a:off x="4734458" y="3931920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문항 유형을 명확히 구분하고 조건분기 흐름을 명시해서</a:t>
            </a:r>
            <a:r>
              <a:rPr lang="en-US" altLang="ko-KR" sz="1000" dirty="0"/>
              <a:t> </a:t>
            </a:r>
            <a:r>
              <a:rPr lang="ko-KR" altLang="en-US" sz="1000" dirty="0"/>
              <a:t>참여자의</a:t>
            </a:r>
            <a:r>
              <a:rPr lang="en-US" altLang="ko-KR" sz="1000" dirty="0"/>
              <a:t> </a:t>
            </a:r>
            <a:r>
              <a:rPr lang="ko-KR" altLang="en-US" sz="1000" dirty="0"/>
              <a:t>응답 방식 인지 부담 완화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4460139" y="4443984"/>
            <a:ext cx="201168" cy="201168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0139" y="44439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716171" y="4407408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진행률 표시</a:t>
            </a:r>
            <a:endParaRPr lang="en-US" sz="1150" dirty="0"/>
          </a:p>
        </p:txBody>
      </p:sp>
      <p:sp>
        <p:nvSpPr>
          <p:cNvPr id="43" name="Text 40"/>
          <p:cNvSpPr/>
          <p:nvPr/>
        </p:nvSpPr>
        <p:spPr>
          <a:xfrm>
            <a:off x="4716171" y="4681728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전체 문항 대비 남은 문항 수를 시각화해 참여자가 설문 완료 시점을 예측 가능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460139" y="5193792"/>
            <a:ext cx="201168" cy="201168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0139" y="5193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716171" y="5157216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임시저장 및 이어하기 프로세스 도입</a:t>
            </a:r>
            <a:endParaRPr lang="en-US" sz="1150" b="1" dirty="0"/>
          </a:p>
        </p:txBody>
      </p:sp>
      <p:sp>
        <p:nvSpPr>
          <p:cNvPr id="47" name="Text 44"/>
          <p:cNvSpPr/>
          <p:nvPr/>
        </p:nvSpPr>
        <p:spPr>
          <a:xfrm>
            <a:off x="4716171" y="5431536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페이지 이탈</a:t>
            </a:r>
            <a:r>
              <a:rPr lang="en-US" altLang="ko-KR" sz="1000" dirty="0"/>
              <a:t> </a:t>
            </a:r>
            <a:r>
              <a:rPr lang="ko-KR" altLang="en-US" sz="1000" dirty="0"/>
              <a:t>및 중단 시에도 작성 내용을 보존하고</a:t>
            </a:r>
            <a:r>
              <a:rPr lang="en-US" altLang="ko-KR" sz="1000" dirty="0"/>
              <a:t> </a:t>
            </a:r>
            <a:r>
              <a:rPr lang="ko-KR" altLang="en-US" sz="1000" dirty="0" err="1"/>
              <a:t>재접속</a:t>
            </a:r>
            <a:r>
              <a:rPr lang="ko-KR" altLang="en-US" sz="1000" dirty="0"/>
              <a:t> 시 중단 지점부터 이어서 참여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8133891" y="2053703"/>
            <a:ext cx="3637178" cy="4035810"/>
          </a:xfrm>
          <a:prstGeom prst="roundRect">
            <a:avLst>
              <a:gd name="adj" fmla="val 4525"/>
            </a:avLst>
          </a:prstGeom>
          <a:solidFill>
            <a:srgbClr val="F5F6F8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097317" y="2057400"/>
            <a:ext cx="3637178" cy="64008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8485" y="231343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98485" y="23134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TRACK 03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9286037" y="2313432"/>
            <a:ext cx="2311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· 아키텍처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8298485" y="269748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kern="0" spc="-2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유지보수성 및 확장성 향상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8298485" y="3136392"/>
            <a:ext cx="327141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50" dirty="0"/>
              <a:t>Java/Spring </a:t>
            </a:r>
            <a:r>
              <a:rPr lang="ko-KR" altLang="en-US" sz="1050" dirty="0"/>
              <a:t>기반 재구현으로 유지보수 가능한 운영 구조 마련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8298485" y="3538728"/>
            <a:ext cx="323484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298485" y="3694176"/>
            <a:ext cx="201168" cy="201168"/>
          </a:xfrm>
          <a:prstGeom prst="ellipse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298485" y="36941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900" dirty="0"/>
          </a:p>
        </p:txBody>
      </p:sp>
      <p:sp>
        <p:nvSpPr>
          <p:cNvPr id="58" name="Text 55"/>
          <p:cNvSpPr/>
          <p:nvPr/>
        </p:nvSpPr>
        <p:spPr>
          <a:xfrm>
            <a:off x="8554517" y="3657600"/>
            <a:ext cx="30153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.NET 레거시 → Java / Spring 재구현</a:t>
            </a:r>
            <a:endParaRPr lang="en-US" sz="1150" dirty="0"/>
          </a:p>
        </p:txBody>
      </p:sp>
      <p:sp>
        <p:nvSpPr>
          <p:cNvPr id="59" name="Text 56"/>
          <p:cNvSpPr/>
          <p:nvPr/>
        </p:nvSpPr>
        <p:spPr>
          <a:xfrm>
            <a:off x="8554517" y="3931920"/>
            <a:ext cx="3015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기존 </a:t>
            </a:r>
            <a:r>
              <a:rPr lang="en-US" altLang="ko-KR" sz="1000" dirty="0"/>
              <a:t>.NET </a:t>
            </a:r>
            <a:r>
              <a:rPr lang="ko-KR" altLang="en-US" sz="1000" dirty="0"/>
              <a:t>기반 설문 시스템을 </a:t>
            </a:r>
            <a:r>
              <a:rPr lang="en-US" altLang="ko-KR" sz="1000" dirty="0"/>
              <a:t>Java/Spring </a:t>
            </a:r>
            <a:r>
              <a:rPr lang="ko-KR" altLang="en-US" sz="1000" dirty="0"/>
              <a:t>환경으로 </a:t>
            </a:r>
            <a:r>
              <a:rPr lang="ko-KR" altLang="en-US" sz="1000" dirty="0" err="1"/>
              <a:t>재구현하여</a:t>
            </a:r>
            <a:r>
              <a:rPr lang="en-US" altLang="ko-KR" sz="1000" dirty="0"/>
              <a:t> </a:t>
            </a:r>
            <a:r>
              <a:rPr lang="ko-KR" altLang="en-US" sz="1000" dirty="0"/>
              <a:t>사내 개발</a:t>
            </a:r>
            <a:r>
              <a:rPr lang="en-US" altLang="ko-KR" sz="1000" dirty="0"/>
              <a:t> </a:t>
            </a:r>
            <a:r>
              <a:rPr lang="ko-KR" altLang="en-US" sz="1000" dirty="0"/>
              <a:t>및 운영 체계에 맞는 유지보수 기반 마련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8280198" y="444398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주요 개선 기능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개선 기능 (1) 직관적 UI 및 UX 개</a:t>
            </a:r>
            <a:r>
              <a:rPr lang="ko-KR" alt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199" y="1430744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설문 참여자가 쉽게 이해하고 응답할 수 있도록 화면 구조와 응답 흐름을 개선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1995824"/>
            <a:ext cx="5455768" cy="2331720"/>
          </a:xfrm>
          <a:prstGeom prst="roundRect">
            <a:avLst>
              <a:gd name="adj" fmla="val 6275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1995824"/>
            <a:ext cx="5455768" cy="347472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" y="2105552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105552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105552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2078120"/>
            <a:ext cx="454136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4440" y="2078120"/>
            <a:ext cx="444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설문조사 화면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64504"/>
            <a:ext cx="545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화면 캡처 영역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57200" y="3184544"/>
            <a:ext cx="545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설문 응답 화면 스크린샷이 위치합니다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40080" y="38703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387034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278728" y="1995824"/>
            <a:ext cx="5455768" cy="2331720"/>
          </a:xfrm>
          <a:prstGeom prst="roundRect">
            <a:avLst>
              <a:gd name="adj" fmla="val 6275"/>
            </a:avLst>
          </a:prstGeom>
          <a:solidFill>
            <a:srgbClr val="F4F8FF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278728" y="1995824"/>
            <a:ext cx="5455768" cy="347472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25032" y="2105552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589624" y="2105552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54216" y="2105552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010248" y="2078120"/>
            <a:ext cx="454136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5968" y="2078120"/>
            <a:ext cx="4449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개선된 설문조사 화면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278728" y="2864504"/>
            <a:ext cx="5455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UI 화면 캡처 영역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278728" y="3184544"/>
            <a:ext cx="5455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개선된 설문 응답 화면 스크린샷이 위치합니다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6461608" y="38703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61608" y="387034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4680" y="2960516"/>
            <a:ext cx="402336" cy="40233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5894680" y="29605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457200" y="4464704"/>
            <a:ext cx="363717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457200" y="4464704"/>
            <a:ext cx="363717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8368" y="4647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3179978" y="468416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179978" y="4684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가독성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658368" y="5104784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설문 응답 화면 가독성 개선</a:t>
            </a:r>
            <a:endParaRPr lang="en-US" sz="1350" b="1" dirty="0"/>
          </a:p>
        </p:txBody>
      </p:sp>
      <p:sp>
        <p:nvSpPr>
          <p:cNvPr id="40" name="Text 37"/>
          <p:cNvSpPr/>
          <p:nvPr/>
        </p:nvSpPr>
        <p:spPr>
          <a:xfrm>
            <a:off x="658368" y="5424824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문항 단위 카드 레이아웃을 적용해 사용자가 문항과 선택지를 쉽게 구분하도록 개선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4277258" y="4464704"/>
            <a:ext cx="363717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4277258" y="4464704"/>
            <a:ext cx="363717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78426" y="4647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7000037" y="468416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000037" y="468416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직관성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478426" y="5104784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순위선택형 </a:t>
            </a:r>
            <a:r>
              <a:rPr lang="en-US" altLang="ko-KR" sz="1400" b="1" dirty="0"/>
              <a:t>Drag &amp; Drop </a:t>
            </a:r>
            <a:r>
              <a:rPr lang="ko-KR" altLang="en-US" sz="1400" b="1" dirty="0"/>
              <a:t>적용</a:t>
            </a:r>
            <a:endParaRPr lang="en-US" sz="1350" b="1" dirty="0"/>
          </a:p>
        </p:txBody>
      </p:sp>
      <p:sp>
        <p:nvSpPr>
          <p:cNvPr id="47" name="Text 44"/>
          <p:cNvSpPr/>
          <p:nvPr/>
        </p:nvSpPr>
        <p:spPr>
          <a:xfrm>
            <a:off x="4478426" y="5424824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50" dirty="0"/>
              <a:t>Select Box</a:t>
            </a:r>
            <a:r>
              <a:rPr lang="ko-KR" altLang="en-US" sz="1050" dirty="0"/>
              <a:t>로 순위를 선택하던 방식을 </a:t>
            </a:r>
            <a:r>
              <a:rPr lang="en-US" altLang="ko-KR" sz="1050" dirty="0"/>
              <a:t>Drag &amp; Drop</a:t>
            </a:r>
            <a:r>
              <a:rPr lang="ko-KR" altLang="en-US" sz="1050" dirty="0"/>
              <a:t>으로 변경하여</a:t>
            </a:r>
            <a:r>
              <a:rPr lang="en-US" altLang="ko-KR" sz="1050" dirty="0"/>
              <a:t> </a:t>
            </a:r>
            <a:r>
              <a:rPr lang="ko-KR" altLang="en-US" sz="1050" dirty="0"/>
              <a:t>사용자가 항목을 직접 이동하며 순서를 정할 수 있도록 개선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8097317" y="4464704"/>
            <a:ext cx="3637178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8097317" y="4464704"/>
            <a:ext cx="363717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298485" y="46475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53" name="Text 50"/>
          <p:cNvSpPr/>
          <p:nvPr/>
        </p:nvSpPr>
        <p:spPr>
          <a:xfrm>
            <a:off x="8298485" y="5104784"/>
            <a:ext cx="32714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조건분기 흐름 안내 개선</a:t>
            </a:r>
            <a:endParaRPr lang="en-US" sz="1350" b="1" dirty="0"/>
          </a:p>
        </p:txBody>
      </p:sp>
      <p:sp>
        <p:nvSpPr>
          <p:cNvPr id="54" name="Text 51"/>
          <p:cNvSpPr/>
          <p:nvPr/>
        </p:nvSpPr>
        <p:spPr>
          <a:xfrm>
            <a:off x="8298485" y="5424824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50" dirty="0"/>
              <a:t>선택에 따라 추가되는 문항의 연결 관계를 명확히 보여줘 응답 흐름 개선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주요 개선 기능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400" b="1" kern="0" spc="-50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(2) </a:t>
            </a:r>
            <a:r>
              <a:rPr lang="ko-KR" altLang="en-US" sz="2400" dirty="0"/>
              <a:t>진행률 표시 및</a:t>
            </a:r>
            <a:r>
              <a:rPr lang="en-US" altLang="ko-KR" sz="2400" dirty="0"/>
              <a:t> </a:t>
            </a:r>
            <a:r>
              <a:rPr lang="ko-KR" altLang="en-US" sz="2400" dirty="0"/>
              <a:t>설문 이어하기 도입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199" y="1453118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설문 중 이탈하더라도 작성 내용을 보존하고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재접속</a:t>
            </a:r>
            <a:r>
              <a:rPr lang="ko-KR" altLang="en-US" sz="1600" dirty="0"/>
              <a:t> 시 중단 지점부터 이어서 참여할 수 있도록 추가했습니다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063139"/>
            <a:ext cx="6035040" cy="1325880"/>
          </a:xfrm>
          <a:prstGeom prst="roundRect">
            <a:avLst>
              <a:gd name="adj" fmla="val 11034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6035040" cy="347472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" y="2231136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231136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32688" y="2231136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88720" y="2203704"/>
            <a:ext cx="512064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34440" y="22037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응답 화면 — 진행률 표시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1520" y="2624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진행률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37360" y="262432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12 문항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262432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67%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31520" y="2926080"/>
            <a:ext cx="5486400" cy="146304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2926080"/>
            <a:ext cx="3675888" cy="146304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3172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4문항 · 약 2분 소요 예상  </a:t>
            </a:r>
            <a:r>
              <a:rPr lang="en-US" sz="1000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</a:t>
            </a: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단계: 제품 만족도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3611880"/>
            <a:ext cx="6035040" cy="212140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85800" y="37764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85800" y="3977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자동 저장 및 이어하기 흐름</a:t>
            </a:r>
            <a:endParaRPr lang="en-US" sz="1300" b="1" dirty="0"/>
          </a:p>
        </p:txBody>
      </p:sp>
      <p:sp>
        <p:nvSpPr>
          <p:cNvPr id="24" name="Shape 21"/>
          <p:cNvSpPr/>
          <p:nvPr/>
        </p:nvSpPr>
        <p:spPr>
          <a:xfrm>
            <a:off x="685800" y="4453128"/>
            <a:ext cx="1188720" cy="949420"/>
          </a:xfrm>
          <a:prstGeom prst="roundRect">
            <a:avLst>
              <a:gd name="adj" fmla="val 10526"/>
            </a:avLst>
          </a:prstGeom>
          <a:solidFill>
            <a:srgbClr val="F8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15568" y="4562856"/>
            <a:ext cx="329184" cy="329184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115568" y="4562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" y="4910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입력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31520" y="509320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900" dirty="0"/>
              <a:t>사용자가 문항에 응답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874520" y="44531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2148840" y="4453128"/>
            <a:ext cx="1188720" cy="949420"/>
          </a:xfrm>
          <a:prstGeom prst="roundRect">
            <a:avLst>
              <a:gd name="adj" fmla="val 10526"/>
            </a:avLst>
          </a:prstGeom>
          <a:solidFill>
            <a:srgbClr val="F8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78608" y="4562856"/>
            <a:ext cx="329184" cy="329184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578608" y="4562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2148840" y="4910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저장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194560" y="509320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900" dirty="0"/>
              <a:t>작성 중인 응답 내용 저장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3337560" y="44531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3611880" y="4453128"/>
            <a:ext cx="1188720" cy="949420"/>
          </a:xfrm>
          <a:prstGeom prst="roundRect">
            <a:avLst>
              <a:gd name="adj" fmla="val 10526"/>
            </a:avLst>
          </a:prstGeom>
          <a:solidFill>
            <a:srgbClr val="F8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041648" y="4562856"/>
            <a:ext cx="329184" cy="329184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041648" y="4562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3611880" y="4910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1100" b="1"/>
              <a:t>이탈</a:t>
            </a:r>
            <a:r>
              <a:rPr lang="en-US" altLang="ko-KR" sz="1100" b="1"/>
              <a:t>·</a:t>
            </a:r>
            <a:r>
              <a:rPr lang="ko-KR" altLang="en-US" sz="1100" b="1"/>
              <a:t>중단</a:t>
            </a:r>
            <a:r>
              <a:rPr lang="ko-KR" altLang="en-US" sz="1100"/>
              <a:t> 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3657600" y="509320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</a:t>
            </a: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en-US" sz="85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네트워크</a:t>
            </a: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85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단절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800600" y="4453128"/>
            <a:ext cx="274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42" name="Shape 39"/>
          <p:cNvSpPr/>
          <p:nvPr/>
        </p:nvSpPr>
        <p:spPr>
          <a:xfrm>
            <a:off x="5074920" y="4453128"/>
            <a:ext cx="1188720" cy="949420"/>
          </a:xfrm>
          <a:prstGeom prst="roundRect">
            <a:avLst>
              <a:gd name="adj" fmla="val 10526"/>
            </a:avLst>
          </a:prstGeom>
          <a:solidFill>
            <a:srgbClr val="F8F9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504688" y="4562856"/>
            <a:ext cx="329184" cy="32918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504688" y="4562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074920" y="491032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이어하기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5120640" y="509320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900" dirty="0" err="1"/>
              <a:t>재접속</a:t>
            </a:r>
            <a:r>
              <a:rPr lang="ko-KR" altLang="en-US" sz="900" dirty="0"/>
              <a:t> 시 중단 지점부터 재개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675120" y="2121408"/>
            <a:ext cx="5059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IMPROVEMENTS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6675120" y="2331720"/>
            <a:ext cx="5059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설문 참여를 돕는 </a:t>
            </a:r>
            <a:r>
              <a:rPr lang="en-US" altLang="ko-KR" sz="1400" b="1" dirty="0"/>
              <a:t>3</a:t>
            </a:r>
            <a:r>
              <a:rPr lang="ko-KR" altLang="en-US" sz="1400" b="1" dirty="0"/>
              <a:t>가지 기능</a:t>
            </a:r>
            <a:endParaRPr lang="en-US" sz="1300" b="1" dirty="0"/>
          </a:p>
        </p:txBody>
      </p:sp>
      <p:sp>
        <p:nvSpPr>
          <p:cNvPr id="51" name="Shape 48"/>
          <p:cNvSpPr/>
          <p:nvPr/>
        </p:nvSpPr>
        <p:spPr>
          <a:xfrm>
            <a:off x="6675120" y="2622626"/>
            <a:ext cx="5059375" cy="1078992"/>
          </a:xfrm>
          <a:prstGeom prst="roundRect">
            <a:avLst>
              <a:gd name="adj" fmla="val 11017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675120" y="2715768"/>
            <a:ext cx="64008" cy="107899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6876288" y="2827199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56" name="Text 53"/>
          <p:cNvSpPr/>
          <p:nvPr/>
        </p:nvSpPr>
        <p:spPr>
          <a:xfrm>
            <a:off x="6876288" y="3224427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kern="0" spc="-2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실시간 진행률 표시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6876288" y="3498747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전체 문항 대비 남은 문항 수를 시각화해 설문 완료 시점을 쉽게 파악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675120" y="3855363"/>
            <a:ext cx="5059375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675120" y="3904488"/>
            <a:ext cx="64008" cy="107899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876288" y="4001667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63" name="Text 60"/>
          <p:cNvSpPr/>
          <p:nvPr/>
        </p:nvSpPr>
        <p:spPr>
          <a:xfrm>
            <a:off x="6876288" y="4422291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300" b="1" dirty="0"/>
              <a:t>작성 내용 자동 저장</a:t>
            </a:r>
            <a:endParaRPr lang="en-US" sz="1300" b="1" dirty="0"/>
          </a:p>
        </p:txBody>
      </p:sp>
      <p:sp>
        <p:nvSpPr>
          <p:cNvPr id="64" name="Text 61"/>
          <p:cNvSpPr/>
          <p:nvPr/>
        </p:nvSpPr>
        <p:spPr>
          <a:xfrm>
            <a:off x="6876288" y="4696611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응답 중 입력한 내용을 자동으로 저장해 페이지 이탈이나 중단 상황에서도 작성 내용 유실을 방지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6675120" y="5093208"/>
            <a:ext cx="5059375" cy="1078992"/>
          </a:xfrm>
          <a:prstGeom prst="roundRect">
            <a:avLst>
              <a:gd name="adj" fmla="val 1101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675120" y="5093208"/>
            <a:ext cx="64008" cy="107899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876288" y="52395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70" name="Text 67"/>
          <p:cNvSpPr/>
          <p:nvPr/>
        </p:nvSpPr>
        <p:spPr>
          <a:xfrm>
            <a:off x="6876288" y="5660136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300" b="1" dirty="0"/>
              <a:t>중단 지점부터 이어하기</a:t>
            </a:r>
            <a:endParaRPr lang="en-US" sz="1300" b="1" dirty="0"/>
          </a:p>
        </p:txBody>
      </p:sp>
      <p:sp>
        <p:nvSpPr>
          <p:cNvPr id="71" name="Text 68"/>
          <p:cNvSpPr/>
          <p:nvPr/>
        </p:nvSpPr>
        <p:spPr>
          <a:xfrm>
            <a:off x="6876288" y="5934456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 err="1"/>
              <a:t>재접속</a:t>
            </a:r>
            <a:r>
              <a:rPr lang="ko-KR" altLang="en-US" sz="1000" dirty="0"/>
              <a:t> 시 이전 응답 위치부터 이어서 참여할 수 있어 </a:t>
            </a:r>
            <a:r>
              <a:rPr lang="ko-KR" altLang="en-US" sz="1000" dirty="0" err="1"/>
              <a:t>재작성</a:t>
            </a:r>
            <a:r>
              <a:rPr lang="ko-KR" altLang="en-US" sz="1000" dirty="0"/>
              <a:t> 부담을 완화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주요 개선 기능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개선 기능 (3) </a:t>
            </a:r>
            <a:r>
              <a:rPr lang="ko-KR" altLang="en-US" sz="2400" b="1" dirty="0"/>
              <a:t>전체 및 </a:t>
            </a:r>
            <a:r>
              <a:rPr lang="ko-KR" altLang="en-US" sz="2400" b="1" dirty="0" err="1"/>
              <a:t>조직별</a:t>
            </a:r>
            <a:r>
              <a:rPr lang="ko-KR" altLang="en-US" sz="2400" b="1" dirty="0"/>
              <a:t> 응답 현황 개선</a:t>
            </a:r>
            <a:endParaRPr lang="en-US" sz="2400" b="1" dirty="0"/>
          </a:p>
        </p:txBody>
      </p:sp>
      <p:sp>
        <p:nvSpPr>
          <p:cNvPr id="7" name="Text 4"/>
          <p:cNvSpPr/>
          <p:nvPr/>
        </p:nvSpPr>
        <p:spPr>
          <a:xfrm>
            <a:off x="457200" y="1411873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전체 응답률과 </a:t>
            </a:r>
            <a:r>
              <a:rPr lang="ko-KR" altLang="en-US" sz="1600" dirty="0" err="1"/>
              <a:t>조직별</a:t>
            </a:r>
            <a:r>
              <a:rPr lang="ko-KR" altLang="en-US" sz="1600" dirty="0"/>
              <a:t> 참여 현황을 한눈에 파악할 수 있도록 통계 페이지를 개선하였습니다</a:t>
            </a:r>
            <a:r>
              <a:rPr lang="en-US" altLang="ko-KR" sz="1600" dirty="0"/>
              <a:t>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020824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231136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</a:t>
            </a:r>
            <a:r>
              <a:rPr lang="en-US" sz="14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</a:t>
            </a: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278728" y="2020824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78728" y="2231136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조직별 </a:t>
            </a:r>
            <a:r>
              <a:rPr lang="en-US" sz="14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</a:t>
            </a: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400" b="1" dirty="0" err="1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현황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2622042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22042"/>
            <a:ext cx="5455768" cy="329184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" y="2722626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0664" y="2722626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6112" y="2722626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43000" y="2695194"/>
            <a:ext cx="458708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2695194"/>
            <a:ext cx="449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현황 — 전체 요약 대시보드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1792" y="3079242"/>
            <a:ext cx="1213066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3225546"/>
            <a:ext cx="91440" cy="91440"/>
          </a:xfrm>
          <a:prstGeom prst="ellipse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59536" y="3188970"/>
            <a:ext cx="9387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대상자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1792" y="3463290"/>
            <a:ext cx="12130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1,248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1926298" y="3079242"/>
            <a:ext cx="1213066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36026" y="3225546"/>
            <a:ext cx="91440" cy="91440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64042" y="3188970"/>
            <a:ext cx="9387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완료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926298" y="3463290"/>
            <a:ext cx="12130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-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892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3230804" y="3079242"/>
            <a:ext cx="1213066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340532" y="3225546"/>
            <a:ext cx="91440" cy="91440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68548" y="3188970"/>
            <a:ext cx="9387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미응답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3230804" y="3463290"/>
            <a:ext cx="12130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-5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356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535310" y="3079242"/>
            <a:ext cx="1213066" cy="1005840"/>
          </a:xfrm>
          <a:prstGeom prst="roundRect">
            <a:avLst>
              <a:gd name="adj" fmla="val 7273"/>
            </a:avLst>
          </a:prstGeom>
          <a:solidFill>
            <a:srgbClr val="1456F0"/>
          </a:solidFill>
          <a:ln w="6350">
            <a:solidFill>
              <a:srgbClr val="1456F0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645038" y="322554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73054" y="3188970"/>
            <a:ext cx="93874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CE7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응답률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4535310" y="3463290"/>
            <a:ext cx="12130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kern="0" spc="-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71.5%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457200" y="4322826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7200" y="4322826"/>
            <a:ext cx="545576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8368" y="4523994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설문 진행 현황을 한눈에 파악</a:t>
            </a:r>
            <a:endParaRPr lang="en-US" sz="1300" b="1" dirty="0"/>
          </a:p>
        </p:txBody>
      </p:sp>
      <p:sp>
        <p:nvSpPr>
          <p:cNvPr id="40" name="Text 37"/>
          <p:cNvSpPr/>
          <p:nvPr/>
        </p:nvSpPr>
        <p:spPr>
          <a:xfrm>
            <a:off x="658368" y="4917186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/>
              <a:t>총 대상자</a:t>
            </a:r>
            <a:r>
              <a:rPr lang="en-US" altLang="ko-KR" sz="1050" dirty="0"/>
              <a:t>·</a:t>
            </a:r>
            <a:r>
              <a:rPr lang="ko-KR" altLang="en-US" sz="1050" dirty="0"/>
              <a:t>응답 완료</a:t>
            </a:r>
            <a:r>
              <a:rPr lang="en-US" altLang="ko-KR" sz="1050" dirty="0"/>
              <a:t>·</a:t>
            </a:r>
            <a:r>
              <a:rPr lang="ko-KR" altLang="en-US" sz="1050" dirty="0" err="1"/>
              <a:t>미응답</a:t>
            </a:r>
            <a:r>
              <a:rPr lang="en-US" altLang="ko-KR" sz="1050" dirty="0"/>
              <a:t>·</a:t>
            </a:r>
            <a:r>
              <a:rPr lang="ko-KR" altLang="en-US" sz="1050" dirty="0"/>
              <a:t>응답률을 카드형 </a:t>
            </a:r>
            <a:r>
              <a:rPr lang="en-US" altLang="ko-KR" sz="1050" dirty="0"/>
              <a:t>UI</a:t>
            </a:r>
            <a:r>
              <a:rPr lang="ko-KR" altLang="en-US" sz="1050" dirty="0"/>
              <a:t>로 상단 배치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58368" y="5173218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응답률을 제공해 설문</a:t>
            </a:r>
            <a:r>
              <a:rPr lang="ko-KR" altLang="en-US" sz="1050" dirty="0"/>
              <a:t> 진행 상황을 빠르게 확인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278728" y="2622042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278728" y="2622042"/>
            <a:ext cx="5455768" cy="329184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06744" y="2722626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562192" y="2722626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717640" y="2722626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964528" y="2695194"/>
            <a:ext cx="458708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010248" y="2695194"/>
            <a:ext cx="449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현황 — 조직별 트리 뷰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6443320" y="307924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198968" y="3138678"/>
            <a:ext cx="273085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198968" y="3138678"/>
            <a:ext cx="1952562" cy="109728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0929823" y="307924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71.5%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79896" y="3344418"/>
            <a:ext cx="146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6644488" y="334441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영업본부 A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8198968" y="3403854"/>
            <a:ext cx="273085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198968" y="3403854"/>
            <a:ext cx="2250225" cy="109728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0929823" y="334441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82.4%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6681064" y="3609594"/>
            <a:ext cx="146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6845656" y="360959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 A-1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8198968" y="3669030"/>
            <a:ext cx="273085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198968" y="3669030"/>
            <a:ext cx="2403153" cy="109728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929823" y="360959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88.0%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6681064" y="3874770"/>
            <a:ext cx="146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6845656" y="387477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UNIT A-2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198968" y="3934206"/>
            <a:ext cx="273085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198968" y="3934206"/>
            <a:ext cx="1146959" cy="109728"/>
          </a:xfrm>
          <a:prstGeom prst="roundRect">
            <a:avLst>
              <a:gd name="adj" fmla="val 50000"/>
            </a:avLst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0929823" y="387477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42.0%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6278728" y="4322826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6278728" y="4322826"/>
            <a:ext cx="5455768" cy="54864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479896" y="4523994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 err="1"/>
              <a:t>조직별</a:t>
            </a:r>
            <a:r>
              <a:rPr lang="ko-KR" altLang="en-US" sz="1400" b="1" dirty="0"/>
              <a:t> 응답률을 트리 구조와 </a:t>
            </a:r>
            <a:r>
              <a:rPr lang="en-US" altLang="ko-KR" sz="1400" b="1" dirty="0"/>
              <a:t>Progress Bar</a:t>
            </a:r>
            <a:r>
              <a:rPr lang="ko-KR" altLang="en-US" sz="1400" b="1" dirty="0"/>
              <a:t>로 시각화</a:t>
            </a:r>
            <a:endParaRPr lang="en-US" sz="1300" b="1" dirty="0"/>
          </a:p>
        </p:txBody>
      </p:sp>
      <p:sp>
        <p:nvSpPr>
          <p:cNvPr id="72" name="Text 69"/>
          <p:cNvSpPr/>
          <p:nvPr/>
        </p:nvSpPr>
        <p:spPr>
          <a:xfrm>
            <a:off x="6479896" y="4917186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/>
              <a:t>부서부터 </a:t>
            </a:r>
            <a:r>
              <a:rPr lang="en-US" altLang="ko-KR" sz="1050" dirty="0"/>
              <a:t>UNIT</a:t>
            </a:r>
            <a:r>
              <a:rPr lang="ko-KR" altLang="en-US" sz="1050" dirty="0"/>
              <a:t>까지 </a:t>
            </a:r>
            <a:r>
              <a:rPr lang="ko-KR" altLang="en-US" sz="1050" dirty="0" err="1"/>
              <a:t>조직별</a:t>
            </a:r>
            <a:r>
              <a:rPr lang="ko-KR" altLang="en-US" sz="1050" dirty="0"/>
              <a:t> 참여도 비교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6479896" y="5173218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참여율 </a:t>
            </a:r>
            <a:r>
              <a:rPr lang="ko-KR" altLang="en-US" sz="1050" dirty="0"/>
              <a:t>저조 조직을 색상으로 구분해 독려 조직 파악 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주요 개선 기능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개선 기능 (4) </a:t>
            </a:r>
            <a:r>
              <a:rPr lang="ko-KR" altLang="en-US" sz="2400" b="1" dirty="0"/>
              <a:t>문항별</a:t>
            </a:r>
            <a:r>
              <a:rPr lang="en-US" altLang="ko-KR" sz="2400" b="1" dirty="0"/>
              <a:t>·</a:t>
            </a:r>
            <a:r>
              <a:rPr lang="ko-KR" altLang="en-US" sz="2400" b="1" dirty="0"/>
              <a:t>응답자별 답변 현황 개선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1" y="1382690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문항별 응답률과 응답자별 답변 현황을 한눈에 파악할 수 있도록 통계 페이지를 개선하였습니다</a:t>
            </a:r>
            <a:r>
              <a:rPr lang="en-US" altLang="ko-KR" sz="1600" dirty="0"/>
              <a:t>.</a:t>
            </a:r>
          </a:p>
        </p:txBody>
      </p:sp>
      <p:sp>
        <p:nvSpPr>
          <p:cNvPr id="8" name="Text 5"/>
          <p:cNvSpPr/>
          <p:nvPr/>
        </p:nvSpPr>
        <p:spPr>
          <a:xfrm>
            <a:off x="457200" y="1943100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153412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문항별 응답 현황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278728" y="1943100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78728" y="2153412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응답자별 답변 현황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" y="2560320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560320"/>
            <a:ext cx="5455768" cy="329184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" y="2660904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0664" y="2660904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6112" y="2660904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43000" y="2633472"/>
            <a:ext cx="458708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2633472"/>
            <a:ext cx="449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문항 결과 — Q3. 신제품 만족도 (단일선택)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" y="3017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매우 만족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600200" y="3063240"/>
            <a:ext cx="323377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00200" y="3063240"/>
            <a:ext cx="1358186" cy="109728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33976" y="30175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312 · 42.0%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21792" y="32644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만족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600200" y="3310128"/>
            <a:ext cx="323377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600200" y="3310128"/>
            <a:ext cx="1167393" cy="10972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33976" y="32644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268 · 36.1%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621792" y="35112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600200" y="3557016"/>
            <a:ext cx="323377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600200" y="3557016"/>
            <a:ext cx="540041" cy="10972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833976" y="35112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 · 16.7%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21792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불만족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1600200" y="3803904"/>
            <a:ext cx="3233776" cy="109728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600200" y="3803904"/>
            <a:ext cx="168156" cy="109728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833976" y="37581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 · 5.2%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57200" y="4261104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7200" y="4261104"/>
            <a:ext cx="545576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8368" y="4462272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문항별 결과를 직관적으로 비교</a:t>
            </a:r>
            <a:endParaRPr lang="en-US" sz="1300" b="1" dirty="0"/>
          </a:p>
        </p:txBody>
      </p:sp>
      <p:sp>
        <p:nvSpPr>
          <p:cNvPr id="40" name="Text 37"/>
          <p:cNvSpPr/>
          <p:nvPr/>
        </p:nvSpPr>
        <p:spPr>
          <a:xfrm>
            <a:off x="658368" y="4855464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 err="1"/>
              <a:t>보기별</a:t>
            </a:r>
            <a:r>
              <a:rPr lang="ko-KR" altLang="en-US" sz="1050" dirty="0"/>
              <a:t> 응답 수와 비율</a:t>
            </a:r>
            <a:r>
              <a:rPr lang="en-US" altLang="ko-KR" sz="1050" dirty="0"/>
              <a:t>(%)</a:t>
            </a:r>
            <a:r>
              <a:rPr lang="ko-KR" altLang="en-US" sz="1050" dirty="0"/>
              <a:t>을 </a:t>
            </a:r>
            <a:r>
              <a:rPr lang="en-US" altLang="ko-KR" sz="1050" dirty="0"/>
              <a:t>Progress Bar</a:t>
            </a:r>
            <a:r>
              <a:rPr lang="ko-KR" altLang="en-US" sz="1050" dirty="0"/>
              <a:t>로 시각화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58368" y="5111496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/>
              <a:t>갱신 버튼과 최근 집계 시점을 제공해 통계 데이터 최신 상태 확인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278728" y="2560320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278728" y="2560320"/>
            <a:ext cx="5455768" cy="329184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406744" y="2660904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562192" y="2660904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717640" y="2660904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964528" y="2633472"/>
            <a:ext cx="458708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010248" y="2633472"/>
            <a:ext cx="449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응답자별 답변 내역 — 개별 조회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443320" y="3017520"/>
            <a:ext cx="5126584" cy="237744"/>
          </a:xfrm>
          <a:prstGeom prst="rect">
            <a:avLst/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43320" y="3017520"/>
            <a:ext cx="1127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7571168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8237624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8904080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Q2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9570536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Q3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10236991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Q4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10903447" y="3017520"/>
            <a:ext cx="666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Q5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6498184" y="3255264"/>
            <a:ext cx="1072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영업본부 A / UNIT A-1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7626032" y="3255264"/>
            <a:ext cx="611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김민재</a:t>
            </a:r>
            <a:endParaRPr lang="en-US" sz="900" dirty="0"/>
          </a:p>
        </p:txBody>
      </p:sp>
      <p:sp>
        <p:nvSpPr>
          <p:cNvPr id="60" name="Text 57"/>
          <p:cNvSpPr/>
          <p:nvPr/>
        </p:nvSpPr>
        <p:spPr>
          <a:xfrm>
            <a:off x="8237624" y="3255264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8904080" y="3255264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62" name="Text 59"/>
          <p:cNvSpPr/>
          <p:nvPr/>
        </p:nvSpPr>
        <p:spPr>
          <a:xfrm>
            <a:off x="9570536" y="3255264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10236991" y="3255264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10903447" y="3255264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6443320" y="3502152"/>
            <a:ext cx="5126584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443320" y="3502152"/>
            <a:ext cx="5126584" cy="246888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6498184" y="3502152"/>
            <a:ext cx="1072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영업본부 A / UNIT A-2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626032" y="3502152"/>
            <a:ext cx="611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이서연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8237624" y="3502152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8904080" y="3502152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570536" y="3502152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10236991" y="3502152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10903447" y="3502152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6443320" y="3749040"/>
            <a:ext cx="5126584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498184" y="3749040"/>
            <a:ext cx="10729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영업본부 B / UNIT B-1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7626032" y="3749040"/>
            <a:ext cx="6115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8237624" y="3749040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8904080" y="3749040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9570536" y="3749040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</a:t>
            </a:r>
            <a:endParaRPr lang="en-US" sz="1000" dirty="0"/>
          </a:p>
        </p:txBody>
      </p:sp>
      <p:sp>
        <p:nvSpPr>
          <p:cNvPr id="80" name="Text 77"/>
          <p:cNvSpPr/>
          <p:nvPr/>
        </p:nvSpPr>
        <p:spPr>
          <a:xfrm>
            <a:off x="10236991" y="3749040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</a:t>
            </a:r>
            <a:endParaRPr lang="en-US" sz="1000" dirty="0"/>
          </a:p>
        </p:txBody>
      </p:sp>
      <p:sp>
        <p:nvSpPr>
          <p:cNvPr id="81" name="Text 78"/>
          <p:cNvSpPr/>
          <p:nvPr/>
        </p:nvSpPr>
        <p:spPr>
          <a:xfrm>
            <a:off x="10903447" y="3749040"/>
            <a:ext cx="666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</a:t>
            </a:r>
            <a:endParaRPr lang="en-US" sz="1000" dirty="0"/>
          </a:p>
        </p:txBody>
      </p:sp>
      <p:sp>
        <p:nvSpPr>
          <p:cNvPr id="82" name="Shape 79"/>
          <p:cNvSpPr/>
          <p:nvPr/>
        </p:nvSpPr>
        <p:spPr>
          <a:xfrm>
            <a:off x="6443320" y="3995928"/>
            <a:ext cx="5126584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6278728" y="4261104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4" name="Shape 81"/>
          <p:cNvSpPr/>
          <p:nvPr/>
        </p:nvSpPr>
        <p:spPr>
          <a:xfrm>
            <a:off x="6278728" y="4261104"/>
            <a:ext cx="5455768" cy="54864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6479896" y="4462272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답변까지 — 상세 분석 편의성 증대</a:t>
            </a:r>
            <a:endParaRPr lang="en-US" sz="1300" dirty="0"/>
          </a:p>
        </p:txBody>
      </p:sp>
      <p:sp>
        <p:nvSpPr>
          <p:cNvPr id="86" name="Text 83"/>
          <p:cNvSpPr/>
          <p:nvPr/>
        </p:nvSpPr>
        <p:spPr>
          <a:xfrm>
            <a:off x="6479896" y="4855464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/>
              <a:t>응답자별 문항 답변 내역을 그리드</a:t>
            </a:r>
            <a:r>
              <a:rPr lang="en-US" altLang="ko-KR" sz="1050" dirty="0"/>
              <a:t>(</a:t>
            </a:r>
            <a:r>
              <a:rPr lang="ko-KR" altLang="en-US" sz="1050" dirty="0"/>
              <a:t>표</a:t>
            </a:r>
            <a:r>
              <a:rPr lang="en-US" altLang="ko-KR" sz="1050" dirty="0"/>
              <a:t>) </a:t>
            </a:r>
            <a:r>
              <a:rPr lang="ko-KR" altLang="en-US" sz="1050" dirty="0"/>
              <a:t>형태로 조회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6479896" y="5111496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</a:t>
            </a:r>
            <a:r>
              <a:rPr lang="ko-KR" altLang="en-US" sz="1050" dirty="0"/>
              <a:t>부서</a:t>
            </a:r>
            <a:r>
              <a:rPr lang="en-US" altLang="ko-KR" sz="1050" dirty="0"/>
              <a:t>·</a:t>
            </a:r>
            <a:r>
              <a:rPr lang="ko-KR" altLang="en-US" sz="1050" dirty="0"/>
              <a:t>이름과 문항별 답변을 함께 제공해 개별 응답 내용 확인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6479896" y="5367528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주요 개선 기능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개선 기능 (5) </a:t>
            </a:r>
            <a:r>
              <a:rPr lang="ko-KR" altLang="en-US" sz="2400" b="1" dirty="0"/>
              <a:t>엑셀 내보내기 및 이력 관리</a:t>
            </a:r>
            <a:endParaRPr lang="en-US" sz="2400" b="1" dirty="0"/>
          </a:p>
        </p:txBody>
      </p:sp>
      <p:sp>
        <p:nvSpPr>
          <p:cNvPr id="7" name="Text 4"/>
          <p:cNvSpPr/>
          <p:nvPr/>
        </p:nvSpPr>
        <p:spPr>
          <a:xfrm>
            <a:off x="457201" y="1417028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600" dirty="0"/>
              <a:t>4</a:t>
            </a:r>
            <a:r>
              <a:rPr lang="ko-KR" altLang="en-US" sz="1600" dirty="0"/>
              <a:t>개 통계 데이터를 시트별로 분리해 엑셀로 내보내고</a:t>
            </a:r>
            <a:r>
              <a:rPr lang="en-US" altLang="ko-KR" sz="1600" dirty="0"/>
              <a:t>, </a:t>
            </a:r>
            <a:r>
              <a:rPr lang="ko-KR" altLang="en-US" sz="1600" dirty="0"/>
              <a:t>내보내기 이력을 기록</a:t>
            </a:r>
            <a:r>
              <a:rPr lang="en-US" altLang="ko-KR" sz="1600" dirty="0"/>
              <a:t>·</a:t>
            </a:r>
            <a:r>
              <a:rPr lang="ko-KR" altLang="en-US" sz="1600" dirty="0"/>
              <a:t>조회할 수 있도록 개선했습니다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249424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b="1" dirty="0"/>
              <a:t>4</a:t>
            </a:r>
            <a:r>
              <a:rPr lang="ko-KR" altLang="en-US" sz="1400" b="1" dirty="0"/>
              <a:t>개 통계 유형별 엑셀 시트 분리</a:t>
            </a:r>
            <a:endParaRPr lang="en-US" sz="1400" b="1" dirty="0"/>
          </a:p>
        </p:txBody>
      </p:sp>
      <p:sp>
        <p:nvSpPr>
          <p:cNvPr id="11" name="Text 8"/>
          <p:cNvSpPr/>
          <p:nvPr/>
        </p:nvSpPr>
        <p:spPr>
          <a:xfrm>
            <a:off x="6278728" y="2039112"/>
            <a:ext cx="545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278728" y="2249424"/>
            <a:ext cx="5455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엑셀 내보내기 이력 관리</a:t>
            </a:r>
            <a:endParaRPr lang="en-US" sz="1400" b="1" dirty="0"/>
          </a:p>
        </p:txBody>
      </p:sp>
      <p:sp>
        <p:nvSpPr>
          <p:cNvPr id="14" name="Shape 11"/>
          <p:cNvSpPr/>
          <p:nvPr/>
        </p:nvSpPr>
        <p:spPr>
          <a:xfrm>
            <a:off x="457200" y="2660904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F8F9FB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" y="2660904"/>
            <a:ext cx="5455768" cy="329184"/>
          </a:xfrm>
          <a:prstGeom prst="rect">
            <a:avLst/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85216" y="2761488"/>
            <a:ext cx="118872" cy="118872"/>
          </a:xfrm>
          <a:prstGeom prst="ellipse">
            <a:avLst/>
          </a:prstGeom>
          <a:solidFill>
            <a:srgbClr val="E0826B"/>
          </a:solidFill>
          <a:ln w="12700">
            <a:solidFill>
              <a:srgbClr val="E082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0664" y="2761488"/>
            <a:ext cx="118872" cy="118872"/>
          </a:xfrm>
          <a:prstGeom prst="ellipse">
            <a:avLst/>
          </a:prstGeom>
          <a:solidFill>
            <a:srgbClr val="E3C66D"/>
          </a:solidFill>
          <a:ln w="12700">
            <a:solidFill>
              <a:srgbClr val="E3C6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6112" y="2761488"/>
            <a:ext cx="118872" cy="118872"/>
          </a:xfrm>
          <a:prstGeom prst="ellipse">
            <a:avLst/>
          </a:prstGeom>
          <a:solidFill>
            <a:srgbClr val="9DC97A"/>
          </a:solidFill>
          <a:ln w="12700">
            <a:solidFill>
              <a:srgbClr val="9DC97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43000" y="2734056"/>
            <a:ext cx="458708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88720" y="2734056"/>
            <a:ext cx="449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설문결과_2026Q1.xlsx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1792" y="3081528"/>
            <a:ext cx="5126584" cy="201168"/>
          </a:xfrm>
          <a:prstGeom prst="rect">
            <a:avLst/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" y="3081528"/>
            <a:ext cx="15991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문항 ID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2385517" y="3081528"/>
            <a:ext cx="15991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수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094378" y="3081528"/>
            <a:ext cx="15991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 (%)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76656" y="328269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Q1_매우만족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385517" y="328269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312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094378" y="328269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42.0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21792" y="3465576"/>
            <a:ext cx="5126584" cy="182880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76656" y="346557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Q1_만족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2385517" y="346557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268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094378" y="346557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76656" y="364845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Q1_보통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2385517" y="364845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124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094378" y="3648456"/>
            <a:ext cx="15991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16.7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21792" y="3831336"/>
            <a:ext cx="5126584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1792" y="396849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1792" y="39684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요약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1545336" y="396849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545336" y="39684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조직별 현황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2468880" y="396849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1456F0"/>
          </a:solidFill>
          <a:ln w="6350">
            <a:solidFill>
              <a:srgbClr val="1456F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2468880" y="39684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문항별 분석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3392424" y="3968496"/>
            <a:ext cx="868680" cy="237744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392424" y="39684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응답자별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24327" y="4361688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57200" y="4361688"/>
            <a:ext cx="5455768" cy="54864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8368" y="4562856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한 번의 내보내기로 </a:t>
            </a:r>
            <a:r>
              <a:rPr lang="ko-KR" altLang="en-US" sz="1400" b="1" dirty="0" err="1"/>
              <a:t>통계별</a:t>
            </a:r>
            <a:r>
              <a:rPr lang="ko-KR" altLang="en-US" sz="1400" b="1" dirty="0"/>
              <a:t> 데이터 확인</a:t>
            </a:r>
            <a:endParaRPr lang="en-US" sz="1300" b="1" dirty="0"/>
          </a:p>
        </p:txBody>
      </p:sp>
      <p:sp>
        <p:nvSpPr>
          <p:cNvPr id="47" name="Text 44"/>
          <p:cNvSpPr/>
          <p:nvPr/>
        </p:nvSpPr>
        <p:spPr>
          <a:xfrm>
            <a:off x="658368" y="4956048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ko-KR" altLang="en-US" sz="1050" dirty="0"/>
              <a:t>전체 요약</a:t>
            </a:r>
            <a:r>
              <a:rPr lang="en-US" altLang="ko-KR" sz="1050" dirty="0"/>
              <a:t>·</a:t>
            </a:r>
            <a:r>
              <a:rPr lang="ko-KR" altLang="en-US" sz="1050" dirty="0" err="1"/>
              <a:t>조직별</a:t>
            </a:r>
            <a:r>
              <a:rPr lang="ko-KR" altLang="en-US" sz="1050" dirty="0"/>
              <a:t> 현황</a:t>
            </a:r>
            <a:r>
              <a:rPr lang="en-US" altLang="ko-KR" sz="1050" dirty="0"/>
              <a:t>·</a:t>
            </a:r>
            <a:r>
              <a:rPr lang="ko-KR" altLang="en-US" sz="1050" dirty="0"/>
              <a:t>문항별 분석</a:t>
            </a:r>
            <a:r>
              <a:rPr lang="en-US" altLang="ko-KR" sz="1050" dirty="0"/>
              <a:t>·</a:t>
            </a:r>
            <a:r>
              <a:rPr lang="ko-KR" altLang="en-US" sz="1050" dirty="0"/>
              <a:t>응답자별 데이터를 시트별로 분리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658368" y="5212080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</a:t>
            </a:r>
            <a:r>
              <a:rPr lang="en-US" sz="10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</a:t>
            </a:r>
            <a:r>
              <a:rPr lang="ko-KR" altLang="en-US" sz="1050" dirty="0"/>
              <a:t>단일 엑셀 파일 안에서 통계 유형별 데이터를 바로 확인 가능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278728" y="2660904"/>
            <a:ext cx="5455768" cy="1600200"/>
          </a:xfrm>
          <a:prstGeom prst="roundRect">
            <a:avLst>
              <a:gd name="adj" fmla="val 8000"/>
            </a:avLst>
          </a:prstGeom>
          <a:solidFill>
            <a:srgbClr val="EEF0F3"/>
          </a:solidFill>
          <a:ln w="12700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78728" y="2660904"/>
            <a:ext cx="5455768" cy="1600200"/>
          </a:xfrm>
          <a:prstGeom prst="rect">
            <a:avLst/>
          </a:prstGeom>
          <a:solidFill>
            <a:srgbClr val="DADFE6"/>
          </a:solidFill>
          <a:ln w="12700">
            <a:solidFill>
              <a:srgbClr val="DADFE6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44488" y="2889504"/>
            <a:ext cx="47242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644488" y="2889504"/>
            <a:ext cx="472424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781648" y="2889504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엑셀 다운로드 이력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11094415" y="288950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6644488" y="3163824"/>
            <a:ext cx="4724248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781648" y="3218688"/>
            <a:ext cx="4449928" cy="201168"/>
          </a:xfrm>
          <a:prstGeom prst="rect">
            <a:avLst/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827368" y="3218688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8028848" y="3218688"/>
            <a:ext cx="13508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일시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9452825" y="3218688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10654305" y="3218688"/>
            <a:ext cx="5498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6827368" y="3419856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김관리 (admin01)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8028848" y="3419856"/>
            <a:ext cx="13508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2026-04-12  14:23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9452825" y="3419856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Q1_전체요약</a:t>
            </a:r>
            <a:endParaRPr lang="en-US" sz="850" dirty="0"/>
          </a:p>
        </p:txBody>
      </p:sp>
      <p:sp>
        <p:nvSpPr>
          <p:cNvPr id="65" name="Text 62"/>
          <p:cNvSpPr/>
          <p:nvPr/>
        </p:nvSpPr>
        <p:spPr>
          <a:xfrm>
            <a:off x="10654305" y="3419856"/>
            <a:ext cx="5498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6781648" y="3621024"/>
            <a:ext cx="4449928" cy="0"/>
          </a:xfrm>
          <a:prstGeom prst="line">
            <a:avLst/>
          </a:prstGeom>
          <a:noFill/>
          <a:ln w="5080">
            <a:solidFill>
              <a:srgbClr val="E5E7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81648" y="3621024"/>
            <a:ext cx="4449928" cy="201168"/>
          </a:xfrm>
          <a:prstGeom prst="rect">
            <a:avLst/>
          </a:prstGeom>
          <a:solidFill>
            <a:srgbClr val="FAFBFC"/>
          </a:solidFill>
          <a:ln w="12700">
            <a:solidFill>
              <a:srgbClr val="FAFBFC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27368" y="3621024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박운영 (ops02)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8028848" y="3621024"/>
            <a:ext cx="13508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2026-04-12  10:08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9452825" y="3621024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Q1_조직별</a:t>
            </a:r>
            <a:endParaRPr lang="en-US" sz="850" dirty="0"/>
          </a:p>
        </p:txBody>
      </p:sp>
      <p:sp>
        <p:nvSpPr>
          <p:cNvPr id="71" name="Text 68"/>
          <p:cNvSpPr/>
          <p:nvPr/>
        </p:nvSpPr>
        <p:spPr>
          <a:xfrm>
            <a:off x="10654305" y="3621024"/>
            <a:ext cx="5498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>
            <a:off x="6781648" y="3822192"/>
            <a:ext cx="4449928" cy="0"/>
          </a:xfrm>
          <a:prstGeom prst="line">
            <a:avLst/>
          </a:prstGeom>
          <a:noFill/>
          <a:ln w="5080">
            <a:solidFill>
              <a:srgbClr val="E5E7EB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827368" y="3822192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이지원 (admin02)</a:t>
            </a:r>
            <a:endParaRPr lang="en-US" sz="850" dirty="0"/>
          </a:p>
        </p:txBody>
      </p:sp>
      <p:sp>
        <p:nvSpPr>
          <p:cNvPr id="74" name="Text 71"/>
          <p:cNvSpPr/>
          <p:nvPr/>
        </p:nvSpPr>
        <p:spPr>
          <a:xfrm>
            <a:off x="8028848" y="3822192"/>
            <a:ext cx="13508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2026-04-11  17:45</a:t>
            </a:r>
            <a:endParaRPr lang="en-US" sz="850" dirty="0"/>
          </a:p>
        </p:txBody>
      </p:sp>
      <p:sp>
        <p:nvSpPr>
          <p:cNvPr id="75" name="Text 72"/>
          <p:cNvSpPr/>
          <p:nvPr/>
        </p:nvSpPr>
        <p:spPr>
          <a:xfrm>
            <a:off x="9452825" y="3822192"/>
            <a:ext cx="1128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Q1_응답자별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10654305" y="3822192"/>
            <a:ext cx="5498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6A34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781648" y="4023360"/>
            <a:ext cx="4449928" cy="0"/>
          </a:xfrm>
          <a:prstGeom prst="line">
            <a:avLst/>
          </a:prstGeom>
          <a:noFill/>
          <a:ln w="5080">
            <a:solidFill>
              <a:srgbClr val="E5E7EB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6278728" y="4361688"/>
            <a:ext cx="5455768" cy="1490472"/>
          </a:xfrm>
          <a:prstGeom prst="roundRect">
            <a:avLst>
              <a:gd name="adj" fmla="val 797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278728" y="4361688"/>
            <a:ext cx="5455768" cy="54864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479896" y="4562856"/>
            <a:ext cx="5090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b="1" dirty="0"/>
              <a:t>누가</a:t>
            </a:r>
            <a:r>
              <a:rPr lang="en-US" altLang="ko-KR" sz="1400" b="1" dirty="0"/>
              <a:t>·</a:t>
            </a:r>
            <a:r>
              <a:rPr lang="ko-KR" altLang="en-US" sz="1400" b="1" dirty="0"/>
              <a:t>언제 내보냈는지 이력으로 확인</a:t>
            </a:r>
            <a:endParaRPr lang="en-US" sz="1300" b="1" dirty="0"/>
          </a:p>
        </p:txBody>
      </p:sp>
      <p:sp>
        <p:nvSpPr>
          <p:cNvPr id="81" name="Text 78"/>
          <p:cNvSpPr/>
          <p:nvPr/>
        </p:nvSpPr>
        <p:spPr>
          <a:xfrm>
            <a:off x="6479896" y="4956048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ko-KR" altLang="en-US" sz="1050" dirty="0"/>
              <a:t>엑셀 내보내기 시 사용자</a:t>
            </a:r>
            <a:r>
              <a:rPr lang="en-US" altLang="ko-KR" sz="1050" dirty="0"/>
              <a:t>, </a:t>
            </a:r>
            <a:r>
              <a:rPr lang="ko-KR" altLang="en-US" sz="1050" dirty="0"/>
              <a:t>일시</a:t>
            </a:r>
            <a:r>
              <a:rPr lang="en-US" altLang="ko-KR" sz="1050" dirty="0"/>
              <a:t>, </a:t>
            </a:r>
            <a:r>
              <a:rPr lang="ko-KR" altLang="en-US" sz="1050" dirty="0"/>
              <a:t>파일 이름을 저장</a:t>
            </a:r>
            <a:endParaRPr lang="en-US" altLang="ko-KR" sz="1050" dirty="0"/>
          </a:p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82" name="Text 79"/>
          <p:cNvSpPr/>
          <p:nvPr/>
        </p:nvSpPr>
        <p:spPr>
          <a:xfrm>
            <a:off x="6479896" y="5212080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ko-KR" altLang="en-US" sz="1050" dirty="0"/>
              <a:t>네비게이션 바에서 엑셀 내보내기 내역 조회 가능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6479896" y="5468112"/>
            <a:ext cx="509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 </a:t>
            </a:r>
            <a:r>
              <a:rPr lang="ko-KR" altLang="en-US" sz="1050" dirty="0"/>
              <a:t>다운로드 내역 추적으로 데이터 관리 안정성 강화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시스템 아키텍처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아키텍처 및 기술 스택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1392417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600" dirty="0"/>
              <a:t>데모 사이트와 설문 서버의 연동</a:t>
            </a:r>
            <a:r>
              <a:rPr lang="en-US" altLang="ko-KR" sz="1600" dirty="0"/>
              <a:t>, </a:t>
            </a:r>
            <a:r>
              <a:rPr lang="ko-KR" altLang="en-US" sz="1600" dirty="0"/>
              <a:t>인증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계층별 책임 분리를 중심으로 시스템 아키텍처를 구성했습니다</a:t>
            </a:r>
            <a:r>
              <a:rPr lang="en-US" altLang="ko-KR" sz="1600" dirty="0"/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020824"/>
            <a:ext cx="5852160" cy="3886200"/>
          </a:xfrm>
          <a:prstGeom prst="roundRect">
            <a:avLst>
              <a:gd name="adj" fmla="val 3059"/>
            </a:avLst>
          </a:prstGeom>
          <a:solidFill>
            <a:srgbClr val="F8F9FB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21671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23682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400" dirty="0"/>
              <a:t>설문 시스템 아키텍처 구조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85800" y="2798064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 사이트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77240" y="3054096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 8081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108960" y="27980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⇆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63240" y="2752344"/>
            <a:ext cx="640080" cy="164592"/>
          </a:xfrm>
          <a:prstGeom prst="roundRect">
            <a:avLst>
              <a:gd name="adj" fmla="val 44444"/>
            </a:avLst>
          </a:prstGeom>
          <a:solidFill>
            <a:srgbClr val="EEF4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72384" y="2712720"/>
            <a:ext cx="6400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X-Internal-Api-Key</a:t>
            </a:r>
            <a:endParaRPr lang="en-US" sz="650" dirty="0"/>
          </a:p>
        </p:txBody>
      </p:sp>
      <p:sp>
        <p:nvSpPr>
          <p:cNvPr id="17" name="Shape 14"/>
          <p:cNvSpPr/>
          <p:nvPr/>
        </p:nvSpPr>
        <p:spPr>
          <a:xfrm>
            <a:off x="3657600" y="2798064"/>
            <a:ext cx="2423160" cy="502920"/>
          </a:xfrm>
          <a:prstGeom prst="roundRect">
            <a:avLst>
              <a:gd name="adj" fmla="val 14545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2852928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서버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749040" y="3054096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Port 8080  ·  </a:t>
            </a:r>
            <a:r>
              <a:rPr lang="ko-KR" altLang="en-US" sz="900" dirty="0"/>
              <a:t>메인 애플리케이션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5800" y="3438144"/>
            <a:ext cx="5394960" cy="365760"/>
          </a:xfrm>
          <a:prstGeom prst="roundRect">
            <a:avLst>
              <a:gd name="adj" fmla="val 15000"/>
            </a:avLst>
          </a:prstGeom>
          <a:solidFill>
            <a:srgbClr val="FFF8E6"/>
          </a:solidFill>
          <a:ln w="6350">
            <a:solidFill>
              <a:srgbClr val="E8D38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77240" y="343814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b="1" kern="0" spc="150" dirty="0">
                <a:solidFill>
                  <a:srgbClr val="B07E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SECURITY  </a:t>
            </a:r>
            <a:r>
              <a:rPr lang="en-US" altLang="ko-KR" sz="1000" dirty="0"/>
              <a:t>Spring Security · JWT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85800" y="3968496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85800" y="3968496"/>
            <a:ext cx="54864" cy="566928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2104" y="402336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LAYER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832104" y="422452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프레젠테이션 계층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560320" y="419709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MVC · Thymeleaf · Alpine.js · TailwindCSS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85800" y="4626864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5800" y="4626864"/>
            <a:ext cx="54864" cy="566928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2104" y="468172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1" kern="0" spc="15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LAYER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832104" y="4882896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비즈니스 계층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2560320" y="4832507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Domain Service + Spring Batch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85800" y="5285232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85800" y="5285232"/>
            <a:ext cx="54864" cy="566928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2104" y="534009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b="1" kern="0" spc="15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· INFRA LAYER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32104" y="5541264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데이터·인프라 계층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2560320" y="54681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JPA  · QueryDSL + MySQL · Redis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446520" y="2020824"/>
            <a:ext cx="52879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INTENT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6446520" y="2221992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계층의 설계 의도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446520" y="2596896"/>
            <a:ext cx="5287975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446520" y="2596896"/>
            <a:ext cx="64008" cy="7589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629400" y="2743200"/>
            <a:ext cx="292608" cy="292608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29400" y="2743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6995160" y="274320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연동 · 보안</a:t>
            </a:r>
            <a:endParaRPr lang="en-US" sz="1250" dirty="0"/>
          </a:p>
        </p:txBody>
      </p:sp>
      <p:sp>
        <p:nvSpPr>
          <p:cNvPr id="47" name="Text 44"/>
          <p:cNvSpPr/>
          <p:nvPr/>
        </p:nvSpPr>
        <p:spPr>
          <a:xfrm>
            <a:off x="6629400" y="3086100"/>
            <a:ext cx="4967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내부 </a:t>
            </a:r>
            <a:r>
              <a:rPr lang="en-US" altLang="ko-KR" sz="1000" dirty="0"/>
              <a:t>API Key </a:t>
            </a:r>
            <a:r>
              <a:rPr lang="ko-KR" altLang="en-US" sz="1000" dirty="0"/>
              <a:t>검증과 </a:t>
            </a:r>
            <a:r>
              <a:rPr lang="en-US" altLang="ko-KR" sz="1000" dirty="0"/>
              <a:t>Spring Security </a:t>
            </a:r>
            <a:r>
              <a:rPr lang="ko-KR" altLang="en-US" sz="1000" dirty="0"/>
              <a:t>이중 필터 체인으로 관리자</a:t>
            </a:r>
            <a:r>
              <a:rPr lang="en-US" altLang="ko-KR" sz="1000" dirty="0"/>
              <a:t>·</a:t>
            </a:r>
            <a:r>
              <a:rPr lang="ko-KR" altLang="en-US" sz="1000" dirty="0"/>
              <a:t>참여자 인증 체계를 분리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6446520" y="3447288"/>
            <a:ext cx="5287975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46520" y="3447288"/>
            <a:ext cx="64008" cy="758952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629400" y="3593592"/>
            <a:ext cx="292608" cy="292608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629400" y="3593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6995160" y="359359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Web · Business 계층</a:t>
            </a:r>
            <a:endParaRPr lang="en-US" sz="1250" dirty="0"/>
          </a:p>
        </p:txBody>
      </p:sp>
      <p:sp>
        <p:nvSpPr>
          <p:cNvPr id="53" name="Text 50"/>
          <p:cNvSpPr/>
          <p:nvPr/>
        </p:nvSpPr>
        <p:spPr>
          <a:xfrm>
            <a:off x="6629400" y="3904488"/>
            <a:ext cx="4967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000" dirty="0"/>
              <a:t>SSR </a:t>
            </a:r>
            <a:r>
              <a:rPr lang="ko-KR" altLang="en-US" sz="1000" dirty="0"/>
              <a:t>기반 화면 구성과 서비스 계층 중심 설계로 화면 처리와 비즈니스 로직 책임을 분리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6446520" y="4297680"/>
            <a:ext cx="5287975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46520" y="4297680"/>
            <a:ext cx="64008" cy="758952"/>
          </a:xfrm>
          <a:prstGeom prst="rect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629400" y="4443984"/>
            <a:ext cx="292608" cy="292608"/>
          </a:xfrm>
          <a:prstGeom prst="ellipse">
            <a:avLst/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629400" y="4443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6995160" y="4443984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· Infra 계층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6629400" y="4754880"/>
            <a:ext cx="4967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쿼리 특성에 따라 데이터 접근 기술을 구분 적용하고</a:t>
            </a:r>
            <a:r>
              <a:rPr lang="en-US" altLang="ko-KR" sz="1000" dirty="0"/>
              <a:t>, Redis</a:t>
            </a:r>
            <a:r>
              <a:rPr lang="ko-KR" altLang="en-US" sz="1000" dirty="0"/>
              <a:t>와 </a:t>
            </a:r>
            <a:r>
              <a:rPr lang="en-US" altLang="ko-KR" sz="1000" dirty="0"/>
              <a:t>MySQL</a:t>
            </a:r>
            <a:r>
              <a:rPr lang="ko-KR" altLang="en-US" sz="1000" dirty="0"/>
              <a:t>의 저장 역할을 분리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6446520" y="5148072"/>
            <a:ext cx="5287975" cy="758952"/>
          </a:xfrm>
          <a:prstGeom prst="roundRect">
            <a:avLst>
              <a:gd name="adj" fmla="val 1445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46520" y="5148072"/>
            <a:ext cx="64008" cy="758952"/>
          </a:xfrm>
          <a:prstGeom prst="rect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629400" y="5294376"/>
            <a:ext cx="292608" cy="292608"/>
          </a:xfrm>
          <a:prstGeom prst="ellipse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629400" y="5294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</a:rPr>
              <a:t>04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6995160" y="5294376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기술 스택</a:t>
            </a:r>
            <a:endParaRPr lang="en-US" sz="1250" dirty="0"/>
          </a:p>
        </p:txBody>
      </p:sp>
      <p:sp>
        <p:nvSpPr>
          <p:cNvPr id="65" name="Text 62"/>
          <p:cNvSpPr/>
          <p:nvPr/>
        </p:nvSpPr>
        <p:spPr>
          <a:xfrm>
            <a:off x="6629400" y="5605272"/>
            <a:ext cx="49679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Java 17 · Spring Boot 3.5  / </a:t>
            </a:r>
            <a:r>
              <a:rPr lang="en-US" sz="95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Thymeleaf</a:t>
            </a: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· Alpine.js · TailwindCSS  /  Apache POI · Gradle </a:t>
            </a:r>
            <a:r>
              <a:rPr lang="en-US" altLang="ko-KR" sz="1000" dirty="0"/>
              <a:t>· MySQL · Redis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주요 기술 적용 사례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참여 인증 플로우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199" y="1424178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iframe 진입부터 설문 제출 종료까지, API Key·일회용 토큰·Client JWT·Redis 기반의 안전한 인증 흐름을 설계했습니다.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002754"/>
            <a:ext cx="5852160" cy="4174309"/>
          </a:xfrm>
          <a:prstGeom prst="roundRect">
            <a:avLst>
              <a:gd name="adj" fmla="val 3023"/>
            </a:avLst>
          </a:prstGeom>
          <a:solidFill>
            <a:srgbClr val="F8F9FB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2130771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AUTH SEQUENCE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2313651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참여 인증 및 상태 유지 플로우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2688555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6350">
            <a:solidFill>
              <a:srgbClr val="8E8E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2734275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Demo Site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58368" y="2908011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:8081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2514600" y="2688555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EEF4FF"/>
          </a:solidFill>
          <a:ln w="6350">
            <a:solidFill>
              <a:srgbClr val="1456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14600" y="2734275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Spring Boot Server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514600" y="2908011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:8080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370832" y="2688555"/>
            <a:ext cx="1737360" cy="384048"/>
          </a:xfrm>
          <a:prstGeom prst="roundRect">
            <a:avLst>
              <a:gd name="adj" fmla="val 19048"/>
            </a:avLst>
          </a:prstGeom>
          <a:solidFill>
            <a:srgbClr val="FFF4F2"/>
          </a:solidFill>
          <a:ln w="6350">
            <a:solidFill>
              <a:srgbClr val="D947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0832" y="2734275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Redis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370832" y="2908011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1527048" y="3118323"/>
            <a:ext cx="0" cy="2679192"/>
          </a:xfrm>
          <a:prstGeom prst="line">
            <a:avLst/>
          </a:prstGeom>
          <a:noFill/>
          <a:ln w="9525">
            <a:solidFill>
              <a:srgbClr val="E5E7EB"/>
            </a:solidFill>
            <a:prstDash val="dash"/>
          </a:ln>
        </p:spPr>
      </p:sp>
      <p:sp>
        <p:nvSpPr>
          <p:cNvPr id="21" name="Shape 18"/>
          <p:cNvSpPr/>
          <p:nvPr/>
        </p:nvSpPr>
        <p:spPr>
          <a:xfrm>
            <a:off x="3383280" y="3118323"/>
            <a:ext cx="0" cy="2679192"/>
          </a:xfrm>
          <a:prstGeom prst="line">
            <a:avLst/>
          </a:prstGeom>
          <a:noFill/>
          <a:ln w="9525">
            <a:solidFill>
              <a:srgbClr val="E5E7EB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5239512" y="3118323"/>
            <a:ext cx="0" cy="2679192"/>
          </a:xfrm>
          <a:prstGeom prst="line">
            <a:avLst/>
          </a:prstGeom>
          <a:noFill/>
          <a:ln w="9525">
            <a:solidFill>
              <a:srgbClr val="E5E7EB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1527048" y="3301203"/>
            <a:ext cx="1856232" cy="0"/>
          </a:xfrm>
          <a:prstGeom prst="line">
            <a:avLst/>
          </a:prstGeom>
          <a:noFill/>
          <a:ln w="19050">
            <a:solidFill>
              <a:srgbClr val="1456F0"/>
            </a:solidFill>
            <a:prstDash val="solid"/>
            <a:headEnd type="none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1527048" y="306345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API Key 사전 검증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527048" y="333777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X-Internal-Api-Key · 직원/설문/중복 검증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3383280" y="3804123"/>
            <a:ext cx="1856232" cy="0"/>
          </a:xfrm>
          <a:prstGeom prst="line">
            <a:avLst/>
          </a:prstGeom>
          <a:noFill/>
          <a:ln w="19050">
            <a:solidFill>
              <a:srgbClr val="D9472B"/>
            </a:solidFill>
            <a:prstDash val="solid"/>
            <a:headEnd type="none"/>
            <a:tailEnd type="triangle"/>
          </a:ln>
        </p:spPr>
      </p:sp>
      <p:sp>
        <p:nvSpPr>
          <p:cNvPr id="27" name="Text 24"/>
          <p:cNvSpPr/>
          <p:nvPr/>
        </p:nvSpPr>
        <p:spPr>
          <a:xfrm>
            <a:off x="3383280" y="356637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Redis 일회용 토큰 발급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3383280" y="384069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survey_tk:{token} · UUID · TTL 10분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1527048" y="4307043"/>
            <a:ext cx="1856232" cy="0"/>
          </a:xfrm>
          <a:prstGeom prst="line">
            <a:avLst/>
          </a:prstGeom>
          <a:noFill/>
          <a:ln w="19050">
            <a:solidFill>
              <a:srgbClr val="1456F0"/>
            </a:solidFill>
            <a:prstDash val="solid"/>
            <a:headEnd type="none"/>
            <a:tailEnd type="triangle"/>
          </a:ln>
        </p:spPr>
      </p:sp>
      <p:sp>
        <p:nvSpPr>
          <p:cNvPr id="30" name="Text 27"/>
          <p:cNvSpPr/>
          <p:nvPr/>
        </p:nvSpPr>
        <p:spPr>
          <a:xfrm>
            <a:off x="1527048" y="406929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iframe 설문 진입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527048" y="434361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토큰 포함 iframe URL 호출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3383280" y="4809963"/>
            <a:ext cx="1856232" cy="0"/>
          </a:xfrm>
          <a:prstGeom prst="line">
            <a:avLst/>
          </a:prstGeom>
          <a:noFill/>
          <a:ln w="19050">
            <a:solidFill>
              <a:srgbClr val="1456F0"/>
            </a:solidFill>
            <a:prstDash val="solid"/>
            <a:headEnd type="none"/>
            <a:tailEnd type="triangle"/>
          </a:ln>
        </p:spPr>
      </p:sp>
      <p:sp>
        <p:nvSpPr>
          <p:cNvPr id="33" name="Text 30"/>
          <p:cNvSpPr/>
          <p:nvPr/>
        </p:nvSpPr>
        <p:spPr>
          <a:xfrm>
            <a:off x="3383280" y="457221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토큰 검증 후 Client JWT 발급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383280" y="484653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Redis 토큰 즉시 삭제 · HttpOnly Cookie 저장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1527048" y="5312883"/>
            <a:ext cx="3712464" cy="0"/>
          </a:xfrm>
          <a:prstGeom prst="line">
            <a:avLst/>
          </a:prstGeom>
          <a:noFill/>
          <a:ln w="19050">
            <a:solidFill>
              <a:srgbClr val="EA5EC1"/>
            </a:solidFill>
            <a:prstDash val="solid"/>
            <a:headEnd type="none"/>
            <a:tailEnd type="triangle"/>
          </a:ln>
        </p:spPr>
      </p:sp>
      <p:sp>
        <p:nvSpPr>
          <p:cNvPr id="36" name="Text 33"/>
          <p:cNvSpPr/>
          <p:nvPr/>
        </p:nvSpPr>
        <p:spPr>
          <a:xfrm>
            <a:off x="1527048" y="5075139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응답 상태 유지 · 자동 임시저장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527048" y="5349459"/>
            <a:ext cx="37124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ClientTokenFilter 검증 · Redis 자동 저장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1527048" y="5815803"/>
            <a:ext cx="1856232" cy="0"/>
          </a:xfrm>
          <a:prstGeom prst="line">
            <a:avLst/>
          </a:prstGeom>
          <a:noFill/>
          <a:ln w="19050">
            <a:solidFill>
              <a:srgbClr val="EA5EC1"/>
            </a:solidFill>
            <a:prstDash val="solid"/>
            <a:headEnd type="none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1527048" y="557805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제출 · 모달 종료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527048" y="5852379"/>
            <a:ext cx="1856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자격 재검증 · 임시저장 삭제 · postMessage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6446520" y="2002755"/>
            <a:ext cx="5287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 BREAKDOWN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446520" y="2185635"/>
            <a:ext cx="5287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기술 포인트</a:t>
            </a:r>
            <a:endParaRPr lang="en-US" sz="1200" dirty="0"/>
          </a:p>
        </p:txBody>
      </p:sp>
      <p:sp>
        <p:nvSpPr>
          <p:cNvPr id="91" name="Shape 40"/>
          <p:cNvSpPr/>
          <p:nvPr/>
        </p:nvSpPr>
        <p:spPr>
          <a:xfrm>
            <a:off x="6446520" y="2523963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2" name="Shape 41"/>
          <p:cNvSpPr/>
          <p:nvPr/>
        </p:nvSpPr>
        <p:spPr>
          <a:xfrm>
            <a:off x="6446520" y="2523963"/>
            <a:ext cx="54864" cy="43891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93" name="Shape 42"/>
          <p:cNvSpPr/>
          <p:nvPr/>
        </p:nvSpPr>
        <p:spPr>
          <a:xfrm>
            <a:off x="6565392" y="2606259"/>
            <a:ext cx="274320" cy="274320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94" name="Text 43"/>
          <p:cNvSpPr/>
          <p:nvPr/>
        </p:nvSpPr>
        <p:spPr>
          <a:xfrm>
            <a:off x="6565392" y="26062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95" name="Text 44"/>
          <p:cNvSpPr/>
          <p:nvPr/>
        </p:nvSpPr>
        <p:spPr>
          <a:xfrm>
            <a:off x="6903720" y="2569683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간 사전 검증</a:t>
            </a:r>
            <a:endParaRPr lang="en-US" sz="1000" dirty="0"/>
          </a:p>
        </p:txBody>
      </p:sp>
      <p:sp>
        <p:nvSpPr>
          <p:cNvPr id="96" name="Text 47"/>
          <p:cNvSpPr/>
          <p:nvPr/>
        </p:nvSpPr>
        <p:spPr>
          <a:xfrm>
            <a:off x="6903720" y="2770851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X-Internal-</a:t>
            </a:r>
            <a:r>
              <a:rPr lang="en-US" sz="80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Api</a:t>
            </a:r>
            <a:r>
              <a:rPr lang="en-US" sz="8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-Key </a:t>
            </a:r>
            <a:r>
              <a:rPr lang="ko-KR" altLang="en-US" sz="800" dirty="0"/>
              <a:t>기반 내부 </a:t>
            </a:r>
            <a:r>
              <a:rPr lang="en-US" altLang="ko-KR" sz="800" dirty="0"/>
              <a:t>API </a:t>
            </a:r>
            <a:r>
              <a:rPr lang="ko-KR" altLang="en-US" sz="800" dirty="0"/>
              <a:t>호출로 직원 존재</a:t>
            </a:r>
            <a:r>
              <a:rPr lang="en-US" altLang="ko-KR" sz="800" dirty="0"/>
              <a:t>, </a:t>
            </a:r>
            <a:r>
              <a:rPr lang="ko-KR" altLang="en-US" sz="800" dirty="0"/>
              <a:t>대상 설문</a:t>
            </a:r>
            <a:r>
              <a:rPr lang="en-US" altLang="ko-KR" sz="800" dirty="0"/>
              <a:t>, </a:t>
            </a:r>
            <a:r>
              <a:rPr lang="ko-KR" altLang="en-US" sz="800" dirty="0"/>
              <a:t>중복 제출 여부를 </a:t>
            </a:r>
            <a:r>
              <a:rPr lang="ko-KR" altLang="en-US" sz="800" dirty="0" err="1"/>
              <a:t>선검증</a:t>
            </a:r>
            <a:endParaRPr lang="en-US" sz="800" dirty="0"/>
          </a:p>
        </p:txBody>
      </p:sp>
      <p:sp>
        <p:nvSpPr>
          <p:cNvPr id="97" name="Shape 48"/>
          <p:cNvSpPr/>
          <p:nvPr/>
        </p:nvSpPr>
        <p:spPr>
          <a:xfrm>
            <a:off x="6446520" y="3017739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8" name="Shape 49"/>
          <p:cNvSpPr/>
          <p:nvPr/>
        </p:nvSpPr>
        <p:spPr>
          <a:xfrm>
            <a:off x="6446520" y="3017739"/>
            <a:ext cx="54864" cy="438912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99" name="Shape 50"/>
          <p:cNvSpPr/>
          <p:nvPr/>
        </p:nvSpPr>
        <p:spPr>
          <a:xfrm>
            <a:off x="6565392" y="3100035"/>
            <a:ext cx="274320" cy="274320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00" name="Text 51"/>
          <p:cNvSpPr/>
          <p:nvPr/>
        </p:nvSpPr>
        <p:spPr>
          <a:xfrm>
            <a:off x="6565392" y="31000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01" name="Text 52"/>
          <p:cNvSpPr/>
          <p:nvPr/>
        </p:nvSpPr>
        <p:spPr>
          <a:xfrm>
            <a:off x="6903720" y="3063459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Redis 일회용 토큰 발급</a:t>
            </a:r>
            <a:endParaRPr lang="en-US" sz="1000" dirty="0"/>
          </a:p>
        </p:txBody>
      </p:sp>
      <p:sp>
        <p:nvSpPr>
          <p:cNvPr id="102" name="Text 55"/>
          <p:cNvSpPr/>
          <p:nvPr/>
        </p:nvSpPr>
        <p:spPr>
          <a:xfrm>
            <a:off x="6903720" y="3264627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800" dirty="0"/>
              <a:t>검증 통과 시 </a:t>
            </a:r>
            <a:r>
              <a:rPr lang="en-US" altLang="ko-KR" sz="800" dirty="0"/>
              <a:t>UUID </a:t>
            </a:r>
            <a:r>
              <a:rPr lang="ko-KR" altLang="en-US" sz="800" dirty="0"/>
              <a:t>토큰을 </a:t>
            </a:r>
            <a:r>
              <a:rPr lang="en-US" altLang="ko-KR" sz="800" dirty="0" err="1"/>
              <a:t>Redis</a:t>
            </a:r>
            <a:r>
              <a:rPr lang="ko-KR" altLang="en-US" sz="800" dirty="0"/>
              <a:t>에 저장하고 </a:t>
            </a:r>
            <a:r>
              <a:rPr lang="en-US" altLang="ko-KR" sz="800" dirty="0"/>
              <a:t>1</a:t>
            </a:r>
            <a:r>
              <a:rPr lang="ko-KR" altLang="en-US" sz="800" dirty="0"/>
              <a:t>분 </a:t>
            </a:r>
            <a:r>
              <a:rPr lang="en-US" altLang="ko-KR" sz="800" dirty="0"/>
              <a:t>TTL</a:t>
            </a:r>
            <a:r>
              <a:rPr lang="ko-KR" altLang="en-US" sz="800" dirty="0"/>
              <a:t>을 적용하여 제한된 시간 동안만 접근 허용</a:t>
            </a:r>
            <a:endParaRPr lang="en-US" sz="800" dirty="0"/>
          </a:p>
        </p:txBody>
      </p:sp>
      <p:sp>
        <p:nvSpPr>
          <p:cNvPr id="103" name="Shape 56"/>
          <p:cNvSpPr/>
          <p:nvPr/>
        </p:nvSpPr>
        <p:spPr>
          <a:xfrm>
            <a:off x="6446520" y="3511515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104" name="Shape 57"/>
          <p:cNvSpPr/>
          <p:nvPr/>
        </p:nvSpPr>
        <p:spPr>
          <a:xfrm>
            <a:off x="6446520" y="3511515"/>
            <a:ext cx="54864" cy="43891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05" name="Shape 58"/>
          <p:cNvSpPr/>
          <p:nvPr/>
        </p:nvSpPr>
        <p:spPr>
          <a:xfrm>
            <a:off x="6565392" y="3593811"/>
            <a:ext cx="274320" cy="274320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06" name="Text 59"/>
          <p:cNvSpPr/>
          <p:nvPr/>
        </p:nvSpPr>
        <p:spPr>
          <a:xfrm>
            <a:off x="6565392" y="35938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107" name="Text 60"/>
          <p:cNvSpPr/>
          <p:nvPr/>
        </p:nvSpPr>
        <p:spPr>
          <a:xfrm>
            <a:off x="6903720" y="3557235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iframe 진입 · JWT 전환</a:t>
            </a:r>
            <a:endParaRPr lang="en-US" sz="1000" dirty="0"/>
          </a:p>
        </p:txBody>
      </p:sp>
      <p:sp>
        <p:nvSpPr>
          <p:cNvPr id="108" name="Text 63"/>
          <p:cNvSpPr/>
          <p:nvPr/>
        </p:nvSpPr>
        <p:spPr>
          <a:xfrm>
            <a:off x="6903720" y="3758403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800" dirty="0"/>
              <a:t>iframe </a:t>
            </a:r>
            <a:r>
              <a:rPr lang="ko-KR" altLang="en-US" sz="800" dirty="0"/>
              <a:t>진입 시 </a:t>
            </a:r>
            <a:r>
              <a:rPr lang="en-US" altLang="ko-KR" sz="800" dirty="0" err="1"/>
              <a:t>Redis</a:t>
            </a:r>
            <a:r>
              <a:rPr lang="en-US" altLang="ko-KR" sz="800" dirty="0"/>
              <a:t> </a:t>
            </a:r>
            <a:r>
              <a:rPr lang="ko-KR" altLang="en-US" sz="800" dirty="0"/>
              <a:t>토큰을 조회</a:t>
            </a:r>
            <a:r>
              <a:rPr lang="en-US" altLang="ko-KR" sz="800" dirty="0"/>
              <a:t>·</a:t>
            </a:r>
            <a:r>
              <a:rPr lang="ko-KR" altLang="en-US" sz="800" dirty="0"/>
              <a:t>즉시 삭제한 뒤</a:t>
            </a:r>
            <a:r>
              <a:rPr lang="en-US" altLang="ko-KR" sz="800" dirty="0"/>
              <a:t>, </a:t>
            </a:r>
            <a:r>
              <a:rPr lang="ko-KR" altLang="en-US" sz="800" dirty="0"/>
              <a:t>참여자 전용 </a:t>
            </a:r>
            <a:r>
              <a:rPr lang="en-US" altLang="ko-KR" sz="800" dirty="0"/>
              <a:t>Client JWT</a:t>
            </a:r>
            <a:r>
              <a:rPr lang="ko-KR" altLang="en-US" sz="800" dirty="0"/>
              <a:t>를 발급</a:t>
            </a:r>
            <a:endParaRPr lang="en-US" sz="800" dirty="0"/>
          </a:p>
        </p:txBody>
      </p:sp>
      <p:sp>
        <p:nvSpPr>
          <p:cNvPr id="109" name="Shape 64"/>
          <p:cNvSpPr/>
          <p:nvPr/>
        </p:nvSpPr>
        <p:spPr>
          <a:xfrm>
            <a:off x="6446520" y="4005291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0" name="Shape 65"/>
          <p:cNvSpPr/>
          <p:nvPr/>
        </p:nvSpPr>
        <p:spPr>
          <a:xfrm>
            <a:off x="6446520" y="4005291"/>
            <a:ext cx="54864" cy="43891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11" name="Shape 66"/>
          <p:cNvSpPr/>
          <p:nvPr/>
        </p:nvSpPr>
        <p:spPr>
          <a:xfrm>
            <a:off x="6565392" y="4087587"/>
            <a:ext cx="274320" cy="274320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12" name="Text 67"/>
          <p:cNvSpPr/>
          <p:nvPr/>
        </p:nvSpPr>
        <p:spPr>
          <a:xfrm>
            <a:off x="6565392" y="40875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113" name="Text 68"/>
          <p:cNvSpPr/>
          <p:nvPr/>
        </p:nvSpPr>
        <p:spPr>
          <a:xfrm>
            <a:off x="6903720" y="4051011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HttpOnly 쿠키 인증 유지</a:t>
            </a:r>
            <a:endParaRPr lang="en-US" sz="1000" dirty="0"/>
          </a:p>
        </p:txBody>
      </p:sp>
      <p:sp>
        <p:nvSpPr>
          <p:cNvPr id="114" name="Text 71"/>
          <p:cNvSpPr/>
          <p:nvPr/>
        </p:nvSpPr>
        <p:spPr>
          <a:xfrm>
            <a:off x="6903720" y="4252179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8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Client JWT를 HttpOnly </a:t>
            </a:r>
            <a:r>
              <a:rPr lang="en-US" sz="80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Cookie에</a:t>
            </a:r>
            <a:r>
              <a:rPr lang="en-US" sz="8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800" dirty="0" err="1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</a:t>
            </a:r>
            <a:r>
              <a:rPr lang="en-US" sz="8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800" dirty="0"/>
              <a:t>외부 </a:t>
            </a:r>
            <a:r>
              <a:rPr lang="en-US" altLang="ko-KR" sz="800" dirty="0"/>
              <a:t>API </a:t>
            </a:r>
            <a:r>
              <a:rPr lang="ko-KR" altLang="en-US" sz="800" dirty="0" err="1"/>
              <a:t>요청마다</a:t>
            </a:r>
            <a:r>
              <a:rPr lang="ko-KR" altLang="en-US" sz="800" dirty="0"/>
              <a:t> </a:t>
            </a:r>
            <a:r>
              <a:rPr lang="en-US" altLang="ko-KR" sz="800" dirty="0" err="1"/>
              <a:t>ClientTokenFilter</a:t>
            </a:r>
            <a:r>
              <a:rPr lang="ko-KR" altLang="en-US" sz="800" dirty="0"/>
              <a:t>에서 검증</a:t>
            </a:r>
            <a:endParaRPr lang="en-US" sz="800" dirty="0"/>
          </a:p>
        </p:txBody>
      </p:sp>
      <p:sp>
        <p:nvSpPr>
          <p:cNvPr id="115" name="Shape 72"/>
          <p:cNvSpPr/>
          <p:nvPr/>
        </p:nvSpPr>
        <p:spPr>
          <a:xfrm>
            <a:off x="6446520" y="4499067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6" name="Shape 73"/>
          <p:cNvSpPr/>
          <p:nvPr/>
        </p:nvSpPr>
        <p:spPr>
          <a:xfrm>
            <a:off x="6446520" y="4499067"/>
            <a:ext cx="54864" cy="438912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117" name="Shape 74"/>
          <p:cNvSpPr/>
          <p:nvPr/>
        </p:nvSpPr>
        <p:spPr>
          <a:xfrm>
            <a:off x="6565392" y="4581363"/>
            <a:ext cx="274320" cy="274320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118" name="Text 75"/>
          <p:cNvSpPr/>
          <p:nvPr/>
        </p:nvSpPr>
        <p:spPr>
          <a:xfrm>
            <a:off x="6565392" y="45813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119" name="Text 76"/>
          <p:cNvSpPr/>
          <p:nvPr/>
        </p:nvSpPr>
        <p:spPr>
          <a:xfrm>
            <a:off x="6903720" y="4544787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Redis 임시저장 · 이어하기</a:t>
            </a:r>
            <a:endParaRPr lang="en-US" sz="1000" dirty="0"/>
          </a:p>
        </p:txBody>
      </p:sp>
      <p:sp>
        <p:nvSpPr>
          <p:cNvPr id="120" name="Text 79"/>
          <p:cNvSpPr/>
          <p:nvPr/>
        </p:nvSpPr>
        <p:spPr>
          <a:xfrm>
            <a:off x="6903720" y="4745955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800" dirty="0"/>
              <a:t>답변 작성 중 </a:t>
            </a:r>
            <a:r>
              <a:rPr lang="en-US" altLang="ko-KR" sz="800" dirty="0" err="1"/>
              <a:t>Redis</a:t>
            </a:r>
            <a:r>
              <a:rPr lang="ko-KR" altLang="en-US" sz="800" dirty="0"/>
              <a:t>에 자동 임시저장하여 페이지 이탈이나 중단 상황에서도 이어하기 지원</a:t>
            </a:r>
            <a:endParaRPr lang="en-US" sz="800" dirty="0"/>
          </a:p>
        </p:txBody>
      </p:sp>
      <p:sp>
        <p:nvSpPr>
          <p:cNvPr id="121" name="Shape 80"/>
          <p:cNvSpPr/>
          <p:nvPr/>
        </p:nvSpPr>
        <p:spPr>
          <a:xfrm>
            <a:off x="6446520" y="4992843"/>
            <a:ext cx="5287975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2" name="Shape 81"/>
          <p:cNvSpPr/>
          <p:nvPr/>
        </p:nvSpPr>
        <p:spPr>
          <a:xfrm>
            <a:off x="6446520" y="4992843"/>
            <a:ext cx="54864" cy="438912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123" name="Shape 82"/>
          <p:cNvSpPr/>
          <p:nvPr/>
        </p:nvSpPr>
        <p:spPr>
          <a:xfrm>
            <a:off x="6565392" y="5075139"/>
            <a:ext cx="274320" cy="274320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124" name="Text 83"/>
          <p:cNvSpPr/>
          <p:nvPr/>
        </p:nvSpPr>
        <p:spPr>
          <a:xfrm>
            <a:off x="6565392" y="50751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125" name="Text 84"/>
          <p:cNvSpPr/>
          <p:nvPr/>
        </p:nvSpPr>
        <p:spPr>
          <a:xfrm>
            <a:off x="6903720" y="5038563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검증 · 안전 종료</a:t>
            </a:r>
            <a:endParaRPr lang="en-US" sz="1000" dirty="0"/>
          </a:p>
        </p:txBody>
      </p:sp>
      <p:sp>
        <p:nvSpPr>
          <p:cNvPr id="126" name="Text 87"/>
          <p:cNvSpPr/>
          <p:nvPr/>
        </p:nvSpPr>
        <p:spPr>
          <a:xfrm>
            <a:off x="6903720" y="5239731"/>
            <a:ext cx="47027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800" dirty="0"/>
              <a:t>최종 제출 시 참여 자격을 </a:t>
            </a:r>
            <a:r>
              <a:rPr lang="ko-KR" altLang="en-US" sz="800" dirty="0" err="1"/>
              <a:t>재검증하고</a:t>
            </a:r>
            <a:r>
              <a:rPr lang="en-US" altLang="ko-KR" sz="800" dirty="0"/>
              <a:t>, DB </a:t>
            </a:r>
            <a:r>
              <a:rPr lang="ko-KR" altLang="en-US" sz="800" dirty="0"/>
              <a:t>저장 후 </a:t>
            </a:r>
            <a:r>
              <a:rPr lang="ko-KR" altLang="en-US" sz="800" dirty="0" err="1"/>
              <a:t>임시저장을</a:t>
            </a:r>
            <a:r>
              <a:rPr lang="ko-KR" altLang="en-US" sz="800" dirty="0"/>
              <a:t> 삭제한 뒤 </a:t>
            </a:r>
            <a:r>
              <a:rPr lang="en-US" altLang="ko-KR" sz="800" dirty="0" err="1"/>
              <a:t>postMessage</a:t>
            </a:r>
            <a:r>
              <a:rPr lang="ko-KR" altLang="en-US" sz="800" dirty="0"/>
              <a:t>로 </a:t>
            </a:r>
            <a:r>
              <a:rPr lang="ko-KR" altLang="en-US" sz="800" dirty="0" err="1"/>
              <a:t>모달</a:t>
            </a:r>
            <a:r>
              <a:rPr lang="ko-KR" altLang="en-US" sz="800" dirty="0"/>
              <a:t> 종료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주요 기술 적용 사례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기술 적용 사례 (2) </a:t>
            </a:r>
            <a:r>
              <a:rPr lang="ko-KR" altLang="en-US" sz="2400" dirty="0"/>
              <a:t>배치 기반 통계 집계 최적화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200" y="1401561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600" dirty="0"/>
              <a:t>Spring Batch</a:t>
            </a:r>
            <a:r>
              <a:rPr lang="ko-KR" altLang="en-US" sz="1600" dirty="0"/>
              <a:t>로 응답 데이터를 사전 집계하여</a:t>
            </a:r>
            <a:r>
              <a:rPr lang="en-US" altLang="ko-KR" sz="1600" dirty="0"/>
              <a:t> </a:t>
            </a:r>
            <a:r>
              <a:rPr lang="ko-KR" altLang="en-US" sz="1600" dirty="0"/>
              <a:t>조회 성능을 </a:t>
            </a:r>
            <a:r>
              <a:rPr lang="ko-KR" altLang="en-US" sz="1600" dirty="0" err="1"/>
              <a:t>안정화했습니다</a:t>
            </a:r>
            <a:r>
              <a:rPr lang="en-US" altLang="ko-KR" sz="1600" dirty="0"/>
              <a:t>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1990084"/>
            <a:ext cx="5852160" cy="3886200"/>
          </a:xfrm>
          <a:prstGeom prst="roundRect">
            <a:avLst>
              <a:gd name="adj" fmla="val 3059"/>
            </a:avLst>
          </a:prstGeom>
          <a:solidFill>
            <a:srgbClr val="F8F9FB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213638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BATCH PIPELINE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23375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1400" b="1" dirty="0"/>
              <a:t>Spring Batch </a:t>
            </a:r>
            <a:r>
              <a:rPr lang="ko-KR" altLang="en-US" sz="1400" b="1" dirty="0"/>
              <a:t>기반 통계 사전 집계 구조</a:t>
            </a:r>
            <a:endParaRPr lang="en-US" sz="1300" b="1" dirty="0"/>
          </a:p>
        </p:txBody>
      </p:sp>
      <p:sp>
        <p:nvSpPr>
          <p:cNvPr id="11" name="Shape 8"/>
          <p:cNvSpPr/>
          <p:nvPr/>
        </p:nvSpPr>
        <p:spPr>
          <a:xfrm>
            <a:off x="685800" y="2767324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FFF8E6"/>
          </a:solidFill>
          <a:ln w="6350">
            <a:solidFill>
              <a:srgbClr val="E8D38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27673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B07E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SCHEDULE  </a:t>
            </a:r>
            <a:r>
              <a:rPr lang="ko-KR" altLang="en-US" sz="900" dirty="0"/>
              <a:t>매일 </a:t>
            </a:r>
            <a:r>
              <a:rPr lang="en-US" altLang="ko-KR" sz="900" dirty="0"/>
              <a:t>08:00 </a:t>
            </a:r>
            <a:r>
              <a:rPr lang="ko-KR" altLang="en-US" sz="900" dirty="0"/>
              <a:t>자동 집계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85800" y="3178804"/>
            <a:ext cx="1603248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6350">
            <a:solidFill>
              <a:srgbClr val="8E8E9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0392" y="3288532"/>
            <a:ext cx="1274064" cy="201168"/>
          </a:xfrm>
          <a:prstGeom prst="roundRect">
            <a:avLst>
              <a:gd name="adj" fmla="val 22727"/>
            </a:avLst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0392" y="3288532"/>
            <a:ext cx="127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READER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777240" y="3709156"/>
            <a:ext cx="142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1100" b="1" dirty="0"/>
              <a:t>응답 데이터 조회</a:t>
            </a:r>
            <a:endParaRPr lang="en-US" sz="1100" b="1" dirty="0"/>
          </a:p>
        </p:txBody>
      </p:sp>
      <p:sp>
        <p:nvSpPr>
          <p:cNvPr id="18" name="Text 15"/>
          <p:cNvSpPr/>
          <p:nvPr/>
        </p:nvSpPr>
        <p:spPr>
          <a:xfrm>
            <a:off x="2289048" y="3178804"/>
            <a:ext cx="292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2581656" y="3178804"/>
            <a:ext cx="1603248" cy="1005840"/>
          </a:xfrm>
          <a:prstGeom prst="roundRect">
            <a:avLst>
              <a:gd name="adj" fmla="val 9091"/>
            </a:avLst>
          </a:prstGeom>
          <a:solidFill>
            <a:srgbClr val="EEF4FF"/>
          </a:solidFill>
          <a:ln w="15240">
            <a:solidFill>
              <a:srgbClr val="1456F0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746248" y="3288532"/>
            <a:ext cx="1274064" cy="201168"/>
          </a:xfrm>
          <a:prstGeom prst="roundRect">
            <a:avLst>
              <a:gd name="adj" fmla="val 22727"/>
            </a:avLst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46248" y="3288532"/>
            <a:ext cx="127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PROCESSOR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2673096" y="3709156"/>
            <a:ext cx="142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1100" b="1" dirty="0"/>
              <a:t>문항 유형별 통계 집계 </a:t>
            </a:r>
            <a:endParaRPr lang="en-US" sz="1100" b="1" dirty="0"/>
          </a:p>
        </p:txBody>
      </p:sp>
      <p:sp>
        <p:nvSpPr>
          <p:cNvPr id="24" name="Text 21"/>
          <p:cNvSpPr/>
          <p:nvPr/>
        </p:nvSpPr>
        <p:spPr>
          <a:xfrm>
            <a:off x="4184904" y="3178804"/>
            <a:ext cx="292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600" dirty="0"/>
          </a:p>
        </p:txBody>
      </p:sp>
      <p:sp>
        <p:nvSpPr>
          <p:cNvPr id="25" name="Shape 22"/>
          <p:cNvSpPr/>
          <p:nvPr/>
        </p:nvSpPr>
        <p:spPr>
          <a:xfrm>
            <a:off x="4477512" y="3178804"/>
            <a:ext cx="1603248" cy="1005840"/>
          </a:xfrm>
          <a:prstGeom prst="roundRect">
            <a:avLst>
              <a:gd name="adj" fmla="val 9091"/>
            </a:avLst>
          </a:prstGeom>
          <a:solidFill>
            <a:srgbClr val="FDEEF8"/>
          </a:solidFill>
          <a:ln w="6350">
            <a:solidFill>
              <a:srgbClr val="EA5EC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642104" y="3288532"/>
            <a:ext cx="1274064" cy="201168"/>
          </a:xfrm>
          <a:prstGeom prst="roundRect">
            <a:avLst>
              <a:gd name="adj" fmla="val 22727"/>
            </a:avLst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42104" y="3288532"/>
            <a:ext cx="1274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WRITER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568952" y="3697876"/>
            <a:ext cx="142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ko-KR" altLang="en-US" sz="1100" b="1" dirty="0"/>
              <a:t>통계 테이블 갱신 </a:t>
            </a:r>
            <a:endParaRPr lang="en-US" sz="1100" b="1" dirty="0"/>
          </a:p>
        </p:txBody>
      </p:sp>
      <p:sp>
        <p:nvSpPr>
          <p:cNvPr id="30" name="Shape 27"/>
          <p:cNvSpPr/>
          <p:nvPr/>
        </p:nvSpPr>
        <p:spPr>
          <a:xfrm>
            <a:off x="685800" y="4413244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7240" y="448639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CLIENT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777240" y="465098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r>
              <a:rPr lang="ko-KR" altLang="en-US" sz="10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 마다 </a:t>
            </a:r>
            <a:r>
              <a:rPr lang="en-US" altLang="ko-KR" sz="1000" dirty="0"/>
              <a:t>polling</a:t>
            </a:r>
            <a:r>
              <a:rPr lang="ko-KR" altLang="en-US" sz="1000" dirty="0"/>
              <a:t>으로 완료 확인 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77240" y="4870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최신 통계 화면 조회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3246120" y="4413244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⇄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3520440" y="4413244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EEF4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611880" y="448639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ASYNC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3611880" y="465098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000" dirty="0"/>
              <a:t>집계 요청 즉시 응답 반환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3611880" y="48704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배치 </a:t>
            </a:r>
            <a:r>
              <a:rPr lang="en-US" altLang="ko-KR" sz="900" dirty="0"/>
              <a:t>Job </a:t>
            </a:r>
            <a:r>
              <a:rPr lang="ko-KR" altLang="en-US" sz="900" dirty="0"/>
              <a:t>백그라운드 실행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685800" y="5327644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F2F3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77240" y="532764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b="1" kern="0" spc="150" dirty="0">
                <a:solidFill>
                  <a:srgbClr val="D9472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FAILSAFE </a:t>
            </a:r>
            <a:r>
              <a:rPr lang="ko-KR" altLang="en-US" sz="900" dirty="0"/>
              <a:t>실패 또는 즉시 반영 필요 시  </a:t>
            </a:r>
            <a:r>
              <a:rPr lang="en-US" altLang="ko-KR" sz="900" dirty="0"/>
              <a:t>=&gt; </a:t>
            </a:r>
            <a:r>
              <a:rPr lang="ko-KR" altLang="en-US" sz="900" dirty="0"/>
              <a:t>수동 집계로 최신 통계 재생성</a:t>
            </a:r>
            <a:endParaRPr lang="ko-KR" altLang="en-US" sz="900" dirty="0">
              <a:effectLst/>
            </a:endParaRPr>
          </a:p>
        </p:txBody>
      </p:sp>
      <p:sp>
        <p:nvSpPr>
          <p:cNvPr id="41" name="Text 38"/>
          <p:cNvSpPr/>
          <p:nvPr/>
        </p:nvSpPr>
        <p:spPr>
          <a:xfrm>
            <a:off x="6446520" y="1990084"/>
            <a:ext cx="52879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OPTIMIZATION POINTS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446520" y="2191252"/>
            <a:ext cx="5287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 최적화 포인트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6446520" y="2566156"/>
            <a:ext cx="528797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6446520" y="2566156"/>
            <a:ext cx="54864" cy="658368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592824" y="2730748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592824" y="27307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976872" y="267588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 파싱 · 맞춤 집계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6976872" y="2931916"/>
            <a:ext cx="46296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응답 </a:t>
            </a:r>
            <a:r>
              <a:rPr lang="en-US" altLang="ko-KR" sz="900" dirty="0"/>
              <a:t>JSON</a:t>
            </a:r>
            <a:r>
              <a:rPr lang="ko-KR" altLang="en-US" sz="900" dirty="0"/>
              <a:t>을 문항별로 </a:t>
            </a:r>
            <a:r>
              <a:rPr lang="ko-KR" altLang="en-US" sz="900" dirty="0" err="1"/>
              <a:t>그룹핑하고</a:t>
            </a:r>
            <a:r>
              <a:rPr lang="en-US" altLang="ko-KR" sz="900" dirty="0"/>
              <a:t> </a:t>
            </a:r>
            <a:r>
              <a:rPr lang="ko-KR" altLang="en-US" sz="900" dirty="0"/>
              <a:t>문항 유형에 따라 집계 </a:t>
            </a:r>
            <a:r>
              <a:rPr lang="ko-KR" altLang="en-US" sz="900" dirty="0" err="1"/>
              <a:t>로직</a:t>
            </a:r>
            <a:r>
              <a:rPr lang="ko-KR" altLang="en-US" sz="900" dirty="0"/>
              <a:t> 분기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446520" y="3297676"/>
            <a:ext cx="5287975" cy="658368"/>
          </a:xfrm>
          <a:prstGeom prst="roundRect">
            <a:avLst>
              <a:gd name="adj" fmla="val 13889"/>
            </a:avLst>
          </a:prstGeom>
          <a:solidFill>
            <a:srgbClr val="FDEEF8"/>
          </a:solidFill>
          <a:ln w="9525">
            <a:solidFill>
              <a:srgbClr val="F4C2E2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6446520" y="3297676"/>
            <a:ext cx="54864" cy="658368"/>
          </a:xfrm>
          <a:prstGeom prst="rect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592824" y="3462268"/>
            <a:ext cx="310896" cy="310896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592824" y="3462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976872" y="340740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트랜잭션 기반 통계 갱신</a:t>
            </a:r>
            <a:endParaRPr lang="en-US" sz="1150" b="1" dirty="0"/>
          </a:p>
        </p:txBody>
      </p:sp>
      <p:sp>
        <p:nvSpPr>
          <p:cNvPr id="58" name="Text 55"/>
          <p:cNvSpPr/>
          <p:nvPr/>
        </p:nvSpPr>
        <p:spPr>
          <a:xfrm>
            <a:off x="6976872" y="3663436"/>
            <a:ext cx="46296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ko-KR" sz="900" dirty="0"/>
              <a:t>Delete + Insert</a:t>
            </a:r>
            <a:r>
              <a:rPr lang="ko-KR" altLang="en-US" sz="900" dirty="0"/>
              <a:t>를 단일 트랜잭션으로 처리하여 불완전한 통계 노출 방지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446520" y="4029196"/>
            <a:ext cx="528797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446520" y="4029196"/>
            <a:ext cx="54864" cy="658368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592824" y="4193788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592824" y="41937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3" name="Text 60"/>
          <p:cNvSpPr/>
          <p:nvPr/>
        </p:nvSpPr>
        <p:spPr>
          <a:xfrm>
            <a:off x="6976872" y="413892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스케줄링 자동 실행</a:t>
            </a:r>
            <a:endParaRPr lang="en-US" sz="1150" dirty="0"/>
          </a:p>
        </p:txBody>
      </p:sp>
      <p:sp>
        <p:nvSpPr>
          <p:cNvPr id="66" name="Text 63"/>
          <p:cNvSpPr/>
          <p:nvPr/>
        </p:nvSpPr>
        <p:spPr>
          <a:xfrm>
            <a:off x="6976872" y="4394956"/>
            <a:ext cx="46296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매일 </a:t>
            </a:r>
            <a:r>
              <a:rPr lang="en-US" altLang="ko-KR" sz="900" dirty="0"/>
              <a:t>08:00 </a:t>
            </a:r>
            <a:r>
              <a:rPr lang="ko-KR" altLang="en-US" sz="900" dirty="0"/>
              <a:t>자동 집계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6446520" y="4760716"/>
            <a:ext cx="528797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8" name="Shape 65"/>
          <p:cNvSpPr/>
          <p:nvPr/>
        </p:nvSpPr>
        <p:spPr>
          <a:xfrm>
            <a:off x="6446520" y="4760716"/>
            <a:ext cx="54864" cy="658368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92824" y="4925308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6592824" y="4925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6976872" y="487044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비동기 실행 및 상태 확인</a:t>
            </a:r>
            <a:endParaRPr lang="en-US" sz="1150" b="1" dirty="0"/>
          </a:p>
        </p:txBody>
      </p:sp>
      <p:sp>
        <p:nvSpPr>
          <p:cNvPr id="74" name="Text 71"/>
          <p:cNvSpPr/>
          <p:nvPr/>
        </p:nvSpPr>
        <p:spPr>
          <a:xfrm>
            <a:off x="6976872" y="5126476"/>
            <a:ext cx="46296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배치 요청은 즉시 응답하고 </a:t>
            </a:r>
            <a:r>
              <a:rPr lang="en-US" altLang="ko-KR" sz="900" dirty="0"/>
              <a:t>2</a:t>
            </a:r>
            <a:r>
              <a:rPr lang="ko-KR" altLang="en-US" sz="900" dirty="0"/>
              <a:t>초마다 </a:t>
            </a:r>
            <a:r>
              <a:rPr lang="en-US" altLang="ko-KR" sz="900" dirty="0"/>
              <a:t>polling</a:t>
            </a:r>
            <a:r>
              <a:rPr lang="ko-KR" altLang="en-US" sz="900" dirty="0"/>
              <a:t>으로 완료 여부 확인</a:t>
            </a:r>
            <a:endParaRPr lang="en-US" sz="900" dirty="0"/>
          </a:p>
        </p:txBody>
      </p:sp>
      <p:sp>
        <p:nvSpPr>
          <p:cNvPr id="75" name="Shape 72"/>
          <p:cNvSpPr/>
          <p:nvPr/>
        </p:nvSpPr>
        <p:spPr>
          <a:xfrm>
            <a:off x="6446520" y="5492236"/>
            <a:ext cx="5287975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6446520" y="5492236"/>
            <a:ext cx="54864" cy="658368"/>
          </a:xfrm>
          <a:prstGeom prst="rect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592824" y="5656828"/>
            <a:ext cx="310896" cy="310896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6592824" y="5656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6976872" y="5601964"/>
            <a:ext cx="3413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1200" b="1" dirty="0"/>
              <a:t>실패 대응 안전장치</a:t>
            </a:r>
            <a:endParaRPr lang="en-US" sz="1150" b="1" dirty="0"/>
          </a:p>
        </p:txBody>
      </p:sp>
      <p:sp>
        <p:nvSpPr>
          <p:cNvPr id="82" name="Text 79"/>
          <p:cNvSpPr/>
          <p:nvPr/>
        </p:nvSpPr>
        <p:spPr>
          <a:xfrm>
            <a:off x="6976872" y="5857996"/>
            <a:ext cx="46296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ko-KR" altLang="en-US" sz="900" dirty="0"/>
              <a:t>배치 실패 또는 즉시 반영이 필요한 경우 수동 집계로 최신 통계 재생성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32103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주요 기술 적용 사례</a:t>
            </a:r>
            <a:endParaRPr lang="en-US" sz="1200" dirty="0"/>
          </a:p>
        </p:txBody>
      </p:sp>
      <p:pic>
        <p:nvPicPr>
          <p:cNvPr id="3" name="Image 0" descr="Woongjin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1535" y="262890"/>
            <a:ext cx="822960" cy="4800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914400"/>
            <a:ext cx="11277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kern="0" spc="-5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기술 적용 사례 (3) 대용량 통계 엑셀 출력 구조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457199" y="1402729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SXSSF 스트리밍과 SheetWriter 구조로 4종 통계 시트를 안정적으로 생성하고, 대용량 엑셀 출력 성능과 유지보수성을 확보했습니다.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5852160" cy="3931920"/>
          </a:xfrm>
          <a:prstGeom prst="roundRect">
            <a:avLst>
              <a:gd name="adj" fmla="val 3023"/>
            </a:avLst>
          </a:prstGeom>
          <a:solidFill>
            <a:srgbClr val="F8F9FB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0080" y="245973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EXCEL EXPORT PIPELINE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40080" y="26426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 통계 시트 생성 및 스트리밍 출력 흐름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58368" y="2990088"/>
            <a:ext cx="544982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090672"/>
            <a:ext cx="128016" cy="128016"/>
          </a:xfrm>
          <a:prstGeom prst="ellipse">
            <a:avLst/>
          </a:prstGeom>
          <a:solidFill>
            <a:srgbClr val="8E8E93"/>
          </a:solidFill>
          <a:ln w="12700">
            <a:solidFill>
              <a:srgbClr val="8E8E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05840" y="299008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8E8E9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REQUEST  </a:t>
            </a:r>
            <a:r>
              <a:rPr lang="en-US" sz="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GET /statistics/export  ·  관리자 → 서버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3410712"/>
            <a:ext cx="544982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511296"/>
            <a:ext cx="128016" cy="12801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05840" y="3410712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DATA FETCH  </a:t>
            </a:r>
            <a:r>
              <a:rPr lang="en-US" sz="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4종 통계 일괄 조회  ·  JPA + QueryDSL + Batch 집계 결과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58368" y="3831336"/>
            <a:ext cx="5449824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7240" y="3931920"/>
            <a:ext cx="128016" cy="12801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05840" y="3831336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WORKBOOK INIT  </a:t>
            </a:r>
            <a:r>
              <a:rPr lang="en-US" sz="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SXSSFWorkbook 생성  ·  ExcelStyles 공유 인스턴스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4279392"/>
            <a:ext cx="5449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SHEET WRITER × 4  </a:t>
            </a:r>
            <a:r>
              <a:rPr lang="en-US" sz="90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시트별 작성 책임 분리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58368" y="4517136"/>
            <a:ext cx="130759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4590288"/>
            <a:ext cx="320040" cy="731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700016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 요약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3232" y="4901184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Key-Value 9항목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2039112" y="4517136"/>
            <a:ext cx="130759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112264" y="4590288"/>
            <a:ext cx="320040" cy="731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093976" y="4700016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조직별 응답현황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093976" y="4901184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응답률 기준 강조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3419856" y="4517136"/>
            <a:ext cx="130759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93008" y="4590288"/>
            <a:ext cx="320040" cy="731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74720" y="4700016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응답자별 답변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3474720" y="4901184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고정 3열 + 동적 N열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4800600" y="4517136"/>
            <a:ext cx="1307592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873752" y="4590288"/>
            <a:ext cx="320040" cy="731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855464" y="4700016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문항별 응답현황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855464" y="4901184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Batch 집계 결과</a:t>
            </a:r>
            <a:endParaRPr lang="en-US" sz="750" dirty="0"/>
          </a:p>
        </p:txBody>
      </p:sp>
      <p:sp>
        <p:nvSpPr>
          <p:cNvPr id="37" name="Shape 34"/>
          <p:cNvSpPr/>
          <p:nvPr/>
        </p:nvSpPr>
        <p:spPr>
          <a:xfrm>
            <a:off x="658368" y="5294376"/>
            <a:ext cx="5449824" cy="457200"/>
          </a:xfrm>
          <a:prstGeom prst="roundRect">
            <a:avLst>
              <a:gd name="adj" fmla="val 20000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22960" y="529437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5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STREAMING  </a:t>
            </a:r>
            <a:r>
              <a:rPr lang="en-US" sz="9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SXSSFWorkbook</a:t>
            </a: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·  Row 단위 disk flush  ·  </a:t>
            </a:r>
            <a:r>
              <a:rPr lang="en-US" sz="9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대용량도 일정한 메모리로 처리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658368" y="5843016"/>
            <a:ext cx="5449824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77240" y="5934456"/>
            <a:ext cx="128016" cy="128016"/>
          </a:xfrm>
          <a:prstGeom prst="ellipse">
            <a:avLst/>
          </a:prstGeom>
          <a:solidFill>
            <a:srgbClr val="EA5EC1"/>
          </a:solidFill>
          <a:ln w="12700">
            <a:solidFill>
              <a:srgbClr val="EA5EC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05840" y="5843016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EA5EC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DELIVERY  </a:t>
            </a:r>
            <a:r>
              <a:rPr lang="en-US" sz="900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ByteArrayOutputStream → byte[]  ·  한글 파일명 인코딩 → .xlsx 반환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6446520" y="2331720"/>
            <a:ext cx="528797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TECHNIQUES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6446520" y="2514600"/>
            <a:ext cx="5287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설계 포인트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46520" y="2852928"/>
            <a:ext cx="5287975" cy="758952"/>
          </a:xfrm>
          <a:prstGeom prst="roundRect">
            <a:avLst>
              <a:gd name="adj" fmla="val 1204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6446520" y="2852928"/>
            <a:ext cx="54864" cy="7589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583680" y="3017520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583680" y="3017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6967728" y="2980944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SheetWriter 기반 책임 분리</a:t>
            </a:r>
            <a:endParaRPr lang="en-US" sz="1150" dirty="0"/>
          </a:p>
        </p:txBody>
      </p:sp>
      <p:sp>
        <p:nvSpPr>
          <p:cNvPr id="49" name="Shape 46"/>
          <p:cNvSpPr/>
          <p:nvPr/>
        </p:nvSpPr>
        <p:spPr>
          <a:xfrm>
            <a:off x="10500055" y="2999232"/>
            <a:ext cx="1115568" cy="237744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6350">
            <a:solidFill>
              <a:srgbClr val="1456F0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10500055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OOP 설계</a:t>
            </a:r>
            <a:endParaRPr lang="en-US" sz="850" dirty="0"/>
          </a:p>
        </p:txBody>
      </p:sp>
      <p:sp>
        <p:nvSpPr>
          <p:cNvPr id="51" name="Text 48"/>
          <p:cNvSpPr/>
          <p:nvPr/>
        </p:nvSpPr>
        <p:spPr>
          <a:xfrm>
            <a:off x="6629400" y="3310128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시트별 작성 로직을 Writer 객체로 분리 — 시트 추가·변경 시 영향 범위 최소화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6446520" y="3703320"/>
            <a:ext cx="5287975" cy="758952"/>
          </a:xfrm>
          <a:prstGeom prst="roundRect">
            <a:avLst>
              <a:gd name="adj" fmla="val 12048"/>
            </a:avLst>
          </a:prstGeom>
          <a:solidFill>
            <a:srgbClr val="EEF4FF"/>
          </a:solidFill>
          <a:ln w="9525">
            <a:solidFill>
              <a:srgbClr val="BFDBFE"/>
            </a:solidFill>
            <a:prstDash val="solid"/>
          </a:ln>
          <a:effectLst>
            <a:outerShdw blurRad="190500" dist="50800" dir="5400000" algn="bl" rotWithShape="0">
              <a:srgbClr val="2C1E74">
                <a:alpha val="16000"/>
              </a:srgbClr>
            </a:outerShdw>
          </a:effectLst>
        </p:spPr>
      </p:sp>
      <p:sp>
        <p:nvSpPr>
          <p:cNvPr id="53" name="Shape 50"/>
          <p:cNvSpPr/>
          <p:nvPr/>
        </p:nvSpPr>
        <p:spPr>
          <a:xfrm>
            <a:off x="6446520" y="3703320"/>
            <a:ext cx="54864" cy="7589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83680" y="3867912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6583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6967728" y="3831336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SXSSF 기반 스트리밍 처리</a:t>
            </a:r>
            <a:endParaRPr lang="en-US" sz="1150" dirty="0"/>
          </a:p>
        </p:txBody>
      </p:sp>
      <p:sp>
        <p:nvSpPr>
          <p:cNvPr id="57" name="Shape 54"/>
          <p:cNvSpPr/>
          <p:nvPr/>
        </p:nvSpPr>
        <p:spPr>
          <a:xfrm>
            <a:off x="10500055" y="3849624"/>
            <a:ext cx="1115568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456F0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10500055" y="384962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메모리 최적화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629400" y="4160520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대용량 행 데이터를 Row 단위로 flush — 엑셀 생성 중 메모리 사용량 안정 유지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6446520" y="4553712"/>
            <a:ext cx="5287975" cy="758952"/>
          </a:xfrm>
          <a:prstGeom prst="roundRect">
            <a:avLst>
              <a:gd name="adj" fmla="val 12048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46520" y="4553712"/>
            <a:ext cx="54864" cy="758952"/>
          </a:xfrm>
          <a:prstGeom prst="rect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583680" y="4718304"/>
            <a:ext cx="310896" cy="310896"/>
          </a:xfrm>
          <a:prstGeom prst="ellipse">
            <a:avLst/>
          </a:prstGeom>
          <a:solidFill>
            <a:srgbClr val="1456F0"/>
          </a:solidFill>
          <a:ln w="12700">
            <a:solidFill>
              <a:srgbClr val="1456F0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583680" y="4718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6967728" y="4681728"/>
            <a:ext cx="3459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222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ExcelStyles 공유 구조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10500055" y="4700016"/>
            <a:ext cx="1115568" cy="237744"/>
          </a:xfrm>
          <a:prstGeom prst="roundRect">
            <a:avLst>
              <a:gd name="adj" fmla="val 50000"/>
            </a:avLst>
          </a:prstGeom>
          <a:solidFill>
            <a:srgbClr val="F2F3F5"/>
          </a:solidFill>
          <a:ln w="6350">
            <a:solidFill>
              <a:srgbClr val="1456F0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0500055" y="470001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456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스타일 재사용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6629400" y="5010912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5515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워크북당 스타일 수 제한을 고려해 공통 스타일을 재사용 — 일관된 서식 적용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2246</Words>
  <Application>Microsoft Office PowerPoint</Application>
  <PresentationFormat>와이드스크린</PresentationFormat>
  <Paragraphs>481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 pretender</vt:lpstr>
      <vt:lpstr>PreT</vt:lpstr>
      <vt:lpstr>Pretendard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레거시 설문조사 서비스 개선</dc:title>
  <dc:subject>PptxGenJS Presentation</dc:subject>
  <dc:creator>웅진씽크빅</dc:creator>
  <cp:lastModifiedBy>user</cp:lastModifiedBy>
  <cp:revision>49</cp:revision>
  <dcterms:created xsi:type="dcterms:W3CDTF">2026-05-18T12:01:15Z</dcterms:created>
  <dcterms:modified xsi:type="dcterms:W3CDTF">2026-05-20T06:07:49Z</dcterms:modified>
</cp:coreProperties>
</file>