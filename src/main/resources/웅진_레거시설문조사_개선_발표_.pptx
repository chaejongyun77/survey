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73" r:id="rId2"/>
    <p:sldId id="27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0" r:id="rId14"/>
    <p:sldId id="269" r:id="rId15"/>
    <p:sldId id="271" r:id="rId16"/>
  </p:sldIdLst>
  <p:sldSz cx="12192000" cy="6858000"/>
  <p:notesSz cx="6858000" cy="12192000"/>
  <p:embeddedFontLst>
    <p:embeddedFont>
      <p:font typeface="맑은 고딕" panose="020B0503020000020004" pitchFamily="50" charset="-127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8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4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31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3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2743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레거시 설문조사 서비스 개선</a:t>
            </a:r>
            <a:endParaRPr 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1695" y="49240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kern="0" spc="-20" dirty="0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CIT</a:t>
            </a:r>
            <a:r>
              <a:rPr lang="ko-KR" altLang="en-US" sz="1800" kern="0" spc="-20" dirty="0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사업본부 </a:t>
            </a:r>
            <a:r>
              <a:rPr lang="ko-KR" altLang="en-US" kern="0" spc="-20" dirty="0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그룹</a:t>
            </a:r>
            <a:r>
              <a:rPr lang="en-US" altLang="ko-KR" kern="0" spc="-20" dirty="0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</a:t>
            </a:r>
            <a:r>
              <a:rPr lang="ko-KR" altLang="en-US" kern="0" spc="-20" dirty="0" err="1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혁신팀</a:t>
            </a:r>
            <a:endParaRPr lang="en-US" altLang="ko-KR" kern="0" spc="-20" dirty="0" smtClean="0">
              <a:solidFill>
                <a:srgbClr val="45515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r">
              <a:buNone/>
            </a:pPr>
            <a:r>
              <a:rPr lang="ko-KR" altLang="en-US" kern="0" spc="-20" dirty="0" err="1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채종윤</a:t>
            </a:r>
            <a:r>
              <a:rPr lang="ko-KR" altLang="en-US" kern="0" spc="-20" dirty="0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인턴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626364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8200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15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CONTENTS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2066543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417320" y="2176271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0200" y="224553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4360" y="2679191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724911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altLang="ko-KR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378413" y="12573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4360" y="3337559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383279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417320" y="3493007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00200" y="35295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3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600" b="1" kern="0" spc="-3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600" b="1" kern="0" spc="-3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방향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(TO –BE)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94360" y="3995927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41647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600200" y="4114799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600200" y="421995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기능 고도화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94360" y="4700015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altLang="ko-KR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600200" y="485089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아키텍처 및 기술 스택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594360" y="5312663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Text 45"/>
          <p:cNvSpPr/>
          <p:nvPr/>
        </p:nvSpPr>
        <p:spPr>
          <a:xfrm>
            <a:off x="594360" y="5358383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altLang="ko-KR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1600200" y="552871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600" b="1" kern="0" spc="-3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600" b="1" kern="0" spc="-3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ACEC23A1-FA94-4A7E-AEF5-790AE8574C91}"/>
              </a:ext>
            </a:extLst>
          </p:cNvPr>
          <p:cNvSpPr/>
          <p:nvPr/>
        </p:nvSpPr>
        <p:spPr>
          <a:xfrm>
            <a:off x="1417320" y="2842519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7" name="Shape 28">
            <a:extLst>
              <a:ext uri="{FF2B5EF4-FFF2-40B4-BE49-F238E27FC236}">
                <a16:creationId xmlns:a16="http://schemas.microsoft.com/office/drawing/2014/main" id="{69E64F25-3C0F-4F91-A819-FFAD11D239AD}"/>
              </a:ext>
            </a:extLst>
          </p:cNvPr>
          <p:cNvSpPr/>
          <p:nvPr/>
        </p:nvSpPr>
        <p:spPr>
          <a:xfrm>
            <a:off x="594360" y="3364991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79D0AE60-0049-4667-A9DD-C5DAFDE20A69}"/>
              </a:ext>
            </a:extLst>
          </p:cNvPr>
          <p:cNvSpPr/>
          <p:nvPr/>
        </p:nvSpPr>
        <p:spPr>
          <a:xfrm>
            <a:off x="1417320" y="4165091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C6326832-1B6D-43AD-8EF4-5DE182EEF19E}"/>
              </a:ext>
            </a:extLst>
          </p:cNvPr>
          <p:cNvSpPr/>
          <p:nvPr/>
        </p:nvSpPr>
        <p:spPr>
          <a:xfrm>
            <a:off x="1417320" y="4798070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5" name="Shape 22">
            <a:extLst>
              <a:ext uri="{FF2B5EF4-FFF2-40B4-BE49-F238E27FC236}">
                <a16:creationId xmlns:a16="http://schemas.microsoft.com/office/drawing/2014/main" id="{2EE68D42-A8C4-4CB3-A495-B2CA481B1822}"/>
              </a:ext>
            </a:extLst>
          </p:cNvPr>
          <p:cNvSpPr/>
          <p:nvPr/>
        </p:nvSpPr>
        <p:spPr>
          <a:xfrm>
            <a:off x="1417320" y="5481828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D4F03CE6-2814-499F-B753-8A8232394B86}"/>
              </a:ext>
            </a:extLst>
          </p:cNvPr>
          <p:cNvSpPr/>
          <p:nvPr/>
        </p:nvSpPr>
        <p:spPr>
          <a:xfrm>
            <a:off x="1600200" y="2895243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</a:t>
            </a:r>
            <a:r>
              <a:rPr lang="ko-KR" altLang="en-US" sz="1600" b="1" kern="0" spc="-3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 </a:t>
            </a: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 – IS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804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01. 프로젝트 개요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배경 및 목적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8230" y="136400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웅진씽크빅은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전국 지국 영업조직원을 대상으로 업무 만족도 및 제품 피드백 수집을 위해 설문조사 서비스를 적극 활용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234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배경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2615184"/>
            <a:ext cx="5547208" cy="1399032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" y="2781864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본사에서 적극적으로 활용하고 있는 설문조사 서비스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8368" y="3293587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2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전국 지국 영업조직원을 대상으로 업무 만족도 및 제품 피드백 수집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8368" y="3543252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2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사용층인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40~50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 영업조직원의 접근성 고려 필요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87288" y="2634392"/>
            <a:ext cx="5547208" cy="138988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87288" y="2621790"/>
            <a:ext cx="64008" cy="12801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2172" y="2783079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 효율성과 사용자 편의성 측면의 개선 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필요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88456" y="3203454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r>
              <a:rPr lang="en-US" sz="12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데이터 관리 효율성 부족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88456" y="3437216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r>
              <a:rPr lang="en-US" sz="12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직관적이지 않은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UI·UX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설문 참여 부담 증가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7200" y="450799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</a:t>
            </a:r>
            <a:r>
              <a:rPr lang="en-US" sz="1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</a:t>
            </a:r>
            <a:r>
              <a:rPr lang="en-US" sz="1200" b="1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기존 핵심 기능은 유지하면서 3가지 방향으로 고도화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7200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928616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134258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34258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58368" y="5577840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35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</a:t>
            </a:r>
            <a:r>
              <a:rPr lang="ko-KR" altLang="en-US" sz="1350" b="1" kern="0" spc="-2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 </a:t>
            </a:r>
            <a:r>
              <a:rPr lang="ko-KR" altLang="en-US" sz="135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효율성 향상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58368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277258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77258" y="4928616"/>
            <a:ext cx="363717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78426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954317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54317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460139" y="5584207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35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</a:t>
            </a:r>
            <a:r>
              <a:rPr lang="en-US" sz="135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</a:t>
            </a:r>
            <a:r>
              <a:rPr lang="en-US" sz="135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편의성 향상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478426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097317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097317" y="4928616"/>
            <a:ext cx="3637178" cy="54864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98485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1818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0774375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74375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298485" y="5554596"/>
            <a:ext cx="3271418" cy="42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Java/Spring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재구현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유지보수성 향상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298485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57200" y="19964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BACKGROUND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457200" y="4270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OBJECTIVE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DCFE9A50-C47F-4166-BC8C-B0741817BCC2}"/>
              </a:ext>
            </a:extLst>
          </p:cNvPr>
          <p:cNvSpPr/>
          <p:nvPr/>
        </p:nvSpPr>
        <p:spPr>
          <a:xfrm>
            <a:off x="6388456" y="3673111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r>
              <a:rPr lang="en-US" sz="12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레거시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구조로 인한 유지보수 및 확장성 한계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3BA8D4D0-9033-40BE-B7AB-EA4F1B33CB85}"/>
              </a:ext>
            </a:extLst>
          </p:cNvPr>
          <p:cNvSpPr/>
          <p:nvPr/>
        </p:nvSpPr>
        <p:spPr>
          <a:xfrm>
            <a:off x="475488" y="2621790"/>
            <a:ext cx="64008" cy="12801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서비스의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kern="0" spc="-5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sz="2400" b="1" kern="0" spc="-5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한계점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사용자 측면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39446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설문 응답 과정에서 사용자가 겪는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불편 요소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112264"/>
            <a:ext cx="4846320" cy="3611880"/>
          </a:xfrm>
          <a:prstGeom prst="roundRect">
            <a:avLst>
              <a:gd name="adj" fmla="val 4051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112264"/>
            <a:ext cx="4846320" cy="384048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2240280"/>
            <a:ext cx="128016" cy="128016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240280"/>
            <a:ext cx="128016" cy="128016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0160" y="2203704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2203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설문조사 화면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3860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895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577840" y="2112264"/>
            <a:ext cx="6156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77840" y="2322576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과정에서 사용자가 겪는 4가지 불편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577840" y="26883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6883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9008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801868" y="3072384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유형별 응답 방식 인지 어려움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79008" y="35844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순위선택형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문항의 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경우 우선순위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지정 방식이 직관적으로 드러나지 않아 이해하는데 시간이 소요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747608" y="26883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747608" y="26883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48776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820095" y="28529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948776" y="3072384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조건분기 응답 흐름 파악 어려움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948776" y="35844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보기를 선택했을 때 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 분기 문항으로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이어지는 흐름을 사용자가 파악하기 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어려움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577840" y="42885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77840" y="42885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79008" y="4453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779008" y="4723168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이탈 시 작성 내용 유실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779008" y="51846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중 화면을 벗어나면 입력한 응답이 저장되지 않아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처음부터 다시 작성해야 하는 부담이 발생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747608" y="42885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47608" y="42885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48776" y="4453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948776" y="4723168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진행 상태 확인 어려움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948776" y="51846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남은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수를 확인하기 어려워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설문 완료까지의 소요를 예측하기 어려움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ko-KR" alt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kern="0" spc="-5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sz="2400" b="1" kern="0" spc="-5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한계점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측면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39377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</a:t>
            </a:r>
            <a:r>
              <a:rPr lang="ko-KR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r>
              <a:rPr lang="ko-KR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측면에서 관리자가 겪는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불편 요소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227990"/>
            <a:ext cx="4846320" cy="3880202"/>
          </a:xfrm>
          <a:prstGeom prst="roundRect">
            <a:avLst>
              <a:gd name="adj" fmla="val 4051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039112"/>
            <a:ext cx="4846320" cy="384048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2167128"/>
            <a:ext cx="128016" cy="128016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167128"/>
            <a:ext cx="128016" cy="128016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167128"/>
            <a:ext cx="128016" cy="128016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0160" y="2130552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2130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통계 분석 화면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396129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822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5148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BEFORE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77840" y="2249424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확인 과정에서 </a:t>
            </a:r>
            <a:r>
              <a:rPr lang="en-US" sz="16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관리자가</a:t>
            </a:r>
            <a:r>
              <a:rPr lang="en-US" sz="16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겪는 3가지 불편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577840" y="2615184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615184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9008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779008" y="3026664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텍스트 중심 통계 화면으로 핵심 지표 파악 어려움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79008" y="3401568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텍스트 위주의 통계 화면으로 구성되어 주요 결과와 진행 현황을 빠르게 파악하기 어려움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577840" y="3831336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77840" y="3831336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79008" y="3995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779008" y="4233477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응답률 및 세부 비율 파악 어려움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779008" y="455079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수 중심으로만 제공되어 설문 전체 응답률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미응답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현황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보기별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비율을 직관적으로 해석하기 어려움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577840" y="5047488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77840" y="5047488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79008" y="5212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779008" y="5426964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다운로드 이력 관리 부재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779008" y="5833872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파일 다운로드 이력이 남지 않아 엑셀 다운로드 내역 추적과 관리 안정성 확보에 한계 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17FA2E85-F28A-42DB-997E-598CA4ACF1A2}"/>
              </a:ext>
            </a:extLst>
          </p:cNvPr>
          <p:cNvSpPr/>
          <p:nvPr/>
        </p:nvSpPr>
        <p:spPr>
          <a:xfrm>
            <a:off x="5577840" y="2039112"/>
            <a:ext cx="6156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개선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방향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핵심 개선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방향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(To-Be)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7323" y="140588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기능은 유지하고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관점의 핵심 불편사항을 개선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121408"/>
            <a:ext cx="3637178" cy="3971803"/>
          </a:xfrm>
          <a:prstGeom prst="roundRect">
            <a:avLst>
              <a:gd name="adj" fmla="val 4525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057400"/>
            <a:ext cx="3637178" cy="6400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3134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kern="0" spc="150" dirty="0" smtClean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" y="269748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통계 분석 및 이력 관리 강화</a:t>
            </a:r>
            <a:endParaRPr lang="en-US" sz="1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8368" y="313639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가독성과 이력 추적성을 함께 강화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8368" y="353872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694176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14400" y="365760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응답률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비율 기반 통계 시각화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14400" y="393192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대상자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완료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미응답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응답률을 카드 및 막대그래프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제공하여 설문 진행 현황을 한눈에 파악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58368" y="4507993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50799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14400" y="4471417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유형별 엑셀 시트 분리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4745737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요약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시트를 분리해 데이터 확인 및 재가공 편의성 강화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8368" y="5257801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525780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14400" y="5221225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다운로드 </a:t>
            </a: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이력</a:t>
            </a: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추적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14400" y="5495545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다운로드 사용자와 시점을 기록하고 팝업으로 조회해 데이터 추적성 및 관리 안정성 확보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258971" y="2057399"/>
            <a:ext cx="3637178" cy="4035811"/>
          </a:xfrm>
          <a:prstGeom prst="roundRect">
            <a:avLst>
              <a:gd name="adj" fmla="val 4525"/>
            </a:avLst>
          </a:prstGeom>
          <a:solidFill>
            <a:srgbClr val="FDEEF8"/>
          </a:solidFill>
          <a:ln w="9525">
            <a:solidFill>
              <a:srgbClr val="F4C2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77258" y="2057400"/>
            <a:ext cx="3637178" cy="6400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78426" y="23134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78426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kern="0" spc="150" dirty="0" smtClean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478426" y="269748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 편의성 향상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478426" y="313639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직관적인 응답 화면과 설문 상태 유지로 설문 참여 부담 완화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478426" y="353872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78426" y="3694176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78426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34458" y="365760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응답 화면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UX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734458" y="393192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유형을 명확히 구분하고 조건분기 흐름을 명시해서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참여자의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방식 인지 부담 완화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460139" y="4443984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60139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716171" y="4407408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진행률 표시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716171" y="4681728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문항 대비 남은 문항 수를 시각화해 참여자가 설문 완료 시점을 예측 가능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460139" y="5193792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60139" y="5193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716171" y="5190486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임시저장 및 이어하기 프로세스 도입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716171" y="5431536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이탈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중단 시에도 작성 내용을 보존하고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중단 지점부터 이어서 참여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133891" y="2053703"/>
            <a:ext cx="3637178" cy="4035810"/>
          </a:xfrm>
          <a:prstGeom prst="roundRect">
            <a:avLst>
              <a:gd name="adj" fmla="val 4525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097317" y="2057400"/>
            <a:ext cx="3637178" cy="64008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98485" y="23134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98485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kern="0" spc="150" dirty="0" smtClean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</a:t>
            </a:r>
            <a:r>
              <a:rPr lang="ko-KR" altLang="en-US" sz="1100" b="1" kern="0" spc="150" dirty="0" smtClean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8298485" y="269748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유지보수성 및 확장성 향상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8298485" y="313639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Java/Spring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재구현으로 유지보수 가능한 운영 구조 마련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298485" y="353872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98485" y="3694176"/>
            <a:ext cx="201168" cy="201168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98485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8554517" y="365760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.NET 레거시 → Java / Spring 재구현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554517" y="393192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.NET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설문 시스템을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Java/Spring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환경으로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재구현하여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개발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운영 체계에 맞는 유지보수 기반 마련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8280198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"/>
          <p:cNvSpPr/>
          <p:nvPr/>
        </p:nvSpPr>
        <p:spPr>
          <a:xfrm>
            <a:off x="6278726" y="1995824"/>
            <a:ext cx="5455768" cy="2713336"/>
          </a:xfrm>
          <a:prstGeom prst="roundRect">
            <a:avLst>
              <a:gd name="adj" fmla="val 6275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altLang="ko-KR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고도화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UX 개</a:t>
            </a:r>
            <a:r>
              <a:rPr lang="ko-KR" alt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43074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참여자가 쉽게 이해하고 응답할 수 있도록 화면 구조와 응답 흐름을 개선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995824"/>
            <a:ext cx="5455768" cy="2713336"/>
          </a:xfrm>
          <a:prstGeom prst="roundRect">
            <a:avLst>
              <a:gd name="adj" fmla="val 6275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995824"/>
            <a:ext cx="5455768" cy="347472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105552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2105552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105552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2078120"/>
            <a:ext cx="454136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078120"/>
            <a:ext cx="444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설문조사 화면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2864504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184544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설문 응답 화면 스크린샷이 위치합니다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3870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BEFORE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278728" y="1995824"/>
            <a:ext cx="5455768" cy="347472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5032" y="2105552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9624" y="2105552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54216" y="2105552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10248" y="2078120"/>
            <a:ext cx="454136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5968" y="2078120"/>
            <a:ext cx="444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개선된 설문조사 화면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78728" y="2864504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78728" y="3184544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개선된 설문 응답 화면 스크린샷이 위치합니다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61608" y="3870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 smtClean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AFER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894680" y="29605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57200" y="4800600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" y="4800600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4983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179978" y="502005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79978" y="5020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가독성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8368" y="5440680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응답 화면 가독성 개선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" y="576072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단위 카드 레이아웃을 적용해 사용자가 문항과 선택지를 쉽게 구분하도록 개선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277258" y="4800600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277258" y="4800600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78426" y="4983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7000037" y="502005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00037" y="5020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직관성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478426" y="5440680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순위선택형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Drag &amp; Drop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478426" y="576072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Select Box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순위를 선택하던 방식을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Drag &amp; Drop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변경하여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항목을 직접 이동하며 순서를 정할 수 있도록 개선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097317" y="4800600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097317" y="4800600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298485" y="4983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8298485" y="5440680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조건분기 흐름 안내 개선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8298485" y="576072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선택에 따라 추가되는 문항의 연결 관계를 명확히 보여줘 응답 흐름 개선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55"/>
          <p:cNvSpPr/>
          <p:nvPr/>
        </p:nvSpPr>
        <p:spPr>
          <a:xfrm>
            <a:off x="6675120" y="2666643"/>
            <a:ext cx="5059375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4433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altLang="ko-KR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고도화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진행률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표시 및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이어하기 도입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45311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중 </a:t>
            </a:r>
            <a:r>
              <a:rPr lang="ko-KR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페이지를 이탈하더라도 </a:t>
            </a:r>
            <a:r>
              <a:rPr lang="ko-KR" alt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설문을 이어서 작성할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 있도록 추가했습니다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063139"/>
            <a:ext cx="6035040" cy="1325880"/>
          </a:xfrm>
          <a:prstGeom prst="roundRect">
            <a:avLst>
              <a:gd name="adj" fmla="val 11034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121408"/>
            <a:ext cx="6035040" cy="347472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231136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2231136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231136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2203704"/>
            <a:ext cx="512064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2037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응답 화면 — 진행률 표시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2624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진행률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737360" y="2624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 / 12 문항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577840" y="26243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67%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31520" y="2926080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2926080"/>
            <a:ext cx="3675888" cy="146304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172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남은 4문항 · 약 2분 소요 예상  </a:t>
            </a:r>
            <a:r>
              <a:rPr lang="en-US" sz="1000" dirty="0">
                <a:solidFill>
                  <a:srgbClr val="E5E7E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</a:t>
            </a: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단계: 제품 만족도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7200" y="3611880"/>
            <a:ext cx="6035040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580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85800" y="3977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저장 및 이어하기 흐름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85800" y="4453128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15568" y="4562856"/>
            <a:ext cx="329184" cy="32918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5800" y="4910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입력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31520" y="5093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문항에 응답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874520" y="445312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148840" y="4453128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78608" y="4562856"/>
            <a:ext cx="329184" cy="32918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78608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48840" y="4910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저장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194560" y="5093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중인 응답 내용 저장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337560" y="445312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611880" y="4453128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41648" y="4562856"/>
            <a:ext cx="329184" cy="329184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41648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611880" y="4910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1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이탈</a:t>
            </a:r>
            <a:r>
              <a:rPr lang="en-US" altLang="ko-KR" sz="11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중단</a:t>
            </a:r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657600" y="5093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</a:t>
            </a:r>
            <a:r>
              <a:rPr lang="en-US" sz="85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 </a:t>
            </a:r>
            <a:r>
              <a:rPr lang="en-US" sz="85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네트워크</a:t>
            </a:r>
            <a:r>
              <a:rPr lang="en-US" sz="85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8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단절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800600" y="445312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074920" y="4453128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04688" y="4562856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04688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074920" y="4910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이어하기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120640" y="5093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중단 지점부터 재개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675120" y="2121408"/>
            <a:ext cx="50593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IMPROVEMENTS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675120" y="233172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참여를 돕는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기능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675120" y="2715768"/>
            <a:ext cx="64008" cy="98585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76288" y="2827199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876288" y="3224427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</a:t>
            </a:r>
            <a:r>
              <a:rPr lang="en-US" sz="13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진행률</a:t>
            </a:r>
            <a:r>
              <a:rPr lang="en-US" sz="13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876288" y="3498747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남은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수를 시각화해 설문 완료 시점을 쉽게 파악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675120" y="3855363"/>
            <a:ext cx="5059375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675120" y="3904488"/>
            <a:ext cx="64008" cy="1029867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876288" y="4001667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876288" y="4422291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내용 자동 저장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876288" y="4696611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중 입력한 내용을 자동으로 저장해 페이지 이탈이나 중단 상황에서도 작성 내용 유실을 방지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675120" y="5093208"/>
            <a:ext cx="5059375" cy="1239226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675120" y="5178750"/>
            <a:ext cx="64008" cy="1153683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876288" y="5239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876288" y="5660136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중단 지점부터 이어하기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876288" y="5934456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이전 응답 위치부터 이어서 참여할 수 있어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재작성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부담을 완화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altLang="ko-KR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고도화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ko-KR" altLang="en-US" sz="2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응답 현황 개선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411873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응답률과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참여 현황을 한눈에 파악할 수 있도록 통계 페이지를 개선하였습니다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020824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231136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</a:t>
            </a: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78728" y="2020824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78728" y="2231136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</a:t>
            </a: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622042"/>
            <a:ext cx="5455768" cy="212061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622042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722626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722626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722626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695194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695194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현황 — 전체 요약 대시보드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57200" y="4849354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" y="4849354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5050522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진행 현황을 한눈에 파악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" y="544371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대상자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완료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미응답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응답률을 카드형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상단 배치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8368" y="569974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응답률을 제공해 설문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진행 상황을 빠르게 확인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278728" y="2622042"/>
            <a:ext cx="5455768" cy="212061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78728" y="2622042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6744" y="2722626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62192" y="2722626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17640" y="2722626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64528" y="2695194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10248" y="2695194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현황 — 조직별 트리 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6278728" y="4849354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6278728" y="4849354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79896" y="5050522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응답률을 트리 구조와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Progress Bar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시각화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6479896" y="544371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부서부터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UNIT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까지 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참여도 비교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6479896" y="569974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참여율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저조 조직을 색상으로 구분해 독려 조직 파악 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310834" y="3734235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6297016" y="3757415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altLang="ko-KR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고도화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09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</a:t>
            </a:r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ko-KR" altLang="en-US" sz="24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</a:t>
            </a:r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답변 현황 개선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1" y="138269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응답률과 응답자별 답변 현황을 한눈에 파악할 수 있도록 통계 페이지를 개선하였습니다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194310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15341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응답 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78728" y="194310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78728" y="215341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답변 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560319"/>
            <a:ext cx="5455768" cy="2214385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560320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660904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660904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660904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633472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633472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결과 — Q3. 신제품 만족도 (단일선택)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57200" y="4875289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" y="4875289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5076457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결과를 직관적으로 비교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" y="5469649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보기별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응답 수와 비율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(%)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Progress Bar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시각화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8368" y="5725681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갱신 버튼과 최근 집계 시점을 제공해 통계 데이터 최신 상태 확인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278728" y="2560320"/>
            <a:ext cx="5455768" cy="2214384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78728" y="2560320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6744" y="2660904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62192" y="2660904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17640" y="2660904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64528" y="2633472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10248" y="2633472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답변 내역 — 개별 조회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6278728" y="4875289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4" name="Shape 81"/>
          <p:cNvSpPr/>
          <p:nvPr/>
        </p:nvSpPr>
        <p:spPr>
          <a:xfrm>
            <a:off x="6278728" y="4875289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479896" y="5076457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개인별 답변까지 — 상세 분석 편의성 증대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6479896" y="5469649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문항 답변 내역을 그리드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형태로 조회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6479896" y="5725681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이름과 문항별 답변을 함께 제공해 개별 응답 내용 확인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6479896" y="598171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310834" y="3734235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6297016" y="3734235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고도화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내보내기 및 이력 관리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1" y="141702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통계 데이터를 시트별로 분리해 엑셀로 내보내고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내보내기 이력을 기록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조회할 수 있도록 개선했습니다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039112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249424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통계 유형별 엑셀 시트 분리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78728" y="2039112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78728" y="2249424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내보내기 이력 관리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660904"/>
            <a:ext cx="5455768" cy="209397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660904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761488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761488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761488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734056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734056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설문결과_2026Q1.xlsx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24327" y="4855464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57200" y="4855464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8368" y="5056632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 번의 내보내기로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데이터 확인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58368" y="544982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요약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현황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분석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데이터를 시트별로 분리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58368" y="570585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 엑셀 파일 안에서 통계 유형별 데이터를 바로 확인 가능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278728" y="2660904"/>
            <a:ext cx="5455768" cy="1600200"/>
          </a:xfrm>
          <a:prstGeom prst="roundRect">
            <a:avLst>
              <a:gd name="adj" fmla="val 8000"/>
            </a:avLst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278728" y="2660904"/>
            <a:ext cx="5455768" cy="2093976"/>
          </a:xfrm>
          <a:prstGeom prst="rect">
            <a:avLst/>
          </a:prstGeom>
          <a:solidFill>
            <a:srgbClr val="DADFE6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278728" y="4855464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6278728" y="4855464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479896" y="5056632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누가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언제 내보냈는지 이력으로 확인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6479896" y="544982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내보내기 시 사용자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이름을 저장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6479896" y="570585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네비게이션 바에서 엑셀 내보내기 내역 조회 가능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6479896" y="5961888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다운로드 내역 추적으로 데이터 관리 안정성 강화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310834" y="3734235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6278727" y="3734235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아키텍처</a:t>
            </a:r>
            <a:r>
              <a:rPr 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기술 스택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아키텍처 및 기술 스택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392417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데모 사이트와 설문 서버의 연동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인증 구조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계층별 책임 분리를 중심으로 시스템 아키텍처를 구성했습니다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020824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ARCHITECTURE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368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시스템 아키텍처 구조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" y="2798064"/>
            <a:ext cx="2142003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데모 사이트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305409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Port 8081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08960" y="2871216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⇆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82098" y="2701089"/>
            <a:ext cx="816037" cy="256031"/>
          </a:xfrm>
          <a:prstGeom prst="roundRect">
            <a:avLst>
              <a:gd name="adj" fmla="val 44444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0077" y="2713535"/>
            <a:ext cx="640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X-Internal-</a:t>
            </a:r>
          </a:p>
          <a:p>
            <a:pPr marL="0" indent="0" algn="ctr">
              <a:buNone/>
            </a:pPr>
            <a:r>
              <a:rPr lang="en-US" sz="650" b="1" dirty="0" err="1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</a:t>
            </a:r>
            <a:r>
              <a:rPr lang="en-US" sz="650" b="1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-Key</a:t>
            </a:r>
            <a:endParaRPr lang="en-US" sz="6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893036" y="2798064"/>
            <a:ext cx="2187724" cy="502920"/>
          </a:xfrm>
          <a:prstGeom prst="roundRect">
            <a:avLst>
              <a:gd name="adj" fmla="val 14545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59" y="2845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Boot 서버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023359" y="306065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Port 8080  · 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애플리케이션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85800" y="3438144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FFF8E6"/>
          </a:solidFill>
          <a:ln w="6350">
            <a:solidFill>
              <a:srgbClr val="E8D3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4381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150" dirty="0">
                <a:solidFill>
                  <a:srgbClr val="B07E1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SECURITY 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Security · JWT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85800" y="396849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3968496"/>
            <a:ext cx="54864" cy="56692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" y="40233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WEB LAYER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32104" y="42245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프레젠테이션 계층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560320" y="4197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MVC · Thymeleaf · Alpine.js · TailwindCSS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85800" y="462686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4626864"/>
            <a:ext cx="54864" cy="56692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2104" y="46817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BUSINESS LAYER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32104" y="4882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비즈니스 계층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560320" y="4832507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Domain Service + Spring Batch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85800" y="528523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5800" y="5285232"/>
            <a:ext cx="54864" cy="566928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2104" y="5340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818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· INFRA LAYER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32104" y="55412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데이터·인프라 계층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560320" y="54681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818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JPA  · QueryDSL + MySQL · Redis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46520" y="2020824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DESIGN INTENT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46520" y="2221992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계층의 설계 의도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446520" y="2596896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446520" y="2596896"/>
            <a:ext cx="64008" cy="7589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629400" y="2743200"/>
            <a:ext cx="292608" cy="29260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2940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95160" y="274320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연동 · 보안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629400" y="3086100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내부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Key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검증과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Security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이중 필터 체인으로 관리자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참여자 인증 체계를 분리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446520" y="3447288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46520" y="3447288"/>
            <a:ext cx="64008" cy="758952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629400" y="3593592"/>
            <a:ext cx="292608" cy="29260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2940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995160" y="359359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Web · Business 계층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629400" y="3904488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SSR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화면 구성과 서비스 계층 중심 설계로 화면 처리와 비즈니스 로직 책임을 분리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446520" y="4297680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46520" y="4297680"/>
            <a:ext cx="64008" cy="758952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629400" y="4443984"/>
            <a:ext cx="292608" cy="292608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62940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995160" y="4443984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· Infra 계층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629400" y="4754880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쿼리 특성에 따라 데이터 접근 기술을 구분 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적용하고</a:t>
            </a:r>
            <a:r>
              <a:rPr lang="en-US" altLang="ko-KR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MySQL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저장 역할을 분리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6446520" y="5148072"/>
            <a:ext cx="5287975" cy="841248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46520" y="5148072"/>
            <a:ext cx="64008" cy="7589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629400" y="5294376"/>
            <a:ext cx="292608" cy="292608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29400" y="5294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995160" y="5294376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 err="1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</a:t>
            </a:r>
            <a:r>
              <a:rPr lang="en-US" sz="1250" b="1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스택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6629400" y="5605272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 17 · Spring Boot 3.5  / </a:t>
            </a:r>
            <a:r>
              <a:rPr lang="en-US" sz="9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Thymeleaf</a:t>
            </a:r>
            <a:r>
              <a:rPr lang="en-US" sz="9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Alpine.js · TailwindCSS  /  Apache POI · Gradle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MySQL · Redis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64"/>
          <p:cNvSpPr/>
          <p:nvPr/>
        </p:nvSpPr>
        <p:spPr>
          <a:xfrm>
            <a:off x="6510528" y="3603792"/>
            <a:ext cx="5287975" cy="55493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06. </a:t>
            </a:r>
            <a:r>
              <a:rPr lang="ko-KR" altLang="en-US" sz="1200" dirty="0" smtClean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기술 구현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 인증 플로우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42417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iframe 진입부터 설문 제출 종료까지, API Key·일회용 토큰·Client JWT·Redis 기반의 안전한 인증 흐름을 설계했습니다.</a:t>
            </a:r>
          </a:p>
        </p:txBody>
      </p:sp>
      <p:sp>
        <p:nvSpPr>
          <p:cNvPr id="8" name="Shape 5"/>
          <p:cNvSpPr/>
          <p:nvPr/>
        </p:nvSpPr>
        <p:spPr>
          <a:xfrm>
            <a:off x="457200" y="2002754"/>
            <a:ext cx="5852160" cy="4174309"/>
          </a:xfrm>
          <a:prstGeom prst="roundRect">
            <a:avLst>
              <a:gd name="adj" fmla="val 3023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130771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AUTH SEQUENCE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313651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 인증 및 상태 유지 플로우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58368" y="2688555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8E8E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73427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Demo Site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" y="2908011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:8081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14600" y="2688555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EF4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273427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Boot Server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514600" y="2908011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:8080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370832" y="2688555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4F2"/>
          </a:solidFill>
          <a:ln w="6350">
            <a:solidFill>
              <a:srgbClr val="D947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70832" y="273427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370832" y="2908011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527048" y="3118323"/>
            <a:ext cx="0" cy="2679192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383280" y="3118323"/>
            <a:ext cx="0" cy="2679192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5239512" y="3118323"/>
            <a:ext cx="0" cy="2679192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527048" y="3301203"/>
            <a:ext cx="1856232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1527048" y="306345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API Key 사전 검증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527048" y="333777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X-Internal-Api-Key · 직원/설문/중복 검증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383280" y="3804123"/>
            <a:ext cx="1856232" cy="0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3383280" y="356637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Redis 일회용 토큰 발급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83280" y="384069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survey_tk:{token} · UUID · TTL 10분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527048" y="4307043"/>
            <a:ext cx="1856232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1527048" y="406929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iframe 설문 진입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527048" y="434361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토큰 포함 iframe URL 호출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383280" y="4809963"/>
            <a:ext cx="1856232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3383280" y="457221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④ 토큰 검증 후 Client JWT 발급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383280" y="484653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 토큰 즉시 삭제 · HttpOnly Cookie 저장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527048" y="5312883"/>
            <a:ext cx="3712464" cy="0"/>
          </a:xfrm>
          <a:prstGeom prst="line">
            <a:avLst/>
          </a:prstGeom>
          <a:noFill/>
          <a:ln w="19050">
            <a:solidFill>
              <a:srgbClr val="EA5EC1"/>
            </a:solidFill>
            <a:prstDash val="solid"/>
            <a:headEnd type="none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1527048" y="5075139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⑤ 응답 상태 유지 · 자동 임시저장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527048" y="5349459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ClientTokenFilter 검증 · Redis 자동 저장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527048" y="5815803"/>
            <a:ext cx="1856232" cy="0"/>
          </a:xfrm>
          <a:prstGeom prst="line">
            <a:avLst/>
          </a:prstGeom>
          <a:noFill/>
          <a:ln w="19050">
            <a:solidFill>
              <a:srgbClr val="EA5EC1"/>
            </a:solidFill>
            <a:prstDash val="solid"/>
            <a:headEnd type="none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1527048" y="557805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⑥ 제출 · 모달 종료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527048" y="585237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자격 재검증 · 임시저장 삭제 · postMessage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46520" y="2002755"/>
            <a:ext cx="5287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 BREAKDOWN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46520" y="2185635"/>
            <a:ext cx="5287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단계별 기술 포인트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1" name="Shape 40"/>
          <p:cNvSpPr/>
          <p:nvPr/>
        </p:nvSpPr>
        <p:spPr>
          <a:xfrm>
            <a:off x="6510528" y="2437944"/>
            <a:ext cx="5287975" cy="4911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2" name="Shape 41"/>
          <p:cNvSpPr/>
          <p:nvPr/>
        </p:nvSpPr>
        <p:spPr>
          <a:xfrm>
            <a:off x="6446520" y="2437944"/>
            <a:ext cx="64008" cy="475263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93" name="Shape 42"/>
          <p:cNvSpPr/>
          <p:nvPr/>
        </p:nvSpPr>
        <p:spPr>
          <a:xfrm>
            <a:off x="6565392" y="2520241"/>
            <a:ext cx="274320" cy="27432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94" name="Text 43"/>
          <p:cNvSpPr/>
          <p:nvPr/>
        </p:nvSpPr>
        <p:spPr>
          <a:xfrm>
            <a:off x="6565392" y="25202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Text 44"/>
          <p:cNvSpPr/>
          <p:nvPr/>
        </p:nvSpPr>
        <p:spPr>
          <a:xfrm>
            <a:off x="6967728" y="2483665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서버 간 사전 검증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6" name="Text 47"/>
          <p:cNvSpPr/>
          <p:nvPr/>
        </p:nvSpPr>
        <p:spPr>
          <a:xfrm>
            <a:off x="6967728" y="2684833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X-Internal-</a:t>
            </a:r>
            <a:r>
              <a:rPr 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</a:t>
            </a:r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-Key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내부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호출로 직원 존재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 설문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중복 제출 여부를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7" name="Shape 48"/>
          <p:cNvSpPr/>
          <p:nvPr/>
        </p:nvSpPr>
        <p:spPr>
          <a:xfrm>
            <a:off x="6510528" y="3078599"/>
            <a:ext cx="5287975" cy="5212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8" name="Shape 49"/>
          <p:cNvSpPr/>
          <p:nvPr/>
        </p:nvSpPr>
        <p:spPr>
          <a:xfrm>
            <a:off x="6446520" y="3017738"/>
            <a:ext cx="64008" cy="526569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99" name="Shape 50"/>
          <p:cNvSpPr/>
          <p:nvPr/>
        </p:nvSpPr>
        <p:spPr>
          <a:xfrm>
            <a:off x="6565392" y="3100035"/>
            <a:ext cx="274320" cy="274320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100" name="Text 51"/>
          <p:cNvSpPr/>
          <p:nvPr/>
        </p:nvSpPr>
        <p:spPr>
          <a:xfrm>
            <a:off x="6565392" y="31000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" name="Text 52"/>
          <p:cNvSpPr/>
          <p:nvPr/>
        </p:nvSpPr>
        <p:spPr>
          <a:xfrm>
            <a:off x="6967728" y="3080805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 일회용 토큰 발급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2" name="Text 55"/>
          <p:cNvSpPr/>
          <p:nvPr/>
        </p:nvSpPr>
        <p:spPr>
          <a:xfrm>
            <a:off x="6935724" y="3308141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 통과 시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UUID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토큰을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저장하고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TTL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적용하여 제한된 시간 동안만 접근 허용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Shape 57"/>
          <p:cNvSpPr/>
          <p:nvPr/>
        </p:nvSpPr>
        <p:spPr>
          <a:xfrm>
            <a:off x="6446520" y="3631203"/>
            <a:ext cx="54864" cy="534367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5" name="Shape 58"/>
          <p:cNvSpPr/>
          <p:nvPr/>
        </p:nvSpPr>
        <p:spPr>
          <a:xfrm>
            <a:off x="6565392" y="3713500"/>
            <a:ext cx="274320" cy="27432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6" name="Text 59"/>
          <p:cNvSpPr/>
          <p:nvPr/>
        </p:nvSpPr>
        <p:spPr>
          <a:xfrm>
            <a:off x="6565392" y="3713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Text 60"/>
          <p:cNvSpPr/>
          <p:nvPr/>
        </p:nvSpPr>
        <p:spPr>
          <a:xfrm>
            <a:off x="6967728" y="3676924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iframe 진입 · JWT 전환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8" name="Text 63"/>
          <p:cNvSpPr/>
          <p:nvPr/>
        </p:nvSpPr>
        <p:spPr>
          <a:xfrm>
            <a:off x="6967725" y="3878092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iframe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 시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토큰을 조회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즉시 삭제한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뒤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참여자 전용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 JWT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발급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Shape 64"/>
          <p:cNvSpPr/>
          <p:nvPr/>
        </p:nvSpPr>
        <p:spPr>
          <a:xfrm>
            <a:off x="6446520" y="4262130"/>
            <a:ext cx="5287975" cy="55493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0" name="Shape 65"/>
          <p:cNvSpPr/>
          <p:nvPr/>
        </p:nvSpPr>
        <p:spPr>
          <a:xfrm>
            <a:off x="6446520" y="4270101"/>
            <a:ext cx="64008" cy="503285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1" name="Shape 66"/>
          <p:cNvSpPr/>
          <p:nvPr/>
        </p:nvSpPr>
        <p:spPr>
          <a:xfrm>
            <a:off x="6565392" y="4386687"/>
            <a:ext cx="274320" cy="27432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2" name="Text 67"/>
          <p:cNvSpPr/>
          <p:nvPr/>
        </p:nvSpPr>
        <p:spPr>
          <a:xfrm>
            <a:off x="6565392" y="43758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3" name="Text 68"/>
          <p:cNvSpPr/>
          <p:nvPr/>
        </p:nvSpPr>
        <p:spPr>
          <a:xfrm>
            <a:off x="6967728" y="4315822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HttpOnly 쿠키 인증 유지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4" name="Text 71"/>
          <p:cNvSpPr/>
          <p:nvPr/>
        </p:nvSpPr>
        <p:spPr>
          <a:xfrm>
            <a:off x="6967726" y="4557878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 JWT를 HttpOnly </a:t>
            </a:r>
            <a:r>
              <a:rPr 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Cookie에</a:t>
            </a:r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</a:t>
            </a:r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요청마다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ClientTokenFilter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Shape 72"/>
          <p:cNvSpPr/>
          <p:nvPr/>
        </p:nvSpPr>
        <p:spPr>
          <a:xfrm>
            <a:off x="6455664" y="4929567"/>
            <a:ext cx="5287975" cy="5812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6" name="Shape 73"/>
          <p:cNvSpPr/>
          <p:nvPr/>
        </p:nvSpPr>
        <p:spPr>
          <a:xfrm>
            <a:off x="6455664" y="4929567"/>
            <a:ext cx="54864" cy="521786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17" name="Shape 74"/>
          <p:cNvSpPr/>
          <p:nvPr/>
        </p:nvSpPr>
        <p:spPr>
          <a:xfrm>
            <a:off x="6565392" y="5094737"/>
            <a:ext cx="274320" cy="274320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18" name="Text 75"/>
          <p:cNvSpPr/>
          <p:nvPr/>
        </p:nvSpPr>
        <p:spPr>
          <a:xfrm>
            <a:off x="6565392" y="50947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9" name="Text 76"/>
          <p:cNvSpPr/>
          <p:nvPr/>
        </p:nvSpPr>
        <p:spPr>
          <a:xfrm>
            <a:off x="6967727" y="5058161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 임시저장 · 이어하기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Text 79"/>
          <p:cNvSpPr/>
          <p:nvPr/>
        </p:nvSpPr>
        <p:spPr>
          <a:xfrm>
            <a:off x="6967727" y="5259329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답변 작성 중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자동 임시저장하여 페이지 이탈이나 중단 상황에서도 이어하기 지원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Shape 80"/>
          <p:cNvSpPr/>
          <p:nvPr/>
        </p:nvSpPr>
        <p:spPr>
          <a:xfrm>
            <a:off x="6446520" y="5615367"/>
            <a:ext cx="5287975" cy="5807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2" name="Shape 81"/>
          <p:cNvSpPr/>
          <p:nvPr/>
        </p:nvSpPr>
        <p:spPr>
          <a:xfrm>
            <a:off x="6455664" y="5618315"/>
            <a:ext cx="54864" cy="580716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23" name="Shape 82"/>
          <p:cNvSpPr/>
          <p:nvPr/>
        </p:nvSpPr>
        <p:spPr>
          <a:xfrm>
            <a:off x="6569963" y="5751795"/>
            <a:ext cx="274320" cy="274320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24" name="Text 83"/>
          <p:cNvSpPr/>
          <p:nvPr/>
        </p:nvSpPr>
        <p:spPr>
          <a:xfrm>
            <a:off x="6569963" y="57517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Text 84"/>
          <p:cNvSpPr/>
          <p:nvPr/>
        </p:nvSpPr>
        <p:spPr>
          <a:xfrm>
            <a:off x="6967728" y="5687787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제출 검증 · 안전 종료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Text 87"/>
          <p:cNvSpPr/>
          <p:nvPr/>
        </p:nvSpPr>
        <p:spPr>
          <a:xfrm>
            <a:off x="6967728" y="5908673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제출 시 참여 자격을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재검증하고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 후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임시저장을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삭제한 뒤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postMessage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모달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종료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기술 구현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13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통계 집계 최적화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401561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Batch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응답 데이터를 사전 집계하여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 성능을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안정화했습니다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990084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1363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BATCH PIPELINE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3375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Batch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통계 사전 집계 구조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" y="2767324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FFF8E6"/>
          </a:solidFill>
          <a:ln w="6350">
            <a:solidFill>
              <a:srgbClr val="E8D3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7673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B07E1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SCHEDULE 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매일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08:00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집계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5800" y="3178804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8E8E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3288532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" y="3288532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READER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7240" y="3709156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데이터 조회</a:t>
            </a:r>
            <a:endParaRPr 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289048" y="3178804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581656" y="3178804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5240">
            <a:solidFill>
              <a:srgbClr val="1456F0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6248" y="3288532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6248" y="3288532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PROCESSOR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673096" y="3709156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유형별 통계 집계 </a:t>
            </a:r>
            <a:endParaRPr 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184904" y="3178804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477512" y="3178804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FDEEF8"/>
          </a:solidFill>
          <a:ln w="6350">
            <a:solidFill>
              <a:srgbClr val="EA5EC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42104" y="3288532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42104" y="3288532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WRITER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568952" y="3697876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테이블 갱신 </a:t>
            </a:r>
            <a:endParaRPr 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85800" y="4413244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44863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77240" y="46509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 마다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polling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완료 확인 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77240" y="48704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최신 통계 화면 조회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246120" y="4413244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⇄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520440" y="4413244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11880" y="44863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ASYNC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611880" y="46509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집계 요청 즉시 응답 반환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611880" y="48704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Job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백그라운드 실행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46520" y="1990084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OPTIMIZATION POINTS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46520" y="2191252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단계별 최적화 포인트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446520" y="256615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446520" y="2566156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92824" y="2730748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92824" y="27307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976872" y="267588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파싱 · 맞춤 집계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976872" y="293191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문항별로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그룹핑하고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유형에 따라 집계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로직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446520" y="329767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DEEF8"/>
          </a:solidFill>
          <a:ln w="9525">
            <a:solidFill>
              <a:srgbClr val="F4C2E2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446520" y="3297676"/>
            <a:ext cx="54864" cy="65836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92824" y="3462268"/>
            <a:ext cx="310896" cy="310896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92824" y="34622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976872" y="340740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트랜잭션 기반 통계 갱신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976872" y="366343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Delete + Insert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단일 트랜잭션으로 처리하여 불완전한 통계 노출 방지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6446520" y="402919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446520" y="4029196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592824" y="4193788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92824" y="41937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976872" y="413892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스케줄링 자동 실행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6976872" y="439495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매일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08:00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집계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6446520" y="476071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6446520" y="4760716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92824" y="4925308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92824" y="4925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976872" y="487044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비동기 실행 및 상태 확인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6976872" y="512647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요청은 즉시 응답하고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초마다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polling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완료 여부 확인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6446520" y="549223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6446520" y="5492236"/>
            <a:ext cx="54864" cy="658368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592824" y="5656828"/>
            <a:ext cx="310896" cy="310896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592824" y="5656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6976872" y="560196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수동 배치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6976872" y="585799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실패 또는 즉시 반영이 필요한 경우 수동 집계로 최신 통계 재생성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210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57"/>
          <p:cNvSpPr/>
          <p:nvPr/>
        </p:nvSpPr>
        <p:spPr>
          <a:xfrm>
            <a:off x="6446520" y="3758184"/>
            <a:ext cx="5287975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459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기술 구현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 err="1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대용량</a:t>
            </a:r>
            <a:r>
              <a:rPr lang="en-US" sz="2400" b="1" kern="0" spc="-5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엑셀 출력 구조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40272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SXSSF 스트리밍과 SheetWriter 구조로 4종 통계 시트를 안정적으로 생성하고, 대용량 엑셀 출력 성능과 유지보수성을 확보했습니다.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852160" cy="3931920"/>
          </a:xfrm>
          <a:prstGeom prst="roundRect">
            <a:avLst>
              <a:gd name="adj" fmla="val 3023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4597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EXCEL EXPORT PIPELINE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642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4개 통계 시트 생성 및 스트리밍 출력 흐름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8368" y="3154680"/>
            <a:ext cx="544982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255264"/>
            <a:ext cx="128016" cy="12801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3154680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</a:t>
            </a:r>
            <a:r>
              <a:rPr lang="en-US" sz="9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FETCH  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en-US" sz="90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  <a:r>
              <a:rPr lang="ko-KR" altLang="en-US" sz="90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류</a:t>
            </a:r>
            <a:r>
              <a:rPr lang="en-US" sz="900" dirty="0" smtClean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일괄 조회  ·  JPA + QueryDSL + Batch 집계 결과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58368" y="3575304"/>
            <a:ext cx="544982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675888"/>
            <a:ext cx="128016" cy="12801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357530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WORKBOOK </a:t>
            </a:r>
            <a:r>
              <a:rPr lang="en-US" sz="9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INIT  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SXSSFWorkbook 생성  ·  ExcelStyles 공유 인스턴스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4023360"/>
            <a:ext cx="5449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b="1" kern="0" spc="150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</a:t>
            </a:r>
            <a:r>
              <a:rPr lang="en-US" sz="900" b="1" kern="0" spc="150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SHEET </a:t>
            </a:r>
            <a:r>
              <a:rPr lang="en-US" sz="9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WRITER </a:t>
            </a:r>
            <a:r>
              <a:rPr lang="en-US" sz="900" dirty="0" err="1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시트별</a:t>
            </a:r>
            <a:r>
              <a:rPr lang="en-US" sz="900" dirty="0" smtClean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책임 분리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8368" y="426110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433425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444398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요약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3232" y="46451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039112" y="426110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12264" y="433425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93976" y="444398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 응답현황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093976" y="46451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419856" y="426110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93008" y="433425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0" y="444398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답변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474720" y="46451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800600" y="426110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73752" y="433425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55464" y="444398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응답현황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855464" y="46451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8368" y="5038344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02650" y="5038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50" b="1" kern="0" spc="150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50" b="1" kern="0" spc="150" dirty="0" smtClean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STREAMING  </a:t>
            </a: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SXSSFWorkbook</a:t>
            </a:r>
            <a:r>
              <a:rPr 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·  Row 단위 disk flush  ·  </a:t>
            </a:r>
            <a:r>
              <a:rPr lang="en-US" sz="9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대용량도 일정한 메모리로 처리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58368" y="5586984"/>
            <a:ext cx="54498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7240" y="5678424"/>
            <a:ext cx="128016" cy="128016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55869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 smtClean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DELIVERY  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ByteArrayOutputStream → byte[]  ·  한글 파일명 인코딩 → .xlsx 반환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46520" y="2331720"/>
            <a:ext cx="5287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TECHNIQUES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446520" y="2514600"/>
            <a:ext cx="5287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설계 포인트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446520" y="2852928"/>
            <a:ext cx="5287975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446520" y="2852928"/>
            <a:ext cx="54864" cy="7589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83680" y="2916936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967728" y="2980944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SheetWriter 기반 책임 분리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629400" y="3310128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시트별 작성 로직을 Writer 객체로 분리 — 시트 추가·변경 시 영향 범위 최소화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446520" y="3767328"/>
            <a:ext cx="54864" cy="7589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83680" y="3862272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583680" y="38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967728" y="3895344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SXSSF 기반 스트리밍 처리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629400" y="4224528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대용량 행 데이터를 Row 단위로 flush — 엑셀 생성 중 메모리 사용량 안정 유지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6446520" y="4633273"/>
            <a:ext cx="5287975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46520" y="4659680"/>
            <a:ext cx="54864" cy="7589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583680" y="4770433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0" y="47978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967728" y="4852729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ExcelStyles 공유 구조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6629400" y="5181913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워크북당 스타일 수 제한을 고려해 공통 스타일을 재사용 — 일관된 서식 적용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1982</Words>
  <Application>Microsoft Office PowerPoint</Application>
  <PresentationFormat>와이드스크린</PresentationFormat>
  <Paragraphs>392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레거시 설문조사 서비스 개선</dc:title>
  <dc:subject>PptxGenJS Presentation</dc:subject>
  <dc:creator>웅진씽크빅</dc:creator>
  <cp:lastModifiedBy>FAMILY</cp:lastModifiedBy>
  <cp:revision>66</cp:revision>
  <dcterms:created xsi:type="dcterms:W3CDTF">2026-05-18T12:01:15Z</dcterms:created>
  <dcterms:modified xsi:type="dcterms:W3CDTF">2026-05-21T14:28:25Z</dcterms:modified>
</cp:coreProperties>
</file>