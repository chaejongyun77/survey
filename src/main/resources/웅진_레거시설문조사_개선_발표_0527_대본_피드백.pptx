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comments/comment4.xml" ContentType="application/vnd.openxmlformats-officedocument.presentationml.comments+xml"/>
  <Override PartName="/ppt/notesSlides/notesSlide5.xml" ContentType="application/vnd.openxmlformats-officedocument.presentationml.notesSlide+xml"/>
  <Override PartName="/ppt/comments/comment5.xml" ContentType="application/vnd.openxmlformats-officedocument.presentationml.comments+xml"/>
  <Override PartName="/ppt/notesSlides/notesSlide6.xml" ContentType="application/vnd.openxmlformats-officedocument.presentationml.notesSlide+xml"/>
  <Override PartName="/ppt/comments/comment6.xml" ContentType="application/vnd.openxmlformats-officedocument.presentationml.comments+xml"/>
  <Override PartName="/ppt/notesSlides/notesSlide7.xml" ContentType="application/vnd.openxmlformats-officedocument.presentationml.notesSlide+xml"/>
  <Override PartName="/ppt/comments/comment7.xml" ContentType="application/vnd.openxmlformats-officedocument.presentationml.comments+xml"/>
  <Override PartName="/ppt/notesSlides/notesSlide8.xml" ContentType="application/vnd.openxmlformats-officedocument.presentationml.notesSlide+xml"/>
  <Override PartName="/ppt/comments/comment8.xml" ContentType="application/vnd.openxmlformats-officedocument.presentationml.comments+xml"/>
  <Override PartName="/ppt/notesSlides/notesSlide9.xml" ContentType="application/vnd.openxmlformats-officedocument.presentationml.notesSlide+xml"/>
  <Override PartName="/ppt/comments/comment9.xml" ContentType="application/vnd.openxmlformats-officedocument.presentationml.comments+xml"/>
  <Override PartName="/ppt/notesSlides/notesSlide10.xml" ContentType="application/vnd.openxmlformats-officedocument.presentationml.notesSlide+xml"/>
  <Override PartName="/ppt/comments/comment10.xml" ContentType="application/vnd.openxmlformats-officedocument.presentationml.comments+xml"/>
  <Override PartName="/ppt/notesSlides/notesSlide11.xml" ContentType="application/vnd.openxmlformats-officedocument.presentationml.notesSlide+xml"/>
  <Override PartName="/ppt/comments/comment11.xml" ContentType="application/vnd.openxmlformats-officedocument.presentationml.comments+xml"/>
  <Override PartName="/ppt/notesSlides/notesSlide12.xml" ContentType="application/vnd.openxmlformats-officedocument.presentationml.notesSlide+xml"/>
  <Override PartName="/ppt/comments/comment12.xml" ContentType="application/vnd.openxmlformats-officedocument.presentationml.comments+xml"/>
  <Override PartName="/ppt/notesSlides/notesSlide13.xml" ContentType="application/vnd.openxmlformats-officedocument.presentationml.notesSlide+xml"/>
  <Override PartName="/ppt/comments/comment13.xml" ContentType="application/vnd.openxmlformats-officedocument.presentationml.comments+xml"/>
  <Override PartName="/ppt/notesSlides/notesSlide14.xml" ContentType="application/vnd.openxmlformats-officedocument.presentationml.notesSlide+xml"/>
  <Override PartName="/ppt/comments/comment14.xml" ContentType="application/vnd.openxmlformats-officedocument.presentationml.comments+xml"/>
  <Override PartName="/ppt/notesSlides/notesSlide15.xml" ContentType="application/vnd.openxmlformats-officedocument.presentationml.notesSlide+xml"/>
  <Override PartName="/ppt/comments/comment15.xml" ContentType="application/vnd.openxmlformats-officedocument.presentationml.comments+xml"/>
  <Override PartName="/ppt/notesSlides/notesSlide16.xml" ContentType="application/vnd.openxmlformats-officedocument.presentationml.notesSlide+xml"/>
  <Override PartName="/ppt/comments/comment16.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9"/>
  </p:notesMasterIdLst>
  <p:sldIdLst>
    <p:sldId id="273" r:id="rId2"/>
    <p:sldId id="274" r:id="rId3"/>
    <p:sldId id="256" r:id="rId4"/>
    <p:sldId id="258" r:id="rId5"/>
    <p:sldId id="257" r:id="rId6"/>
    <p:sldId id="259" r:id="rId7"/>
    <p:sldId id="260" r:id="rId8"/>
    <p:sldId id="261" r:id="rId9"/>
    <p:sldId id="262" r:id="rId10"/>
    <p:sldId id="263" r:id="rId11"/>
    <p:sldId id="264" r:id="rId12"/>
    <p:sldId id="265" r:id="rId13"/>
    <p:sldId id="270" r:id="rId14"/>
    <p:sldId id="269" r:id="rId15"/>
    <p:sldId id="271" r:id="rId16"/>
    <p:sldId id="275" r:id="rId17"/>
    <p:sldId id="276" r:id="rId18"/>
  </p:sldIdLst>
  <p:sldSz cx="12192000" cy="6858000"/>
  <p:notesSz cx="6858000" cy="12192000"/>
  <p:embeddedFontLst>
    <p:embeddedFont>
      <p:font typeface="Calibri" panose="020F0502020204030204" pitchFamily="34" charset="0"/>
      <p:regular r:id="rId20"/>
      <p:bold r:id="rId21"/>
      <p:italic r:id="rId22"/>
      <p:boldItalic r:id="rId23"/>
    </p:embeddedFont>
    <p:embeddedFont>
      <p:font typeface="Pretendard" panose="02000503000000020004" pitchFamily="50" charset="-127"/>
      <p:regular r:id="rId24"/>
      <p:bold r:id="rId25"/>
    </p:embeddedFont>
    <p:embeddedFont>
      <p:font typeface="맑은 고딕" panose="020B0503020000020004" pitchFamily="50" charset="-127"/>
      <p:regular r:id="rId26"/>
      <p:bold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AMILY" initials="F" lastIdx="19" clrIdx="0">
    <p:extLst>
      <p:ext uri="{19B8F6BF-5375-455C-9EA6-DF929625EA0E}">
        <p15:presenceInfo xmlns:p15="http://schemas.microsoft.com/office/powerpoint/2012/main" userId="FAMILY" providerId="None"/>
      </p:ext>
    </p:extLst>
  </p:cmAuthor>
  <p:cmAuthor id="2" name="user" initials="u" lastIdx="2" clrIdx="1">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56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56" autoAdjust="0"/>
    <p:restoredTop sz="94610"/>
  </p:normalViewPr>
  <p:slideViewPr>
    <p:cSldViewPr snapToGrid="0" snapToObjects="1">
      <p:cViewPr varScale="1">
        <p:scale>
          <a:sx n="103" d="100"/>
          <a:sy n="103" d="100"/>
        </p:scale>
        <p:origin x="75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5-26T23:35:42.300" idx="3">
    <p:pos x="10" y="10"/>
    <p:text>안녕하세요. 레거시 설문조사 서비스 개선 프로젝트를 진행하게 된 CIT사업본부 그룹IT혁신팀 채종윤입니다. 
이번 PPT를 통해 기존 설문 조사 서비스 시스템을 어떻게 개선하였는지, 그 개선 과정과 실제 업무에 가져올 기대효과에 대해서 설명드리도록 하겠습니다.</p:text>
    <p:extLst mod="1">
      <p:ext uri="{C676402C-5697-4E1C-873F-D02D1690AC5C}">
        <p15:threadingInfo xmlns:p15="http://schemas.microsoft.com/office/powerpoint/2012/main" timeZoneBias="-54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5-26T23:38:17.731" idx="4">
    <p:pos x="10" y="10"/>
    <p:text>발표는 프로젝트 개요를 시작으로, 
기존 레거시 서비스의 한계점과 이를 해결하기 위한 개선 목표를 먼저 말씀드리겠습니다.
이어서 주요 개선 기능과 시스템 아키텍처와 기술 스택을 기반으로 제가 작업한 핵심 구현 내용'과 그에 따른 기대효과에 대해 말씀드리겠습니다</p:text>
    <p:extLst mod="1">
      <p:ext uri="{C676402C-5697-4E1C-873F-D02D1690AC5C}">
        <p15:threadingInfo xmlns:p15="http://schemas.microsoft.com/office/powerpoint/2012/main" timeZoneBias="-54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5-26T23:35:20.408" idx="2">
    <p:pos x="10" y="10"/>
    <p:text>먼저 프로젝트 개요입니다. 
웅진씽크빅은 전국 지국의 영업조직원분들을 대상으로 만족도나 제품 피드백을 수집하기 위해 설문조사 서비스를 다방면으로 적극 활용하고 있습니다. 
하지만 기존 시스템은 관리자 측면에서 데이터 분석 효율이 떨어졌고, 사용자는 UI가 직관적이지 않아 참여에 부담이 있었습니다.
 또한, 시스템적으로도 노후화된 레거시 구조라 유지보수가 어려웠습니다.
 이에 저희는 핵심 기능은 유지하되, '설문 관리 효율성', '참여 편의성', 그리고 'Java/Spring 기반 재구현을 통한 유지보수성 향상'이라는 3가지 방향을 목표로 고도화를 추진했습니다.</p:text>
    <p:extLst mod="1">
      <p:ext uri="{C676402C-5697-4E1C-873F-D02D1690AC5C}">
        <p15:threadingInfo xmlns:p15="http://schemas.microsoft.com/office/powerpoint/2012/main" timeZoneBias="-54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5-26T23:47:38.472" idx="6">
    <p:pos x="10" y="10"/>
    <p:text>다음으로 기존 레거시 서비스의 한계점을 관리자 측면에서 살펴보겠습니다.
 첫째, 통계 화면에서 미응답자 수나 응답률 정보가 제공되지 않아 설문이 얼마나 진행되었는지 현황 파악이 어려웠습니다. 
둘째, 문항 결과가 단순히 텍스트 형태로만 나열되어 응답 분포를 한눈에 직관적으로 보기 힘들었습니다.
 마지막으로, 통계 파일을 다운로드할 때 데이터의 이력이 남지 않아, 누가 언제 데이터를 확보했는지 추적 관리하는 데 한계가 있었습니다.</p:text>
    <p:extLst mod="1">
      <p:ext uri="{C676402C-5697-4E1C-873F-D02D1690AC5C}">
        <p15:threadingInfo xmlns:p15="http://schemas.microsoft.com/office/powerpoint/2012/main" timeZoneBias="-54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5-26T23:47:57.633" idx="7">
    <p:pos x="10" y="10"/>
    <p:text>사용자 측면에서도 4가지 명확한 불편 요소가 있었습니다.
 화면을 보시면 기존 설문 응답 UI인데요, 순위 선택형 문항의 경우 우선순위를 지정하는 방식이 직관적이지 않아 응답법을 인지하는 데 시간이 걸렸습니다.
 특정 문항을 선택했을 때 나타나는 조건 분기 흐름도 파악하기 힘들었습니다.
 무엇보다 가장 큰 문제는 작성 중에 화면을 벗어나면 입력했던 내용이 모두 유실되어 처음부터 다시 작성해야 하는 큰 부담이 있었고, 남은 문항 수가 표시되지 않아 완료 시점을 예측하기 어려웠습니다.</p:text>
    <p:extLst mod="1">
      <p:ext uri="{C676402C-5697-4E1C-873F-D02D1690AC5C}">
        <p15:threadingInfo xmlns:p15="http://schemas.microsoft.com/office/powerpoint/2012/main" timeZoneBias="-54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6-05-26T23:48:19.963" idx="8">
    <p:pos x="10" y="10"/>
    <p:text>이번 개선은 기존 기능은 유지하되, 불편했던 부분을 관리자, 사용자, 시스템 세 관점에서 개선하는 데 초점을 맞췄습니다.
먼저 관리자 측면에서는 설문 결과를 더 쉽게 분석할 수 있도록 전체 응답률과 문항별 통계를 시각화했고, 엑셀 다운로드 이력도 관리할 수 있게 했습니다.
사용자 측면에서는 설문 응답 화면의 UI·UX를 개선해 문항을 더 직관적으로 이해할 수 있도록 했고, 진행률 표시와 임시저장 기능을 통해 중간에 이탈하더라도 이어서 작성할 수 있게 했습니다.
마지막으로 시스템 측면에서는 기존 .NET 기반 구조를 Java/Spring 기반으로 재구현하여 유지보수성과 확장성을 높였습니다.</p:text>
    <p:extLst mod="1">
      <p:ext uri="{C676402C-5697-4E1C-873F-D02D1690AC5C}">
        <p15:threadingInfo xmlns:p15="http://schemas.microsoft.com/office/powerpoint/2012/main" timeZoneBias="-54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6-05-26T23:48:54.427" idx="9">
    <p:pos x="10" y="10"/>
    <p:text>다음은 주요 개선 기능 중 UI 및 UX 개선입니다.
먼저 카드형 레이아웃을 적용했습니다. 문항 단위로 영역을 분리해서 사용자가 질문과 선택지를 더 쉽게 구분할 수 있도록 했습니다.
두 번째로, 조건분기 흐름 안내를 개선했습니다. 특정 답변을 선택했을 때 추가 문항이 자연스럽게 연결되도록 보여주어, 사용자가 현재 어떤 흐름으로 응답하고 있는지 이해하기 쉽게 했습니다.
마지막으로 순위선택형 문항에는 Drag &amp; Drop 기능을 적용했습니다. 기존처럼 선택 박스로 순위를 지정하는 방식보다, 항목을 직접 이동하면서 순서를 정할 수 있어 응답 편의성을 높였습니다.
즉, 이번 UI/UX 개선은 설문 참여자가 더 적은 부담으로, 더 직관적으로 응답할 수 있도록 하는 데 초점을 맞췄습니다.</p:text>
    <p:extLst mod="1">
      <p:ext uri="{C676402C-5697-4E1C-873F-D02D1690AC5C}">
        <p15:threadingInfo xmlns:p15="http://schemas.microsoft.com/office/powerpoint/2012/main" timeZoneBias="-54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2" dt="2026-05-27T10:10:59.122" idx="1">
    <p:pos x="10" y="10"/>
    <p:text>다음은 진행률 표시와 설문 이어하기 기능입니다.
설문 응답 화면 상단에 사진과 같이 실시간 진행률 표시를 추가했습니다. 전체 문항 대비 완료한 문항 수를 시각적으로 보여주어, 사용자가 설문 완료 시점을 쉽게 예측할 수 있도록 했습니다.
다음은 진행률 표시와 설문 이어하기 기능입니다.
이 기능은 사용자가 설문을 응답하는 흐름에 맞춰 개선했습니다.
먼저 사용자가 설문에 응답하면 분마다 자동 저장되도록 구현했습니다.
만약 사용자가 설문 도중 페이지를 닫거나 네트워크가 끊겨 이탈하더라도, 작성 중이던 응답 데이터는 저장됩니다.
이후 사용자가 다시 설문에 접속하면, 이전에 저장된 응답을 기반으로 중단했던 지점부터 이어서 작성할 수 있습니다.
즉, 사용자의 재작성 부담을 줄이고 설문 완료율을 높일 수 있도록 개선했습니다.</p:text>
    <p:extLst>
      <p:ext uri="{C676402C-5697-4E1C-873F-D02D1690AC5C}">
        <p15:threadingInfo xmlns:p15="http://schemas.microsoft.com/office/powerpoint/2012/main" timeZoneBias="-54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6-05-26T23:50:35.665" idx="14">
    <p:pos x="10" y="10"/>
    <p:text>통계페이지에서는 총 4가지 유형의 통계를 확인할 수 있는데 그 중 2가지 유형 먼저 설명드리도록 하겠습니다. 
첫번째는 설문 응답 현황을 추가하였습니다.
상단에 총 대상자, 응답 완료자, 미응답자 수와 응답률을 깔끔한 카드 UI로 배치해 전반적인 설문 진행 상황을 빠르게 파악할 수 있습니다. 
또한, 우측의 조직별 현황 영역을 보시면 트리 구조와 프로그레스 바를 적용하여 본부부터 하위 유닛까지 조직별 참여도를 한눈에 비교할 수 있으며, 참여율이 저조한 조직은 색상으로 구분되어 독려 대상을 빠르게 파악할 수 있습니다.</p:text>
    <p:extLst mod="1">
      <p:ext uri="{C676402C-5697-4E1C-873F-D02D1690AC5C}">
        <p15:threadingInfo xmlns:p15="http://schemas.microsoft.com/office/powerpoint/2012/main" timeZoneBias="-540"/>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1" dt="2026-05-26T23:49:36.527" idx="11">
    <p:pos x="10" y="10"/>
    <p:text>다음은 문항 및 응답자 별 답변 현황을 개선하였습니다.
왼쪽 화면처럼 보기별 응답 수와 비율을 프로그레스 바 그래프로 시각화해 문항별 결과를 직관적으로 비교할 수 있으며, 실시간 갱신 버튼을 통해 언제든 최신 데이터를 확인할 수 있습니다. 
아울러 오른쪽 화면처럼 응답자별 답변 내역을 표(Grid) 형태로 제공하여, 어떤 직원이 문항별로 어떻게 답변했는지 상세한 개별 데이터까지 완벽하게 조회가 가능합니다.</p:text>
    <p:extLst mod="1">
      <p:ext uri="{C676402C-5697-4E1C-873F-D02D1690AC5C}">
        <p15:threadingInfo xmlns:p15="http://schemas.microsoft.com/office/powerpoint/2012/main" timeZoneBias="-540"/>
      </p:ext>
    </p:extLst>
  </p:cm>
</p:cmLst>
</file>

<file path=ppt/comments/comment11.xml><?xml version="1.0" encoding="utf-8"?>
<p:cmLst xmlns:a="http://schemas.openxmlformats.org/drawingml/2006/main" xmlns:r="http://schemas.openxmlformats.org/officeDocument/2006/relationships" xmlns:p="http://schemas.openxmlformats.org/presentationml/2006/main">
  <p:cm authorId="1" dt="2026-05-26T23:49:52.363" idx="12">
    <p:pos x="10" y="10"/>
    <p:text>마지막으로 엑셀 내보내기 및 이력관리를 추가하였습니다.
수집된 통계 데이터의 활용성과 보안도 강화1했습니다.  엑셀 파일 하나에 '설문 요약', '조직별 현황', '문항별 분석', '응답자별 상세 내역'을 각각 독립된 시트로 분리하여 다운로드할 수 있게 했습니다. 관리자가 데이터를 재가공하기 매우 편리해진 것이죠. 
동시에 사진처럼 어떤 관리자가, 언제, 어떤 설문 파일을 다운로드했는지 조회하는 팝업창을 만들어 데이터 관리 안정성을 높였습니다.</p:text>
    <p:extLst mod="1">
      <p:ext uri="{C676402C-5697-4E1C-873F-D02D1690AC5C}">
        <p15:threadingInfo xmlns:p15="http://schemas.microsoft.com/office/powerpoint/2012/main" timeZoneBias="-540"/>
      </p:ext>
    </p:extLst>
  </p:cm>
</p:cmLst>
</file>

<file path=ppt/comments/comment12.xml><?xml version="1.0" encoding="utf-8"?>
<p:cmLst xmlns:a="http://schemas.openxmlformats.org/drawingml/2006/main" xmlns:r="http://schemas.openxmlformats.org/officeDocument/2006/relationships" xmlns:p="http://schemas.openxmlformats.org/presentationml/2006/main">
  <p:cm authorId="1" dt="2026-05-26T23:49:58.660" idx="13">
    <p:pos x="10" y="10"/>
    <p:text>다음은 시스템 아키텍처 및 기술 스택입니다.
이번 프로젝트는 외부 게시처 사이트와 설문 서버가 연동되는 구조로 설계했습니다.  
게시처 사이트에서 설문에 진입하면 API Key를 통해 요청을 검증하고, 설문 서버에서 인증과 설문 응답 처리를 담당합니다.
|
서버 내부는 역할에 따라 계층을 분리했습니다.  
Web 계층에서는 Thymeleaf와 Alpine.js 기반으로 화면을 구성하고, Business 계층에서는 도메인 서비스와 Spring Batch를 통해 주요 비즈니스 로직과 통계 집계를 처리했습니다.
Data·Infra 계층에서는 MySQL을 통해 설문 데이터를 관리하고, Redis를 활용해 토큰과 임시저장 데이터를 처리했습니다.
또한 Spring Security와 JWT를 적용해 관리자와 참여자 인증 흐름을 분리했습니다.</p:text>
    <p:extLst mod="1">
      <p:ext uri="{C676402C-5697-4E1C-873F-D02D1690AC5C}">
        <p15:threadingInfo xmlns:p15="http://schemas.microsoft.com/office/powerpoint/2012/main" timeZoneBias="-540"/>
      </p:ext>
    </p:extLst>
  </p:cm>
</p:cmLst>
</file>

<file path=ppt/comments/comment13.xml><?xml version="1.0" encoding="utf-8"?>
<p:cmLst xmlns:a="http://schemas.openxmlformats.org/drawingml/2006/main" xmlns:r="http://schemas.openxmlformats.org/officeDocument/2006/relationships" xmlns:p="http://schemas.openxmlformats.org/presentationml/2006/main">
  <p:cm authorId="1" dt="2026-05-26T23:52:24.723" idx="16">
    <p:pos x="10" y="10"/>
    <p:text>다음은 설문 참여 인증 플로우입니다.
이 기능은 외부 사이트의 iframe에서 설문에 진입한 사용자가, 최종 제출까지 안전하게 인증 상태를 유지할 수 있도록 설계한 구조입니다.
먼저 외부 사이트에서 진입할 때, 서버 간 API Key를 검증해서 정상적인 요청인지 확인합니다.
검증이 완료되면 Redis에 일회용 토큰을 발급하고, 외부사이트에서 iframe을 호출할때 쿼리스트링에 임시토큰을 첨부한 채 호출하면 클라이언트 전용 JWT토큰을 생성합니다.
이후 발급된 클라이언트 토큰은 쿠키에 저장해 관리하고, 설문 응답 과정에서는 이 토큰을 활용해 참여 권한을 확인하도록 했습니다, 
설문 응답 중에는 Redis를 활용해 임시저장과 이어하기를 지원했습니다.
마지막 제출 시에는 메인서버로 postmessage를 보내 iframe을 종료하는것으로 마무리 됩니다.</p:text>
    <p:extLst mod="1">
      <p:ext uri="{C676402C-5697-4E1C-873F-D02D1690AC5C}">
        <p15:threadingInfo xmlns:p15="http://schemas.microsoft.com/office/powerpoint/2012/main" timeZoneBias="-540"/>
      </p:ext>
    </p:extLst>
  </p:cm>
  <p:cm authorId="2" dt="2026-05-27T10:44:15.714" idx="2">
    <p:pos x="10" y="106"/>
    <p:text>.</p:text>
    <p:extLst>
      <p:ext uri="{C676402C-5697-4E1C-873F-D02D1690AC5C}">
        <p15:threadingInfo xmlns:p15="http://schemas.microsoft.com/office/powerpoint/2012/main" timeZoneBias="-540">
          <p15:parentCm authorId="1" idx="16"/>
        </p15:threadingInfo>
      </p:ext>
    </p:extLst>
  </p:cm>
</p:cmLst>
</file>

<file path=ppt/comments/comment14.xml><?xml version="1.0" encoding="utf-8"?>
<p:cmLst xmlns:a="http://schemas.openxmlformats.org/drawingml/2006/main" xmlns:r="http://schemas.openxmlformats.org/officeDocument/2006/relationships" xmlns:p="http://schemas.openxmlformats.org/presentationml/2006/main">
  <p:cm authorId="1" dt="2026-05-26T23:54:27.203" idx="17">
    <p:pos x="10" y="10"/>
    <p:text>다음은 배치 기반 통계 집계 최적화입니다.
설문 통계는 응답 데이터가 누적될수록 계산해야 할 데이터가 많아지기 때문에, 조회 시점마다 계산하면 성능 부담이 커질 수 있습니다.
그래서 통계 데이터는 배치를 통해 미리 집계하고, 화면에서는 집계된 결과를 조회하는 방식으로 구성했습니다.
배치는 매일 오전 8시에 실행되며, Reader 단계에서 응답 데이터를 조회하고, Processor 단계에서 문항 유형별 통계를 계산한 뒤, Writer 단계에서 통계 테이블을 갱신합니다.
특히 응답 JSON을 문항 유형별로 분기 처리하고, 통계 갱신은 Delete 후 Insert 방식으로 단순화해 데이터 정합성을 유지했습니다.
또한 배치 실행은 비동기로 처리하고, 클라이언트는 주기적으로 완료 여부를 확인하도록 구성했습니다.
즉, 관리자 화면에서 안정적으로 통계 데이터를 조회할 수 있도록 개선했습니다.</p:text>
    <p:extLst mod="1">
      <p:ext uri="{C676402C-5697-4E1C-873F-D02D1690AC5C}">
        <p15:threadingInfo xmlns:p15="http://schemas.microsoft.com/office/powerpoint/2012/main" timeZoneBias="-540"/>
      </p:ext>
    </p:extLst>
  </p:cm>
</p:cmLst>
</file>

<file path=ppt/comments/comment15.xml><?xml version="1.0" encoding="utf-8"?>
<p:cmLst xmlns:a="http://schemas.openxmlformats.org/drawingml/2006/main" xmlns:r="http://schemas.openxmlformats.org/officeDocument/2006/relationships" xmlns:p="http://schemas.openxmlformats.org/presentationml/2006/main">
  <p:cm authorId="1" dt="2026-05-26T23:54:35.226" idx="18">
    <p:pos x="10" y="10"/>
    <p:text>다음은 통계 데이터 엑셀 다운로드 기능입니다.
관리자가 통계 데이터를 엑셀로 확인할 수 있도록, 통계 유형별로 시트를 분리해서 다운로드 파일을 생성했습니다.
먼저 설문 요약, 조직별 응답 현황, 응답자별 답변, 문항별 응답 현황에 필요한 데이터를 각각 조회합니다.
이후 하나의 엑셀 파일 안에 4개의 시트를 생성하고, 각 시트에는 목적에 맞는 통계 데이터를 구분해서 작성했습니다.
또한 제목, 헤더, 본문 영역의 스타일을 공통으로 관리해서 시트마다 동일한 서식이 적용되도록 했습니다.
그리고 대용량 데이터에서도 메모리 부담을 줄이기 위해 SXSSFWorkbook을 사용해 Row 단위로 데이터를 처리했습니다.
즉, 관리자가 다양한 통계 데이터를 하나의 엑셀 파일에서 구조적으로 확인할 수 있도록 구현한 기능입니다.</p:text>
    <p:extLst mod="1">
      <p:ext uri="{C676402C-5697-4E1C-873F-D02D1690AC5C}">
        <p15:threadingInfo xmlns:p15="http://schemas.microsoft.com/office/powerpoint/2012/main" timeZoneBias="-540"/>
      </p:ext>
    </p:extLst>
  </p:cm>
</p:cmLst>
</file>

<file path=ppt/comments/comment16.xml><?xml version="1.0" encoding="utf-8"?>
<p:cmLst xmlns:a="http://schemas.openxmlformats.org/drawingml/2006/main" xmlns:r="http://schemas.openxmlformats.org/officeDocument/2006/relationships" xmlns:p="http://schemas.openxmlformats.org/presentationml/2006/main">
  <p:cm authorId="1" dt="2026-05-26T23:54:43.495" idx="19">
    <p:pos x="10" y="10"/>
    <p:text>마지막으로 이번 프로젝트의 기대효과입니다.
이번 개선을 통해 설문 참여부터 결과 활용까지 전반적인 개선 효과를 기대할 수 있습니다.
관리자 측면으로는 통계 시각화와 엑셀 내보내기를 통해 설문 결과 활용성을 향상을 기대할 수 있고
사용자 측면에서는 카드형 화면으로 문항과 선택지를 쉽게 구분할 수 있게 하고, 진행률 표시와 이어하기 기능으로 재작성 부담을 줄여 설문 작성 편의성 향상을 기대해 볼 수 잇습니다.
마지막으로 시스템 측면에서는 Java/Spring 기반으로 재 구현하여 닷넷 프레임워크의 의존도를 완화를 기대해볼 수 잇습니다.</p:text>
    <p:extLst mod="1">
      <p:ext uri="{C676402C-5697-4E1C-873F-D02D1690AC5C}">
        <p15:threadingInfo xmlns:p15="http://schemas.microsoft.com/office/powerpoint/2012/main" timeZoneBias="-54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538027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682314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200531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054033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0683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omments" Target="../comments/commen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omments" Target="../comments/commen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comments" Target="../comments/comment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comments" Target="../comments/comment5.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omments" Target="../comments/commen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comments" Target="../comments/commen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omments" Target="../comments/comment8.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comments" Target="../comments/comment9.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omments" Target="../comments/comment10.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omments" Target="../comments/comment11.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omments" Target="../comments/commen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omments" Target="../comments/commen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omments" Target="../comments/commen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omments" Target="../comments/commen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omments" Target="../comments/commen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Shape 1"/>
          <p:cNvSpPr/>
          <p:nvPr/>
        </p:nvSpPr>
        <p:spPr>
          <a:xfrm>
            <a:off x="457200" y="2743200"/>
            <a:ext cx="73152" cy="1554480"/>
          </a:xfrm>
          <a:prstGeom prst="rect">
            <a:avLst/>
          </a:prstGeom>
          <a:solidFill>
            <a:srgbClr val="1456F0"/>
          </a:solidFill>
          <a:ln w="12700">
            <a:solidFill>
              <a:srgbClr val="1456F0"/>
            </a:solidFill>
            <a:prstDash val="solid"/>
          </a:ln>
        </p:spPr>
      </p:sp>
      <p:sp>
        <p:nvSpPr>
          <p:cNvPr id="5" name="Text 2"/>
          <p:cNvSpPr/>
          <p:nvPr/>
        </p:nvSpPr>
        <p:spPr>
          <a:xfrm>
            <a:off x="685800" y="2743200"/>
            <a:ext cx="10972800" cy="777240"/>
          </a:xfrm>
          <a:prstGeom prst="rect">
            <a:avLst/>
          </a:prstGeom>
          <a:noFill/>
          <a:ln/>
        </p:spPr>
        <p:txBody>
          <a:bodyPr wrap="square" lIns="0" tIns="0" rIns="0" bIns="0" rtlCol="0" anchor="t"/>
          <a:lstStyle/>
          <a:p>
            <a:pPr marL="0" indent="0" algn="l">
              <a:buNone/>
            </a:pPr>
            <a:r>
              <a:rPr lang="en-US" sz="4800" b="1" kern="0" spc="-10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레거시 설문조사 서비스 개선</a:t>
            </a:r>
            <a:endParaRPr lang="en-US" sz="4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761695" y="4924044"/>
            <a:ext cx="10972800" cy="713232"/>
          </a:xfrm>
          <a:prstGeom prst="rect">
            <a:avLst/>
          </a:prstGeom>
          <a:noFill/>
          <a:ln/>
        </p:spPr>
        <p:txBody>
          <a:bodyPr wrap="square" lIns="0" tIns="0" rIns="0" bIns="0" rtlCol="0" anchor="t"/>
          <a:lstStyle/>
          <a:p>
            <a:pPr marL="0" indent="0" algn="r">
              <a:buNone/>
            </a:pPr>
            <a:r>
              <a:rPr lang="en-US" sz="1800"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CIT</a:t>
            </a:r>
            <a:r>
              <a:rPr lang="ko-KR" altLang="en-US" sz="1800"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사업본부 </a:t>
            </a:r>
            <a:r>
              <a:rPr lang="ko-KR" altLang="en-US"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그룹</a:t>
            </a:r>
            <a:r>
              <a:rPr lang="en-US" altLang="ko-KR"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IT</a:t>
            </a:r>
            <a:r>
              <a:rPr lang="ko-KR" altLang="en-US" kern="0" spc="-20" dirty="0" err="1">
                <a:solidFill>
                  <a:srgbClr val="45515E"/>
                </a:solidFill>
                <a:latin typeface="Pretendard" panose="02000503000000020004" pitchFamily="50" charset="-127"/>
                <a:ea typeface="Pretendard" panose="02000503000000020004" pitchFamily="50" charset="-127"/>
                <a:cs typeface="Pretendard" panose="02000503000000020004" pitchFamily="50" charset="-127"/>
              </a:rPr>
              <a:t>혁신팀</a:t>
            </a:r>
            <a:endParaRPr lang="en-US" altLang="ko-KR"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endParaRPr>
          </a:p>
          <a:p>
            <a:pPr marL="0" indent="0" algn="r">
              <a:buNone/>
            </a:pPr>
            <a:r>
              <a:rPr lang="ko-KR" altLang="en-US" kern="0" spc="-20" dirty="0" err="1">
                <a:solidFill>
                  <a:srgbClr val="45515E"/>
                </a:solidFill>
                <a:latin typeface="Pretendard" panose="02000503000000020004" pitchFamily="50" charset="-127"/>
                <a:ea typeface="Pretendard" panose="02000503000000020004" pitchFamily="50" charset="-127"/>
                <a:cs typeface="Pretendard" panose="02000503000000020004" pitchFamily="50" charset="-127"/>
              </a:rPr>
              <a:t>채종윤</a:t>
            </a:r>
            <a:r>
              <a:rPr lang="ko-KR" altLang="en-US" kern="0" spc="-2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 인턴</a:t>
            </a:r>
            <a:endParaRPr lang="en-US" sz="1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Shape 5"/>
          <p:cNvSpPr/>
          <p:nvPr/>
        </p:nvSpPr>
        <p:spPr>
          <a:xfrm>
            <a:off x="457200" y="6263640"/>
            <a:ext cx="11277295" cy="0"/>
          </a:xfrm>
          <a:prstGeom prst="line">
            <a:avLst/>
          </a:prstGeom>
          <a:noFill/>
          <a:ln w="6350">
            <a:solidFill>
              <a:srgbClr val="E5E7EB"/>
            </a:solidFill>
            <a:prstDash val="solid"/>
          </a:ln>
        </p:spPr>
      </p:sp>
    </p:spTree>
    <p:extLst>
      <p:ext uri="{BB962C8B-B14F-4D97-AF65-F5344CB8AC3E}">
        <p14:creationId xmlns:p14="http://schemas.microsoft.com/office/powerpoint/2010/main" val="3601152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CONTENTS</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a:solidFill>
                  <a:srgbClr val="222222"/>
                </a:solidFill>
                <a:latin typeface="Pretendard" pitchFamily="34" charset="0"/>
                <a:ea typeface="Pretendard" pitchFamily="34" charset="-122"/>
                <a:cs typeface="Pretendard" pitchFamily="34" charset="-120"/>
              </a:rPr>
              <a:t>목차</a:t>
            </a:r>
            <a:endParaRPr lang="en-US" sz="2400" dirty="0"/>
          </a:p>
        </p:txBody>
      </p:sp>
      <p:sp>
        <p:nvSpPr>
          <p:cNvPr id="8" name="Text 5"/>
          <p:cNvSpPr/>
          <p:nvPr/>
        </p:nvSpPr>
        <p:spPr>
          <a:xfrm>
            <a:off x="594360" y="1949959"/>
            <a:ext cx="868680" cy="566928"/>
          </a:xfrm>
          <a:prstGeom prst="rect">
            <a:avLst/>
          </a:prstGeom>
          <a:noFill/>
          <a:ln/>
        </p:spPr>
        <p:txBody>
          <a:bodyPr wrap="square" lIns="0" tIns="0" rIns="0" bIns="0" rtlCol="0" anchor="ctr"/>
          <a:lstStyle/>
          <a:p>
            <a:pPr marL="0" indent="0" algn="l">
              <a:buNone/>
            </a:pPr>
            <a:r>
              <a:rPr lang="en-US" sz="3000" b="1" kern="0" spc="-1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01</a:t>
            </a:r>
            <a:endParaRPr lang="en-US" sz="3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Shape 6"/>
          <p:cNvSpPr/>
          <p:nvPr/>
        </p:nvSpPr>
        <p:spPr>
          <a:xfrm>
            <a:off x="1417320" y="2059687"/>
            <a:ext cx="36576" cy="347472"/>
          </a:xfrm>
          <a:prstGeom prst="rect">
            <a:avLst/>
          </a:prstGeom>
          <a:solidFill>
            <a:srgbClr val="1456F0"/>
          </a:solidFill>
          <a:ln w="12700">
            <a:solidFill>
              <a:srgbClr val="1456F0"/>
            </a:solidFill>
            <a:prstDash val="solid"/>
          </a:ln>
        </p:spPr>
      </p:sp>
      <p:sp>
        <p:nvSpPr>
          <p:cNvPr id="11" name="Text 8"/>
          <p:cNvSpPr/>
          <p:nvPr/>
        </p:nvSpPr>
        <p:spPr>
          <a:xfrm>
            <a:off x="1600200" y="2128947"/>
            <a:ext cx="6400800" cy="292608"/>
          </a:xfrm>
          <a:prstGeom prst="rect">
            <a:avLst/>
          </a:prstGeom>
          <a:noFill/>
          <a:ln/>
        </p:spPr>
        <p:txBody>
          <a:bodyPr wrap="square" lIns="0" tIns="0" rIns="0" bIns="0" rtlCol="0" anchor="t"/>
          <a:lstStyle/>
          <a:p>
            <a:pPr marL="0" indent="0" algn="l">
              <a:buNone/>
            </a:pPr>
            <a:r>
              <a:rPr lang="ko-KR" altLang="en-US" sz="1600"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프로젝트 개요</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Shape 12"/>
          <p:cNvSpPr/>
          <p:nvPr/>
        </p:nvSpPr>
        <p:spPr>
          <a:xfrm>
            <a:off x="594360" y="2562607"/>
            <a:ext cx="11002975" cy="0"/>
          </a:xfrm>
          <a:prstGeom prst="line">
            <a:avLst/>
          </a:prstGeom>
          <a:noFill/>
          <a:ln w="6350">
            <a:solidFill>
              <a:srgbClr val="F2F3F5"/>
            </a:solidFill>
            <a:prstDash val="solid"/>
          </a:ln>
        </p:spPr>
      </p:sp>
      <p:sp>
        <p:nvSpPr>
          <p:cNvPr id="16" name="Text 13"/>
          <p:cNvSpPr/>
          <p:nvPr/>
        </p:nvSpPr>
        <p:spPr>
          <a:xfrm>
            <a:off x="594360" y="2608327"/>
            <a:ext cx="868680" cy="566928"/>
          </a:xfrm>
          <a:prstGeom prst="rect">
            <a:avLst/>
          </a:prstGeom>
          <a:noFill/>
          <a:ln/>
        </p:spPr>
        <p:txBody>
          <a:bodyPr wrap="square" lIns="0" tIns="0" rIns="0" bIns="0" rtlCol="0" anchor="ctr"/>
          <a:lstStyle/>
          <a:p>
            <a:r>
              <a:rPr lang="en-US" altLang="ko-KR" sz="3000" b="1" kern="0" spc="-1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02</a:t>
            </a:r>
            <a:endParaRPr lang="en-US" altLang="ko-KR" sz="3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9" name="Text 16"/>
          <p:cNvSpPr/>
          <p:nvPr/>
        </p:nvSpPr>
        <p:spPr>
          <a:xfrm>
            <a:off x="2378413" y="1257300"/>
            <a:ext cx="6400800" cy="292608"/>
          </a:xfrm>
          <a:prstGeom prst="rect">
            <a:avLst/>
          </a:prstGeom>
          <a:noFill/>
          <a:ln/>
        </p:spPr>
        <p:txBody>
          <a:bodyPr wrap="square" lIns="0" tIns="0" rIns="0" bIns="0" rtlCol="0" anchor="t"/>
          <a:lstStyle/>
          <a:p>
            <a:pPr marL="0" indent="0" algn="l">
              <a:buNone/>
            </a:pP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3" name="Shape 20"/>
          <p:cNvSpPr/>
          <p:nvPr/>
        </p:nvSpPr>
        <p:spPr>
          <a:xfrm>
            <a:off x="594360" y="3220975"/>
            <a:ext cx="11002975" cy="0"/>
          </a:xfrm>
          <a:prstGeom prst="line">
            <a:avLst/>
          </a:prstGeom>
          <a:noFill/>
          <a:ln w="6350">
            <a:solidFill>
              <a:srgbClr val="F2F3F5"/>
            </a:solidFill>
            <a:prstDash val="solid"/>
          </a:ln>
        </p:spPr>
      </p:sp>
      <p:sp>
        <p:nvSpPr>
          <p:cNvPr id="24" name="Text 21"/>
          <p:cNvSpPr/>
          <p:nvPr/>
        </p:nvSpPr>
        <p:spPr>
          <a:xfrm>
            <a:off x="594360" y="3266695"/>
            <a:ext cx="868680" cy="566928"/>
          </a:xfrm>
          <a:prstGeom prst="rect">
            <a:avLst/>
          </a:prstGeom>
          <a:noFill/>
          <a:ln/>
        </p:spPr>
        <p:txBody>
          <a:bodyPr wrap="square" lIns="0" tIns="0" rIns="0" bIns="0" rtlCol="0" anchor="ctr"/>
          <a:lstStyle/>
          <a:p>
            <a:pPr marL="0" indent="0" algn="l">
              <a:buNone/>
            </a:pPr>
            <a:r>
              <a:rPr lang="en-US" sz="3000" b="1" kern="0" spc="-1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03</a:t>
            </a:r>
            <a:endParaRPr lang="en-US" sz="3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 name="Shape 22"/>
          <p:cNvSpPr/>
          <p:nvPr/>
        </p:nvSpPr>
        <p:spPr>
          <a:xfrm>
            <a:off x="1417320" y="3376423"/>
            <a:ext cx="36576" cy="347472"/>
          </a:xfrm>
          <a:prstGeom prst="rect">
            <a:avLst/>
          </a:prstGeom>
          <a:solidFill>
            <a:srgbClr val="1456F0"/>
          </a:solidFill>
          <a:ln w="12700">
            <a:solidFill>
              <a:srgbClr val="1456F0"/>
            </a:solidFill>
            <a:prstDash val="solid"/>
          </a:ln>
        </p:spPr>
      </p:sp>
      <p:sp>
        <p:nvSpPr>
          <p:cNvPr id="27" name="Text 24"/>
          <p:cNvSpPr/>
          <p:nvPr/>
        </p:nvSpPr>
        <p:spPr>
          <a:xfrm>
            <a:off x="1600200" y="3413000"/>
            <a:ext cx="6400800" cy="292608"/>
          </a:xfrm>
          <a:prstGeom prst="rect">
            <a:avLst/>
          </a:prstGeom>
          <a:noFill/>
          <a:ln/>
        </p:spPr>
        <p:txBody>
          <a:bodyPr wrap="square" lIns="0" tIns="0" rIns="0" bIns="0" rtlCol="0" anchor="t"/>
          <a:lstStyle/>
          <a:p>
            <a:pPr marL="0" indent="0" algn="l">
              <a:buNone/>
            </a:pPr>
            <a:r>
              <a:rPr lang="ko-KR" altLang="en-US" sz="1600"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개선 목표 및 방향 </a:t>
            </a:r>
            <a:r>
              <a:rPr lang="en-US" sz="1600"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(TO –BE)</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1" name="Shape 28"/>
          <p:cNvSpPr/>
          <p:nvPr/>
        </p:nvSpPr>
        <p:spPr>
          <a:xfrm>
            <a:off x="594360" y="3879343"/>
            <a:ext cx="11002975" cy="0"/>
          </a:xfrm>
          <a:prstGeom prst="line">
            <a:avLst/>
          </a:prstGeom>
          <a:noFill/>
          <a:ln w="6350">
            <a:solidFill>
              <a:srgbClr val="F2F3F5"/>
            </a:solidFill>
            <a:prstDash val="solid"/>
          </a:ln>
        </p:spPr>
      </p:sp>
      <p:sp>
        <p:nvSpPr>
          <p:cNvPr id="33" name="Text 30"/>
          <p:cNvSpPr/>
          <p:nvPr/>
        </p:nvSpPr>
        <p:spPr>
          <a:xfrm>
            <a:off x="594360" y="3925063"/>
            <a:ext cx="868680" cy="566928"/>
          </a:xfrm>
          <a:prstGeom prst="rect">
            <a:avLst/>
          </a:prstGeom>
          <a:noFill/>
          <a:ln/>
        </p:spPr>
        <p:txBody>
          <a:bodyPr wrap="square" lIns="0" tIns="0" rIns="0" bIns="0" rtlCol="0" anchor="ctr"/>
          <a:lstStyle/>
          <a:p>
            <a:pPr marL="0" indent="0" algn="l">
              <a:buNone/>
            </a:pPr>
            <a:r>
              <a:rPr lang="en-US" sz="3000" b="1" kern="0" spc="-1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04</a:t>
            </a:r>
            <a:endParaRPr lang="en-US" sz="3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Text 32"/>
          <p:cNvSpPr/>
          <p:nvPr/>
        </p:nvSpPr>
        <p:spPr>
          <a:xfrm>
            <a:off x="1600200" y="3998215"/>
            <a:ext cx="6400800" cy="182880"/>
          </a:xfrm>
          <a:prstGeom prst="rect">
            <a:avLst/>
          </a:prstGeom>
          <a:noFill/>
          <a:ln/>
        </p:spPr>
        <p:txBody>
          <a:bodyPr wrap="square" lIns="0" tIns="0" rIns="0" bIns="0" rtlCol="0" anchor="t"/>
          <a:lstStyle/>
          <a:p>
            <a:pPr marL="0" indent="0" algn="l">
              <a:buNone/>
            </a:pP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6" name="Text 33"/>
          <p:cNvSpPr/>
          <p:nvPr/>
        </p:nvSpPr>
        <p:spPr>
          <a:xfrm>
            <a:off x="1600200" y="4103371"/>
            <a:ext cx="6400800" cy="292608"/>
          </a:xfrm>
          <a:prstGeom prst="rect">
            <a:avLst/>
          </a:prstGeom>
          <a:noFill/>
          <a:ln/>
        </p:spPr>
        <p:txBody>
          <a:bodyPr wrap="square" lIns="0" tIns="0" rIns="0" bIns="0" rtlCol="0" anchor="t"/>
          <a:lstStyle/>
          <a:p>
            <a:pPr marL="0" indent="0" algn="l">
              <a:buNone/>
            </a:pPr>
            <a:r>
              <a:rPr lang="ko-KR" altLang="en-US" sz="1600"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주요 개선 기능</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Text 37"/>
          <p:cNvSpPr/>
          <p:nvPr/>
        </p:nvSpPr>
        <p:spPr>
          <a:xfrm>
            <a:off x="594360" y="4583431"/>
            <a:ext cx="868680" cy="566928"/>
          </a:xfrm>
          <a:prstGeom prst="rect">
            <a:avLst/>
          </a:prstGeom>
          <a:noFill/>
          <a:ln/>
        </p:spPr>
        <p:txBody>
          <a:bodyPr wrap="square" lIns="0" tIns="0" rIns="0" bIns="0" rtlCol="0" anchor="ctr"/>
          <a:lstStyle/>
          <a:p>
            <a:r>
              <a:rPr lang="en-US" altLang="ko-KR" sz="3000" b="1" kern="0" spc="-1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05</a:t>
            </a:r>
            <a:endParaRPr lang="en-US" altLang="ko-KR" sz="3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Text 40"/>
          <p:cNvSpPr/>
          <p:nvPr/>
        </p:nvSpPr>
        <p:spPr>
          <a:xfrm>
            <a:off x="1600200" y="4734307"/>
            <a:ext cx="6400800" cy="292608"/>
          </a:xfrm>
          <a:prstGeom prst="rect">
            <a:avLst/>
          </a:prstGeom>
          <a:noFill/>
          <a:ln/>
        </p:spPr>
        <p:txBody>
          <a:bodyPr wrap="square" lIns="0" tIns="0" rIns="0" bIns="0" rtlCol="0" anchor="t"/>
          <a:lstStyle/>
          <a:p>
            <a:pPr marL="0" indent="0" algn="l">
              <a:buNone/>
            </a:pPr>
            <a:r>
              <a:rPr lang="ko-KR" altLang="en-US" sz="1600"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시스템 아키텍처 및 기술 스택</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7" name="Shape 44"/>
          <p:cNvSpPr/>
          <p:nvPr/>
        </p:nvSpPr>
        <p:spPr>
          <a:xfrm>
            <a:off x="594360" y="5196079"/>
            <a:ext cx="11002975" cy="0"/>
          </a:xfrm>
          <a:prstGeom prst="line">
            <a:avLst/>
          </a:prstGeom>
          <a:noFill/>
          <a:ln w="6350">
            <a:solidFill>
              <a:srgbClr val="F2F3F5"/>
            </a:solidFill>
            <a:prstDash val="solid"/>
          </a:ln>
        </p:spPr>
        <p:txBody>
          <a:bodyPr/>
          <a:lstStyle/>
          <a:p>
            <a:endParaRPr lang="ko-KR" altLang="en-US" dirty="0"/>
          </a:p>
        </p:txBody>
      </p:sp>
      <p:sp>
        <p:nvSpPr>
          <p:cNvPr id="48" name="Text 45"/>
          <p:cNvSpPr/>
          <p:nvPr/>
        </p:nvSpPr>
        <p:spPr>
          <a:xfrm>
            <a:off x="594360" y="5241799"/>
            <a:ext cx="868680" cy="566928"/>
          </a:xfrm>
          <a:prstGeom prst="rect">
            <a:avLst/>
          </a:prstGeom>
          <a:noFill/>
          <a:ln/>
        </p:spPr>
        <p:txBody>
          <a:bodyPr wrap="square" lIns="0" tIns="0" rIns="0" bIns="0" rtlCol="0" anchor="ctr"/>
          <a:lstStyle/>
          <a:p>
            <a:r>
              <a:rPr lang="en-US" altLang="ko-KR" sz="3000" b="1" kern="0" spc="-1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06</a:t>
            </a:r>
            <a:endParaRPr lang="en-US" altLang="ko-KR" sz="3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1" name="Text 48"/>
          <p:cNvSpPr/>
          <p:nvPr/>
        </p:nvSpPr>
        <p:spPr>
          <a:xfrm>
            <a:off x="1600200" y="5412131"/>
            <a:ext cx="6400800" cy="292608"/>
          </a:xfrm>
          <a:prstGeom prst="rect">
            <a:avLst/>
          </a:prstGeom>
          <a:noFill/>
          <a:ln/>
        </p:spPr>
        <p:txBody>
          <a:bodyPr wrap="square" lIns="0" tIns="0" rIns="0" bIns="0" rtlCol="0" anchor="t"/>
          <a:lstStyle/>
          <a:p>
            <a:pPr marL="0" indent="0" algn="l">
              <a:buNone/>
            </a:pPr>
            <a:r>
              <a:rPr lang="ko-KR" altLang="en-US" sz="1600"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핵심</a:t>
            </a:r>
            <a:r>
              <a:rPr lang="en-US" sz="1600"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구현 및 결과</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6" name="Shape 22">
            <a:extLst>
              <a:ext uri="{FF2B5EF4-FFF2-40B4-BE49-F238E27FC236}">
                <a16:creationId xmlns:a16="http://schemas.microsoft.com/office/drawing/2014/main" id="{ACEC23A1-FA94-4A7E-AEF5-790AE8574C91}"/>
              </a:ext>
            </a:extLst>
          </p:cNvPr>
          <p:cNvSpPr/>
          <p:nvPr/>
        </p:nvSpPr>
        <p:spPr>
          <a:xfrm>
            <a:off x="1417320" y="2725935"/>
            <a:ext cx="36576" cy="347472"/>
          </a:xfrm>
          <a:prstGeom prst="rect">
            <a:avLst/>
          </a:prstGeom>
          <a:solidFill>
            <a:srgbClr val="1456F0"/>
          </a:solidFill>
          <a:ln w="12700">
            <a:solidFill>
              <a:srgbClr val="1456F0"/>
            </a:solidFill>
            <a:prstDash val="solid"/>
          </a:ln>
        </p:spPr>
      </p:sp>
      <p:sp>
        <p:nvSpPr>
          <p:cNvPr id="63" name="Shape 22">
            <a:extLst>
              <a:ext uri="{FF2B5EF4-FFF2-40B4-BE49-F238E27FC236}">
                <a16:creationId xmlns:a16="http://schemas.microsoft.com/office/drawing/2014/main" id="{79D0AE60-0049-4667-A9DD-C5DAFDE20A69}"/>
              </a:ext>
            </a:extLst>
          </p:cNvPr>
          <p:cNvSpPr/>
          <p:nvPr/>
        </p:nvSpPr>
        <p:spPr>
          <a:xfrm>
            <a:off x="1417320" y="4048507"/>
            <a:ext cx="36576" cy="347472"/>
          </a:xfrm>
          <a:prstGeom prst="rect">
            <a:avLst/>
          </a:prstGeom>
          <a:solidFill>
            <a:srgbClr val="1456F0"/>
          </a:solidFill>
          <a:ln w="12700">
            <a:solidFill>
              <a:srgbClr val="1456F0"/>
            </a:solidFill>
            <a:prstDash val="solid"/>
          </a:ln>
        </p:spPr>
      </p:sp>
      <p:sp>
        <p:nvSpPr>
          <p:cNvPr id="64" name="Shape 22">
            <a:extLst>
              <a:ext uri="{FF2B5EF4-FFF2-40B4-BE49-F238E27FC236}">
                <a16:creationId xmlns:a16="http://schemas.microsoft.com/office/drawing/2014/main" id="{C6326832-1B6D-43AD-8EF4-5DE182EEF19E}"/>
              </a:ext>
            </a:extLst>
          </p:cNvPr>
          <p:cNvSpPr/>
          <p:nvPr/>
        </p:nvSpPr>
        <p:spPr>
          <a:xfrm>
            <a:off x="1417320" y="4681486"/>
            <a:ext cx="36576" cy="347472"/>
          </a:xfrm>
          <a:prstGeom prst="rect">
            <a:avLst/>
          </a:prstGeom>
          <a:solidFill>
            <a:srgbClr val="1456F0"/>
          </a:solidFill>
          <a:ln w="12700">
            <a:solidFill>
              <a:srgbClr val="1456F0"/>
            </a:solidFill>
            <a:prstDash val="solid"/>
          </a:ln>
        </p:spPr>
      </p:sp>
      <p:sp>
        <p:nvSpPr>
          <p:cNvPr id="65" name="Shape 22">
            <a:extLst>
              <a:ext uri="{FF2B5EF4-FFF2-40B4-BE49-F238E27FC236}">
                <a16:creationId xmlns:a16="http://schemas.microsoft.com/office/drawing/2014/main" id="{2EE68D42-A8C4-4CB3-A495-B2CA481B1822}"/>
              </a:ext>
            </a:extLst>
          </p:cNvPr>
          <p:cNvSpPr/>
          <p:nvPr/>
        </p:nvSpPr>
        <p:spPr>
          <a:xfrm>
            <a:off x="1417320" y="5365244"/>
            <a:ext cx="36576" cy="347472"/>
          </a:xfrm>
          <a:prstGeom prst="rect">
            <a:avLst/>
          </a:prstGeom>
          <a:solidFill>
            <a:srgbClr val="1456F0"/>
          </a:solidFill>
          <a:ln w="12700">
            <a:solidFill>
              <a:srgbClr val="1456F0"/>
            </a:solidFill>
            <a:prstDash val="solid"/>
          </a:ln>
        </p:spPr>
      </p:sp>
      <p:sp>
        <p:nvSpPr>
          <p:cNvPr id="68" name="Text 24">
            <a:extLst>
              <a:ext uri="{FF2B5EF4-FFF2-40B4-BE49-F238E27FC236}">
                <a16:creationId xmlns:a16="http://schemas.microsoft.com/office/drawing/2014/main" id="{D4F03CE6-2814-499F-B753-8A8232394B86}"/>
              </a:ext>
            </a:extLst>
          </p:cNvPr>
          <p:cNvSpPr/>
          <p:nvPr/>
        </p:nvSpPr>
        <p:spPr>
          <a:xfrm>
            <a:off x="1600200" y="2778659"/>
            <a:ext cx="6400800" cy="292608"/>
          </a:xfrm>
          <a:prstGeom prst="rect">
            <a:avLst/>
          </a:prstGeom>
          <a:noFill/>
          <a:ln/>
        </p:spPr>
        <p:txBody>
          <a:bodyPr wrap="square" lIns="0" tIns="0" rIns="0" bIns="0" rtlCol="0" anchor="t"/>
          <a:lstStyle/>
          <a:p>
            <a:r>
              <a:rPr lang="ko-KR" altLang="en-US" sz="1600"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기존 서비스 한계 </a:t>
            </a:r>
            <a:r>
              <a:rPr lang="en-US" sz="1600"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sz="1600"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AS – IS</a:t>
            </a:r>
            <a:r>
              <a:rPr lang="en-US" sz="1600"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Shape 28">
            <a:extLst>
              <a:ext uri="{FF2B5EF4-FFF2-40B4-BE49-F238E27FC236}">
                <a16:creationId xmlns:a16="http://schemas.microsoft.com/office/drawing/2014/main" id="{13F9F4D6-AA46-42BE-9933-9BDA97B55833}"/>
              </a:ext>
            </a:extLst>
          </p:cNvPr>
          <p:cNvSpPr/>
          <p:nvPr/>
        </p:nvSpPr>
        <p:spPr>
          <a:xfrm>
            <a:off x="594360" y="4553332"/>
            <a:ext cx="11002975" cy="0"/>
          </a:xfrm>
          <a:prstGeom prst="line">
            <a:avLst/>
          </a:prstGeom>
          <a:noFill/>
          <a:ln w="6350">
            <a:solidFill>
              <a:srgbClr val="F2F3F5"/>
            </a:solidFill>
            <a:prstDash val="solid"/>
          </a:ln>
        </p:spPr>
      </p:sp>
      <p:sp>
        <p:nvSpPr>
          <p:cNvPr id="34" name="Shape 44">
            <a:extLst>
              <a:ext uri="{FF2B5EF4-FFF2-40B4-BE49-F238E27FC236}">
                <a16:creationId xmlns:a16="http://schemas.microsoft.com/office/drawing/2014/main" id="{D350946E-6AEB-45E7-B8EC-B5FDE88DB4E2}"/>
              </a:ext>
            </a:extLst>
          </p:cNvPr>
          <p:cNvSpPr/>
          <p:nvPr/>
        </p:nvSpPr>
        <p:spPr>
          <a:xfrm>
            <a:off x="594360" y="5910454"/>
            <a:ext cx="11002975" cy="0"/>
          </a:xfrm>
          <a:prstGeom prst="line">
            <a:avLst/>
          </a:prstGeom>
          <a:noFill/>
          <a:ln w="6350">
            <a:solidFill>
              <a:srgbClr val="F2F3F5"/>
            </a:solidFill>
            <a:prstDash val="solid"/>
          </a:ln>
        </p:spPr>
        <p:txBody>
          <a:bodyPr/>
          <a:lstStyle/>
          <a:p>
            <a:endParaRPr lang="ko-KR" altLang="en-US" dirty="0"/>
          </a:p>
        </p:txBody>
      </p:sp>
      <p:sp>
        <p:nvSpPr>
          <p:cNvPr id="37" name="Shape 44">
            <a:extLst>
              <a:ext uri="{FF2B5EF4-FFF2-40B4-BE49-F238E27FC236}">
                <a16:creationId xmlns:a16="http://schemas.microsoft.com/office/drawing/2014/main" id="{9BBF7272-30F5-4B4A-B678-4D9EDE5CD382}"/>
              </a:ext>
            </a:extLst>
          </p:cNvPr>
          <p:cNvSpPr/>
          <p:nvPr/>
        </p:nvSpPr>
        <p:spPr>
          <a:xfrm>
            <a:off x="594360" y="5910453"/>
            <a:ext cx="11002975" cy="0"/>
          </a:xfrm>
          <a:prstGeom prst="line">
            <a:avLst/>
          </a:prstGeom>
          <a:noFill/>
          <a:ln w="6350">
            <a:solidFill>
              <a:srgbClr val="F2F3F5"/>
            </a:solidFill>
            <a:prstDash val="solid"/>
          </a:ln>
        </p:spPr>
        <p:txBody>
          <a:bodyPr/>
          <a:lstStyle/>
          <a:p>
            <a:endParaRPr lang="ko-KR" altLang="en-US" dirty="0"/>
          </a:p>
        </p:txBody>
      </p:sp>
    </p:spTree>
    <p:extLst>
      <p:ext uri="{BB962C8B-B14F-4D97-AF65-F5344CB8AC3E}">
        <p14:creationId xmlns:p14="http://schemas.microsoft.com/office/powerpoint/2010/main" val="2038046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01. 프로젝트 개요</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프로젝트 배경 및 목적</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88230" y="1364008"/>
            <a:ext cx="11277295" cy="292608"/>
          </a:xfrm>
          <a:prstGeom prst="rect">
            <a:avLst/>
          </a:prstGeom>
          <a:noFill/>
          <a:ln/>
        </p:spPr>
        <p:txBody>
          <a:bodyPr wrap="square" lIns="0" tIns="0" rIns="0" bIns="0" rtlCol="0" anchor="t"/>
          <a:lstStyle/>
          <a:p>
            <a:r>
              <a:rPr lang="ko-KR" altLang="en-US" sz="1600" dirty="0" err="1">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웅진씽크빅은</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전국 지국 영업조직원을 대상으로 업무 만족도 및 제품 피드백 수집을 위해 설문조사 서비스를 적극 활용하고 있습니다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6"/>
          <p:cNvSpPr/>
          <p:nvPr/>
        </p:nvSpPr>
        <p:spPr>
          <a:xfrm>
            <a:off x="457200" y="2234152"/>
            <a:ext cx="7315200" cy="365760"/>
          </a:xfrm>
          <a:prstGeom prst="rect">
            <a:avLst/>
          </a:prstGeom>
          <a:noFill/>
          <a:ln/>
        </p:spPr>
        <p:txBody>
          <a:bodyPr wrap="square" lIns="0" tIns="0" rIns="0" bIns="0" rtlCol="0" anchor="t"/>
          <a:lstStyle/>
          <a:p>
            <a:pPr marL="0" indent="0" algn="l">
              <a:buNone/>
            </a:pPr>
            <a:r>
              <a:rPr lang="en-US"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프로젝트 배경</a:t>
            </a: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 name="Shape 7"/>
          <p:cNvSpPr/>
          <p:nvPr/>
        </p:nvSpPr>
        <p:spPr>
          <a:xfrm>
            <a:off x="457200" y="2615184"/>
            <a:ext cx="5547208" cy="1399032"/>
          </a:xfrm>
          <a:prstGeom prst="roundRect">
            <a:avLst>
              <a:gd name="adj" fmla="val 9286"/>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14" name="Text 11"/>
          <p:cNvSpPr/>
          <p:nvPr/>
        </p:nvSpPr>
        <p:spPr>
          <a:xfrm>
            <a:off x="658368" y="2781864"/>
            <a:ext cx="518144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전국 영업조직원 대상 설문 운영</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Text 12"/>
          <p:cNvSpPr/>
          <p:nvPr/>
        </p:nvSpPr>
        <p:spPr>
          <a:xfrm>
            <a:off x="658368" y="3199711"/>
            <a:ext cx="5181448" cy="164592"/>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a:t>
            </a:r>
            <a:r>
              <a:rPr lang="en-US" sz="12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전국 지국 영업조직원을 대상으로 업무 만족도 및 제품 피드백 수집</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7" name="Shape 14"/>
          <p:cNvSpPr/>
          <p:nvPr/>
        </p:nvSpPr>
        <p:spPr>
          <a:xfrm>
            <a:off x="6187288" y="2634392"/>
            <a:ext cx="5547208" cy="1389888"/>
          </a:xfrm>
          <a:prstGeom prst="roundRect">
            <a:avLst>
              <a:gd name="adj" fmla="val 9286"/>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Shape 15"/>
          <p:cNvSpPr/>
          <p:nvPr/>
        </p:nvSpPr>
        <p:spPr>
          <a:xfrm>
            <a:off x="6187288" y="2670048"/>
            <a:ext cx="64008" cy="1280160"/>
          </a:xfrm>
          <a:prstGeom prst="rect">
            <a:avLst/>
          </a:prstGeom>
          <a:solidFill>
            <a:srgbClr val="D9472B"/>
          </a:solidFill>
          <a:ln w="12700">
            <a:solidFill>
              <a:srgbClr val="D9472B"/>
            </a:solidFill>
            <a:prstDash val="solid"/>
          </a:ln>
        </p:spPr>
      </p:sp>
      <p:sp>
        <p:nvSpPr>
          <p:cNvPr id="21" name="Text 18"/>
          <p:cNvSpPr/>
          <p:nvPr/>
        </p:nvSpPr>
        <p:spPr>
          <a:xfrm>
            <a:off x="6402172" y="2783079"/>
            <a:ext cx="518144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관리자</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사용자</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시스템 측면의 개선 필요</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Text 19"/>
          <p:cNvSpPr/>
          <p:nvPr/>
        </p:nvSpPr>
        <p:spPr>
          <a:xfrm>
            <a:off x="6388456" y="3203454"/>
            <a:ext cx="5181448" cy="164592"/>
          </a:xfrm>
          <a:prstGeom prst="rect">
            <a:avLst/>
          </a:prstGeom>
          <a:noFill/>
          <a:ln/>
        </p:spPr>
        <p:txBody>
          <a:bodyPr wrap="square" lIns="0" tIns="0" rIns="0" bIns="0" rtlCol="0" anchor="t"/>
          <a:lstStyle/>
          <a:p>
            <a:r>
              <a:rPr lang="en-US" altLang="ko-KR"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a:t>
            </a: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b="1" dirty="0">
                <a:latin typeface="Pretendard" panose="02000503000000020004" pitchFamily="50" charset="-127"/>
                <a:ea typeface="Pretendard" panose="02000503000000020004" pitchFamily="50" charset="-127"/>
                <a:cs typeface="Pretendard" panose="02000503000000020004" pitchFamily="50" charset="-127"/>
              </a:rPr>
              <a:t>관리자</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통계 확인</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과 데이터 관리가 번거로움</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3" name="Text 20"/>
          <p:cNvSpPr/>
          <p:nvPr/>
        </p:nvSpPr>
        <p:spPr>
          <a:xfrm>
            <a:off x="6388456" y="3437216"/>
            <a:ext cx="5181448" cy="164592"/>
          </a:xfrm>
          <a:prstGeom prst="rect">
            <a:avLst/>
          </a:prstGeom>
          <a:noFill/>
          <a:ln/>
        </p:spPr>
        <p:txBody>
          <a:bodyPr wrap="square" lIns="0" tIns="0" rIns="0" bIns="0" rtlCol="0" anchor="t"/>
          <a:lstStyle/>
          <a:p>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b="1" dirty="0">
                <a:latin typeface="Pretendard" panose="02000503000000020004" pitchFamily="50" charset="-127"/>
                <a:ea typeface="Pretendard" panose="02000503000000020004" pitchFamily="50" charset="-127"/>
                <a:cs typeface="Pretendard" panose="02000503000000020004" pitchFamily="50" charset="-127"/>
              </a:rPr>
              <a:t>사용자</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설문 화면이 </a:t>
            </a:r>
            <a:r>
              <a:rPr lang="ko-KR" altLang="en-US" sz="1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직관적</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이지 않아 응답 부담 발생</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 name="Text 22"/>
          <p:cNvSpPr/>
          <p:nvPr/>
        </p:nvSpPr>
        <p:spPr>
          <a:xfrm>
            <a:off x="457200" y="4507992"/>
            <a:ext cx="11277295" cy="329184"/>
          </a:xfrm>
          <a:prstGeom prst="rect">
            <a:avLst/>
          </a:prstGeom>
          <a:noFill/>
          <a:ln/>
        </p:spPr>
        <p:txBody>
          <a:bodyPr wrap="square" lIns="0" tIns="0" rIns="0" bIns="0" rtlCol="0" anchor="t"/>
          <a:lstStyle/>
          <a:p>
            <a:pPr marL="0" indent="0" algn="l">
              <a:buNone/>
            </a:pPr>
            <a:r>
              <a:rPr lang="en-US"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프로젝트</a:t>
            </a:r>
            <a:r>
              <a:rPr lang="en-US" sz="18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목적</a:t>
            </a:r>
            <a:r>
              <a:rPr lang="en-US" sz="1200" b="1"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    기존 핵심 기능은 유지하면서 3가지 방향으로 고도화</a:t>
            </a:r>
            <a:endParaRPr lang="en-US" sz="1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6" name="Shape 23"/>
          <p:cNvSpPr/>
          <p:nvPr/>
        </p:nvSpPr>
        <p:spPr>
          <a:xfrm>
            <a:off x="457200" y="4928616"/>
            <a:ext cx="3637178" cy="1252728"/>
          </a:xfrm>
          <a:prstGeom prst="roundRect">
            <a:avLst>
              <a:gd name="adj" fmla="val 11679"/>
            </a:avLst>
          </a:prstGeom>
          <a:solidFill>
            <a:srgbClr val="EEF4FF"/>
          </a:solidFill>
          <a:ln w="9525">
            <a:solidFill>
              <a:srgbClr val="BFDBFE"/>
            </a:solidFill>
            <a:prstDash val="solid"/>
          </a:ln>
          <a:effectLst>
            <a:outerShdw blurRad="190500" dist="50800" dir="5400000" algn="bl" rotWithShape="0">
              <a:srgbClr val="2C1E74">
                <a:alpha val="16000"/>
              </a:srgbClr>
            </a:outerShdw>
          </a:effectLst>
        </p:spPr>
      </p:sp>
      <p:sp>
        <p:nvSpPr>
          <p:cNvPr id="27" name="Shape 24"/>
          <p:cNvSpPr/>
          <p:nvPr/>
        </p:nvSpPr>
        <p:spPr>
          <a:xfrm>
            <a:off x="457200" y="4928616"/>
            <a:ext cx="3637178" cy="54864"/>
          </a:xfrm>
          <a:prstGeom prst="rect">
            <a:avLst/>
          </a:prstGeom>
          <a:solidFill>
            <a:srgbClr val="1456F0"/>
          </a:solidFill>
          <a:ln w="12700">
            <a:solidFill>
              <a:srgbClr val="1456F0"/>
            </a:solidFill>
            <a:prstDash val="solid"/>
          </a:ln>
        </p:spPr>
      </p:sp>
      <p:sp>
        <p:nvSpPr>
          <p:cNvPr id="28" name="Text 25"/>
          <p:cNvSpPr/>
          <p:nvPr/>
        </p:nvSpPr>
        <p:spPr>
          <a:xfrm>
            <a:off x="658368" y="5074920"/>
            <a:ext cx="640080" cy="384048"/>
          </a:xfrm>
          <a:prstGeom prst="rect">
            <a:avLst/>
          </a:prstGeom>
          <a:noFill/>
          <a:ln/>
        </p:spPr>
        <p:txBody>
          <a:bodyPr wrap="square" lIns="0" tIns="0" rIns="0" bIns="0" rtlCol="0" anchor="t"/>
          <a:lstStyle/>
          <a:p>
            <a:pPr marL="0" indent="0" algn="l">
              <a:buNone/>
            </a:pPr>
            <a:r>
              <a:rPr lang="en-US" sz="2200" b="1" kern="0" spc="-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01</a:t>
            </a:r>
            <a:endParaRPr lang="en-US" sz="2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Shape 26"/>
          <p:cNvSpPr/>
          <p:nvPr/>
        </p:nvSpPr>
        <p:spPr>
          <a:xfrm>
            <a:off x="3134258" y="5129784"/>
            <a:ext cx="777240" cy="256032"/>
          </a:xfrm>
          <a:prstGeom prst="roundRect">
            <a:avLst>
              <a:gd name="adj" fmla="val 50000"/>
            </a:avLst>
          </a:prstGeom>
          <a:solidFill>
            <a:srgbClr val="1456F0"/>
          </a:solidFill>
          <a:ln w="12700">
            <a:solidFill>
              <a:srgbClr val="1456F0"/>
            </a:solidFill>
            <a:prstDash val="solid"/>
          </a:ln>
        </p:spPr>
      </p:sp>
      <p:sp>
        <p:nvSpPr>
          <p:cNvPr id="30" name="Text 27"/>
          <p:cNvSpPr/>
          <p:nvPr/>
        </p:nvSpPr>
        <p:spPr>
          <a:xfrm>
            <a:off x="3134258" y="5129784"/>
            <a:ext cx="7772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관리자</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1" name="Text 28"/>
          <p:cNvSpPr/>
          <p:nvPr/>
        </p:nvSpPr>
        <p:spPr>
          <a:xfrm>
            <a:off x="658368" y="5577840"/>
            <a:ext cx="3271418" cy="292608"/>
          </a:xfrm>
          <a:prstGeom prst="rect">
            <a:avLst/>
          </a:prstGeom>
          <a:noFill/>
          <a:ln/>
        </p:spPr>
        <p:txBody>
          <a:bodyPr wrap="square" lIns="0" tIns="0" rIns="0" bIns="0" rtlCol="0" anchor="t"/>
          <a:lstStyle/>
          <a:p>
            <a:pPr algn="ct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통계</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이력 관리 개선</a:t>
            </a:r>
            <a:endParaRPr lang="en-US" sz="13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Text 29"/>
          <p:cNvSpPr/>
          <p:nvPr/>
        </p:nvSpPr>
        <p:spPr>
          <a:xfrm>
            <a:off x="658368" y="5797296"/>
            <a:ext cx="3271418" cy="365760"/>
          </a:xfrm>
          <a:prstGeom prst="rect">
            <a:avLst/>
          </a:prstGeom>
          <a:noFill/>
          <a:ln/>
        </p:spPr>
        <p:txBody>
          <a:bodyPr wrap="square" lIns="0" tIns="0" rIns="0" bIns="0" rtlCol="0" anchor="t"/>
          <a:lstStyle/>
          <a:p>
            <a:pPr marL="0" indent="0" algn="l">
              <a:buNone/>
            </a:pP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Shape 30"/>
          <p:cNvSpPr/>
          <p:nvPr/>
        </p:nvSpPr>
        <p:spPr>
          <a:xfrm>
            <a:off x="4277258" y="4928616"/>
            <a:ext cx="3637178" cy="1252728"/>
          </a:xfrm>
          <a:prstGeom prst="roundRect">
            <a:avLst>
              <a:gd name="adj" fmla="val 11679"/>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4" name="Shape 31"/>
          <p:cNvSpPr/>
          <p:nvPr/>
        </p:nvSpPr>
        <p:spPr>
          <a:xfrm>
            <a:off x="4277258" y="4928616"/>
            <a:ext cx="3637178" cy="54864"/>
          </a:xfrm>
          <a:prstGeom prst="rect">
            <a:avLst/>
          </a:prstGeom>
          <a:solidFill>
            <a:srgbClr val="EA5EC1"/>
          </a:solidFill>
          <a:ln w="12700">
            <a:solidFill>
              <a:srgbClr val="EA5EC1"/>
            </a:solidFill>
            <a:prstDash val="solid"/>
          </a:ln>
        </p:spPr>
      </p:sp>
      <p:sp>
        <p:nvSpPr>
          <p:cNvPr id="35" name="Text 32"/>
          <p:cNvSpPr/>
          <p:nvPr/>
        </p:nvSpPr>
        <p:spPr>
          <a:xfrm>
            <a:off x="4478426" y="5074920"/>
            <a:ext cx="640080" cy="384048"/>
          </a:xfrm>
          <a:prstGeom prst="rect">
            <a:avLst/>
          </a:prstGeom>
          <a:noFill/>
          <a:ln/>
        </p:spPr>
        <p:txBody>
          <a:bodyPr wrap="square" lIns="0" tIns="0" rIns="0" bIns="0" rtlCol="0" anchor="t"/>
          <a:lstStyle/>
          <a:p>
            <a:pPr marL="0" indent="0" algn="l">
              <a:buNone/>
            </a:pPr>
            <a:r>
              <a:rPr lang="en-US" sz="2200" b="1" kern="0" spc="-5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02</a:t>
            </a:r>
            <a:endParaRPr lang="en-US" sz="2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6" name="Shape 33"/>
          <p:cNvSpPr/>
          <p:nvPr/>
        </p:nvSpPr>
        <p:spPr>
          <a:xfrm>
            <a:off x="6954317" y="5129784"/>
            <a:ext cx="777240" cy="256032"/>
          </a:xfrm>
          <a:prstGeom prst="roundRect">
            <a:avLst>
              <a:gd name="adj" fmla="val 50000"/>
            </a:avLst>
          </a:prstGeom>
          <a:solidFill>
            <a:srgbClr val="EA5EC1"/>
          </a:solidFill>
          <a:ln w="12700">
            <a:solidFill>
              <a:srgbClr val="EA5EC1"/>
            </a:solidFill>
            <a:prstDash val="solid"/>
          </a:ln>
        </p:spPr>
      </p:sp>
      <p:sp>
        <p:nvSpPr>
          <p:cNvPr id="37" name="Text 34"/>
          <p:cNvSpPr/>
          <p:nvPr/>
        </p:nvSpPr>
        <p:spPr>
          <a:xfrm>
            <a:off x="6954317" y="5129784"/>
            <a:ext cx="7772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사용자</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8" name="Text 35"/>
          <p:cNvSpPr/>
          <p:nvPr/>
        </p:nvSpPr>
        <p:spPr>
          <a:xfrm>
            <a:off x="4460139" y="5584207"/>
            <a:ext cx="3271418" cy="292608"/>
          </a:xfrm>
          <a:prstGeom prst="rect">
            <a:avLst/>
          </a:prstGeom>
          <a:noFill/>
          <a:ln/>
        </p:spPr>
        <p:txBody>
          <a:bodyPr wrap="square" lIns="0" tIns="0" rIns="0" bIns="0" rtlCol="0" anchor="t"/>
          <a:lstStyle/>
          <a:p>
            <a:pPr marL="0" indent="0" algn="ctr">
              <a:buNone/>
            </a:pPr>
            <a:r>
              <a:rPr lang="ko-KR" altLang="en-US" sz="135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a:t>
            </a:r>
            <a:r>
              <a:rPr lang="en-US" sz="1350" b="1" kern="0" spc="-2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참여</a:t>
            </a:r>
            <a:r>
              <a:rPr lang="en-US" sz="135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편의성 향상</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9" name="Text 36"/>
          <p:cNvSpPr/>
          <p:nvPr/>
        </p:nvSpPr>
        <p:spPr>
          <a:xfrm>
            <a:off x="4478426" y="5797296"/>
            <a:ext cx="3271418" cy="365760"/>
          </a:xfrm>
          <a:prstGeom prst="rect">
            <a:avLst/>
          </a:prstGeom>
          <a:noFill/>
          <a:ln/>
        </p:spPr>
        <p:txBody>
          <a:bodyPr wrap="square" lIns="0" tIns="0" rIns="0" bIns="0" rtlCol="0" anchor="t"/>
          <a:lstStyle/>
          <a:p>
            <a:pPr marL="0" indent="0" algn="l">
              <a:buNone/>
            </a:pP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Shape 37"/>
          <p:cNvSpPr/>
          <p:nvPr/>
        </p:nvSpPr>
        <p:spPr>
          <a:xfrm>
            <a:off x="8097317" y="4928616"/>
            <a:ext cx="3637178" cy="1252728"/>
          </a:xfrm>
          <a:prstGeom prst="roundRect">
            <a:avLst>
              <a:gd name="adj" fmla="val 11679"/>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1" name="Shape 38"/>
          <p:cNvSpPr/>
          <p:nvPr/>
        </p:nvSpPr>
        <p:spPr>
          <a:xfrm>
            <a:off x="8097317" y="4928616"/>
            <a:ext cx="3637178" cy="54864"/>
          </a:xfrm>
          <a:prstGeom prst="rect">
            <a:avLst/>
          </a:prstGeom>
          <a:solidFill>
            <a:srgbClr val="18181B"/>
          </a:solidFill>
          <a:ln w="12700">
            <a:solidFill>
              <a:srgbClr val="18181B"/>
            </a:solidFill>
            <a:prstDash val="solid"/>
          </a:ln>
        </p:spPr>
      </p:sp>
      <p:sp>
        <p:nvSpPr>
          <p:cNvPr id="42" name="Text 39"/>
          <p:cNvSpPr/>
          <p:nvPr/>
        </p:nvSpPr>
        <p:spPr>
          <a:xfrm>
            <a:off x="8298485" y="5074920"/>
            <a:ext cx="640080" cy="384048"/>
          </a:xfrm>
          <a:prstGeom prst="rect">
            <a:avLst/>
          </a:prstGeom>
          <a:noFill/>
          <a:ln/>
        </p:spPr>
        <p:txBody>
          <a:bodyPr wrap="square" lIns="0" tIns="0" rIns="0" bIns="0" rtlCol="0" anchor="t"/>
          <a:lstStyle/>
          <a:p>
            <a:pPr marL="0" indent="0" algn="l">
              <a:buNone/>
            </a:pPr>
            <a:r>
              <a:rPr lang="en-US" sz="2200" b="1" kern="0" spc="-50" dirty="0">
                <a:solidFill>
                  <a:srgbClr val="18181B"/>
                </a:solidFill>
                <a:latin typeface="Pretendard" panose="02000503000000020004" pitchFamily="50" charset="-127"/>
                <a:ea typeface="Pretendard" panose="02000503000000020004" pitchFamily="50" charset="-127"/>
                <a:cs typeface="Pretendard" panose="02000503000000020004" pitchFamily="50" charset="-127"/>
              </a:rPr>
              <a:t>03</a:t>
            </a:r>
            <a:endParaRPr lang="en-US" sz="2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Shape 40"/>
          <p:cNvSpPr/>
          <p:nvPr/>
        </p:nvSpPr>
        <p:spPr>
          <a:xfrm>
            <a:off x="10774375" y="5129784"/>
            <a:ext cx="777240" cy="256032"/>
          </a:xfrm>
          <a:prstGeom prst="roundRect">
            <a:avLst>
              <a:gd name="adj" fmla="val 50000"/>
            </a:avLst>
          </a:prstGeom>
          <a:solidFill>
            <a:srgbClr val="18181B"/>
          </a:solidFill>
          <a:ln w="12700">
            <a:solidFill>
              <a:srgbClr val="18181B"/>
            </a:solidFill>
            <a:prstDash val="solid"/>
          </a:ln>
        </p:spPr>
      </p:sp>
      <p:sp>
        <p:nvSpPr>
          <p:cNvPr id="44" name="Text 41"/>
          <p:cNvSpPr/>
          <p:nvPr/>
        </p:nvSpPr>
        <p:spPr>
          <a:xfrm>
            <a:off x="10774375" y="5129784"/>
            <a:ext cx="7772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시스템</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5" name="Text 42"/>
          <p:cNvSpPr/>
          <p:nvPr/>
        </p:nvSpPr>
        <p:spPr>
          <a:xfrm>
            <a:off x="8298485" y="5554596"/>
            <a:ext cx="3271418" cy="425580"/>
          </a:xfrm>
          <a:prstGeom prst="rect">
            <a:avLst/>
          </a:prstGeom>
          <a:noFill/>
          <a:ln/>
        </p:spPr>
        <p:txBody>
          <a:bodyPr wrap="square" lIns="0" tIns="0" rIns="0" bIns="0" rtlCol="0" anchor="t"/>
          <a:lstStyle/>
          <a:p>
            <a:pPr algn="ct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Java/Spring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기반 </a:t>
            </a:r>
            <a:r>
              <a:rPr lang="ko-KR" altLang="en-US" sz="1400" b="1" dirty="0" err="1">
                <a:latin typeface="Pretendard" panose="02000503000000020004" pitchFamily="50" charset="-127"/>
                <a:ea typeface="Pretendard" panose="02000503000000020004" pitchFamily="50" charset="-127"/>
                <a:cs typeface="Pretendard" panose="02000503000000020004" pitchFamily="50" charset="-127"/>
              </a:rPr>
              <a:t>재구현</a:t>
            </a:r>
            <a:endParaRPr lang="en-US" sz="13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6" name="Text 43"/>
          <p:cNvSpPr/>
          <p:nvPr/>
        </p:nvSpPr>
        <p:spPr>
          <a:xfrm>
            <a:off x="8298485" y="5797296"/>
            <a:ext cx="3271418" cy="365760"/>
          </a:xfrm>
          <a:prstGeom prst="rect">
            <a:avLst/>
          </a:prstGeom>
          <a:noFill/>
          <a:ln/>
        </p:spPr>
        <p:txBody>
          <a:bodyPr wrap="square" lIns="0" tIns="0" rIns="0" bIns="0" rtlCol="0" anchor="t"/>
          <a:lstStyle/>
          <a:p>
            <a:pPr marL="0" indent="0" algn="l">
              <a:buNone/>
            </a:pP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8" name="Text 5"/>
          <p:cNvSpPr/>
          <p:nvPr/>
        </p:nvSpPr>
        <p:spPr>
          <a:xfrm>
            <a:off x="457200" y="1996408"/>
            <a:ext cx="5486400" cy="201168"/>
          </a:xfrm>
          <a:prstGeom prst="rect">
            <a:avLst/>
          </a:prstGeom>
          <a:noFill/>
          <a:ln/>
        </p:spPr>
        <p:txBody>
          <a:bodyPr wrap="square" lIns="0" tIns="0" rIns="0" bIns="0" rtlCol="0" anchor="t"/>
          <a:lstStyle/>
          <a:p>
            <a:pPr marL="0" indent="0" algn="l">
              <a:buNone/>
            </a:pPr>
            <a:r>
              <a:rPr lang="en-US" sz="1000" b="1" kern="0" spc="200"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BACKGROUND</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0" name="Text 21"/>
          <p:cNvSpPr/>
          <p:nvPr/>
        </p:nvSpPr>
        <p:spPr>
          <a:xfrm>
            <a:off x="457200" y="4270248"/>
            <a:ext cx="5486400" cy="201168"/>
          </a:xfrm>
          <a:prstGeom prst="rect">
            <a:avLst/>
          </a:prstGeom>
          <a:noFill/>
          <a:ln/>
        </p:spPr>
        <p:txBody>
          <a:bodyPr wrap="square" lIns="0" tIns="0" rIns="0" bIns="0" rtlCol="0" anchor="t"/>
          <a:lstStyle/>
          <a:p>
            <a:pPr marL="0" indent="0" algn="l">
              <a:buNone/>
            </a:pPr>
            <a:r>
              <a:rPr lang="en-US" sz="10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OBJECTIVE</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9" name="Text 20">
            <a:extLst>
              <a:ext uri="{FF2B5EF4-FFF2-40B4-BE49-F238E27FC236}">
                <a16:creationId xmlns:a16="http://schemas.microsoft.com/office/drawing/2014/main" id="{DCFE9A50-C47F-4166-BC8C-B0741817BCC2}"/>
              </a:ext>
            </a:extLst>
          </p:cNvPr>
          <p:cNvSpPr/>
          <p:nvPr/>
        </p:nvSpPr>
        <p:spPr>
          <a:xfrm>
            <a:off x="6388456" y="3673111"/>
            <a:ext cx="5181448" cy="164592"/>
          </a:xfrm>
          <a:prstGeom prst="rect">
            <a:avLst/>
          </a:prstGeom>
          <a:noFill/>
          <a:ln/>
        </p:spPr>
        <p:txBody>
          <a:bodyPr wrap="square" lIns="0" tIns="0" rIns="0" bIns="0" rtlCol="0" anchor="t"/>
          <a:lstStyle/>
          <a:p>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b="1" dirty="0">
                <a:latin typeface="Pretendard" panose="02000503000000020004" pitchFamily="50" charset="-127"/>
                <a:ea typeface="Pretendard" panose="02000503000000020004" pitchFamily="50" charset="-127"/>
                <a:cs typeface="Pretendard" panose="02000503000000020004" pitchFamily="50" charset="-127"/>
              </a:rPr>
              <a:t>시스템</a:t>
            </a:r>
            <a:r>
              <a:rPr lang="en-US" sz="120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 : </a:t>
            </a:r>
            <a:r>
              <a:rPr lang="ko-KR" altLang="en-US" sz="1200" dirty="0" err="1">
                <a:solidFill>
                  <a:srgbClr val="1456F0"/>
                </a:solidFill>
                <a:latin typeface="Pretendard" panose="02000503000000020004" pitchFamily="50" charset="-127"/>
                <a:ea typeface="Pretendard" panose="02000503000000020004" pitchFamily="50" charset="-127"/>
                <a:cs typeface="Pretendard" panose="02000503000000020004" pitchFamily="50" charset="-127"/>
              </a:rPr>
              <a:t>레거시</a:t>
            </a:r>
            <a:r>
              <a:rPr lang="ko-KR" altLang="en-US" sz="1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구조</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로 인한 유지보수 한계</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1" name="Shape 15">
            <a:extLst>
              <a:ext uri="{FF2B5EF4-FFF2-40B4-BE49-F238E27FC236}">
                <a16:creationId xmlns:a16="http://schemas.microsoft.com/office/drawing/2014/main" id="{3BA8D4D0-9033-40BE-B7AB-EA4F1B33CB85}"/>
              </a:ext>
            </a:extLst>
          </p:cNvPr>
          <p:cNvSpPr/>
          <p:nvPr/>
        </p:nvSpPr>
        <p:spPr>
          <a:xfrm>
            <a:off x="475488" y="2670048"/>
            <a:ext cx="64008" cy="1280160"/>
          </a:xfrm>
          <a:prstGeom prst="rect">
            <a:avLst/>
          </a:prstGeom>
          <a:solidFill>
            <a:srgbClr val="D9472B"/>
          </a:solidFill>
          <a:ln w="12700">
            <a:solidFill>
              <a:srgbClr val="D9472B"/>
            </a:solidFill>
            <a:prstDash val="solid"/>
          </a:ln>
        </p:spPr>
      </p:sp>
      <p:sp>
        <p:nvSpPr>
          <p:cNvPr id="47" name="Text 1">
            <a:extLst>
              <a:ext uri="{FF2B5EF4-FFF2-40B4-BE49-F238E27FC236}">
                <a16:creationId xmlns:a16="http://schemas.microsoft.com/office/drawing/2014/main" id="{34FE67D7-3672-4199-982E-4B83D2AC0524}"/>
              </a:ext>
            </a:extLst>
          </p:cNvPr>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03</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02. </a:t>
            </a:r>
            <a:r>
              <a:rPr lang="en-US"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기존</a:t>
            </a: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서비스 한계</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기존</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서비스</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의 </a:t>
            </a: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한계점</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 </a:t>
            </a: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관리자</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측면</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199" y="1364742"/>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설문 관리 측면에서 관리자가 겪는 </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3</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가지 불편 요소</a:t>
            </a:r>
            <a:endPar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Shape 5"/>
          <p:cNvSpPr/>
          <p:nvPr/>
        </p:nvSpPr>
        <p:spPr>
          <a:xfrm>
            <a:off x="304178" y="2227990"/>
            <a:ext cx="4999342" cy="4058510"/>
          </a:xfrm>
          <a:prstGeom prst="roundRect">
            <a:avLst>
              <a:gd name="adj" fmla="val 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Shape 6"/>
          <p:cNvSpPr/>
          <p:nvPr/>
        </p:nvSpPr>
        <p:spPr>
          <a:xfrm>
            <a:off x="304178" y="1904870"/>
            <a:ext cx="4999342" cy="384048"/>
          </a:xfrm>
          <a:prstGeom prst="rect">
            <a:avLst/>
          </a:prstGeom>
          <a:solidFill>
            <a:srgbClr val="EEF0F3"/>
          </a:solidFill>
          <a:ln w="12700">
            <a:solidFill>
              <a:srgbClr val="E5E7EB"/>
            </a:solidFill>
            <a:prstDash val="solid"/>
          </a:ln>
        </p:spPr>
      </p:sp>
      <p:sp>
        <p:nvSpPr>
          <p:cNvPr id="10" name="Shape 7"/>
          <p:cNvSpPr/>
          <p:nvPr/>
        </p:nvSpPr>
        <p:spPr>
          <a:xfrm>
            <a:off x="384048" y="1984952"/>
            <a:ext cx="128016" cy="128016"/>
          </a:xfrm>
          <a:prstGeom prst="ellipse">
            <a:avLst/>
          </a:prstGeom>
          <a:solidFill>
            <a:srgbClr val="E0826B"/>
          </a:solidFill>
          <a:ln w="12700">
            <a:solidFill>
              <a:srgbClr val="E0826B"/>
            </a:solidFill>
            <a:prstDash val="solid"/>
          </a:ln>
        </p:spPr>
      </p:sp>
      <p:sp>
        <p:nvSpPr>
          <p:cNvPr id="11" name="Shape 8"/>
          <p:cNvSpPr/>
          <p:nvPr/>
        </p:nvSpPr>
        <p:spPr>
          <a:xfrm>
            <a:off x="566928" y="1984952"/>
            <a:ext cx="128016" cy="128016"/>
          </a:xfrm>
          <a:prstGeom prst="ellipse">
            <a:avLst/>
          </a:prstGeom>
          <a:solidFill>
            <a:srgbClr val="E3C66D"/>
          </a:solidFill>
          <a:ln w="12700">
            <a:solidFill>
              <a:srgbClr val="E3C66D"/>
            </a:solidFill>
            <a:prstDash val="solid"/>
          </a:ln>
        </p:spPr>
      </p:sp>
      <p:sp>
        <p:nvSpPr>
          <p:cNvPr id="12" name="Shape 9"/>
          <p:cNvSpPr/>
          <p:nvPr/>
        </p:nvSpPr>
        <p:spPr>
          <a:xfrm>
            <a:off x="749808" y="1984952"/>
            <a:ext cx="128016" cy="128016"/>
          </a:xfrm>
          <a:prstGeom prst="ellipse">
            <a:avLst/>
          </a:prstGeom>
          <a:solidFill>
            <a:srgbClr val="9DC97A"/>
          </a:solidFill>
          <a:ln w="12700">
            <a:solidFill>
              <a:srgbClr val="9DC97A"/>
            </a:solidFill>
            <a:prstDash val="solid"/>
          </a:ln>
        </p:spPr>
      </p:sp>
      <p:sp>
        <p:nvSpPr>
          <p:cNvPr id="15" name="Text 12"/>
          <p:cNvSpPr/>
          <p:nvPr/>
        </p:nvSpPr>
        <p:spPr>
          <a:xfrm>
            <a:off x="457200" y="3961298"/>
            <a:ext cx="4846320" cy="365760"/>
          </a:xfrm>
          <a:prstGeom prst="rect">
            <a:avLst/>
          </a:prstGeom>
          <a:noFill/>
          <a:ln/>
        </p:spPr>
        <p:txBody>
          <a:bodyPr wrap="square" lIns="0" tIns="0" rIns="0" bIns="0" rtlCol="0" anchor="ctr"/>
          <a:lstStyle/>
          <a:p>
            <a:pPr marL="0" indent="0" algn="ctr">
              <a:buNone/>
            </a:pPr>
            <a:r>
              <a:rPr lang="en-US" sz="14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Text 13"/>
          <p:cNvSpPr/>
          <p:nvPr/>
        </p:nvSpPr>
        <p:spPr>
          <a:xfrm>
            <a:off x="457200" y="3822192"/>
            <a:ext cx="4846320" cy="274320"/>
          </a:xfrm>
          <a:prstGeom prst="rect">
            <a:avLst/>
          </a:prstGeom>
          <a:noFill/>
          <a:ln/>
        </p:spPr>
        <p:txBody>
          <a:bodyPr wrap="square" lIns="0" tIns="0" rIns="0" bIns="0" rtlCol="0" anchor="ctr"/>
          <a:lstStyle/>
          <a:p>
            <a:pPr marL="0" indent="0" algn="ctr">
              <a:buNone/>
            </a:pP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Text 15"/>
          <p:cNvSpPr/>
          <p:nvPr/>
        </p:nvSpPr>
        <p:spPr>
          <a:xfrm>
            <a:off x="640080" y="5148072"/>
            <a:ext cx="777240" cy="27432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BEFORE</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1" name="Text 18"/>
          <p:cNvSpPr/>
          <p:nvPr/>
        </p:nvSpPr>
        <p:spPr>
          <a:xfrm>
            <a:off x="5577840" y="2249424"/>
            <a:ext cx="6156655" cy="292608"/>
          </a:xfrm>
          <a:prstGeom prst="rect">
            <a:avLst/>
          </a:prstGeom>
          <a:noFill/>
          <a:ln/>
        </p:spPr>
        <p:txBody>
          <a:bodyPr wrap="square" lIns="0" tIns="0" rIns="0" bIns="0" rtlCol="0" anchor="t"/>
          <a:lstStyle/>
          <a:p>
            <a:pPr marL="0" indent="0" algn="l">
              <a:buNone/>
            </a:pPr>
            <a:r>
              <a:rPr lang="ko-KR" alt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통계페이지에서 </a:t>
            </a:r>
            <a:r>
              <a:rPr lang="en-US" sz="16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관리자가</a:t>
            </a:r>
            <a:r>
              <a:rPr 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겪는 3가지 불편</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Shape 19"/>
          <p:cNvSpPr/>
          <p:nvPr/>
        </p:nvSpPr>
        <p:spPr>
          <a:xfrm>
            <a:off x="5577840" y="2615184"/>
            <a:ext cx="6156655" cy="1051560"/>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23" name="Shape 20"/>
          <p:cNvSpPr/>
          <p:nvPr/>
        </p:nvSpPr>
        <p:spPr>
          <a:xfrm>
            <a:off x="5577840" y="2615184"/>
            <a:ext cx="64008" cy="1051560"/>
          </a:xfrm>
          <a:prstGeom prst="rect">
            <a:avLst/>
          </a:prstGeom>
          <a:solidFill>
            <a:srgbClr val="D9472B"/>
          </a:solidFill>
          <a:ln w="12700">
            <a:solidFill>
              <a:srgbClr val="D9472B"/>
            </a:solidFill>
            <a:prstDash val="solid"/>
          </a:ln>
        </p:spPr>
      </p:sp>
      <p:sp>
        <p:nvSpPr>
          <p:cNvPr id="24" name="Text 21"/>
          <p:cNvSpPr/>
          <p:nvPr/>
        </p:nvSpPr>
        <p:spPr>
          <a:xfrm>
            <a:off x="5779008" y="2779776"/>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01</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7" name="Text 24"/>
          <p:cNvSpPr/>
          <p:nvPr/>
        </p:nvSpPr>
        <p:spPr>
          <a:xfrm>
            <a:off x="5779008" y="3026664"/>
            <a:ext cx="5790895"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진행 현황 파악 어려움</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Text 25"/>
          <p:cNvSpPr/>
          <p:nvPr/>
        </p:nvSpPr>
        <p:spPr>
          <a:xfrm>
            <a:off x="5779008" y="3401568"/>
            <a:ext cx="5790895" cy="274320"/>
          </a:xfrm>
          <a:prstGeom prst="rect">
            <a:avLst/>
          </a:prstGeom>
          <a:noFill/>
          <a:ln/>
        </p:spPr>
        <p:txBody>
          <a:bodyPr wrap="square" lIns="0" tIns="0" rIns="0" bIns="0" rtlCol="0" anchor="t"/>
          <a:lstStyle/>
          <a:p>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응답률</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미응답자 </a:t>
            </a:r>
            <a:r>
              <a:rPr lang="ko-KR" altLang="en-US" sz="1050" dirty="0" err="1">
                <a:latin typeface="Pretendard" panose="02000503000000020004" pitchFamily="50" charset="-127"/>
                <a:ea typeface="Pretendard" panose="02000503000000020004" pitchFamily="50" charset="-127"/>
                <a:cs typeface="Pretendard" panose="02000503000000020004" pitchFamily="50" charset="-127"/>
              </a:rPr>
              <a:t>수와같은</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 정보가 제공되지 않아 설문 진행 상황을 정확히 파악하기 어려움</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Shape 26"/>
          <p:cNvSpPr/>
          <p:nvPr/>
        </p:nvSpPr>
        <p:spPr>
          <a:xfrm>
            <a:off x="5577840" y="3831336"/>
            <a:ext cx="6156655" cy="1051560"/>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0" name="Shape 27"/>
          <p:cNvSpPr/>
          <p:nvPr/>
        </p:nvSpPr>
        <p:spPr>
          <a:xfrm>
            <a:off x="5577840" y="3831336"/>
            <a:ext cx="64008" cy="1051560"/>
          </a:xfrm>
          <a:prstGeom prst="rect">
            <a:avLst/>
          </a:prstGeom>
          <a:solidFill>
            <a:srgbClr val="D9472B"/>
          </a:solidFill>
          <a:ln w="12700">
            <a:solidFill>
              <a:srgbClr val="D9472B"/>
            </a:solidFill>
            <a:prstDash val="solid"/>
          </a:ln>
        </p:spPr>
      </p:sp>
      <p:sp>
        <p:nvSpPr>
          <p:cNvPr id="31" name="Text 28"/>
          <p:cNvSpPr/>
          <p:nvPr/>
        </p:nvSpPr>
        <p:spPr>
          <a:xfrm>
            <a:off x="5779008" y="3995928"/>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02</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Text 31"/>
          <p:cNvSpPr/>
          <p:nvPr/>
        </p:nvSpPr>
        <p:spPr>
          <a:xfrm>
            <a:off x="5779008" y="4233477"/>
            <a:ext cx="5790895"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응답 결과의 시각적인 파악 어려움</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Text 32"/>
          <p:cNvSpPr/>
          <p:nvPr/>
        </p:nvSpPr>
        <p:spPr>
          <a:xfrm>
            <a:off x="5779008" y="4550794"/>
            <a:ext cx="5790895" cy="274320"/>
          </a:xfrm>
          <a:prstGeom prst="rect">
            <a:avLst/>
          </a:prstGeom>
          <a:noFill/>
          <a:ln/>
        </p:spPr>
        <p:txBody>
          <a:bodyPr wrap="square" lIns="0" tIns="0" rIns="0" bIns="0" rtlCol="0" anchor="t"/>
          <a:lstStyle/>
          <a:p>
            <a:r>
              <a:rPr lang="ko-KR" altLang="en-US" sz="1050" dirty="0">
                <a:latin typeface="Pretendard" panose="02000503000000020004" pitchFamily="50" charset="-127"/>
                <a:ea typeface="Pretendard" panose="02000503000000020004" pitchFamily="50" charset="-127"/>
                <a:cs typeface="Pretendard" panose="02000503000000020004" pitchFamily="50" charset="-127"/>
              </a:rPr>
              <a:t>텍스트 형태로 제공된 문항 응답 분포를 직관적으로 파악하기 어려움</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6" name="Shape 33"/>
          <p:cNvSpPr/>
          <p:nvPr/>
        </p:nvSpPr>
        <p:spPr>
          <a:xfrm>
            <a:off x="5577840" y="5047488"/>
            <a:ext cx="6156655" cy="1051560"/>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7" name="Shape 34"/>
          <p:cNvSpPr/>
          <p:nvPr/>
        </p:nvSpPr>
        <p:spPr>
          <a:xfrm>
            <a:off x="5577840" y="5047488"/>
            <a:ext cx="64008" cy="1051560"/>
          </a:xfrm>
          <a:prstGeom prst="rect">
            <a:avLst/>
          </a:prstGeom>
          <a:solidFill>
            <a:srgbClr val="D9472B"/>
          </a:solidFill>
          <a:ln w="12700">
            <a:solidFill>
              <a:srgbClr val="D9472B"/>
            </a:solidFill>
            <a:prstDash val="solid"/>
          </a:ln>
        </p:spPr>
      </p:sp>
      <p:sp>
        <p:nvSpPr>
          <p:cNvPr id="38" name="Text 35"/>
          <p:cNvSpPr/>
          <p:nvPr/>
        </p:nvSpPr>
        <p:spPr>
          <a:xfrm>
            <a:off x="5779008" y="5212080"/>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03</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Text 38"/>
          <p:cNvSpPr/>
          <p:nvPr/>
        </p:nvSpPr>
        <p:spPr>
          <a:xfrm>
            <a:off x="5779008" y="5426964"/>
            <a:ext cx="5790895"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엑셀 다운로드 이력 관리 부재</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 </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2" name="Text 39"/>
          <p:cNvSpPr/>
          <p:nvPr/>
        </p:nvSpPr>
        <p:spPr>
          <a:xfrm>
            <a:off x="5779008" y="5833872"/>
            <a:ext cx="5790895" cy="274320"/>
          </a:xfrm>
          <a:prstGeom prst="rect">
            <a:avLst/>
          </a:prstGeom>
          <a:noFill/>
          <a:ln/>
        </p:spPr>
        <p:txBody>
          <a:bodyPr wrap="square" lIns="0" tIns="0" rIns="0" bIns="0" rtlCol="0" anchor="t"/>
          <a:lstStyle/>
          <a:p>
            <a:r>
              <a:rPr lang="ko-KR" altLang="en-US" sz="1050" dirty="0">
                <a:latin typeface="Pretendard" panose="02000503000000020004" pitchFamily="50" charset="-127"/>
                <a:ea typeface="Pretendard" panose="02000503000000020004" pitchFamily="50" charset="-127"/>
                <a:cs typeface="Pretendard" panose="02000503000000020004" pitchFamily="50" charset="-127"/>
              </a:rPr>
              <a:t>통계 파일 다운로드 이력이 남지 않아 엑셀 다운로드 내역 확보에 한계 </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Text 17">
            <a:extLst>
              <a:ext uri="{FF2B5EF4-FFF2-40B4-BE49-F238E27FC236}">
                <a16:creationId xmlns:a16="http://schemas.microsoft.com/office/drawing/2014/main" id="{17FA2E85-F28A-42DB-997E-598CA4ACF1A2}"/>
              </a:ext>
            </a:extLst>
          </p:cNvPr>
          <p:cNvSpPr/>
          <p:nvPr/>
        </p:nvSpPr>
        <p:spPr>
          <a:xfrm>
            <a:off x="5577840" y="2039112"/>
            <a:ext cx="6156655" cy="201168"/>
          </a:xfrm>
          <a:prstGeom prst="rect">
            <a:avLst/>
          </a:prstGeom>
          <a:noFill/>
          <a:ln/>
        </p:spPr>
        <p:txBody>
          <a:bodyPr wrap="square" lIns="0" tIns="0" rIns="0" bIns="0" rtlCol="0" anchor="t"/>
          <a:lstStyle/>
          <a:p>
            <a:pPr marL="0" indent="0" algn="l">
              <a:buNone/>
            </a:pPr>
            <a:r>
              <a:rPr lang="en-US" sz="1000" b="1" kern="0" spc="200"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Problem</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9" name="Shape 10">
            <a:extLst>
              <a:ext uri="{FF2B5EF4-FFF2-40B4-BE49-F238E27FC236}">
                <a16:creationId xmlns:a16="http://schemas.microsoft.com/office/drawing/2014/main" id="{518A9E28-3925-479E-ABE1-67E734A7217D}"/>
              </a:ext>
            </a:extLst>
          </p:cNvPr>
          <p:cNvSpPr/>
          <p:nvPr/>
        </p:nvSpPr>
        <p:spPr>
          <a:xfrm>
            <a:off x="1011935" y="1968223"/>
            <a:ext cx="4259580" cy="237727"/>
          </a:xfrm>
          <a:prstGeom prst="roundRect">
            <a:avLst>
              <a:gd name="adj" fmla="val 20000"/>
            </a:avLst>
          </a:prstGeom>
          <a:solidFill>
            <a:srgbClr val="FFFFFF"/>
          </a:solidFill>
          <a:ln w="6350">
            <a:solidFill>
              <a:srgbClr val="E5E7EB"/>
            </a:solidFill>
            <a:prstDash val="solid"/>
          </a:ln>
        </p:spPr>
      </p:sp>
      <p:sp>
        <p:nvSpPr>
          <p:cNvPr id="40" name="Text 11">
            <a:extLst>
              <a:ext uri="{FF2B5EF4-FFF2-40B4-BE49-F238E27FC236}">
                <a16:creationId xmlns:a16="http://schemas.microsoft.com/office/drawing/2014/main" id="{BDC84961-1EE7-4F49-ABDA-E36F431DCF73}"/>
              </a:ext>
            </a:extLst>
          </p:cNvPr>
          <p:cNvSpPr/>
          <p:nvPr/>
        </p:nvSpPr>
        <p:spPr>
          <a:xfrm>
            <a:off x="1057655" y="2004800"/>
            <a:ext cx="4183516" cy="182880"/>
          </a:xfrm>
          <a:prstGeom prst="rect">
            <a:avLst/>
          </a:prstGeom>
          <a:noFill/>
          <a:ln/>
        </p:spPr>
        <p:txBody>
          <a:bodyPr wrap="square" lIns="0" tIns="0" rIns="0" bIns="0" rtlCol="0" anchor="ctr"/>
          <a:lstStyle/>
          <a:p>
            <a:pPr marL="0" indent="0" algn="l">
              <a:buNone/>
            </a:pPr>
            <a:r>
              <a:rPr lang="en-US"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설문</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통계 </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화면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기존</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5" name="그림 4">
            <a:extLst>
              <a:ext uri="{FF2B5EF4-FFF2-40B4-BE49-F238E27FC236}">
                <a16:creationId xmlns:a16="http://schemas.microsoft.com/office/drawing/2014/main" id="{642E86C6-42BB-453D-AF4A-2569BA32E91C}"/>
              </a:ext>
            </a:extLst>
          </p:cNvPr>
          <p:cNvPicPr>
            <a:picLocks noChangeAspect="1"/>
          </p:cNvPicPr>
          <p:nvPr/>
        </p:nvPicPr>
        <p:blipFill>
          <a:blip r:embed="rId4"/>
          <a:stretch>
            <a:fillRect/>
          </a:stretch>
        </p:blipFill>
        <p:spPr>
          <a:xfrm>
            <a:off x="384048" y="2269303"/>
            <a:ext cx="4944165" cy="39057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02. </a:t>
            </a:r>
            <a:r>
              <a:rPr lang="en-US"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기존</a:t>
            </a: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서비스 한계</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05</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기존</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서비스</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의 </a:t>
            </a: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한계점</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 사용자 측면</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199" y="1394460"/>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설문 응답 과정에서 사용자가 겪는 </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3</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가지 불편 요소</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Shape 5"/>
          <p:cNvSpPr/>
          <p:nvPr/>
        </p:nvSpPr>
        <p:spPr>
          <a:xfrm>
            <a:off x="352424" y="2112264"/>
            <a:ext cx="5006338" cy="3995928"/>
          </a:xfrm>
          <a:prstGeom prst="roundRect">
            <a:avLst>
              <a:gd name="adj" fmla="val 4051"/>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9" name="Shape 6"/>
          <p:cNvSpPr/>
          <p:nvPr/>
        </p:nvSpPr>
        <p:spPr>
          <a:xfrm>
            <a:off x="352424" y="1998946"/>
            <a:ext cx="5010149" cy="292608"/>
          </a:xfrm>
          <a:prstGeom prst="rect">
            <a:avLst/>
          </a:prstGeom>
          <a:solidFill>
            <a:srgbClr val="EEF0F3"/>
          </a:solidFill>
          <a:ln w="12700">
            <a:solidFill>
              <a:srgbClr val="E5E7EB"/>
            </a:solidFill>
            <a:prstDash val="solid"/>
          </a:ln>
        </p:spPr>
      </p:sp>
      <p:sp>
        <p:nvSpPr>
          <p:cNvPr id="10" name="Shape 7"/>
          <p:cNvSpPr/>
          <p:nvPr/>
        </p:nvSpPr>
        <p:spPr>
          <a:xfrm>
            <a:off x="413008" y="2077975"/>
            <a:ext cx="128016" cy="128016"/>
          </a:xfrm>
          <a:prstGeom prst="ellipse">
            <a:avLst/>
          </a:prstGeom>
          <a:solidFill>
            <a:srgbClr val="E0826B"/>
          </a:solidFill>
          <a:ln w="12700">
            <a:solidFill>
              <a:srgbClr val="E0826B"/>
            </a:solidFill>
            <a:prstDash val="solid"/>
          </a:ln>
        </p:spPr>
      </p:sp>
      <p:sp>
        <p:nvSpPr>
          <p:cNvPr id="11" name="Shape 8"/>
          <p:cNvSpPr/>
          <p:nvPr/>
        </p:nvSpPr>
        <p:spPr>
          <a:xfrm>
            <a:off x="595888" y="2077975"/>
            <a:ext cx="128016" cy="128016"/>
          </a:xfrm>
          <a:prstGeom prst="ellipse">
            <a:avLst/>
          </a:prstGeom>
          <a:solidFill>
            <a:srgbClr val="E3C66D"/>
          </a:solidFill>
          <a:ln w="12700">
            <a:solidFill>
              <a:srgbClr val="E3C66D"/>
            </a:solidFill>
            <a:prstDash val="solid"/>
          </a:ln>
        </p:spPr>
      </p:sp>
      <p:sp>
        <p:nvSpPr>
          <p:cNvPr id="12" name="Shape 9"/>
          <p:cNvSpPr/>
          <p:nvPr/>
        </p:nvSpPr>
        <p:spPr>
          <a:xfrm>
            <a:off x="778768" y="2077975"/>
            <a:ext cx="128016" cy="128016"/>
          </a:xfrm>
          <a:prstGeom prst="ellipse">
            <a:avLst/>
          </a:prstGeom>
          <a:solidFill>
            <a:srgbClr val="9DC97A"/>
          </a:solidFill>
          <a:ln w="12700">
            <a:solidFill>
              <a:srgbClr val="9DC97A"/>
            </a:solidFill>
            <a:prstDash val="solid"/>
          </a:ln>
        </p:spPr>
      </p:sp>
      <p:sp>
        <p:nvSpPr>
          <p:cNvPr id="15" name="Text 12"/>
          <p:cNvSpPr/>
          <p:nvPr/>
        </p:nvSpPr>
        <p:spPr>
          <a:xfrm>
            <a:off x="457200" y="3860616"/>
            <a:ext cx="4846320" cy="365760"/>
          </a:xfrm>
          <a:prstGeom prst="rect">
            <a:avLst/>
          </a:prstGeom>
          <a:noFill/>
          <a:ln/>
        </p:spPr>
        <p:txBody>
          <a:bodyPr wrap="square" lIns="0" tIns="0" rIns="0" bIns="0" rtlCol="0" anchor="ctr"/>
          <a:lstStyle/>
          <a:p>
            <a:pPr marL="0" indent="0" algn="ctr">
              <a:buNone/>
            </a:pPr>
            <a:r>
              <a:rPr lang="en-US" sz="14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Text 13"/>
          <p:cNvSpPr/>
          <p:nvPr/>
        </p:nvSpPr>
        <p:spPr>
          <a:xfrm>
            <a:off x="457200" y="3895344"/>
            <a:ext cx="4846320" cy="274320"/>
          </a:xfrm>
          <a:prstGeom prst="rect">
            <a:avLst/>
          </a:prstGeom>
          <a:noFill/>
          <a:ln/>
        </p:spPr>
        <p:txBody>
          <a:bodyPr wrap="square" lIns="0" tIns="0" rIns="0" bIns="0" rtlCol="0" anchor="ctr"/>
          <a:lstStyle/>
          <a:p>
            <a:pPr marL="0" indent="0" algn="ctr">
              <a:buNone/>
            </a:pP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Text 17"/>
          <p:cNvSpPr/>
          <p:nvPr/>
        </p:nvSpPr>
        <p:spPr>
          <a:xfrm>
            <a:off x="5577840" y="1998946"/>
            <a:ext cx="6156655" cy="201168"/>
          </a:xfrm>
          <a:prstGeom prst="rect">
            <a:avLst/>
          </a:prstGeom>
          <a:noFill/>
          <a:ln/>
        </p:spPr>
        <p:txBody>
          <a:bodyPr wrap="square" lIns="0" tIns="0" rIns="0" bIns="0" rtlCol="0" anchor="t"/>
          <a:lstStyle/>
          <a:p>
            <a:pPr marL="0" indent="0" algn="l">
              <a:buNone/>
            </a:pPr>
            <a:r>
              <a:rPr lang="en-US" sz="1000" b="1" kern="0" spc="200"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Problem</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1" name="Text 18"/>
          <p:cNvSpPr/>
          <p:nvPr/>
        </p:nvSpPr>
        <p:spPr>
          <a:xfrm>
            <a:off x="5577840" y="2208276"/>
            <a:ext cx="6156655" cy="292608"/>
          </a:xfrm>
          <a:prstGeom prst="rect">
            <a:avLst/>
          </a:prstGeom>
          <a:noFill/>
          <a:ln/>
        </p:spPr>
        <p:txBody>
          <a:bodyPr wrap="square" lIns="0" tIns="0" rIns="0" bIns="0" rtlCol="0" anchor="t"/>
          <a:lstStyle/>
          <a:p>
            <a:pPr marL="0" indent="0" algn="l">
              <a:buNone/>
            </a:pPr>
            <a:r>
              <a:rPr lang="ko-KR" alt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a:t>
            </a:r>
            <a:r>
              <a:rPr lang="en-US" sz="16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응답</a:t>
            </a:r>
            <a:r>
              <a:rPr 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16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과정에서</a:t>
            </a:r>
            <a:r>
              <a:rPr 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사용자가 </a:t>
            </a:r>
            <a:r>
              <a:rPr lang="en-US" sz="16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겪는</a:t>
            </a:r>
            <a:r>
              <a:rPr lang="en-US" sz="16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3가지 불편</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18" name="그림 17">
            <a:extLst>
              <a:ext uri="{FF2B5EF4-FFF2-40B4-BE49-F238E27FC236}">
                <a16:creationId xmlns:a16="http://schemas.microsoft.com/office/drawing/2014/main" id="{A9B0A036-D014-4B86-8C98-52239C0A2520}"/>
              </a:ext>
            </a:extLst>
          </p:cNvPr>
          <p:cNvPicPr>
            <a:picLocks noChangeAspect="1"/>
          </p:cNvPicPr>
          <p:nvPr/>
        </p:nvPicPr>
        <p:blipFill>
          <a:blip r:embed="rId4"/>
          <a:stretch>
            <a:fillRect/>
          </a:stretch>
        </p:blipFill>
        <p:spPr>
          <a:xfrm>
            <a:off x="388618" y="2334900"/>
            <a:ext cx="4916807" cy="3764148"/>
          </a:xfrm>
          <a:prstGeom prst="roundRect">
            <a:avLst>
              <a:gd name="adj" fmla="val 2040"/>
            </a:avLst>
          </a:prstGeom>
        </p:spPr>
      </p:pic>
      <p:sp>
        <p:nvSpPr>
          <p:cNvPr id="47" name="Shape 10">
            <a:extLst>
              <a:ext uri="{FF2B5EF4-FFF2-40B4-BE49-F238E27FC236}">
                <a16:creationId xmlns:a16="http://schemas.microsoft.com/office/drawing/2014/main" id="{93B50E5C-368C-4093-B8E4-633211903B3A}"/>
              </a:ext>
            </a:extLst>
          </p:cNvPr>
          <p:cNvSpPr/>
          <p:nvPr/>
        </p:nvSpPr>
        <p:spPr>
          <a:xfrm>
            <a:off x="1045845" y="2034956"/>
            <a:ext cx="4259580" cy="256597"/>
          </a:xfrm>
          <a:prstGeom prst="roundRect">
            <a:avLst>
              <a:gd name="adj" fmla="val 20000"/>
            </a:avLst>
          </a:prstGeom>
          <a:solidFill>
            <a:srgbClr val="FFFFFF"/>
          </a:solidFill>
          <a:ln w="6350">
            <a:solidFill>
              <a:srgbClr val="E5E7EB"/>
            </a:solidFill>
            <a:prstDash val="solid"/>
          </a:ln>
        </p:spPr>
      </p:sp>
      <p:sp>
        <p:nvSpPr>
          <p:cNvPr id="50" name="Text 11">
            <a:extLst>
              <a:ext uri="{FF2B5EF4-FFF2-40B4-BE49-F238E27FC236}">
                <a16:creationId xmlns:a16="http://schemas.microsoft.com/office/drawing/2014/main" id="{8B02CFF7-3B7D-4444-A244-AEA1FAA689EE}"/>
              </a:ext>
            </a:extLst>
          </p:cNvPr>
          <p:cNvSpPr/>
          <p:nvPr/>
        </p:nvSpPr>
        <p:spPr>
          <a:xfrm>
            <a:off x="1091565" y="2071533"/>
            <a:ext cx="4183516" cy="182880"/>
          </a:xfrm>
          <a:prstGeom prst="rect">
            <a:avLst/>
          </a:prstGeom>
          <a:noFill/>
          <a:ln/>
        </p:spPr>
        <p:txBody>
          <a:bodyPr wrap="square" lIns="0" tIns="0" rIns="0" bIns="0" rtlCol="0" anchor="ctr"/>
          <a:lstStyle/>
          <a:p>
            <a:pPr marL="0" indent="0" algn="l">
              <a:buNone/>
            </a:pP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설문 응답 화면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기존</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Shape 19">
            <a:extLst>
              <a:ext uri="{FF2B5EF4-FFF2-40B4-BE49-F238E27FC236}">
                <a16:creationId xmlns:a16="http://schemas.microsoft.com/office/drawing/2014/main" id="{EA894835-3950-4CD5-B7B1-744FE421EBA2}"/>
              </a:ext>
            </a:extLst>
          </p:cNvPr>
          <p:cNvSpPr/>
          <p:nvPr/>
        </p:nvSpPr>
        <p:spPr>
          <a:xfrm>
            <a:off x="5577840" y="2615184"/>
            <a:ext cx="6156655" cy="1280160"/>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6" name="Shape 20">
            <a:extLst>
              <a:ext uri="{FF2B5EF4-FFF2-40B4-BE49-F238E27FC236}">
                <a16:creationId xmlns:a16="http://schemas.microsoft.com/office/drawing/2014/main" id="{61A170D3-C99D-4CA4-8717-5AED7112550A}"/>
              </a:ext>
            </a:extLst>
          </p:cNvPr>
          <p:cNvSpPr/>
          <p:nvPr/>
        </p:nvSpPr>
        <p:spPr>
          <a:xfrm>
            <a:off x="5582412" y="2672334"/>
            <a:ext cx="64008" cy="1165860"/>
          </a:xfrm>
          <a:prstGeom prst="rect">
            <a:avLst/>
          </a:prstGeom>
          <a:solidFill>
            <a:srgbClr val="D9472B"/>
          </a:solidFill>
          <a:ln w="12700">
            <a:solidFill>
              <a:srgbClr val="D9472B"/>
            </a:solidFill>
            <a:prstDash val="solid"/>
          </a:ln>
        </p:spPr>
      </p:sp>
      <p:sp>
        <p:nvSpPr>
          <p:cNvPr id="51" name="Text 21">
            <a:extLst>
              <a:ext uri="{FF2B5EF4-FFF2-40B4-BE49-F238E27FC236}">
                <a16:creationId xmlns:a16="http://schemas.microsoft.com/office/drawing/2014/main" id="{9CAA5A19-311E-48B8-81D2-E32B4B294173}"/>
              </a:ext>
            </a:extLst>
          </p:cNvPr>
          <p:cNvSpPr/>
          <p:nvPr/>
        </p:nvSpPr>
        <p:spPr>
          <a:xfrm>
            <a:off x="5779008" y="2779776"/>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01</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2" name="Text 24">
            <a:extLst>
              <a:ext uri="{FF2B5EF4-FFF2-40B4-BE49-F238E27FC236}">
                <a16:creationId xmlns:a16="http://schemas.microsoft.com/office/drawing/2014/main" id="{CC7EEF24-47A4-4D8A-A8D3-0ADB0960EC78}"/>
              </a:ext>
            </a:extLst>
          </p:cNvPr>
          <p:cNvSpPr/>
          <p:nvPr/>
        </p:nvSpPr>
        <p:spPr>
          <a:xfrm>
            <a:off x="5779008" y="3026664"/>
            <a:ext cx="5790895"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응답 화면이 직관적이지 않음</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3" name="Text 25">
            <a:extLst>
              <a:ext uri="{FF2B5EF4-FFF2-40B4-BE49-F238E27FC236}">
                <a16:creationId xmlns:a16="http://schemas.microsoft.com/office/drawing/2014/main" id="{993FCE5F-33E7-4A39-BF34-AB926048651E}"/>
              </a:ext>
            </a:extLst>
          </p:cNvPr>
          <p:cNvSpPr/>
          <p:nvPr/>
        </p:nvSpPr>
        <p:spPr>
          <a:xfrm>
            <a:off x="5779008" y="3319077"/>
            <a:ext cx="2375947" cy="274320"/>
          </a:xfrm>
          <a:prstGeom prst="rect">
            <a:avLst/>
          </a:prstGeom>
          <a:noFill/>
          <a:ln/>
        </p:spPr>
        <p:txBody>
          <a:bodyPr wrap="square" lIns="0" tIns="0" rIns="0" bIns="0" rtlCol="0" anchor="t"/>
          <a:lstStyle/>
          <a:p>
            <a:r>
              <a:rPr lang="ko-KR" altLang="en-US" sz="1050" dirty="0">
                <a:latin typeface="Pretendard" panose="02000503000000020004" pitchFamily="50" charset="-127"/>
                <a:ea typeface="Pretendard" panose="02000503000000020004" pitchFamily="50" charset="-127"/>
                <a:cs typeface="Pretendard" panose="02000503000000020004" pitchFamily="50" charset="-127"/>
              </a:rPr>
              <a:t>문항 유형별 응답 방식 구분이 어려움</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7" name="Text 25">
            <a:extLst>
              <a:ext uri="{FF2B5EF4-FFF2-40B4-BE49-F238E27FC236}">
                <a16:creationId xmlns:a16="http://schemas.microsoft.com/office/drawing/2014/main" id="{EE73FF01-D532-46ED-8AC3-739346357406}"/>
              </a:ext>
            </a:extLst>
          </p:cNvPr>
          <p:cNvSpPr/>
          <p:nvPr/>
        </p:nvSpPr>
        <p:spPr>
          <a:xfrm>
            <a:off x="5779008" y="3570537"/>
            <a:ext cx="2721180" cy="274320"/>
          </a:xfrm>
          <a:prstGeom prst="rect">
            <a:avLst/>
          </a:prstGeom>
          <a:noFill/>
          <a:ln/>
        </p:spPr>
        <p:txBody>
          <a:bodyPr wrap="square" lIns="0" tIns="0" rIns="0" bIns="0" rtlCol="0" anchor="t"/>
          <a:lstStyle/>
          <a:p>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조건에 따라 이어지는 문항 흐름 파악이 어려움</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8" name="Shape 19">
            <a:extLst>
              <a:ext uri="{FF2B5EF4-FFF2-40B4-BE49-F238E27FC236}">
                <a16:creationId xmlns:a16="http://schemas.microsoft.com/office/drawing/2014/main" id="{068C9880-28BF-4704-930B-3C2C0869F68F}"/>
              </a:ext>
            </a:extLst>
          </p:cNvPr>
          <p:cNvSpPr/>
          <p:nvPr/>
        </p:nvSpPr>
        <p:spPr>
          <a:xfrm>
            <a:off x="5577839" y="3987755"/>
            <a:ext cx="6156655" cy="1001463"/>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70" name="Text 21">
            <a:extLst>
              <a:ext uri="{FF2B5EF4-FFF2-40B4-BE49-F238E27FC236}">
                <a16:creationId xmlns:a16="http://schemas.microsoft.com/office/drawing/2014/main" id="{8F862882-08E4-4998-90D4-F9148D09FBEB}"/>
              </a:ext>
            </a:extLst>
          </p:cNvPr>
          <p:cNvSpPr/>
          <p:nvPr/>
        </p:nvSpPr>
        <p:spPr>
          <a:xfrm>
            <a:off x="5779008" y="4066599"/>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02</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1" name="Text 24">
            <a:extLst>
              <a:ext uri="{FF2B5EF4-FFF2-40B4-BE49-F238E27FC236}">
                <a16:creationId xmlns:a16="http://schemas.microsoft.com/office/drawing/2014/main" id="{30DB2B8D-AA03-40E6-8016-C95338AEAF90}"/>
              </a:ext>
            </a:extLst>
          </p:cNvPr>
          <p:cNvSpPr/>
          <p:nvPr/>
        </p:nvSpPr>
        <p:spPr>
          <a:xfrm>
            <a:off x="5779008" y="4313487"/>
            <a:ext cx="2657173"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작성 중 이탈 시 다시 작성해야 함</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2" name="Text 25">
            <a:extLst>
              <a:ext uri="{FF2B5EF4-FFF2-40B4-BE49-F238E27FC236}">
                <a16:creationId xmlns:a16="http://schemas.microsoft.com/office/drawing/2014/main" id="{3B745152-EE0A-4826-9AE1-E51A0BE1D03D}"/>
              </a:ext>
            </a:extLst>
          </p:cNvPr>
          <p:cNvSpPr/>
          <p:nvPr/>
        </p:nvSpPr>
        <p:spPr>
          <a:xfrm>
            <a:off x="5779008" y="4605900"/>
            <a:ext cx="2731817" cy="274320"/>
          </a:xfrm>
          <a:prstGeom prst="rect">
            <a:avLst/>
          </a:prstGeom>
          <a:noFill/>
          <a:ln/>
        </p:spPr>
        <p:txBody>
          <a:bodyPr wrap="square" lIns="0" tIns="0" rIns="0" bIns="0" rtlCol="0" anchor="t"/>
          <a:lstStyle/>
          <a:p>
            <a:r>
              <a:rPr lang="ko-KR" altLang="en-US" sz="1050" dirty="0">
                <a:latin typeface="Pretendard" panose="02000503000000020004" pitchFamily="50" charset="-127"/>
                <a:ea typeface="Pretendard" panose="02000503000000020004" pitchFamily="50" charset="-127"/>
                <a:cs typeface="Pretendard" panose="02000503000000020004" pitchFamily="50" charset="-127"/>
              </a:rPr>
              <a:t>화면을 벗어나면 입력한 응답이 저장되지 않음</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0" name="Shape 20">
            <a:extLst>
              <a:ext uri="{FF2B5EF4-FFF2-40B4-BE49-F238E27FC236}">
                <a16:creationId xmlns:a16="http://schemas.microsoft.com/office/drawing/2014/main" id="{03A0FF81-121E-47E7-9244-C07462F7EA07}"/>
              </a:ext>
            </a:extLst>
          </p:cNvPr>
          <p:cNvSpPr/>
          <p:nvPr/>
        </p:nvSpPr>
        <p:spPr>
          <a:xfrm>
            <a:off x="5582412" y="3971109"/>
            <a:ext cx="64008" cy="965141"/>
          </a:xfrm>
          <a:prstGeom prst="rect">
            <a:avLst/>
          </a:prstGeom>
          <a:solidFill>
            <a:srgbClr val="D9472B"/>
          </a:solidFill>
          <a:ln w="12700">
            <a:solidFill>
              <a:srgbClr val="D9472B"/>
            </a:solidFill>
            <a:prstDash val="solid"/>
          </a:ln>
        </p:spPr>
      </p:sp>
      <p:sp>
        <p:nvSpPr>
          <p:cNvPr id="81" name="Shape 19">
            <a:extLst>
              <a:ext uri="{FF2B5EF4-FFF2-40B4-BE49-F238E27FC236}">
                <a16:creationId xmlns:a16="http://schemas.microsoft.com/office/drawing/2014/main" id="{B06E3768-1524-40B1-91A0-05D8EAA0F75E}"/>
              </a:ext>
            </a:extLst>
          </p:cNvPr>
          <p:cNvSpPr/>
          <p:nvPr/>
        </p:nvSpPr>
        <p:spPr>
          <a:xfrm>
            <a:off x="5577839" y="5106913"/>
            <a:ext cx="6156655" cy="1001463"/>
          </a:xfrm>
          <a:prstGeom prst="roundRect">
            <a:avLst>
              <a:gd name="adj" fmla="val 11304"/>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82" name="Text 21">
            <a:extLst>
              <a:ext uri="{FF2B5EF4-FFF2-40B4-BE49-F238E27FC236}">
                <a16:creationId xmlns:a16="http://schemas.microsoft.com/office/drawing/2014/main" id="{A2342C62-A25B-4F3C-AB92-31A0428F87A2}"/>
              </a:ext>
            </a:extLst>
          </p:cNvPr>
          <p:cNvSpPr/>
          <p:nvPr/>
        </p:nvSpPr>
        <p:spPr>
          <a:xfrm>
            <a:off x="5779008" y="5185757"/>
            <a:ext cx="457200" cy="274320"/>
          </a:xfrm>
          <a:prstGeom prst="rect">
            <a:avLst/>
          </a:prstGeom>
          <a:noFill/>
          <a:ln/>
        </p:spPr>
        <p:txBody>
          <a:bodyPr wrap="square" lIns="0" tIns="0" rIns="0" bIns="0" rtlCol="0" anchor="t"/>
          <a:lstStyle/>
          <a:p>
            <a:pPr marL="0" indent="0" algn="l">
              <a:buNone/>
            </a:pPr>
            <a:r>
              <a:rPr lang="en-US" sz="12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03</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3" name="Text 24">
            <a:extLst>
              <a:ext uri="{FF2B5EF4-FFF2-40B4-BE49-F238E27FC236}">
                <a16:creationId xmlns:a16="http://schemas.microsoft.com/office/drawing/2014/main" id="{CF1B0BFF-78F2-4434-B96A-223037F2B428}"/>
              </a:ext>
            </a:extLst>
          </p:cNvPr>
          <p:cNvSpPr/>
          <p:nvPr/>
        </p:nvSpPr>
        <p:spPr>
          <a:xfrm>
            <a:off x="5779008" y="5432645"/>
            <a:ext cx="2657173"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완료 시점 예측 어려움</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4" name="Text 25">
            <a:extLst>
              <a:ext uri="{FF2B5EF4-FFF2-40B4-BE49-F238E27FC236}">
                <a16:creationId xmlns:a16="http://schemas.microsoft.com/office/drawing/2014/main" id="{7FF11D4E-48F7-4D5A-AEBE-1F631917D6E3}"/>
              </a:ext>
            </a:extLst>
          </p:cNvPr>
          <p:cNvSpPr/>
          <p:nvPr/>
        </p:nvSpPr>
        <p:spPr>
          <a:xfrm>
            <a:off x="5779008" y="5725058"/>
            <a:ext cx="4652616" cy="274320"/>
          </a:xfrm>
          <a:prstGeom prst="rect">
            <a:avLst/>
          </a:prstGeom>
          <a:noFill/>
          <a:ln/>
        </p:spPr>
        <p:txBody>
          <a:bodyPr wrap="square" lIns="0" tIns="0" rIns="0" bIns="0" rtlCol="0" anchor="t"/>
          <a:lstStyle/>
          <a:p>
            <a:r>
              <a:rPr lang="ko-KR" altLang="en-US" sz="1050" dirty="0">
                <a:latin typeface="Pretendard" panose="02000503000000020004" pitchFamily="50" charset="-127"/>
                <a:ea typeface="Pretendard" panose="02000503000000020004" pitchFamily="50" charset="-127"/>
                <a:cs typeface="Pretendard" panose="02000503000000020004" pitchFamily="50" charset="-127"/>
              </a:rPr>
              <a:t>현재 설문 진행률을 확인하기 어려워 언제 설문이 끝나는지 예측하기 어려움</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5" name="Shape 20">
            <a:extLst>
              <a:ext uri="{FF2B5EF4-FFF2-40B4-BE49-F238E27FC236}">
                <a16:creationId xmlns:a16="http://schemas.microsoft.com/office/drawing/2014/main" id="{9A304434-BF2E-4AD8-A6BB-19A1133B3721}"/>
              </a:ext>
            </a:extLst>
          </p:cNvPr>
          <p:cNvSpPr/>
          <p:nvPr/>
        </p:nvSpPr>
        <p:spPr>
          <a:xfrm>
            <a:off x="5582412" y="5090267"/>
            <a:ext cx="64008" cy="965141"/>
          </a:xfrm>
          <a:prstGeom prst="rect">
            <a:avLst/>
          </a:prstGeom>
          <a:solidFill>
            <a:srgbClr val="D9472B"/>
          </a:solidFill>
          <a:ln w="12700">
            <a:solidFill>
              <a:srgbClr val="D9472B"/>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03.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개선 목표 및 방향</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06</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프로젝트</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개선</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방향</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(To-Be)</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17323" y="1405889"/>
            <a:ext cx="11277295" cy="292608"/>
          </a:xfrm>
          <a:prstGeom prst="rect">
            <a:avLst/>
          </a:prstGeom>
          <a:noFill/>
          <a:ln/>
        </p:spPr>
        <p:txBody>
          <a:bodyPr wrap="square" lIns="0" tIns="0" rIns="0" bIns="0" rtlCol="0" anchor="t"/>
          <a:lstStyle/>
          <a:p>
            <a:r>
              <a:rPr lang="ko-KR" altLang="en-US" sz="1600" dirty="0">
                <a:latin typeface="Pretendard" panose="02000503000000020004" pitchFamily="50" charset="-127"/>
                <a:ea typeface="Pretendard" panose="02000503000000020004" pitchFamily="50" charset="-127"/>
                <a:cs typeface="Pretendard" panose="02000503000000020004" pitchFamily="50" charset="-127"/>
              </a:rPr>
              <a:t>기존 기능은 유지하고</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 3</a:t>
            </a:r>
            <a:r>
              <a:rPr lang="ko-KR" altLang="en-US" sz="1600" dirty="0">
                <a:latin typeface="Pretendard" panose="02000503000000020004" pitchFamily="50" charset="-127"/>
                <a:ea typeface="Pretendard" panose="02000503000000020004" pitchFamily="50" charset="-127"/>
                <a:cs typeface="Pretendard" panose="02000503000000020004" pitchFamily="50" charset="-127"/>
              </a:rPr>
              <a:t>가지 관점에서 사용성과 유지보수성을 개선했습니다</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Shape 5"/>
          <p:cNvSpPr/>
          <p:nvPr/>
        </p:nvSpPr>
        <p:spPr>
          <a:xfrm>
            <a:off x="446610" y="2143634"/>
            <a:ext cx="3637178" cy="3971803"/>
          </a:xfrm>
          <a:prstGeom prst="roundRect">
            <a:avLst>
              <a:gd name="adj" fmla="val 4525"/>
            </a:avLst>
          </a:prstGeom>
          <a:solidFill>
            <a:srgbClr val="EEF4FF"/>
          </a:solidFill>
          <a:ln w="9525">
            <a:solidFill>
              <a:srgbClr val="BFDBFE"/>
            </a:solidFill>
            <a:prstDash val="solid"/>
          </a:ln>
          <a:effectLst>
            <a:outerShdw blurRad="190500" dist="50800" dir="5400000" algn="bl" rotWithShape="0">
              <a:srgbClr val="2C1E74">
                <a:alpha val="16000"/>
              </a:srgbClr>
            </a:outerShdw>
          </a:effectLst>
        </p:spPr>
        <p:txBody>
          <a:bodyPr/>
          <a:lstStyle/>
          <a:p>
            <a:endParaRPr lang="ko-KR" altLang="en-US" dirty="0"/>
          </a:p>
        </p:txBody>
      </p:sp>
      <p:sp>
        <p:nvSpPr>
          <p:cNvPr id="9" name="Shape 6"/>
          <p:cNvSpPr/>
          <p:nvPr/>
        </p:nvSpPr>
        <p:spPr>
          <a:xfrm>
            <a:off x="464897" y="2132832"/>
            <a:ext cx="3637178" cy="64008"/>
          </a:xfrm>
          <a:prstGeom prst="rect">
            <a:avLst/>
          </a:prstGeom>
          <a:solidFill>
            <a:srgbClr val="1456F0"/>
          </a:solidFill>
          <a:ln w="12700">
            <a:solidFill>
              <a:srgbClr val="1456F0"/>
            </a:solidFill>
            <a:prstDash val="solid"/>
          </a:ln>
        </p:spPr>
      </p:sp>
      <p:sp>
        <p:nvSpPr>
          <p:cNvPr id="10" name="Shape 7"/>
          <p:cNvSpPr/>
          <p:nvPr/>
        </p:nvSpPr>
        <p:spPr>
          <a:xfrm>
            <a:off x="658368" y="2313432"/>
            <a:ext cx="914400" cy="274320"/>
          </a:xfrm>
          <a:prstGeom prst="roundRect">
            <a:avLst>
              <a:gd name="adj" fmla="val 50000"/>
            </a:avLst>
          </a:prstGeom>
          <a:solidFill>
            <a:srgbClr val="1456F0"/>
          </a:solidFill>
          <a:ln w="12700">
            <a:solidFill>
              <a:srgbClr val="1456F0"/>
            </a:solidFill>
            <a:prstDash val="solid"/>
          </a:ln>
        </p:spPr>
      </p:sp>
      <p:sp>
        <p:nvSpPr>
          <p:cNvPr id="11" name="Text 8"/>
          <p:cNvSpPr/>
          <p:nvPr/>
        </p:nvSpPr>
        <p:spPr>
          <a:xfrm>
            <a:off x="658368" y="2313432"/>
            <a:ext cx="914400" cy="274320"/>
          </a:xfrm>
          <a:prstGeom prst="rect">
            <a:avLst/>
          </a:prstGeom>
          <a:noFill/>
          <a:ln/>
        </p:spPr>
        <p:txBody>
          <a:bodyPr wrap="square" lIns="0" tIns="0" rIns="0" bIns="0" rtlCol="0" anchor="ctr"/>
          <a:lstStyle/>
          <a:p>
            <a:pPr marL="0" indent="0" algn="ctr">
              <a:buNone/>
            </a:pPr>
            <a:r>
              <a:rPr lang="ko-KR" altLang="en-US" sz="110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관리자</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 name="Text 10"/>
          <p:cNvSpPr/>
          <p:nvPr/>
        </p:nvSpPr>
        <p:spPr>
          <a:xfrm>
            <a:off x="658368" y="2697480"/>
            <a:ext cx="3271418" cy="457200"/>
          </a:xfrm>
          <a:prstGeom prst="rect">
            <a:avLst/>
          </a:prstGeom>
          <a:noFill/>
          <a:ln/>
        </p:spPr>
        <p:txBody>
          <a:bodyPr wrap="square" lIns="0" tIns="0" rIns="0" bIns="0" rtlCol="0" anchor="t"/>
          <a:lstStyle/>
          <a:p>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통계</a:t>
            </a:r>
            <a:r>
              <a:rPr lang="en-US" altLang="ko-KR" sz="1600" b="1"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600" b="1" dirty="0">
                <a:latin typeface="Pretendard" panose="02000503000000020004" pitchFamily="50" charset="-127"/>
                <a:ea typeface="Pretendard" panose="02000503000000020004" pitchFamily="50" charset="-127"/>
                <a:cs typeface="Pretendard" panose="02000503000000020004" pitchFamily="50" charset="-127"/>
              </a:rPr>
              <a:t>이력 관리 개선</a:t>
            </a:r>
            <a:endParaRPr lang="en-US" sz="16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Text 11"/>
          <p:cNvSpPr/>
          <p:nvPr/>
        </p:nvSpPr>
        <p:spPr>
          <a:xfrm>
            <a:off x="658368" y="3136392"/>
            <a:ext cx="3271418" cy="329184"/>
          </a:xfrm>
          <a:prstGeom prst="rect">
            <a:avLst/>
          </a:prstGeom>
          <a:noFill/>
          <a:ln/>
        </p:spPr>
        <p:txBody>
          <a:bodyPr wrap="square" lIns="0" tIns="0" rIns="0" bIns="0" rtlCol="0" anchor="t"/>
          <a:lstStyle/>
          <a:p>
            <a:r>
              <a:rPr lang="ko-KR" altLang="en-US" sz="1050" dirty="0"/>
              <a:t>통계 시각화와 엑셀 이력 관리로 결과 확인과 데이터 추적을 쉽게 개선</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Shape 12"/>
          <p:cNvSpPr/>
          <p:nvPr/>
        </p:nvSpPr>
        <p:spPr>
          <a:xfrm>
            <a:off x="658368" y="3674112"/>
            <a:ext cx="3234842" cy="0"/>
          </a:xfrm>
          <a:prstGeom prst="line">
            <a:avLst/>
          </a:prstGeom>
          <a:noFill/>
          <a:ln w="9525">
            <a:solidFill>
              <a:srgbClr val="E5E7EB"/>
            </a:solidFill>
            <a:prstDash val="solid"/>
          </a:ln>
        </p:spPr>
        <p:txBody>
          <a:bodyPr/>
          <a:lstStyle/>
          <a:p>
            <a:endParaRPr lang="ko-KR" altLang="en-US" dirty="0"/>
          </a:p>
        </p:txBody>
      </p:sp>
      <p:sp>
        <p:nvSpPr>
          <p:cNvPr id="16" name="Shape 13"/>
          <p:cNvSpPr/>
          <p:nvPr/>
        </p:nvSpPr>
        <p:spPr>
          <a:xfrm>
            <a:off x="658368" y="4114053"/>
            <a:ext cx="201168" cy="201168"/>
          </a:xfrm>
          <a:prstGeom prst="ellipse">
            <a:avLst/>
          </a:prstGeom>
          <a:solidFill>
            <a:srgbClr val="1456F0"/>
          </a:solidFill>
          <a:ln w="12700">
            <a:solidFill>
              <a:srgbClr val="1456F0"/>
            </a:solidFill>
            <a:prstDash val="solid"/>
          </a:ln>
        </p:spPr>
      </p:sp>
      <p:sp>
        <p:nvSpPr>
          <p:cNvPr id="17" name="Text 14"/>
          <p:cNvSpPr/>
          <p:nvPr/>
        </p:nvSpPr>
        <p:spPr>
          <a:xfrm>
            <a:off x="658368" y="4114053"/>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1</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Text 15"/>
          <p:cNvSpPr/>
          <p:nvPr/>
        </p:nvSpPr>
        <p:spPr>
          <a:xfrm>
            <a:off x="903809" y="4099703"/>
            <a:ext cx="2651153" cy="27432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전체 응답률</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비율 기반 통계 시각화</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Shape 17"/>
          <p:cNvSpPr/>
          <p:nvPr/>
        </p:nvSpPr>
        <p:spPr>
          <a:xfrm>
            <a:off x="658368" y="4927870"/>
            <a:ext cx="201168" cy="201168"/>
          </a:xfrm>
          <a:prstGeom prst="ellipse">
            <a:avLst/>
          </a:prstGeom>
          <a:solidFill>
            <a:srgbClr val="1456F0"/>
          </a:solidFill>
          <a:ln w="12700">
            <a:solidFill>
              <a:srgbClr val="1456F0"/>
            </a:solidFill>
            <a:prstDash val="solid"/>
          </a:ln>
        </p:spPr>
      </p:sp>
      <p:sp>
        <p:nvSpPr>
          <p:cNvPr id="21" name="Text 18"/>
          <p:cNvSpPr/>
          <p:nvPr/>
        </p:nvSpPr>
        <p:spPr>
          <a:xfrm>
            <a:off x="658368" y="4927870"/>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2</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Text 19"/>
          <p:cNvSpPr/>
          <p:nvPr/>
        </p:nvSpPr>
        <p:spPr>
          <a:xfrm>
            <a:off x="914400" y="4933968"/>
            <a:ext cx="2062065" cy="27432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엑셀 다운로드 및 이력 관리</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Shape 25"/>
          <p:cNvSpPr/>
          <p:nvPr/>
        </p:nvSpPr>
        <p:spPr>
          <a:xfrm>
            <a:off x="4240150" y="2190744"/>
            <a:ext cx="3637178" cy="3918978"/>
          </a:xfrm>
          <a:prstGeom prst="roundRect">
            <a:avLst>
              <a:gd name="adj" fmla="val 4525"/>
            </a:avLst>
          </a:prstGeom>
          <a:solidFill>
            <a:srgbClr val="FDEEF8"/>
          </a:solidFill>
          <a:ln w="9525">
            <a:solidFill>
              <a:srgbClr val="F4C2E2"/>
            </a:solidFill>
            <a:prstDash val="solid"/>
          </a:ln>
          <a:effectLst>
            <a:outerShdw blurRad="76200" dist="25400" dir="5400000" algn="bl" rotWithShape="0">
              <a:srgbClr val="000000">
                <a:alpha val="8000"/>
              </a:srgbClr>
            </a:outerShdw>
          </a:effectLst>
        </p:spPr>
      </p:sp>
      <p:sp>
        <p:nvSpPr>
          <p:cNvPr id="29" name="Shape 26"/>
          <p:cNvSpPr/>
          <p:nvPr/>
        </p:nvSpPr>
        <p:spPr>
          <a:xfrm>
            <a:off x="4246524" y="2114553"/>
            <a:ext cx="3618891" cy="76191"/>
          </a:xfrm>
          <a:prstGeom prst="rect">
            <a:avLst/>
          </a:prstGeom>
          <a:solidFill>
            <a:srgbClr val="EA5EC1"/>
          </a:solidFill>
          <a:ln w="12700">
            <a:solidFill>
              <a:srgbClr val="EA5EC1"/>
            </a:solidFill>
            <a:prstDash val="solid"/>
          </a:ln>
        </p:spPr>
      </p:sp>
      <p:sp>
        <p:nvSpPr>
          <p:cNvPr id="30" name="Shape 27"/>
          <p:cNvSpPr/>
          <p:nvPr/>
        </p:nvSpPr>
        <p:spPr>
          <a:xfrm>
            <a:off x="4478426" y="2313432"/>
            <a:ext cx="914400" cy="274320"/>
          </a:xfrm>
          <a:prstGeom prst="roundRect">
            <a:avLst>
              <a:gd name="adj" fmla="val 50000"/>
            </a:avLst>
          </a:prstGeom>
          <a:solidFill>
            <a:srgbClr val="EA5EC1"/>
          </a:solidFill>
          <a:ln w="12700">
            <a:solidFill>
              <a:srgbClr val="EA5EC1"/>
            </a:solidFill>
            <a:prstDash val="solid"/>
          </a:ln>
        </p:spPr>
      </p:sp>
      <p:sp>
        <p:nvSpPr>
          <p:cNvPr id="31" name="Text 28"/>
          <p:cNvSpPr/>
          <p:nvPr/>
        </p:nvSpPr>
        <p:spPr>
          <a:xfrm>
            <a:off x="4478426" y="2313432"/>
            <a:ext cx="914400" cy="274320"/>
          </a:xfrm>
          <a:prstGeom prst="rect">
            <a:avLst/>
          </a:prstGeom>
          <a:noFill/>
          <a:ln/>
        </p:spPr>
        <p:txBody>
          <a:bodyPr wrap="square" lIns="0" tIns="0" rIns="0" bIns="0" rtlCol="0" anchor="ctr"/>
          <a:lstStyle/>
          <a:p>
            <a:pPr marL="0" indent="0" algn="ctr">
              <a:buNone/>
            </a:pPr>
            <a:r>
              <a:rPr lang="ko-KR" altLang="en-US" sz="110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사용자</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Text 30"/>
          <p:cNvSpPr/>
          <p:nvPr/>
        </p:nvSpPr>
        <p:spPr>
          <a:xfrm>
            <a:off x="4478426" y="2697480"/>
            <a:ext cx="3271418" cy="457200"/>
          </a:xfrm>
          <a:prstGeom prst="rect">
            <a:avLst/>
          </a:prstGeom>
          <a:noFill/>
          <a:ln/>
        </p:spPr>
        <p:txBody>
          <a:bodyPr wrap="square" lIns="0" tIns="0" rIns="0" bIns="0" rtlCol="0" anchor="t"/>
          <a:lstStyle/>
          <a:p>
            <a:pPr marL="0" indent="0" algn="l">
              <a:buNone/>
            </a:pPr>
            <a:r>
              <a:rPr lang="en-US" sz="160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참여 편의성 향상</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Text 31"/>
          <p:cNvSpPr/>
          <p:nvPr/>
        </p:nvSpPr>
        <p:spPr>
          <a:xfrm>
            <a:off x="4478426" y="3136392"/>
            <a:ext cx="3271418" cy="329184"/>
          </a:xfrm>
          <a:prstGeom prst="rect">
            <a:avLst/>
          </a:prstGeom>
          <a:noFill/>
          <a:ln/>
        </p:spPr>
        <p:txBody>
          <a:bodyPr wrap="square" lIns="0" tIns="0" rIns="0" bIns="0" rtlCol="0" anchor="t"/>
          <a:lstStyle/>
          <a:p>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직관적인 응답 화면과 설문 상태 유지로 설문 참여 부담 완화</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Shape 32"/>
          <p:cNvSpPr/>
          <p:nvPr/>
        </p:nvSpPr>
        <p:spPr>
          <a:xfrm>
            <a:off x="4478426" y="3538728"/>
            <a:ext cx="3234842" cy="0"/>
          </a:xfrm>
          <a:prstGeom prst="line">
            <a:avLst/>
          </a:prstGeom>
          <a:noFill/>
          <a:ln w="9525">
            <a:solidFill>
              <a:srgbClr val="E5E7EB"/>
            </a:solidFill>
            <a:prstDash val="solid"/>
          </a:ln>
        </p:spPr>
      </p:sp>
      <p:sp>
        <p:nvSpPr>
          <p:cNvPr id="36" name="Shape 33"/>
          <p:cNvSpPr/>
          <p:nvPr/>
        </p:nvSpPr>
        <p:spPr>
          <a:xfrm>
            <a:off x="4478426" y="3694176"/>
            <a:ext cx="201168" cy="201168"/>
          </a:xfrm>
          <a:prstGeom prst="ellipse">
            <a:avLst/>
          </a:prstGeom>
          <a:solidFill>
            <a:srgbClr val="EA5EC1"/>
          </a:solidFill>
          <a:ln w="12700">
            <a:solidFill>
              <a:srgbClr val="EA5EC1"/>
            </a:solidFill>
            <a:prstDash val="solid"/>
          </a:ln>
        </p:spPr>
      </p:sp>
      <p:sp>
        <p:nvSpPr>
          <p:cNvPr id="37" name="Text 34"/>
          <p:cNvSpPr/>
          <p:nvPr/>
        </p:nvSpPr>
        <p:spPr>
          <a:xfrm>
            <a:off x="4478426" y="3694176"/>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1</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8" name="Text 35"/>
          <p:cNvSpPr/>
          <p:nvPr/>
        </p:nvSpPr>
        <p:spPr>
          <a:xfrm>
            <a:off x="4715637" y="3674112"/>
            <a:ext cx="3015386" cy="274320"/>
          </a:xfrm>
          <a:prstGeom prst="rect">
            <a:avLst/>
          </a:prstGeom>
          <a:noFill/>
          <a:ln/>
        </p:spPr>
        <p:txBody>
          <a:bodyPr wrap="square" lIns="0" tIns="0" rIns="0" bIns="0" rtlCol="0" anchor="t"/>
          <a:lstStyle/>
          <a:p>
            <a:r>
              <a:rPr lang="ko-KR" altLang="en-US" sz="1200" b="1" dirty="0">
                <a:latin typeface="Pretendard" panose="02000503000000020004" pitchFamily="50" charset="-127"/>
                <a:ea typeface="Pretendard" panose="02000503000000020004" pitchFamily="50" charset="-127"/>
                <a:cs typeface="Pretendard" panose="02000503000000020004" pitchFamily="50" charset="-127"/>
              </a:rPr>
              <a:t>설문 응답 화면 </a:t>
            </a:r>
            <a:r>
              <a:rPr lang="en-US" altLang="ko-KR" sz="1200" b="1" dirty="0">
                <a:latin typeface="Pretendard" panose="02000503000000020004" pitchFamily="50" charset="-127"/>
                <a:ea typeface="Pretendard" panose="02000503000000020004" pitchFamily="50" charset="-127"/>
                <a:cs typeface="Pretendard" panose="02000503000000020004" pitchFamily="50" charset="-127"/>
              </a:rPr>
              <a:t>UI </a:t>
            </a:r>
            <a:r>
              <a:rPr lang="ko-KR" altLang="en-US" sz="1200" b="1" dirty="0">
                <a:latin typeface="Pretendard" panose="02000503000000020004" pitchFamily="50" charset="-127"/>
                <a:ea typeface="Pretendard" panose="02000503000000020004" pitchFamily="50" charset="-127"/>
                <a:cs typeface="Pretendard" panose="02000503000000020004" pitchFamily="50" charset="-127"/>
              </a:rPr>
              <a:t>및 </a:t>
            </a:r>
            <a:r>
              <a:rPr lang="en-US" altLang="ko-KR" sz="1200" b="1" dirty="0">
                <a:latin typeface="Pretendard" panose="02000503000000020004" pitchFamily="50" charset="-127"/>
                <a:ea typeface="Pretendard" panose="02000503000000020004" pitchFamily="50" charset="-127"/>
                <a:cs typeface="Pretendard" panose="02000503000000020004" pitchFamily="50" charset="-127"/>
              </a:rPr>
              <a:t>UX </a:t>
            </a:r>
            <a:r>
              <a:rPr lang="ko-KR" altLang="en-US" sz="1200" b="1" dirty="0">
                <a:latin typeface="Pretendard" panose="02000503000000020004" pitchFamily="50" charset="-127"/>
                <a:ea typeface="Pretendard" panose="02000503000000020004" pitchFamily="50" charset="-127"/>
                <a:cs typeface="Pretendard" panose="02000503000000020004" pitchFamily="50" charset="-127"/>
              </a:rPr>
              <a:t>개선</a:t>
            </a:r>
            <a:endParaRPr lang="en-US" sz="11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Shape 37"/>
          <p:cNvSpPr/>
          <p:nvPr/>
        </p:nvSpPr>
        <p:spPr>
          <a:xfrm>
            <a:off x="4460139" y="4443984"/>
            <a:ext cx="201168" cy="201168"/>
          </a:xfrm>
          <a:prstGeom prst="ellipse">
            <a:avLst/>
          </a:prstGeom>
          <a:solidFill>
            <a:srgbClr val="EA5EC1"/>
          </a:solidFill>
          <a:ln w="12700">
            <a:solidFill>
              <a:srgbClr val="EA5EC1"/>
            </a:solidFill>
            <a:prstDash val="solid"/>
          </a:ln>
        </p:spPr>
      </p:sp>
      <p:sp>
        <p:nvSpPr>
          <p:cNvPr id="41" name="Text 38"/>
          <p:cNvSpPr/>
          <p:nvPr/>
        </p:nvSpPr>
        <p:spPr>
          <a:xfrm>
            <a:off x="4460139" y="4443984"/>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2</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2" name="Text 39"/>
          <p:cNvSpPr/>
          <p:nvPr/>
        </p:nvSpPr>
        <p:spPr>
          <a:xfrm>
            <a:off x="4716171" y="4443984"/>
            <a:ext cx="3015386" cy="274320"/>
          </a:xfrm>
          <a:prstGeom prst="rect">
            <a:avLst/>
          </a:prstGeom>
          <a:noFill/>
          <a:ln/>
        </p:spPr>
        <p:txBody>
          <a:bodyPr wrap="square" lIns="0" tIns="0" rIns="0" bIns="0" rtlCol="0" anchor="t"/>
          <a:lstStyle/>
          <a:p>
            <a:pPr marL="0" indent="0" algn="l">
              <a:buNone/>
            </a:pPr>
            <a:r>
              <a:rPr lang="en-US" sz="12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실시간 진행률 표시</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8" name="Shape 45"/>
          <p:cNvSpPr/>
          <p:nvPr/>
        </p:nvSpPr>
        <p:spPr>
          <a:xfrm>
            <a:off x="8097317" y="2143634"/>
            <a:ext cx="3673752" cy="3892673"/>
          </a:xfrm>
          <a:prstGeom prst="roundRect">
            <a:avLst>
              <a:gd name="adj" fmla="val 4525"/>
            </a:avLst>
          </a:prstGeom>
          <a:solidFill>
            <a:srgbClr val="F5F6F8"/>
          </a:solidFill>
          <a:ln w="9525">
            <a:solidFill>
              <a:srgbClr val="E5E7EB"/>
            </a:solidFill>
            <a:prstDash val="solid"/>
          </a:ln>
          <a:effectLst>
            <a:outerShdw blurRad="76200" dist="25400" dir="5400000" algn="bl" rotWithShape="0">
              <a:srgbClr val="000000">
                <a:alpha val="8000"/>
              </a:srgbClr>
            </a:outerShdw>
          </a:effectLst>
        </p:spPr>
      </p:sp>
      <p:sp>
        <p:nvSpPr>
          <p:cNvPr id="49" name="Shape 46"/>
          <p:cNvSpPr/>
          <p:nvPr/>
        </p:nvSpPr>
        <p:spPr>
          <a:xfrm>
            <a:off x="8108212" y="2133013"/>
            <a:ext cx="3637178" cy="64008"/>
          </a:xfrm>
          <a:prstGeom prst="rect">
            <a:avLst/>
          </a:prstGeom>
          <a:solidFill>
            <a:srgbClr val="18181B"/>
          </a:solidFill>
          <a:ln w="12700">
            <a:solidFill>
              <a:srgbClr val="18181B"/>
            </a:solidFill>
            <a:prstDash val="solid"/>
          </a:ln>
        </p:spPr>
      </p:sp>
      <p:sp>
        <p:nvSpPr>
          <p:cNvPr id="50" name="Shape 47"/>
          <p:cNvSpPr/>
          <p:nvPr/>
        </p:nvSpPr>
        <p:spPr>
          <a:xfrm>
            <a:off x="8298485" y="2313432"/>
            <a:ext cx="914400" cy="274320"/>
          </a:xfrm>
          <a:prstGeom prst="roundRect">
            <a:avLst>
              <a:gd name="adj" fmla="val 50000"/>
            </a:avLst>
          </a:prstGeom>
          <a:solidFill>
            <a:srgbClr val="18181B"/>
          </a:solidFill>
          <a:ln w="12700">
            <a:solidFill>
              <a:srgbClr val="18181B"/>
            </a:solidFill>
            <a:prstDash val="solid"/>
          </a:ln>
        </p:spPr>
      </p:sp>
      <p:sp>
        <p:nvSpPr>
          <p:cNvPr id="51" name="Text 48"/>
          <p:cNvSpPr/>
          <p:nvPr/>
        </p:nvSpPr>
        <p:spPr>
          <a:xfrm>
            <a:off x="8298485" y="2313432"/>
            <a:ext cx="914400" cy="274320"/>
          </a:xfrm>
          <a:prstGeom prst="rect">
            <a:avLst/>
          </a:prstGeom>
          <a:noFill/>
          <a:ln/>
        </p:spPr>
        <p:txBody>
          <a:bodyPr wrap="square" lIns="0" tIns="0" rIns="0" bIns="0" rtlCol="0" anchor="ctr"/>
          <a:lstStyle/>
          <a:p>
            <a:pPr marL="0" indent="0" algn="ctr">
              <a:buNone/>
            </a:pPr>
            <a:r>
              <a:rPr lang="ko-KR" altLang="en-US" sz="110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시스템</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3" name="Text 50"/>
          <p:cNvSpPr/>
          <p:nvPr/>
        </p:nvSpPr>
        <p:spPr>
          <a:xfrm>
            <a:off x="8298485" y="2697480"/>
            <a:ext cx="3271418" cy="457200"/>
          </a:xfrm>
          <a:prstGeom prst="rect">
            <a:avLst/>
          </a:prstGeom>
          <a:noFill/>
          <a:ln/>
        </p:spPr>
        <p:txBody>
          <a:bodyPr wrap="square" lIns="0" tIns="0" rIns="0" bIns="0" rtlCol="0" anchor="t"/>
          <a:lstStyle/>
          <a:p>
            <a:pPr marL="0" indent="0" algn="l">
              <a:buNone/>
            </a:pPr>
            <a:r>
              <a:rPr lang="en-US" sz="160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유지보수성 및 확장성 향상</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4" name="Text 51"/>
          <p:cNvSpPr/>
          <p:nvPr/>
        </p:nvSpPr>
        <p:spPr>
          <a:xfrm>
            <a:off x="8298485" y="3136392"/>
            <a:ext cx="3271418" cy="329184"/>
          </a:xfrm>
          <a:prstGeom prst="rect">
            <a:avLst/>
          </a:prstGeom>
          <a:noFill/>
          <a:ln/>
        </p:spPr>
        <p:txBody>
          <a:bodyPr wrap="square" lIns="0" tIns="0" rIns="0" bIns="0" rtlCol="0" anchor="t"/>
          <a:lstStyle/>
          <a:p>
            <a:r>
              <a:rPr lang="en-US" altLang="ko-KR" sz="1050" dirty="0">
                <a:latin typeface="Pretendard" panose="02000503000000020004" pitchFamily="50" charset="-127"/>
                <a:ea typeface="Pretendard" panose="02000503000000020004" pitchFamily="50" charset="-127"/>
                <a:cs typeface="Pretendard" panose="02000503000000020004" pitchFamily="50" charset="-127"/>
              </a:rPr>
              <a:t>Java/Spring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기반 재구현으로 유지보수 가능한 운영 구조 마련</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5" name="Shape 52"/>
          <p:cNvSpPr/>
          <p:nvPr/>
        </p:nvSpPr>
        <p:spPr>
          <a:xfrm>
            <a:off x="8298485" y="3538728"/>
            <a:ext cx="3234842" cy="0"/>
          </a:xfrm>
          <a:prstGeom prst="line">
            <a:avLst/>
          </a:prstGeom>
          <a:noFill/>
          <a:ln w="9525">
            <a:solidFill>
              <a:srgbClr val="E5E7EB"/>
            </a:solidFill>
            <a:prstDash val="solid"/>
          </a:ln>
        </p:spPr>
      </p:sp>
      <p:sp>
        <p:nvSpPr>
          <p:cNvPr id="56" name="Shape 53"/>
          <p:cNvSpPr/>
          <p:nvPr/>
        </p:nvSpPr>
        <p:spPr>
          <a:xfrm>
            <a:off x="8298485" y="3694176"/>
            <a:ext cx="201168" cy="201168"/>
          </a:xfrm>
          <a:prstGeom prst="ellipse">
            <a:avLst/>
          </a:prstGeom>
          <a:solidFill>
            <a:srgbClr val="18181B"/>
          </a:solidFill>
          <a:ln w="12700">
            <a:solidFill>
              <a:srgbClr val="18181B"/>
            </a:solidFill>
            <a:prstDash val="solid"/>
          </a:ln>
        </p:spPr>
      </p:sp>
      <p:sp>
        <p:nvSpPr>
          <p:cNvPr id="57" name="Text 54"/>
          <p:cNvSpPr/>
          <p:nvPr/>
        </p:nvSpPr>
        <p:spPr>
          <a:xfrm>
            <a:off x="8298485" y="3694176"/>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1</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8" name="Text 55"/>
          <p:cNvSpPr/>
          <p:nvPr/>
        </p:nvSpPr>
        <p:spPr>
          <a:xfrm>
            <a:off x="8554517" y="3694176"/>
            <a:ext cx="3015386" cy="274320"/>
          </a:xfrm>
          <a:prstGeom prst="rect">
            <a:avLst/>
          </a:prstGeom>
          <a:noFill/>
          <a:ln/>
        </p:spPr>
        <p:txBody>
          <a:bodyPr wrap="square" lIns="0" tIns="0" rIns="0" bIns="0" rtlCol="0" anchor="t"/>
          <a:lstStyle/>
          <a:p>
            <a:pPr marL="0" indent="0" algn="l">
              <a:buNone/>
            </a:pPr>
            <a:r>
              <a:rPr lang="en-US" sz="12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.NET 레거시 → Java / Spring 재구현</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1" name="Text 58"/>
          <p:cNvSpPr/>
          <p:nvPr/>
        </p:nvSpPr>
        <p:spPr>
          <a:xfrm>
            <a:off x="8280198" y="4443984"/>
            <a:ext cx="201168"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2</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56" name="Shape 11">
            <a:extLst>
              <a:ext uri="{FF2B5EF4-FFF2-40B4-BE49-F238E27FC236}">
                <a16:creationId xmlns:a16="http://schemas.microsoft.com/office/drawing/2014/main" id="{E4C51714-1EA6-4DA0-99D3-6555D80D74F9}"/>
              </a:ext>
            </a:extLst>
          </p:cNvPr>
          <p:cNvSpPr/>
          <p:nvPr/>
        </p:nvSpPr>
        <p:spPr>
          <a:xfrm>
            <a:off x="6674203" y="1650928"/>
            <a:ext cx="4874894" cy="3160106"/>
          </a:xfrm>
          <a:prstGeom prst="roundRect">
            <a:avLst>
              <a:gd name="adj" fmla="val 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55" name="Shape 11">
            <a:extLst>
              <a:ext uri="{FF2B5EF4-FFF2-40B4-BE49-F238E27FC236}">
                <a16:creationId xmlns:a16="http://schemas.microsoft.com/office/drawing/2014/main" id="{C76C7560-90EA-4974-BED2-C4F9AAB84798}"/>
              </a:ext>
            </a:extLst>
          </p:cNvPr>
          <p:cNvSpPr/>
          <p:nvPr/>
        </p:nvSpPr>
        <p:spPr>
          <a:xfrm>
            <a:off x="640081" y="1650928"/>
            <a:ext cx="4712970" cy="3160106"/>
          </a:xfrm>
          <a:prstGeom prst="roundRect">
            <a:avLst>
              <a:gd name="adj" fmla="val 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2" name="Text 0"/>
          <p:cNvSpPr/>
          <p:nvPr/>
        </p:nvSpPr>
        <p:spPr>
          <a:xfrm>
            <a:off x="457200" y="365760"/>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주요 개선 기능</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52871"/>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07</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753383"/>
            <a:ext cx="11277295" cy="685800"/>
          </a:xfrm>
          <a:prstGeom prst="rect">
            <a:avLst/>
          </a:prstGeom>
          <a:noFill/>
          <a:ln/>
        </p:spPr>
        <p:txBody>
          <a:bodyPr wrap="square" lIns="0" tIns="0" rIns="0" bIns="0" rtlCol="0" anchor="t"/>
          <a:lstStyle/>
          <a:p>
            <a:pPr marL="0" indent="0" algn="l">
              <a:buNone/>
            </a:pP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UI 및 UX 개</a:t>
            </a:r>
            <a:r>
              <a:rPr lang="ko-KR" alt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선</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199" y="1269727"/>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설문 참여자가 쉽게 이해하고 응답할 수 있도록 화면 구조와 응답 흐름을 개선했습니다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Text 12"/>
          <p:cNvSpPr/>
          <p:nvPr/>
        </p:nvSpPr>
        <p:spPr>
          <a:xfrm>
            <a:off x="457200" y="2864504"/>
            <a:ext cx="5455768" cy="320040"/>
          </a:xfrm>
          <a:prstGeom prst="rect">
            <a:avLst/>
          </a:prstGeom>
          <a:noFill/>
          <a:ln/>
        </p:spPr>
        <p:txBody>
          <a:bodyPr wrap="square" lIns="0" tIns="0" rIns="0" bIns="0" rtlCol="0" anchor="ctr"/>
          <a:lstStyle/>
          <a:p>
            <a:pPr marL="0" indent="0" algn="ctr">
              <a:buNone/>
            </a:pPr>
            <a:r>
              <a:rPr lang="en-US" sz="13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Text 13"/>
          <p:cNvSpPr/>
          <p:nvPr/>
        </p:nvSpPr>
        <p:spPr>
          <a:xfrm>
            <a:off x="457200" y="3184544"/>
            <a:ext cx="5455768" cy="256032"/>
          </a:xfrm>
          <a:prstGeom prst="rect">
            <a:avLst/>
          </a:prstGeom>
          <a:noFill/>
          <a:ln/>
        </p:spPr>
        <p:txBody>
          <a:bodyPr wrap="square" lIns="0" tIns="0" rIns="0" bIns="0" rtlCol="0" anchor="ctr"/>
          <a:lstStyle/>
          <a:p>
            <a:pPr marL="0" indent="0" algn="ctr">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기존 설문 응답 화면 스크린샷이 위치합니다</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Text 15"/>
          <p:cNvSpPr/>
          <p:nvPr/>
        </p:nvSpPr>
        <p:spPr>
          <a:xfrm>
            <a:off x="640080" y="3870344"/>
            <a:ext cx="777240" cy="27432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BEFORE</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7" name="Text 24"/>
          <p:cNvSpPr/>
          <p:nvPr/>
        </p:nvSpPr>
        <p:spPr>
          <a:xfrm>
            <a:off x="6278728" y="2864504"/>
            <a:ext cx="5455768" cy="320040"/>
          </a:xfrm>
          <a:prstGeom prst="rect">
            <a:avLst/>
          </a:prstGeom>
          <a:noFill/>
          <a:ln/>
        </p:spPr>
        <p:txBody>
          <a:bodyPr wrap="square" lIns="0" tIns="0" rIns="0" bIns="0" rtlCol="0" anchor="ctr"/>
          <a:lstStyle/>
          <a:p>
            <a:pPr marL="0" indent="0" algn="ctr">
              <a:buNone/>
            </a:pPr>
            <a:r>
              <a:rPr lang="en-US" sz="13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0" name="Text 27"/>
          <p:cNvSpPr/>
          <p:nvPr/>
        </p:nvSpPr>
        <p:spPr>
          <a:xfrm>
            <a:off x="6838795" y="3870344"/>
            <a:ext cx="777240" cy="27432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AFER</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Shape 31"/>
          <p:cNvSpPr/>
          <p:nvPr/>
        </p:nvSpPr>
        <p:spPr>
          <a:xfrm>
            <a:off x="457200" y="4962906"/>
            <a:ext cx="3637178" cy="1356372"/>
          </a:xfrm>
          <a:prstGeom prst="roundRect">
            <a:avLst>
              <a:gd name="adj" fmla="val 10000"/>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5" name="Shape 32"/>
          <p:cNvSpPr/>
          <p:nvPr/>
        </p:nvSpPr>
        <p:spPr>
          <a:xfrm>
            <a:off x="457200" y="4962906"/>
            <a:ext cx="3637178" cy="54864"/>
          </a:xfrm>
          <a:prstGeom prst="rect">
            <a:avLst/>
          </a:prstGeom>
          <a:solidFill>
            <a:srgbClr val="1456F0"/>
          </a:solidFill>
          <a:ln w="12700">
            <a:solidFill>
              <a:srgbClr val="1456F0"/>
            </a:solidFill>
            <a:prstDash val="solid"/>
          </a:ln>
        </p:spPr>
      </p:sp>
      <p:sp>
        <p:nvSpPr>
          <p:cNvPr id="36" name="Text 33"/>
          <p:cNvSpPr/>
          <p:nvPr/>
        </p:nvSpPr>
        <p:spPr>
          <a:xfrm>
            <a:off x="658368" y="5063001"/>
            <a:ext cx="640080" cy="365760"/>
          </a:xfrm>
          <a:prstGeom prst="rect">
            <a:avLst/>
          </a:prstGeom>
          <a:noFill/>
          <a:ln/>
        </p:spPr>
        <p:txBody>
          <a:bodyPr wrap="square" lIns="0" tIns="0" rIns="0" bIns="0" rtlCol="0" anchor="t"/>
          <a:lstStyle/>
          <a:p>
            <a:pPr marL="0" indent="0" algn="l">
              <a:buNone/>
            </a:pPr>
            <a:r>
              <a:rPr lang="en-US" sz="2000" b="1" kern="0" spc="-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01</a:t>
            </a:r>
            <a:endParaRPr lang="en-US" sz="2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9" name="Text 36"/>
          <p:cNvSpPr/>
          <p:nvPr/>
        </p:nvSpPr>
        <p:spPr>
          <a:xfrm>
            <a:off x="658368" y="5455051"/>
            <a:ext cx="3271418" cy="32004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응답 화면 가독성 개선</a:t>
            </a:r>
            <a:endParaRPr lang="en-US" sz="13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Text 37"/>
          <p:cNvSpPr/>
          <p:nvPr/>
        </p:nvSpPr>
        <p:spPr>
          <a:xfrm>
            <a:off x="658368" y="5775091"/>
            <a:ext cx="3271418" cy="457200"/>
          </a:xfrm>
          <a:prstGeom prst="rect">
            <a:avLst/>
          </a:prstGeom>
          <a:noFill/>
          <a:ln/>
        </p:spPr>
        <p:txBody>
          <a:bodyPr wrap="square" lIns="0" tIns="0" rIns="0" bIns="0" rtlCol="0" anchor="t"/>
          <a:lstStyle/>
          <a:p>
            <a:r>
              <a:rPr lang="ko-KR" altLang="en-US" sz="1050" dirty="0">
                <a:latin typeface="Pretendard" panose="02000503000000020004" pitchFamily="50" charset="-127"/>
                <a:ea typeface="Pretendard" panose="02000503000000020004" pitchFamily="50" charset="-127"/>
                <a:cs typeface="Pretendard" panose="02000503000000020004" pitchFamily="50" charset="-127"/>
              </a:rPr>
              <a:t>문항 단위 카드 레이아웃을 적용해 사용자가 문항과 선택지를 쉽게 구분하도록 개선</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Shape 38"/>
          <p:cNvSpPr/>
          <p:nvPr/>
        </p:nvSpPr>
        <p:spPr>
          <a:xfrm>
            <a:off x="8152180" y="4958693"/>
            <a:ext cx="3637178" cy="1360586"/>
          </a:xfrm>
          <a:prstGeom prst="roundRect">
            <a:avLst>
              <a:gd name="adj" fmla="val 10000"/>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2" name="Shape 39"/>
          <p:cNvSpPr/>
          <p:nvPr/>
        </p:nvSpPr>
        <p:spPr>
          <a:xfrm>
            <a:off x="8133892" y="4962906"/>
            <a:ext cx="3637178" cy="54864"/>
          </a:xfrm>
          <a:prstGeom prst="rect">
            <a:avLst/>
          </a:prstGeom>
          <a:solidFill>
            <a:srgbClr val="1456F0"/>
          </a:solidFill>
          <a:ln w="12700">
            <a:solidFill>
              <a:srgbClr val="1456F0"/>
            </a:solidFill>
            <a:prstDash val="solid"/>
          </a:ln>
        </p:spPr>
      </p:sp>
      <p:sp>
        <p:nvSpPr>
          <p:cNvPr id="43" name="Text 40"/>
          <p:cNvSpPr/>
          <p:nvPr/>
        </p:nvSpPr>
        <p:spPr>
          <a:xfrm>
            <a:off x="8335060" y="5063001"/>
            <a:ext cx="640080" cy="365760"/>
          </a:xfrm>
          <a:prstGeom prst="rect">
            <a:avLst/>
          </a:prstGeom>
          <a:noFill/>
          <a:ln/>
        </p:spPr>
        <p:txBody>
          <a:bodyPr wrap="square" lIns="0" tIns="0" rIns="0" bIns="0" rtlCol="0" anchor="t"/>
          <a:lstStyle/>
          <a:p>
            <a:pPr marL="0" indent="0" algn="l">
              <a:buNone/>
            </a:pPr>
            <a:r>
              <a:rPr lang="en-US" sz="2000" b="1" kern="0" spc="-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03</a:t>
            </a:r>
            <a:endParaRPr lang="en-US" sz="2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6" name="Text 43"/>
          <p:cNvSpPr/>
          <p:nvPr/>
        </p:nvSpPr>
        <p:spPr>
          <a:xfrm>
            <a:off x="8335060" y="5455051"/>
            <a:ext cx="3271418" cy="32004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순위선택형 </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Drag &amp; Drop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적용</a:t>
            </a:r>
            <a:endParaRPr lang="en-US" sz="13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7" name="Text 44"/>
          <p:cNvSpPr/>
          <p:nvPr/>
        </p:nvSpPr>
        <p:spPr>
          <a:xfrm>
            <a:off x="8335060" y="5775091"/>
            <a:ext cx="3271418" cy="457200"/>
          </a:xfrm>
          <a:prstGeom prst="rect">
            <a:avLst/>
          </a:prstGeom>
          <a:noFill/>
          <a:ln/>
        </p:spPr>
        <p:txBody>
          <a:bodyPr wrap="square" lIns="0" tIns="0" rIns="0" bIns="0" rtlCol="0" anchor="t"/>
          <a:lstStyle/>
          <a:p>
            <a:r>
              <a:rPr lang="en-US" altLang="ko-KR" sz="1050" dirty="0">
                <a:latin typeface="Pretendard" panose="02000503000000020004" pitchFamily="50" charset="-127"/>
                <a:ea typeface="Pretendard" panose="02000503000000020004" pitchFamily="50" charset="-127"/>
                <a:cs typeface="Pretendard" panose="02000503000000020004" pitchFamily="50" charset="-127"/>
              </a:rPr>
              <a:t>Select Box</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로 순위를 선택하던 방식을 </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Drag &amp; Drop</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으로 변경하여</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사용자가 항목을 직접 이동하며 순서를 정할 수 있도록 개선</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8" name="Shape 45"/>
          <p:cNvSpPr/>
          <p:nvPr/>
        </p:nvSpPr>
        <p:spPr>
          <a:xfrm>
            <a:off x="4332122" y="4943985"/>
            <a:ext cx="3637178" cy="1375293"/>
          </a:xfrm>
          <a:prstGeom prst="roundRect">
            <a:avLst>
              <a:gd name="adj" fmla="val 10000"/>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9" name="Shape 46"/>
          <p:cNvSpPr/>
          <p:nvPr/>
        </p:nvSpPr>
        <p:spPr>
          <a:xfrm>
            <a:off x="4295546" y="4962906"/>
            <a:ext cx="3637178" cy="54864"/>
          </a:xfrm>
          <a:prstGeom prst="rect">
            <a:avLst/>
          </a:prstGeom>
          <a:solidFill>
            <a:srgbClr val="1456F0"/>
          </a:solidFill>
          <a:ln w="12700">
            <a:solidFill>
              <a:srgbClr val="1456F0"/>
            </a:solidFill>
            <a:prstDash val="solid"/>
          </a:ln>
        </p:spPr>
      </p:sp>
      <p:sp>
        <p:nvSpPr>
          <p:cNvPr id="50" name="Text 47"/>
          <p:cNvSpPr/>
          <p:nvPr/>
        </p:nvSpPr>
        <p:spPr>
          <a:xfrm>
            <a:off x="4496714" y="5063001"/>
            <a:ext cx="640080" cy="365760"/>
          </a:xfrm>
          <a:prstGeom prst="rect">
            <a:avLst/>
          </a:prstGeom>
          <a:noFill/>
          <a:ln/>
        </p:spPr>
        <p:txBody>
          <a:bodyPr wrap="square" lIns="0" tIns="0" rIns="0" bIns="0" rtlCol="0" anchor="t"/>
          <a:lstStyle/>
          <a:p>
            <a:pPr marL="0" indent="0" algn="l">
              <a:buNone/>
            </a:pPr>
            <a:r>
              <a:rPr lang="en-US" sz="2000" b="1" kern="0" spc="-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02</a:t>
            </a:r>
            <a:endParaRPr lang="en-US" sz="2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3" name="Text 50"/>
          <p:cNvSpPr/>
          <p:nvPr/>
        </p:nvSpPr>
        <p:spPr>
          <a:xfrm>
            <a:off x="4496714" y="5455051"/>
            <a:ext cx="3271418" cy="32004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조건분기 흐름 안내 개선</a:t>
            </a:r>
            <a:endParaRPr lang="en-US" sz="13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4" name="Text 51"/>
          <p:cNvSpPr/>
          <p:nvPr/>
        </p:nvSpPr>
        <p:spPr>
          <a:xfrm>
            <a:off x="4496714" y="5775091"/>
            <a:ext cx="3271418" cy="457200"/>
          </a:xfrm>
          <a:prstGeom prst="rect">
            <a:avLst/>
          </a:prstGeom>
          <a:noFill/>
          <a:ln/>
        </p:spPr>
        <p:txBody>
          <a:bodyPr wrap="square" lIns="0" tIns="0" rIns="0" bIns="0" rtlCol="0" anchor="t"/>
          <a:lstStyle/>
          <a:p>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선택에 따라 추가되는 문항의 연결 관계를 명확히 보여줘 응답 흐름 개선</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20" name="그림 19">
            <a:extLst>
              <a:ext uri="{FF2B5EF4-FFF2-40B4-BE49-F238E27FC236}">
                <a16:creationId xmlns:a16="http://schemas.microsoft.com/office/drawing/2014/main" id="{4B4F244B-4F3C-4AA1-96A5-6F6F79856364}"/>
              </a:ext>
            </a:extLst>
          </p:cNvPr>
          <p:cNvPicPr>
            <a:picLocks noChangeAspect="1"/>
          </p:cNvPicPr>
          <p:nvPr/>
        </p:nvPicPr>
        <p:blipFill>
          <a:blip r:embed="rId4"/>
          <a:stretch>
            <a:fillRect/>
          </a:stretch>
        </p:blipFill>
        <p:spPr>
          <a:xfrm>
            <a:off x="6726163" y="1690351"/>
            <a:ext cx="4763765" cy="3055672"/>
          </a:xfrm>
          <a:prstGeom prst="roundRect">
            <a:avLst>
              <a:gd name="adj" fmla="val 8358"/>
            </a:avLst>
          </a:prstGeom>
        </p:spPr>
      </p:pic>
      <p:pic>
        <p:nvPicPr>
          <p:cNvPr id="31" name="그림 30">
            <a:extLst>
              <a:ext uri="{FF2B5EF4-FFF2-40B4-BE49-F238E27FC236}">
                <a16:creationId xmlns:a16="http://schemas.microsoft.com/office/drawing/2014/main" id="{E7012127-7A71-4E89-AA7F-82171C097731}"/>
              </a:ext>
            </a:extLst>
          </p:cNvPr>
          <p:cNvPicPr>
            <a:picLocks noChangeAspect="1"/>
          </p:cNvPicPr>
          <p:nvPr/>
        </p:nvPicPr>
        <p:blipFill>
          <a:blip r:embed="rId5"/>
          <a:stretch>
            <a:fillRect/>
          </a:stretch>
        </p:blipFill>
        <p:spPr>
          <a:xfrm>
            <a:off x="702072" y="1714208"/>
            <a:ext cx="4588988" cy="3031815"/>
          </a:xfrm>
          <a:prstGeom prst="roundRect">
            <a:avLst>
              <a:gd name="adj" fmla="val 7556"/>
            </a:avLst>
          </a:prstGeom>
        </p:spPr>
      </p:pic>
      <p:cxnSp>
        <p:nvCxnSpPr>
          <p:cNvPr id="11" name="연결선: 꺾임 10">
            <a:extLst>
              <a:ext uri="{FF2B5EF4-FFF2-40B4-BE49-F238E27FC236}">
                <a16:creationId xmlns:a16="http://schemas.microsoft.com/office/drawing/2014/main" id="{32A3F2BC-621B-4397-A337-A249CC366C2A}"/>
              </a:ext>
            </a:extLst>
          </p:cNvPr>
          <p:cNvCxnSpPr>
            <a:cxnSpLocks/>
          </p:cNvCxnSpPr>
          <p:nvPr/>
        </p:nvCxnSpPr>
        <p:spPr>
          <a:xfrm rot="5400000">
            <a:off x="-5136" y="3092933"/>
            <a:ext cx="1236312" cy="311642"/>
          </a:xfrm>
          <a:prstGeom prst="bentConnector4">
            <a:avLst>
              <a:gd name="adj1" fmla="val -75"/>
              <a:gd name="adj2" fmla="val 197305"/>
            </a:avLst>
          </a:prstGeom>
          <a:ln>
            <a:solidFill>
              <a:srgbClr val="FF0000"/>
            </a:solidFill>
            <a:tailEnd type="triangle"/>
          </a:ln>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68" name="Shape 55"/>
          <p:cNvSpPr/>
          <p:nvPr/>
        </p:nvSpPr>
        <p:spPr>
          <a:xfrm>
            <a:off x="6675120" y="2666643"/>
            <a:ext cx="5059375" cy="1078992"/>
          </a:xfrm>
          <a:prstGeom prst="roundRect">
            <a:avLst>
              <a:gd name="adj" fmla="val 11017"/>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2" name="Text 0"/>
          <p:cNvSpPr/>
          <p:nvPr/>
        </p:nvSpPr>
        <p:spPr>
          <a:xfrm>
            <a:off x="457200" y="443356"/>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 </a:t>
            </a:r>
            <a:r>
              <a:rPr lang="en-US" altLang="ko-KR"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주요</a:t>
            </a:r>
            <a:r>
              <a:rPr lang="en-US" altLang="ko-KR"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개선 기능</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a:p>
            <a:pPr marL="0" indent="0" algn="l">
              <a:buNone/>
            </a:pP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08</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진행률 표시 및</a:t>
            </a:r>
            <a:r>
              <a:rPr lang="en-US" altLang="ko-KR" sz="24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설문 이어하기 도입</a:t>
            </a:r>
            <a:endParaRPr lang="en-US" sz="2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199" y="1453118"/>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설문 중 페이지를 이탈하더라도 </a:t>
            </a:r>
            <a:r>
              <a:rPr lang="ko-KR" altLang="en-US" sz="1600" dirty="0" err="1">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재접속</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시 설문을 이어서 작성할 수 있도록 추가했습니다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Shape 5"/>
          <p:cNvSpPr/>
          <p:nvPr/>
        </p:nvSpPr>
        <p:spPr>
          <a:xfrm>
            <a:off x="457200" y="2048256"/>
            <a:ext cx="6035040" cy="1751289"/>
          </a:xfrm>
          <a:prstGeom prst="roundRect">
            <a:avLst>
              <a:gd name="adj" fmla="val 11034"/>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Shape 6"/>
          <p:cNvSpPr/>
          <p:nvPr/>
        </p:nvSpPr>
        <p:spPr>
          <a:xfrm>
            <a:off x="457200" y="2028492"/>
            <a:ext cx="6053328" cy="347472"/>
          </a:xfrm>
          <a:prstGeom prst="rect">
            <a:avLst/>
          </a:prstGeom>
          <a:solidFill>
            <a:srgbClr val="EEF0F3"/>
          </a:solidFill>
          <a:ln w="12700">
            <a:solidFill>
              <a:srgbClr val="E5E7EB"/>
            </a:solidFill>
            <a:prstDash val="solid"/>
          </a:ln>
        </p:spPr>
      </p:sp>
      <p:sp>
        <p:nvSpPr>
          <p:cNvPr id="10" name="Shape 7"/>
          <p:cNvSpPr/>
          <p:nvPr/>
        </p:nvSpPr>
        <p:spPr>
          <a:xfrm>
            <a:off x="603504" y="2174596"/>
            <a:ext cx="118872" cy="118872"/>
          </a:xfrm>
          <a:prstGeom prst="ellipse">
            <a:avLst/>
          </a:prstGeom>
          <a:solidFill>
            <a:srgbClr val="E0826B"/>
          </a:solidFill>
          <a:ln w="12700">
            <a:solidFill>
              <a:srgbClr val="E0826B"/>
            </a:solidFill>
            <a:prstDash val="solid"/>
          </a:ln>
        </p:spPr>
      </p:sp>
      <p:sp>
        <p:nvSpPr>
          <p:cNvPr id="11" name="Shape 8"/>
          <p:cNvSpPr/>
          <p:nvPr/>
        </p:nvSpPr>
        <p:spPr>
          <a:xfrm>
            <a:off x="768096" y="2174596"/>
            <a:ext cx="118872" cy="118872"/>
          </a:xfrm>
          <a:prstGeom prst="ellipse">
            <a:avLst/>
          </a:prstGeom>
          <a:solidFill>
            <a:srgbClr val="E3C66D"/>
          </a:solidFill>
          <a:ln w="12700">
            <a:solidFill>
              <a:srgbClr val="E3C66D"/>
            </a:solidFill>
            <a:prstDash val="solid"/>
          </a:ln>
        </p:spPr>
      </p:sp>
      <p:sp>
        <p:nvSpPr>
          <p:cNvPr id="12" name="Shape 9"/>
          <p:cNvSpPr/>
          <p:nvPr/>
        </p:nvSpPr>
        <p:spPr>
          <a:xfrm>
            <a:off x="932688" y="2174596"/>
            <a:ext cx="118872" cy="118872"/>
          </a:xfrm>
          <a:prstGeom prst="ellipse">
            <a:avLst/>
          </a:prstGeom>
          <a:solidFill>
            <a:srgbClr val="9DC97A"/>
          </a:solidFill>
          <a:ln w="12700">
            <a:solidFill>
              <a:srgbClr val="9DC97A"/>
            </a:solidFill>
            <a:prstDash val="solid"/>
          </a:ln>
        </p:spPr>
      </p:sp>
      <p:sp>
        <p:nvSpPr>
          <p:cNvPr id="13" name="Shape 10"/>
          <p:cNvSpPr/>
          <p:nvPr/>
        </p:nvSpPr>
        <p:spPr>
          <a:xfrm>
            <a:off x="1188720" y="2110588"/>
            <a:ext cx="5120640" cy="211988"/>
          </a:xfrm>
          <a:prstGeom prst="roundRect">
            <a:avLst>
              <a:gd name="adj" fmla="val 20000"/>
            </a:avLst>
          </a:prstGeom>
          <a:solidFill>
            <a:srgbClr val="FFFFFF"/>
          </a:solidFill>
          <a:ln w="6350">
            <a:solidFill>
              <a:srgbClr val="E5E7EB"/>
            </a:solidFill>
            <a:prstDash val="solid"/>
          </a:ln>
        </p:spPr>
      </p:sp>
      <p:sp>
        <p:nvSpPr>
          <p:cNvPr id="14" name="Text 11"/>
          <p:cNvSpPr/>
          <p:nvPr/>
        </p:nvSpPr>
        <p:spPr>
          <a:xfrm>
            <a:off x="1234440" y="2147164"/>
            <a:ext cx="5029200" cy="182880"/>
          </a:xfrm>
          <a:prstGeom prst="rect">
            <a:avLst/>
          </a:prstGeom>
          <a:noFill/>
          <a:ln/>
        </p:spPr>
        <p:txBody>
          <a:bodyPr wrap="square" lIns="0" tIns="0" rIns="0" bIns="0" rtlCol="0" anchor="ctr"/>
          <a:lstStyle/>
          <a:p>
            <a:pPr marL="0" indent="0" algn="l">
              <a:buNone/>
            </a:pP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설문 응답 화면 — 진행률 표시</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1" name="Shape 18"/>
          <p:cNvSpPr/>
          <p:nvPr/>
        </p:nvSpPr>
        <p:spPr>
          <a:xfrm>
            <a:off x="475488" y="4211025"/>
            <a:ext cx="6035040" cy="2121408"/>
          </a:xfrm>
          <a:prstGeom prst="roundRect">
            <a:avLst>
              <a:gd name="adj" fmla="val 6897"/>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22" name="Text 19"/>
          <p:cNvSpPr/>
          <p:nvPr/>
        </p:nvSpPr>
        <p:spPr>
          <a:xfrm>
            <a:off x="704088" y="4375617"/>
            <a:ext cx="914400" cy="201168"/>
          </a:xfrm>
          <a:prstGeom prst="rect">
            <a:avLst/>
          </a:prstGeom>
          <a:noFill/>
          <a:ln/>
        </p:spPr>
        <p:txBody>
          <a:bodyPr wrap="square" lIns="0" tIns="0" rIns="0" bIns="0" rtlCol="0" anchor="t"/>
          <a:lstStyle/>
          <a:p>
            <a:pPr marL="0" indent="0" algn="l">
              <a:buNone/>
            </a:pPr>
            <a:r>
              <a:rPr lang="en-US" sz="9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FLOW</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3" name="Text 20"/>
          <p:cNvSpPr/>
          <p:nvPr/>
        </p:nvSpPr>
        <p:spPr>
          <a:xfrm>
            <a:off x="704088" y="4576785"/>
            <a:ext cx="5577840" cy="27432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자동 저장 및 이어하기 흐름</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4" name="Shape 21"/>
          <p:cNvSpPr/>
          <p:nvPr/>
        </p:nvSpPr>
        <p:spPr>
          <a:xfrm>
            <a:off x="704088" y="5052272"/>
            <a:ext cx="1188720" cy="1156503"/>
          </a:xfrm>
          <a:prstGeom prst="roundRect">
            <a:avLst>
              <a:gd name="adj" fmla="val 10526"/>
            </a:avLst>
          </a:prstGeom>
          <a:solidFill>
            <a:srgbClr val="F8F9FB"/>
          </a:solidFill>
          <a:ln w="6350">
            <a:solidFill>
              <a:srgbClr val="E5E7EB"/>
            </a:solidFill>
            <a:prstDash val="solid"/>
          </a:ln>
        </p:spPr>
      </p:sp>
      <p:sp>
        <p:nvSpPr>
          <p:cNvPr id="25" name="Shape 22"/>
          <p:cNvSpPr/>
          <p:nvPr/>
        </p:nvSpPr>
        <p:spPr>
          <a:xfrm>
            <a:off x="1133856" y="5162001"/>
            <a:ext cx="329184" cy="329184"/>
          </a:xfrm>
          <a:prstGeom prst="ellipse">
            <a:avLst/>
          </a:prstGeom>
          <a:solidFill>
            <a:srgbClr val="1456F0"/>
          </a:solidFill>
          <a:ln w="12700">
            <a:solidFill>
              <a:srgbClr val="1456F0"/>
            </a:solidFill>
            <a:prstDash val="solid"/>
          </a:ln>
        </p:spPr>
      </p:sp>
      <p:sp>
        <p:nvSpPr>
          <p:cNvPr id="26" name="Text 23"/>
          <p:cNvSpPr/>
          <p:nvPr/>
        </p:nvSpPr>
        <p:spPr>
          <a:xfrm>
            <a:off x="1133856" y="5162001"/>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1</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7" name="Text 24"/>
          <p:cNvSpPr/>
          <p:nvPr/>
        </p:nvSpPr>
        <p:spPr>
          <a:xfrm>
            <a:off x="704088" y="5652897"/>
            <a:ext cx="1188720" cy="201168"/>
          </a:xfrm>
          <a:prstGeom prst="rect">
            <a:avLst/>
          </a:prstGeom>
          <a:noFill/>
          <a:ln/>
        </p:spPr>
        <p:txBody>
          <a:bodyPr wrap="square" lIns="0" tIns="0" rIns="0" bIns="0" rtlCol="0" anchor="t"/>
          <a:lstStyle/>
          <a:p>
            <a:pPr marL="0" indent="0" algn="ctr">
              <a:buNone/>
            </a:pPr>
            <a:r>
              <a:rPr lang="en-US" sz="11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응답 입력</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Text 25"/>
          <p:cNvSpPr/>
          <p:nvPr/>
        </p:nvSpPr>
        <p:spPr>
          <a:xfrm>
            <a:off x="749808" y="5835777"/>
            <a:ext cx="1097280" cy="219456"/>
          </a:xfrm>
          <a:prstGeom prst="rect">
            <a:avLst/>
          </a:prstGeom>
          <a:noFill/>
          <a:ln/>
        </p:spPr>
        <p:txBody>
          <a:bodyPr wrap="square" lIns="0" tIns="0" rIns="0" bIns="0" rtlCol="0" anchor="t"/>
          <a:lstStyle/>
          <a:p>
            <a:pPr algn="ct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사용자가 문항에 응답</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Text 26"/>
          <p:cNvSpPr/>
          <p:nvPr/>
        </p:nvSpPr>
        <p:spPr>
          <a:xfrm>
            <a:off x="1892808" y="5052273"/>
            <a:ext cx="274320" cy="868680"/>
          </a:xfrm>
          <a:prstGeom prst="rect">
            <a:avLst/>
          </a:prstGeom>
          <a:noFill/>
          <a:ln/>
        </p:spPr>
        <p:txBody>
          <a:bodyPr wrap="square" lIns="0" tIns="0" rIns="0" bIns="0" rtlCol="0" anchor="ctr"/>
          <a:lstStyle/>
          <a:p>
            <a:pPr marL="0" indent="0" algn="ctr">
              <a:buNone/>
            </a:pPr>
            <a:r>
              <a:rPr lang="en-US" sz="2200" b="1"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a:t>
            </a:r>
            <a:endParaRPr lang="en-US" sz="2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0" name="Shape 27"/>
          <p:cNvSpPr/>
          <p:nvPr/>
        </p:nvSpPr>
        <p:spPr>
          <a:xfrm>
            <a:off x="2167128" y="5052272"/>
            <a:ext cx="1188720" cy="1156503"/>
          </a:xfrm>
          <a:prstGeom prst="roundRect">
            <a:avLst>
              <a:gd name="adj" fmla="val 10526"/>
            </a:avLst>
          </a:prstGeom>
          <a:solidFill>
            <a:srgbClr val="F8F9FB"/>
          </a:solidFill>
          <a:ln w="6350">
            <a:solidFill>
              <a:srgbClr val="E5E7EB"/>
            </a:solidFill>
            <a:prstDash val="solid"/>
          </a:ln>
        </p:spPr>
      </p:sp>
      <p:sp>
        <p:nvSpPr>
          <p:cNvPr id="31" name="Shape 28"/>
          <p:cNvSpPr/>
          <p:nvPr/>
        </p:nvSpPr>
        <p:spPr>
          <a:xfrm>
            <a:off x="2596896" y="5162001"/>
            <a:ext cx="329184" cy="329184"/>
          </a:xfrm>
          <a:prstGeom prst="ellipse">
            <a:avLst/>
          </a:prstGeom>
          <a:solidFill>
            <a:srgbClr val="1456F0"/>
          </a:solidFill>
          <a:ln w="12700">
            <a:solidFill>
              <a:srgbClr val="1456F0"/>
            </a:solidFill>
            <a:prstDash val="solid"/>
          </a:ln>
        </p:spPr>
      </p:sp>
      <p:sp>
        <p:nvSpPr>
          <p:cNvPr id="32" name="Text 29"/>
          <p:cNvSpPr/>
          <p:nvPr/>
        </p:nvSpPr>
        <p:spPr>
          <a:xfrm>
            <a:off x="2596896" y="5162001"/>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2</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Text 30"/>
          <p:cNvSpPr/>
          <p:nvPr/>
        </p:nvSpPr>
        <p:spPr>
          <a:xfrm>
            <a:off x="2167128" y="5652897"/>
            <a:ext cx="1188720" cy="201168"/>
          </a:xfrm>
          <a:prstGeom prst="rect">
            <a:avLst/>
          </a:prstGeom>
          <a:noFill/>
          <a:ln/>
        </p:spPr>
        <p:txBody>
          <a:bodyPr wrap="square" lIns="0" tIns="0" rIns="0" bIns="0" rtlCol="0" anchor="t"/>
          <a:lstStyle/>
          <a:p>
            <a:pPr marL="0" indent="0" algn="ctr">
              <a:buNone/>
            </a:pPr>
            <a:r>
              <a:rPr lang="en-US" sz="11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자동 저장</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Text 31"/>
          <p:cNvSpPr/>
          <p:nvPr/>
        </p:nvSpPr>
        <p:spPr>
          <a:xfrm>
            <a:off x="2212848" y="5835777"/>
            <a:ext cx="1097280" cy="219456"/>
          </a:xfrm>
          <a:prstGeom prst="rect">
            <a:avLst/>
          </a:prstGeom>
          <a:noFill/>
          <a:ln/>
        </p:spPr>
        <p:txBody>
          <a:bodyPr wrap="square" lIns="0" tIns="0" rIns="0" bIns="0" rtlCol="0" anchor="t"/>
          <a:lstStyle/>
          <a:p>
            <a:pPr algn="ct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작성 중인 응답 내용 저장</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Text 32"/>
          <p:cNvSpPr/>
          <p:nvPr/>
        </p:nvSpPr>
        <p:spPr>
          <a:xfrm>
            <a:off x="3355848" y="5052273"/>
            <a:ext cx="274320" cy="868680"/>
          </a:xfrm>
          <a:prstGeom prst="rect">
            <a:avLst/>
          </a:prstGeom>
          <a:noFill/>
          <a:ln/>
        </p:spPr>
        <p:txBody>
          <a:bodyPr wrap="square" lIns="0" tIns="0" rIns="0" bIns="0" rtlCol="0" anchor="ctr"/>
          <a:lstStyle/>
          <a:p>
            <a:pPr marL="0" indent="0" algn="ctr">
              <a:buNone/>
            </a:pPr>
            <a:r>
              <a:rPr lang="en-US" sz="2200" b="1"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a:t>
            </a:r>
            <a:endParaRPr lang="en-US" sz="2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6" name="Shape 33"/>
          <p:cNvSpPr/>
          <p:nvPr/>
        </p:nvSpPr>
        <p:spPr>
          <a:xfrm>
            <a:off x="3630168" y="5052273"/>
            <a:ext cx="1188720" cy="1156502"/>
          </a:xfrm>
          <a:prstGeom prst="roundRect">
            <a:avLst>
              <a:gd name="adj" fmla="val 10526"/>
            </a:avLst>
          </a:prstGeom>
          <a:solidFill>
            <a:srgbClr val="F8F9FB"/>
          </a:solidFill>
          <a:ln w="6350">
            <a:solidFill>
              <a:srgbClr val="E5E7EB"/>
            </a:solidFill>
            <a:prstDash val="solid"/>
          </a:ln>
        </p:spPr>
      </p:sp>
      <p:sp>
        <p:nvSpPr>
          <p:cNvPr id="37" name="Shape 34"/>
          <p:cNvSpPr/>
          <p:nvPr/>
        </p:nvSpPr>
        <p:spPr>
          <a:xfrm>
            <a:off x="4059936" y="5162001"/>
            <a:ext cx="329184" cy="329184"/>
          </a:xfrm>
          <a:prstGeom prst="ellipse">
            <a:avLst/>
          </a:prstGeom>
          <a:solidFill>
            <a:srgbClr val="D9472B"/>
          </a:solidFill>
          <a:ln w="12700">
            <a:solidFill>
              <a:srgbClr val="D9472B"/>
            </a:solidFill>
            <a:prstDash val="solid"/>
          </a:ln>
        </p:spPr>
      </p:sp>
      <p:sp>
        <p:nvSpPr>
          <p:cNvPr id="38" name="Text 35"/>
          <p:cNvSpPr/>
          <p:nvPr/>
        </p:nvSpPr>
        <p:spPr>
          <a:xfrm>
            <a:off x="4059936" y="5162001"/>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3</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9" name="Text 36"/>
          <p:cNvSpPr/>
          <p:nvPr/>
        </p:nvSpPr>
        <p:spPr>
          <a:xfrm>
            <a:off x="3630168" y="5652897"/>
            <a:ext cx="1188720" cy="201168"/>
          </a:xfrm>
          <a:prstGeom prst="rect">
            <a:avLst/>
          </a:prstGeom>
          <a:noFill/>
          <a:ln/>
        </p:spPr>
        <p:txBody>
          <a:bodyPr wrap="square" lIns="0" tIns="0" rIns="0" bIns="0" rtlCol="0" anchor="t"/>
          <a:lstStyle/>
          <a:p>
            <a:pPr algn="ctr"/>
            <a:r>
              <a:rPr lang="ko-KR" altLang="en-US" sz="1100" b="1">
                <a:latin typeface="Pretendard" panose="02000503000000020004" pitchFamily="50" charset="-127"/>
                <a:ea typeface="Pretendard" panose="02000503000000020004" pitchFamily="50" charset="-127"/>
                <a:cs typeface="Pretendard" panose="02000503000000020004" pitchFamily="50" charset="-127"/>
              </a:rPr>
              <a:t>이탈</a:t>
            </a:r>
            <a:r>
              <a:rPr lang="en-US" altLang="ko-KR" sz="1100" b="1">
                <a:latin typeface="Pretendard" panose="02000503000000020004" pitchFamily="50" charset="-127"/>
                <a:ea typeface="Pretendard" panose="02000503000000020004" pitchFamily="50" charset="-127"/>
                <a:cs typeface="Pretendard" panose="02000503000000020004" pitchFamily="50" charset="-127"/>
              </a:rPr>
              <a:t>·</a:t>
            </a:r>
            <a:r>
              <a:rPr lang="ko-KR" altLang="en-US" sz="1100" b="1">
                <a:latin typeface="Pretendard" panose="02000503000000020004" pitchFamily="50" charset="-127"/>
                <a:ea typeface="Pretendard" panose="02000503000000020004" pitchFamily="50" charset="-127"/>
                <a:cs typeface="Pretendard" panose="02000503000000020004" pitchFamily="50" charset="-127"/>
              </a:rPr>
              <a:t>중단</a:t>
            </a:r>
            <a:r>
              <a:rPr lang="ko-KR" altLang="en-US" sz="1100">
                <a:latin typeface="Pretendard" panose="02000503000000020004" pitchFamily="50" charset="-127"/>
                <a:ea typeface="Pretendard" panose="02000503000000020004" pitchFamily="50" charset="-127"/>
                <a:cs typeface="Pretendard" panose="02000503000000020004" pitchFamily="50" charset="-127"/>
              </a:rPr>
              <a:t> </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Text 37"/>
          <p:cNvSpPr/>
          <p:nvPr/>
        </p:nvSpPr>
        <p:spPr>
          <a:xfrm>
            <a:off x="3675888" y="5835777"/>
            <a:ext cx="1097280" cy="219456"/>
          </a:xfrm>
          <a:prstGeom prst="rect">
            <a:avLst/>
          </a:prstGeom>
          <a:noFill/>
          <a:ln/>
        </p:spPr>
        <p:txBody>
          <a:bodyPr wrap="square" lIns="0" tIns="0" rIns="0" bIns="0" rtlCol="0" anchor="t"/>
          <a:lstStyle/>
          <a:p>
            <a:pPr marL="0" indent="0" algn="ctr">
              <a:buNone/>
            </a:pPr>
            <a:r>
              <a:rPr lang="en-US" sz="850" dirty="0" err="1">
                <a:latin typeface="Pretendard" panose="02000503000000020004" pitchFamily="50" charset="-127"/>
                <a:ea typeface="Pretendard" panose="02000503000000020004" pitchFamily="50" charset="-127"/>
                <a:cs typeface="Pretendard" panose="02000503000000020004" pitchFamily="50" charset="-127"/>
              </a:rPr>
              <a:t>페이지</a:t>
            </a:r>
            <a:r>
              <a:rPr lang="en-US" sz="850" dirty="0">
                <a:latin typeface="Pretendard" panose="02000503000000020004" pitchFamily="50" charset="-127"/>
                <a:ea typeface="Pretendard" panose="02000503000000020004" pitchFamily="50" charset="-127"/>
                <a:cs typeface="Pretendard" panose="02000503000000020004" pitchFamily="50" charset="-127"/>
              </a:rPr>
              <a:t> / </a:t>
            </a:r>
            <a:r>
              <a:rPr lang="en-US" sz="850" dirty="0" err="1">
                <a:latin typeface="Pretendard" panose="02000503000000020004" pitchFamily="50" charset="-127"/>
                <a:ea typeface="Pretendard" panose="02000503000000020004" pitchFamily="50" charset="-127"/>
                <a:cs typeface="Pretendard" panose="02000503000000020004" pitchFamily="50" charset="-127"/>
              </a:rPr>
              <a:t>네트워크</a:t>
            </a:r>
            <a:r>
              <a:rPr lang="en-US" sz="850" dirty="0">
                <a:latin typeface="Pretendard" panose="02000503000000020004" pitchFamily="50" charset="-127"/>
                <a:ea typeface="Pretendard" panose="02000503000000020004" pitchFamily="50" charset="-127"/>
                <a:cs typeface="Pretendard" panose="02000503000000020004" pitchFamily="50" charset="-127"/>
              </a:rPr>
              <a:t> </a:t>
            </a:r>
            <a:r>
              <a:rPr lang="en-US" sz="850" dirty="0" err="1">
                <a:latin typeface="Pretendard" panose="02000503000000020004" pitchFamily="50" charset="-127"/>
                <a:ea typeface="Pretendard" panose="02000503000000020004" pitchFamily="50" charset="-127"/>
                <a:cs typeface="Pretendard" panose="02000503000000020004" pitchFamily="50" charset="-127"/>
              </a:rPr>
              <a:t>단절</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Text 38"/>
          <p:cNvSpPr/>
          <p:nvPr/>
        </p:nvSpPr>
        <p:spPr>
          <a:xfrm>
            <a:off x="4818888" y="5052273"/>
            <a:ext cx="274320" cy="868680"/>
          </a:xfrm>
          <a:prstGeom prst="rect">
            <a:avLst/>
          </a:prstGeom>
          <a:noFill/>
          <a:ln/>
        </p:spPr>
        <p:txBody>
          <a:bodyPr wrap="square" lIns="0" tIns="0" rIns="0" bIns="0" rtlCol="0" anchor="ctr"/>
          <a:lstStyle/>
          <a:p>
            <a:pPr marL="0" indent="0" algn="ctr">
              <a:buNone/>
            </a:pPr>
            <a:r>
              <a:rPr lang="en-US" sz="2200" b="1"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a:t>
            </a:r>
            <a:endParaRPr lang="en-US" sz="2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2" name="Shape 39"/>
          <p:cNvSpPr/>
          <p:nvPr/>
        </p:nvSpPr>
        <p:spPr>
          <a:xfrm>
            <a:off x="5093208" y="5052273"/>
            <a:ext cx="1188720" cy="1156502"/>
          </a:xfrm>
          <a:prstGeom prst="roundRect">
            <a:avLst>
              <a:gd name="adj" fmla="val 10526"/>
            </a:avLst>
          </a:prstGeom>
          <a:solidFill>
            <a:srgbClr val="F8F9FB"/>
          </a:solidFill>
          <a:ln w="6350">
            <a:solidFill>
              <a:srgbClr val="E5E7EB"/>
            </a:solidFill>
            <a:prstDash val="solid"/>
          </a:ln>
        </p:spPr>
      </p:sp>
      <p:sp>
        <p:nvSpPr>
          <p:cNvPr id="43" name="Shape 40"/>
          <p:cNvSpPr/>
          <p:nvPr/>
        </p:nvSpPr>
        <p:spPr>
          <a:xfrm>
            <a:off x="5522976" y="5162001"/>
            <a:ext cx="329184" cy="329184"/>
          </a:xfrm>
          <a:prstGeom prst="ellipse">
            <a:avLst/>
          </a:prstGeom>
          <a:solidFill>
            <a:srgbClr val="16A34A"/>
          </a:solidFill>
          <a:ln w="12700">
            <a:solidFill>
              <a:srgbClr val="16A34A"/>
            </a:solidFill>
            <a:prstDash val="solid"/>
          </a:ln>
        </p:spPr>
      </p:sp>
      <p:sp>
        <p:nvSpPr>
          <p:cNvPr id="44" name="Text 41"/>
          <p:cNvSpPr/>
          <p:nvPr/>
        </p:nvSpPr>
        <p:spPr>
          <a:xfrm>
            <a:off x="5522976" y="5162001"/>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4</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5" name="Text 42"/>
          <p:cNvSpPr/>
          <p:nvPr/>
        </p:nvSpPr>
        <p:spPr>
          <a:xfrm>
            <a:off x="5093208" y="5652897"/>
            <a:ext cx="1188720" cy="201168"/>
          </a:xfrm>
          <a:prstGeom prst="rect">
            <a:avLst/>
          </a:prstGeom>
          <a:noFill/>
          <a:ln/>
        </p:spPr>
        <p:txBody>
          <a:bodyPr wrap="square" lIns="0" tIns="0" rIns="0" bIns="0" rtlCol="0" anchor="t"/>
          <a:lstStyle/>
          <a:p>
            <a:pPr marL="0" indent="0" algn="ctr">
              <a:buNone/>
            </a:pPr>
            <a:r>
              <a:rPr lang="en-US" sz="11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이어하기</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6" name="Text 43"/>
          <p:cNvSpPr/>
          <p:nvPr/>
        </p:nvSpPr>
        <p:spPr>
          <a:xfrm>
            <a:off x="5138928" y="5835777"/>
            <a:ext cx="1097280" cy="219456"/>
          </a:xfrm>
          <a:prstGeom prst="rect">
            <a:avLst/>
          </a:prstGeom>
          <a:noFill/>
          <a:ln/>
        </p:spPr>
        <p:txBody>
          <a:bodyPr wrap="square" lIns="0" tIns="0" rIns="0" bIns="0" rtlCol="0" anchor="t"/>
          <a:lstStyle/>
          <a:p>
            <a:pPr algn="ctr"/>
            <a:r>
              <a:rPr lang="ko-KR" altLang="en-US" sz="900" dirty="0" err="1">
                <a:latin typeface="Pretendard" panose="02000503000000020004" pitchFamily="50" charset="-127"/>
                <a:ea typeface="Pretendard" panose="02000503000000020004" pitchFamily="50" charset="-127"/>
                <a:cs typeface="Pretendard" panose="02000503000000020004" pitchFamily="50" charset="-127"/>
              </a:rPr>
              <a:t>재접속</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 시 중단 지점부터 재개</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9" name="Text 46"/>
          <p:cNvSpPr/>
          <p:nvPr/>
        </p:nvSpPr>
        <p:spPr>
          <a:xfrm>
            <a:off x="6675120" y="2121408"/>
            <a:ext cx="5059375" cy="201168"/>
          </a:xfrm>
          <a:prstGeom prst="rect">
            <a:avLst/>
          </a:prstGeom>
          <a:noFill/>
          <a:ln/>
        </p:spPr>
        <p:txBody>
          <a:bodyPr wrap="square" lIns="0" tIns="0" rIns="0" bIns="0" rtlCol="0" anchor="t"/>
          <a:lstStyle/>
          <a:p>
            <a:pPr marL="0" indent="0" algn="l">
              <a:buNone/>
            </a:pPr>
            <a:r>
              <a:rPr lang="en-US" sz="10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CORE IMPROVEMENTS</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0" name="Text 47"/>
          <p:cNvSpPr/>
          <p:nvPr/>
        </p:nvSpPr>
        <p:spPr>
          <a:xfrm>
            <a:off x="6675120" y="2331720"/>
            <a:ext cx="5059375"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참여를 돕는 </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3</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가지 기능</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2" name="Shape 49"/>
          <p:cNvSpPr/>
          <p:nvPr/>
        </p:nvSpPr>
        <p:spPr>
          <a:xfrm>
            <a:off x="6675120" y="2715768"/>
            <a:ext cx="64008" cy="985850"/>
          </a:xfrm>
          <a:prstGeom prst="rect">
            <a:avLst/>
          </a:prstGeom>
          <a:solidFill>
            <a:srgbClr val="1456F0"/>
          </a:solidFill>
          <a:ln w="12700">
            <a:solidFill>
              <a:srgbClr val="1456F0"/>
            </a:solidFill>
            <a:prstDash val="solid"/>
          </a:ln>
        </p:spPr>
      </p:sp>
      <p:sp>
        <p:nvSpPr>
          <p:cNvPr id="53" name="Text 50"/>
          <p:cNvSpPr/>
          <p:nvPr/>
        </p:nvSpPr>
        <p:spPr>
          <a:xfrm>
            <a:off x="6876288" y="2827199"/>
            <a:ext cx="640080" cy="365760"/>
          </a:xfrm>
          <a:prstGeom prst="rect">
            <a:avLst/>
          </a:prstGeom>
          <a:noFill/>
          <a:ln/>
        </p:spPr>
        <p:txBody>
          <a:bodyPr wrap="square" lIns="0" tIns="0" rIns="0" bIns="0" rtlCol="0" anchor="t"/>
          <a:lstStyle/>
          <a:p>
            <a:pPr marL="0" indent="0" algn="l">
              <a:buNone/>
            </a:pPr>
            <a:r>
              <a:rPr lang="en-US" sz="2000" b="1" kern="0" spc="-50">
                <a:solidFill>
                  <a:srgbClr val="1456F0"/>
                </a:solidFill>
                <a:latin typeface="Pretendard" panose="02000503000000020004" pitchFamily="50" charset="-127"/>
                <a:ea typeface="Pretendard" panose="02000503000000020004" pitchFamily="50" charset="-127"/>
                <a:cs typeface="Pretendard" panose="02000503000000020004" pitchFamily="50" charset="-127"/>
              </a:rPr>
              <a:t>01</a:t>
            </a:r>
            <a:endParaRPr lang="en-US" sz="2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6" name="Text 53"/>
          <p:cNvSpPr/>
          <p:nvPr/>
        </p:nvSpPr>
        <p:spPr>
          <a:xfrm>
            <a:off x="6876288" y="3224427"/>
            <a:ext cx="4693615" cy="274320"/>
          </a:xfrm>
          <a:prstGeom prst="rect">
            <a:avLst/>
          </a:prstGeom>
          <a:noFill/>
          <a:ln/>
        </p:spPr>
        <p:txBody>
          <a:bodyPr wrap="square" lIns="0" tIns="0" rIns="0" bIns="0" rtlCol="0" anchor="t"/>
          <a:lstStyle/>
          <a:p>
            <a:pPr marL="0" indent="0" algn="l">
              <a:buNone/>
            </a:pPr>
            <a:r>
              <a:rPr lang="en-US" sz="1300" b="1" kern="0" spc="-2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실시간</a:t>
            </a:r>
            <a:r>
              <a:rPr lang="en-US" sz="130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1300" b="1" kern="0" spc="-2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진행률</a:t>
            </a:r>
            <a:r>
              <a:rPr lang="en-US" sz="1300" b="1" kern="0" spc="-2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1300" b="1" kern="0" spc="-2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표시</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7" name="Text 54"/>
          <p:cNvSpPr/>
          <p:nvPr/>
        </p:nvSpPr>
        <p:spPr>
          <a:xfrm>
            <a:off x="6876288" y="3498747"/>
            <a:ext cx="4693615" cy="274320"/>
          </a:xfrm>
          <a:prstGeom prst="rect">
            <a:avLst/>
          </a:prstGeom>
          <a:noFill/>
          <a:ln/>
        </p:spPr>
        <p:txBody>
          <a:bodyPr wrap="square" lIns="0" tIns="0" rIns="0" bIns="0" rtlCol="0" anchor="t"/>
          <a:lstStyle/>
          <a:p>
            <a:r>
              <a:rPr lang="ko-KR" altLang="en-US" sz="1000" dirty="0">
                <a:latin typeface="Pretendard" panose="02000503000000020004" pitchFamily="50" charset="-127"/>
                <a:ea typeface="Pretendard" panose="02000503000000020004" pitchFamily="50" charset="-127"/>
                <a:cs typeface="Pretendard" panose="02000503000000020004" pitchFamily="50" charset="-127"/>
              </a:rPr>
              <a:t>남은 문항 수를 시각화해 설문 완료 시점을 쉽게 파악</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8" name="Shape 55"/>
          <p:cNvSpPr/>
          <p:nvPr/>
        </p:nvSpPr>
        <p:spPr>
          <a:xfrm>
            <a:off x="6675120" y="3855363"/>
            <a:ext cx="5059375" cy="1078992"/>
          </a:xfrm>
          <a:prstGeom prst="roundRect">
            <a:avLst>
              <a:gd name="adj" fmla="val 11017"/>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59" name="Shape 56"/>
          <p:cNvSpPr/>
          <p:nvPr/>
        </p:nvSpPr>
        <p:spPr>
          <a:xfrm>
            <a:off x="6675120" y="3904488"/>
            <a:ext cx="64008" cy="1029867"/>
          </a:xfrm>
          <a:prstGeom prst="rect">
            <a:avLst/>
          </a:prstGeom>
          <a:solidFill>
            <a:srgbClr val="1456F0"/>
          </a:solidFill>
          <a:ln w="12700">
            <a:solidFill>
              <a:srgbClr val="1456F0"/>
            </a:solidFill>
            <a:prstDash val="solid"/>
          </a:ln>
        </p:spPr>
      </p:sp>
      <p:sp>
        <p:nvSpPr>
          <p:cNvPr id="60" name="Text 57"/>
          <p:cNvSpPr/>
          <p:nvPr/>
        </p:nvSpPr>
        <p:spPr>
          <a:xfrm>
            <a:off x="6876288" y="4001667"/>
            <a:ext cx="640080" cy="365760"/>
          </a:xfrm>
          <a:prstGeom prst="rect">
            <a:avLst/>
          </a:prstGeom>
          <a:noFill/>
          <a:ln/>
        </p:spPr>
        <p:txBody>
          <a:bodyPr wrap="square" lIns="0" tIns="0" rIns="0" bIns="0" rtlCol="0" anchor="t"/>
          <a:lstStyle/>
          <a:p>
            <a:pPr marL="0" indent="0" algn="l">
              <a:buNone/>
            </a:pPr>
            <a:r>
              <a:rPr lang="en-US" sz="2000" b="1" kern="0" spc="-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02</a:t>
            </a:r>
            <a:endParaRPr lang="en-US" sz="2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3" name="Text 60"/>
          <p:cNvSpPr/>
          <p:nvPr/>
        </p:nvSpPr>
        <p:spPr>
          <a:xfrm>
            <a:off x="6876288" y="4422291"/>
            <a:ext cx="4693615" cy="274320"/>
          </a:xfrm>
          <a:prstGeom prst="rect">
            <a:avLst/>
          </a:prstGeom>
          <a:noFill/>
          <a:ln/>
        </p:spPr>
        <p:txBody>
          <a:bodyPr wrap="square" lIns="0" tIns="0" rIns="0" bIns="0" rtlCol="0" anchor="t"/>
          <a:lstStyle/>
          <a:p>
            <a:r>
              <a:rPr lang="ko-KR" altLang="en-US" sz="1300" b="1" dirty="0">
                <a:latin typeface="Pretendard" panose="02000503000000020004" pitchFamily="50" charset="-127"/>
                <a:ea typeface="Pretendard" panose="02000503000000020004" pitchFamily="50" charset="-127"/>
                <a:cs typeface="Pretendard" panose="02000503000000020004" pitchFamily="50" charset="-127"/>
              </a:rPr>
              <a:t>작성 내용 자동 저장</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4" name="Text 61"/>
          <p:cNvSpPr/>
          <p:nvPr/>
        </p:nvSpPr>
        <p:spPr>
          <a:xfrm>
            <a:off x="6876288" y="4696611"/>
            <a:ext cx="4693615" cy="274320"/>
          </a:xfrm>
          <a:prstGeom prst="rect">
            <a:avLst/>
          </a:prstGeom>
          <a:noFill/>
          <a:ln/>
        </p:spPr>
        <p:txBody>
          <a:bodyPr wrap="square" lIns="0" tIns="0" rIns="0" bIns="0" rtlCol="0" anchor="t"/>
          <a:lstStyle/>
          <a:p>
            <a:r>
              <a:rPr lang="ko-KR" altLang="en-US" sz="1000" dirty="0">
                <a:latin typeface="Pretendard" panose="02000503000000020004" pitchFamily="50" charset="-127"/>
                <a:ea typeface="Pretendard" panose="02000503000000020004" pitchFamily="50" charset="-127"/>
                <a:cs typeface="Pretendard" panose="02000503000000020004" pitchFamily="50" charset="-127"/>
              </a:rPr>
              <a:t>응답 중 입력한 내용을 자동으로 저장해 페이지 이탈이나 중단 상황에서도 작성 내용 유실을 방지</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5" name="Shape 62"/>
          <p:cNvSpPr/>
          <p:nvPr/>
        </p:nvSpPr>
        <p:spPr>
          <a:xfrm>
            <a:off x="6675120" y="5093208"/>
            <a:ext cx="5059375" cy="1239226"/>
          </a:xfrm>
          <a:prstGeom prst="roundRect">
            <a:avLst>
              <a:gd name="adj" fmla="val 11017"/>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66" name="Shape 63"/>
          <p:cNvSpPr/>
          <p:nvPr/>
        </p:nvSpPr>
        <p:spPr>
          <a:xfrm>
            <a:off x="6675120" y="5178750"/>
            <a:ext cx="64008" cy="1153683"/>
          </a:xfrm>
          <a:prstGeom prst="rect">
            <a:avLst/>
          </a:prstGeom>
          <a:solidFill>
            <a:srgbClr val="1456F0"/>
          </a:solidFill>
          <a:ln w="12700">
            <a:solidFill>
              <a:srgbClr val="1456F0"/>
            </a:solidFill>
            <a:prstDash val="solid"/>
          </a:ln>
        </p:spPr>
      </p:sp>
      <p:sp>
        <p:nvSpPr>
          <p:cNvPr id="67" name="Text 64"/>
          <p:cNvSpPr/>
          <p:nvPr/>
        </p:nvSpPr>
        <p:spPr>
          <a:xfrm>
            <a:off x="6876288" y="5239512"/>
            <a:ext cx="640080" cy="365760"/>
          </a:xfrm>
          <a:prstGeom prst="rect">
            <a:avLst/>
          </a:prstGeom>
          <a:noFill/>
          <a:ln/>
        </p:spPr>
        <p:txBody>
          <a:bodyPr wrap="square" lIns="0" tIns="0" rIns="0" bIns="0" rtlCol="0" anchor="t"/>
          <a:lstStyle/>
          <a:p>
            <a:pPr marL="0" indent="0" algn="l">
              <a:buNone/>
            </a:pPr>
            <a:r>
              <a:rPr lang="en-US" sz="2000" b="1" kern="0" spc="-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03</a:t>
            </a:r>
            <a:endParaRPr lang="en-US" sz="2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0" name="Text 67"/>
          <p:cNvSpPr/>
          <p:nvPr/>
        </p:nvSpPr>
        <p:spPr>
          <a:xfrm>
            <a:off x="6876288" y="5660136"/>
            <a:ext cx="4693615" cy="274320"/>
          </a:xfrm>
          <a:prstGeom prst="rect">
            <a:avLst/>
          </a:prstGeom>
          <a:noFill/>
          <a:ln/>
        </p:spPr>
        <p:txBody>
          <a:bodyPr wrap="square" lIns="0" tIns="0" rIns="0" bIns="0" rtlCol="0" anchor="t"/>
          <a:lstStyle/>
          <a:p>
            <a:r>
              <a:rPr lang="ko-KR" altLang="en-US" sz="1300" b="1" dirty="0">
                <a:latin typeface="Pretendard" panose="02000503000000020004" pitchFamily="50" charset="-127"/>
                <a:ea typeface="Pretendard" panose="02000503000000020004" pitchFamily="50" charset="-127"/>
                <a:cs typeface="Pretendard" panose="02000503000000020004" pitchFamily="50" charset="-127"/>
              </a:rPr>
              <a:t>중단 지점부터 이어하기</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1" name="Text 68"/>
          <p:cNvSpPr/>
          <p:nvPr/>
        </p:nvSpPr>
        <p:spPr>
          <a:xfrm>
            <a:off x="6876288" y="5934456"/>
            <a:ext cx="4693615" cy="274320"/>
          </a:xfrm>
          <a:prstGeom prst="rect">
            <a:avLst/>
          </a:prstGeom>
          <a:noFill/>
          <a:ln/>
        </p:spPr>
        <p:txBody>
          <a:bodyPr wrap="square" lIns="0" tIns="0" rIns="0" bIns="0" rtlCol="0" anchor="t"/>
          <a:lstStyle/>
          <a:p>
            <a:r>
              <a:rPr lang="ko-KR" altLang="en-US" sz="1000" dirty="0" err="1">
                <a:latin typeface="Pretendard" panose="02000503000000020004" pitchFamily="50" charset="-127"/>
                <a:ea typeface="Pretendard" panose="02000503000000020004" pitchFamily="50" charset="-127"/>
                <a:cs typeface="Pretendard" panose="02000503000000020004" pitchFamily="50" charset="-127"/>
              </a:rPr>
              <a:t>재접속</a:t>
            </a: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 시 이전 응답 위치부터 이어서 참여할 수 있어 </a:t>
            </a:r>
            <a:r>
              <a:rPr lang="ko-KR" altLang="en-US" sz="1000" dirty="0" err="1">
                <a:latin typeface="Pretendard" panose="02000503000000020004" pitchFamily="50" charset="-127"/>
                <a:ea typeface="Pretendard" panose="02000503000000020004" pitchFamily="50" charset="-127"/>
                <a:cs typeface="Pretendard" panose="02000503000000020004" pitchFamily="50" charset="-127"/>
              </a:rPr>
              <a:t>재작성</a:t>
            </a: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 부담을 완화</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5" name="그림 4">
            <a:extLst>
              <a:ext uri="{FF2B5EF4-FFF2-40B4-BE49-F238E27FC236}">
                <a16:creationId xmlns:a16="http://schemas.microsoft.com/office/drawing/2014/main" id="{E4D76966-44D9-4086-8FB0-7D78E30684DB}"/>
              </a:ext>
            </a:extLst>
          </p:cNvPr>
          <p:cNvPicPr>
            <a:picLocks noChangeAspect="1"/>
          </p:cNvPicPr>
          <p:nvPr/>
        </p:nvPicPr>
        <p:blipFill>
          <a:blip r:embed="rId4"/>
          <a:stretch>
            <a:fillRect/>
          </a:stretch>
        </p:blipFill>
        <p:spPr>
          <a:xfrm>
            <a:off x="509777" y="2503780"/>
            <a:ext cx="5934076" cy="1180237"/>
          </a:xfrm>
          <a:prstGeom prst="roundRect">
            <a:avLst>
              <a:gd name="adj" fmla="val 12632"/>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 </a:t>
            </a:r>
            <a:r>
              <a:rPr lang="en-US" altLang="ko-KR"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주요</a:t>
            </a:r>
            <a:r>
              <a:rPr lang="en-US" altLang="ko-KR"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개선 기능</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09</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설문 응답 및 </a:t>
            </a:r>
            <a:r>
              <a:rPr lang="ko-KR" altLang="en-US" sz="2400" b="1" dirty="0" err="1">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 응답 현황 개선</a:t>
            </a:r>
            <a:endParaRPr lang="en-US" sz="2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200" y="1411873"/>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설문 전체 응답률과 </a:t>
            </a:r>
            <a:r>
              <a:rPr lang="ko-KR" altLang="en-US" sz="1600" dirty="0" err="1">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참여 현황을 한눈에 파악할 수 있도록 통계 페이지를 개선하였습니다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5"/>
          <p:cNvSpPr/>
          <p:nvPr/>
        </p:nvSpPr>
        <p:spPr>
          <a:xfrm>
            <a:off x="457200" y="1898139"/>
            <a:ext cx="5455768" cy="201168"/>
          </a:xfrm>
          <a:prstGeom prst="rect">
            <a:avLst/>
          </a:prstGeom>
          <a:noFill/>
          <a:ln/>
        </p:spPr>
        <p:txBody>
          <a:bodyPr wrap="square" lIns="0" tIns="0" rIns="0" bIns="0" rtlCol="0" anchor="t"/>
          <a:lstStyle/>
          <a:p>
            <a:pPr marL="0" indent="0" algn="l">
              <a:buNone/>
            </a:pPr>
            <a:r>
              <a:rPr lang="en-US" sz="10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PART 01</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6"/>
          <p:cNvSpPr/>
          <p:nvPr/>
        </p:nvSpPr>
        <p:spPr>
          <a:xfrm>
            <a:off x="457200" y="2108451"/>
            <a:ext cx="5455768" cy="292608"/>
          </a:xfrm>
          <a:prstGeom prst="rect">
            <a:avLst/>
          </a:prstGeom>
          <a:noFill/>
          <a:ln/>
        </p:spPr>
        <p:txBody>
          <a:bodyPr wrap="square" lIns="0" tIns="0" rIns="0" bIns="0" rtlCol="0" anchor="t"/>
          <a:lstStyle/>
          <a:p>
            <a:pPr marL="0" indent="0" algn="l">
              <a:buNone/>
            </a:pP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a:t>
            </a: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응답</a:t>
            </a: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현황</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 8"/>
          <p:cNvSpPr/>
          <p:nvPr/>
        </p:nvSpPr>
        <p:spPr>
          <a:xfrm>
            <a:off x="6278728" y="1898139"/>
            <a:ext cx="5455768" cy="201168"/>
          </a:xfrm>
          <a:prstGeom prst="rect">
            <a:avLst/>
          </a:prstGeom>
          <a:noFill/>
          <a:ln/>
        </p:spPr>
        <p:txBody>
          <a:bodyPr wrap="square" lIns="0" tIns="0" rIns="0" bIns="0" rtlCol="0" anchor="t"/>
          <a:lstStyle/>
          <a:p>
            <a:pPr marL="0" indent="0" algn="l">
              <a:buNone/>
            </a:pPr>
            <a:r>
              <a:rPr lang="en-US" sz="1000" b="1" kern="0" spc="20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PART 02</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9"/>
          <p:cNvSpPr/>
          <p:nvPr/>
        </p:nvSpPr>
        <p:spPr>
          <a:xfrm>
            <a:off x="6278728" y="2108451"/>
            <a:ext cx="5455768" cy="292608"/>
          </a:xfrm>
          <a:prstGeom prst="rect">
            <a:avLst/>
          </a:prstGeom>
          <a:noFill/>
          <a:ln/>
        </p:spPr>
        <p:txBody>
          <a:bodyPr wrap="square" lIns="0" tIns="0" rIns="0" bIns="0" rtlCol="0" anchor="t"/>
          <a:lstStyle/>
          <a:p>
            <a:pPr marL="0" indent="0" algn="l">
              <a:buNone/>
            </a:pP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조직별 </a:t>
            </a: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응답</a:t>
            </a: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현황</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Shape 11"/>
          <p:cNvSpPr/>
          <p:nvPr/>
        </p:nvSpPr>
        <p:spPr>
          <a:xfrm>
            <a:off x="457200" y="2382771"/>
            <a:ext cx="5455768" cy="2716526"/>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15" name="Shape 12"/>
          <p:cNvSpPr/>
          <p:nvPr/>
        </p:nvSpPr>
        <p:spPr>
          <a:xfrm>
            <a:off x="457200" y="2382771"/>
            <a:ext cx="5455768" cy="329184"/>
          </a:xfrm>
          <a:prstGeom prst="rect">
            <a:avLst/>
          </a:prstGeom>
          <a:solidFill>
            <a:srgbClr val="EEF0F3"/>
          </a:solidFill>
          <a:ln w="12700">
            <a:solidFill>
              <a:srgbClr val="E5E7EB"/>
            </a:solidFill>
            <a:prstDash val="solid"/>
          </a:ln>
        </p:spPr>
      </p:sp>
      <p:sp>
        <p:nvSpPr>
          <p:cNvPr id="16" name="Shape 13"/>
          <p:cNvSpPr/>
          <p:nvPr/>
        </p:nvSpPr>
        <p:spPr>
          <a:xfrm>
            <a:off x="585216" y="2483355"/>
            <a:ext cx="118872" cy="118872"/>
          </a:xfrm>
          <a:prstGeom prst="ellipse">
            <a:avLst/>
          </a:prstGeom>
          <a:solidFill>
            <a:srgbClr val="E0826B"/>
          </a:solidFill>
          <a:ln w="12700">
            <a:solidFill>
              <a:srgbClr val="E0826B"/>
            </a:solidFill>
            <a:prstDash val="solid"/>
          </a:ln>
        </p:spPr>
      </p:sp>
      <p:sp>
        <p:nvSpPr>
          <p:cNvPr id="17" name="Shape 14"/>
          <p:cNvSpPr/>
          <p:nvPr/>
        </p:nvSpPr>
        <p:spPr>
          <a:xfrm>
            <a:off x="740664" y="2483355"/>
            <a:ext cx="118872" cy="118872"/>
          </a:xfrm>
          <a:prstGeom prst="ellipse">
            <a:avLst/>
          </a:prstGeom>
          <a:solidFill>
            <a:srgbClr val="E3C66D"/>
          </a:solidFill>
          <a:ln w="12700">
            <a:solidFill>
              <a:srgbClr val="E3C66D"/>
            </a:solidFill>
            <a:prstDash val="solid"/>
          </a:ln>
        </p:spPr>
      </p:sp>
      <p:sp>
        <p:nvSpPr>
          <p:cNvPr id="18" name="Shape 15"/>
          <p:cNvSpPr/>
          <p:nvPr/>
        </p:nvSpPr>
        <p:spPr>
          <a:xfrm>
            <a:off x="896112" y="2483355"/>
            <a:ext cx="118872" cy="118872"/>
          </a:xfrm>
          <a:prstGeom prst="ellipse">
            <a:avLst/>
          </a:prstGeom>
          <a:solidFill>
            <a:srgbClr val="9DC97A"/>
          </a:solidFill>
          <a:ln w="12700">
            <a:solidFill>
              <a:srgbClr val="9DC97A"/>
            </a:solidFill>
            <a:prstDash val="solid"/>
          </a:ln>
        </p:spPr>
      </p:sp>
      <p:sp>
        <p:nvSpPr>
          <p:cNvPr id="19" name="Shape 16"/>
          <p:cNvSpPr/>
          <p:nvPr/>
        </p:nvSpPr>
        <p:spPr>
          <a:xfrm>
            <a:off x="1143000" y="2455923"/>
            <a:ext cx="4587088" cy="182880"/>
          </a:xfrm>
          <a:prstGeom prst="roundRect">
            <a:avLst>
              <a:gd name="adj" fmla="val 20000"/>
            </a:avLst>
          </a:prstGeom>
          <a:solidFill>
            <a:srgbClr val="FFFFFF"/>
          </a:solidFill>
          <a:ln w="6350">
            <a:solidFill>
              <a:srgbClr val="E5E7EB"/>
            </a:solidFill>
            <a:prstDash val="solid"/>
          </a:ln>
        </p:spPr>
      </p:sp>
      <p:sp>
        <p:nvSpPr>
          <p:cNvPr id="20" name="Text 17"/>
          <p:cNvSpPr/>
          <p:nvPr/>
        </p:nvSpPr>
        <p:spPr>
          <a:xfrm>
            <a:off x="1188720" y="2455923"/>
            <a:ext cx="4495648" cy="182880"/>
          </a:xfrm>
          <a:prstGeom prst="rect">
            <a:avLst/>
          </a:prstGeom>
          <a:noFill/>
          <a:ln/>
        </p:spPr>
        <p:txBody>
          <a:bodyPr wrap="square" lIns="0" tIns="0" rIns="0" bIns="0" rtlCol="0" anchor="ctr"/>
          <a:lstStyle/>
          <a:p>
            <a:pPr marL="0" indent="0" algn="l">
              <a:buNone/>
            </a:pP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설문 응</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답 현황 — 전체 요약 대시보드</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Shape 34"/>
          <p:cNvSpPr/>
          <p:nvPr/>
        </p:nvSpPr>
        <p:spPr>
          <a:xfrm>
            <a:off x="457200" y="5199882"/>
            <a:ext cx="5455768" cy="1158254"/>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8" name="Shape 35"/>
          <p:cNvSpPr/>
          <p:nvPr/>
        </p:nvSpPr>
        <p:spPr>
          <a:xfrm>
            <a:off x="457200" y="5199881"/>
            <a:ext cx="5455768" cy="54864"/>
          </a:xfrm>
          <a:prstGeom prst="rect">
            <a:avLst/>
          </a:prstGeom>
          <a:solidFill>
            <a:srgbClr val="1456F0"/>
          </a:solidFill>
          <a:ln w="12700">
            <a:solidFill>
              <a:srgbClr val="1456F0"/>
            </a:solidFill>
            <a:prstDash val="solid"/>
          </a:ln>
        </p:spPr>
      </p:sp>
      <p:sp>
        <p:nvSpPr>
          <p:cNvPr id="39" name="Text 36"/>
          <p:cNvSpPr/>
          <p:nvPr/>
        </p:nvSpPr>
        <p:spPr>
          <a:xfrm>
            <a:off x="658368" y="5401049"/>
            <a:ext cx="509000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진행 현황을 한눈에 파악</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Text 37"/>
          <p:cNvSpPr/>
          <p:nvPr/>
        </p:nvSpPr>
        <p:spPr>
          <a:xfrm>
            <a:off x="658368" y="5794241"/>
            <a:ext cx="5090008" cy="256032"/>
          </a:xfrm>
          <a:prstGeom prst="rect">
            <a:avLst/>
          </a:prstGeom>
          <a:noFill/>
          <a:ln/>
        </p:spPr>
        <p:txBody>
          <a:bodyPr wrap="square" lIns="0" tIns="0" rIns="0" bIns="0" rtlCol="0" anchor="t"/>
          <a:lstStyle/>
          <a:p>
            <a:r>
              <a:rPr lang="en-US" sz="105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총 대상자 </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응답자 </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응답률 </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미 응답자를 카드형 </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UI</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로 상단 배치</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Text 38"/>
          <p:cNvSpPr/>
          <p:nvPr/>
        </p:nvSpPr>
        <p:spPr>
          <a:xfrm>
            <a:off x="658368" y="6050273"/>
            <a:ext cx="5090008" cy="256032"/>
          </a:xfrm>
          <a:prstGeom prst="rect">
            <a:avLst/>
          </a:prstGeom>
          <a:noFill/>
          <a:ln/>
        </p:spPr>
        <p:txBody>
          <a:bodyPr wrap="square" lIns="0" tIns="0" rIns="0" bIns="0" rtlCol="0" anchor="t"/>
          <a:lstStyle/>
          <a:p>
            <a:r>
              <a:rPr lang="en-US" sz="105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05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응답률을 제공해 설문</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 진행 상황을 빠르게 확인</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Shape 40"/>
          <p:cNvSpPr/>
          <p:nvPr/>
        </p:nvSpPr>
        <p:spPr>
          <a:xfrm>
            <a:off x="6278728" y="2382771"/>
            <a:ext cx="5455768" cy="2728726"/>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44" name="Shape 41"/>
          <p:cNvSpPr/>
          <p:nvPr/>
        </p:nvSpPr>
        <p:spPr>
          <a:xfrm>
            <a:off x="6278728" y="2382771"/>
            <a:ext cx="5455768" cy="329184"/>
          </a:xfrm>
          <a:prstGeom prst="rect">
            <a:avLst/>
          </a:prstGeom>
          <a:solidFill>
            <a:srgbClr val="EEF0F3"/>
          </a:solidFill>
          <a:ln w="12700">
            <a:solidFill>
              <a:srgbClr val="E5E7EB"/>
            </a:solidFill>
            <a:prstDash val="solid"/>
          </a:ln>
        </p:spPr>
      </p:sp>
      <p:sp>
        <p:nvSpPr>
          <p:cNvPr id="45" name="Shape 42"/>
          <p:cNvSpPr/>
          <p:nvPr/>
        </p:nvSpPr>
        <p:spPr>
          <a:xfrm>
            <a:off x="6406744" y="2483355"/>
            <a:ext cx="118872" cy="118872"/>
          </a:xfrm>
          <a:prstGeom prst="ellipse">
            <a:avLst/>
          </a:prstGeom>
          <a:solidFill>
            <a:srgbClr val="E0826B"/>
          </a:solidFill>
          <a:ln w="12700">
            <a:solidFill>
              <a:srgbClr val="E0826B"/>
            </a:solidFill>
            <a:prstDash val="solid"/>
          </a:ln>
        </p:spPr>
      </p:sp>
      <p:sp>
        <p:nvSpPr>
          <p:cNvPr id="46" name="Shape 43"/>
          <p:cNvSpPr/>
          <p:nvPr/>
        </p:nvSpPr>
        <p:spPr>
          <a:xfrm>
            <a:off x="6562192" y="2483355"/>
            <a:ext cx="118872" cy="118872"/>
          </a:xfrm>
          <a:prstGeom prst="ellipse">
            <a:avLst/>
          </a:prstGeom>
          <a:solidFill>
            <a:srgbClr val="E3C66D"/>
          </a:solidFill>
          <a:ln w="12700">
            <a:solidFill>
              <a:srgbClr val="E3C66D"/>
            </a:solidFill>
            <a:prstDash val="solid"/>
          </a:ln>
        </p:spPr>
      </p:sp>
      <p:sp>
        <p:nvSpPr>
          <p:cNvPr id="47" name="Shape 44"/>
          <p:cNvSpPr/>
          <p:nvPr/>
        </p:nvSpPr>
        <p:spPr>
          <a:xfrm>
            <a:off x="6717640" y="2483355"/>
            <a:ext cx="118872" cy="118872"/>
          </a:xfrm>
          <a:prstGeom prst="ellipse">
            <a:avLst/>
          </a:prstGeom>
          <a:solidFill>
            <a:srgbClr val="9DC97A"/>
          </a:solidFill>
          <a:ln w="12700">
            <a:solidFill>
              <a:srgbClr val="9DC97A"/>
            </a:solidFill>
            <a:prstDash val="solid"/>
          </a:ln>
        </p:spPr>
      </p:sp>
      <p:sp>
        <p:nvSpPr>
          <p:cNvPr id="48" name="Shape 45"/>
          <p:cNvSpPr/>
          <p:nvPr/>
        </p:nvSpPr>
        <p:spPr>
          <a:xfrm>
            <a:off x="6964528" y="2455923"/>
            <a:ext cx="4587088" cy="182880"/>
          </a:xfrm>
          <a:prstGeom prst="roundRect">
            <a:avLst>
              <a:gd name="adj" fmla="val 20000"/>
            </a:avLst>
          </a:prstGeom>
          <a:solidFill>
            <a:srgbClr val="FFFFFF"/>
          </a:solidFill>
          <a:ln w="6350">
            <a:solidFill>
              <a:srgbClr val="E5E7EB"/>
            </a:solidFill>
            <a:prstDash val="solid"/>
          </a:ln>
        </p:spPr>
        <p:txBody>
          <a:bodyPr/>
          <a:lstStyle/>
          <a:p>
            <a:endParaRPr lang="ko-KR" altLang="en-US" dirty="0"/>
          </a:p>
        </p:txBody>
      </p:sp>
      <p:sp>
        <p:nvSpPr>
          <p:cNvPr id="49" name="Text 46"/>
          <p:cNvSpPr/>
          <p:nvPr/>
        </p:nvSpPr>
        <p:spPr>
          <a:xfrm>
            <a:off x="7010248" y="2455923"/>
            <a:ext cx="4495648" cy="182880"/>
          </a:xfrm>
          <a:prstGeom prst="rect">
            <a:avLst/>
          </a:prstGeom>
          <a:noFill/>
          <a:ln/>
        </p:spPr>
        <p:txBody>
          <a:bodyPr wrap="square" lIns="0" tIns="0" rIns="0" bIns="0" rtlCol="0" anchor="ctr"/>
          <a:lstStyle/>
          <a:p>
            <a:pPr marL="0" indent="0" algn="l">
              <a:buNone/>
            </a:pPr>
            <a:r>
              <a:rPr lang="ko-KR" altLang="en-US"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en-US"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응답</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현황 — 조직별 트리 뷰</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9" name="Shape 66"/>
          <p:cNvSpPr/>
          <p:nvPr/>
        </p:nvSpPr>
        <p:spPr>
          <a:xfrm>
            <a:off x="6278728" y="5199881"/>
            <a:ext cx="5455768" cy="1158255"/>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70" name="Shape 67"/>
          <p:cNvSpPr/>
          <p:nvPr/>
        </p:nvSpPr>
        <p:spPr>
          <a:xfrm>
            <a:off x="6278728" y="5199881"/>
            <a:ext cx="5455768" cy="54864"/>
          </a:xfrm>
          <a:prstGeom prst="rect">
            <a:avLst/>
          </a:prstGeom>
          <a:solidFill>
            <a:srgbClr val="EA5EC1"/>
          </a:solidFill>
          <a:ln w="12700">
            <a:solidFill>
              <a:srgbClr val="EA5EC1"/>
            </a:solidFill>
            <a:prstDash val="solid"/>
          </a:ln>
        </p:spPr>
      </p:sp>
      <p:sp>
        <p:nvSpPr>
          <p:cNvPr id="71" name="Text 68"/>
          <p:cNvSpPr/>
          <p:nvPr/>
        </p:nvSpPr>
        <p:spPr>
          <a:xfrm>
            <a:off x="6479896" y="5401049"/>
            <a:ext cx="5090008" cy="292608"/>
          </a:xfrm>
          <a:prstGeom prst="rect">
            <a:avLst/>
          </a:prstGeom>
          <a:noFill/>
          <a:ln/>
        </p:spPr>
        <p:txBody>
          <a:bodyPr wrap="square" lIns="0" tIns="0" rIns="0" bIns="0" rtlCol="0" anchor="t"/>
          <a:lstStyle/>
          <a:p>
            <a:r>
              <a:rPr lang="ko-KR" altLang="en-US" sz="1400" b="1" dirty="0" err="1">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 응답률을 트리 구조와 </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Progress Bar</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로 시각화</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2" name="Text 69"/>
          <p:cNvSpPr/>
          <p:nvPr/>
        </p:nvSpPr>
        <p:spPr>
          <a:xfrm>
            <a:off x="6479896" y="5794241"/>
            <a:ext cx="5090008" cy="256032"/>
          </a:xfrm>
          <a:prstGeom prst="rect">
            <a:avLst/>
          </a:prstGeom>
          <a:noFill/>
          <a:ln/>
        </p:spPr>
        <p:txBody>
          <a:bodyPr wrap="square" lIns="0" tIns="0" rIns="0" bIns="0" rtlCol="0" anchor="t"/>
          <a:lstStyle/>
          <a:p>
            <a:r>
              <a:rPr lang="en-US" sz="105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부서부터 </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UNIT</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까지 </a:t>
            </a:r>
            <a:r>
              <a:rPr lang="ko-KR" altLang="en-US" sz="1050" dirty="0" err="1">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 참여도 비교</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3" name="Text 70"/>
          <p:cNvSpPr/>
          <p:nvPr/>
        </p:nvSpPr>
        <p:spPr>
          <a:xfrm>
            <a:off x="6479896" y="6050273"/>
            <a:ext cx="5090008" cy="256032"/>
          </a:xfrm>
          <a:prstGeom prst="rect">
            <a:avLst/>
          </a:prstGeom>
          <a:noFill/>
          <a:ln/>
        </p:spPr>
        <p:txBody>
          <a:bodyPr wrap="square" lIns="0" tIns="0" rIns="0" bIns="0" rtlCol="0" anchor="t"/>
          <a:lstStyle/>
          <a:p>
            <a:r>
              <a:rPr lang="en-US" sz="105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05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참여율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저조 조직을 색상으로 구분해 독려 조직 파악 </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4" name="Text 12"/>
          <p:cNvSpPr/>
          <p:nvPr/>
        </p:nvSpPr>
        <p:spPr>
          <a:xfrm>
            <a:off x="310834" y="3494964"/>
            <a:ext cx="5455768" cy="320040"/>
          </a:xfrm>
          <a:prstGeom prst="rect">
            <a:avLst/>
          </a:prstGeom>
          <a:noFill/>
          <a:ln/>
        </p:spPr>
        <p:txBody>
          <a:bodyPr wrap="square" lIns="0" tIns="0" rIns="0" bIns="0" rtlCol="0" anchor="ctr"/>
          <a:lstStyle/>
          <a:p>
            <a:pPr marL="0" indent="0" algn="ctr">
              <a:buNone/>
            </a:pPr>
            <a:r>
              <a:rPr lang="en-US" sz="13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9" name="Text 12"/>
          <p:cNvSpPr/>
          <p:nvPr/>
        </p:nvSpPr>
        <p:spPr>
          <a:xfrm>
            <a:off x="6366816" y="3490712"/>
            <a:ext cx="5455768" cy="320040"/>
          </a:xfrm>
          <a:prstGeom prst="rect">
            <a:avLst/>
          </a:prstGeom>
          <a:noFill/>
          <a:ln/>
        </p:spPr>
        <p:txBody>
          <a:bodyPr wrap="square" lIns="0" tIns="0" rIns="0" bIns="0" rtlCol="0" anchor="ctr"/>
          <a:lstStyle/>
          <a:p>
            <a:pPr marL="0" indent="0" algn="ctr">
              <a:buNone/>
            </a:pPr>
            <a:r>
              <a:rPr lang="en-US" sz="13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23" name="그림 22">
            <a:extLst>
              <a:ext uri="{FF2B5EF4-FFF2-40B4-BE49-F238E27FC236}">
                <a16:creationId xmlns:a16="http://schemas.microsoft.com/office/drawing/2014/main" id="{37B441A8-587B-47B8-9BFA-D64647496917}"/>
              </a:ext>
            </a:extLst>
          </p:cNvPr>
          <p:cNvPicPr>
            <a:picLocks noChangeAspect="1"/>
          </p:cNvPicPr>
          <p:nvPr/>
        </p:nvPicPr>
        <p:blipFill>
          <a:blip r:embed="rId4"/>
          <a:stretch>
            <a:fillRect/>
          </a:stretch>
        </p:blipFill>
        <p:spPr>
          <a:xfrm>
            <a:off x="526938" y="2764908"/>
            <a:ext cx="5327752" cy="2253034"/>
          </a:xfrm>
          <a:prstGeom prst="roundRect">
            <a:avLst>
              <a:gd name="adj" fmla="val 10386"/>
            </a:avLst>
          </a:prstGeom>
        </p:spPr>
      </p:pic>
      <p:pic>
        <p:nvPicPr>
          <p:cNvPr id="24" name="그림 23">
            <a:extLst>
              <a:ext uri="{FF2B5EF4-FFF2-40B4-BE49-F238E27FC236}">
                <a16:creationId xmlns:a16="http://schemas.microsoft.com/office/drawing/2014/main" id="{6609BED3-545D-43B9-BECD-47F1B8F31A58}"/>
              </a:ext>
            </a:extLst>
          </p:cNvPr>
          <p:cNvPicPr>
            <a:picLocks noChangeAspect="1"/>
          </p:cNvPicPr>
          <p:nvPr/>
        </p:nvPicPr>
        <p:blipFill>
          <a:blip r:embed="rId5"/>
          <a:stretch>
            <a:fillRect/>
          </a:stretch>
        </p:blipFill>
        <p:spPr>
          <a:xfrm>
            <a:off x="6366816" y="2766819"/>
            <a:ext cx="5298246" cy="2251123"/>
          </a:xfrm>
          <a:prstGeom prst="roundRect">
            <a:avLst>
              <a:gd name="adj" fmla="val 5243"/>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 </a:t>
            </a:r>
            <a:r>
              <a:rPr lang="en-US" altLang="ko-KR"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주요</a:t>
            </a:r>
            <a:r>
              <a:rPr lang="en-US" altLang="ko-KR"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개선 기능</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10</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문항 및 </a:t>
            </a:r>
            <a:r>
              <a:rPr lang="ko-KR" altLang="en-US" sz="2400" b="1" dirty="0" err="1">
                <a:latin typeface="Pretendard" panose="02000503000000020004" pitchFamily="50" charset="-127"/>
                <a:ea typeface="Pretendard" panose="02000503000000020004" pitchFamily="50" charset="-127"/>
                <a:cs typeface="Pretendard" panose="02000503000000020004" pitchFamily="50" charset="-127"/>
              </a:rPr>
              <a:t>응답자별</a:t>
            </a:r>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 답변 현황 개선</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201" y="1382690"/>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문항별 응답률과 응답자별 답변 현황을 한눈에 파악할 수 있도록 통계 페이지를 개선하였습니다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p>
        </p:txBody>
      </p:sp>
      <p:sp>
        <p:nvSpPr>
          <p:cNvPr id="8" name="Text 5"/>
          <p:cNvSpPr/>
          <p:nvPr/>
        </p:nvSpPr>
        <p:spPr>
          <a:xfrm>
            <a:off x="457200" y="1810511"/>
            <a:ext cx="5455768" cy="201168"/>
          </a:xfrm>
          <a:prstGeom prst="rect">
            <a:avLst/>
          </a:prstGeom>
          <a:noFill/>
          <a:ln/>
        </p:spPr>
        <p:txBody>
          <a:bodyPr wrap="square" lIns="0" tIns="0" rIns="0" bIns="0" rtlCol="0" anchor="t"/>
          <a:lstStyle/>
          <a:p>
            <a:pPr marL="0" indent="0" algn="l">
              <a:buNone/>
            </a:pPr>
            <a:r>
              <a:rPr lang="en-US" sz="10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PART 01</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6"/>
          <p:cNvSpPr/>
          <p:nvPr/>
        </p:nvSpPr>
        <p:spPr>
          <a:xfrm>
            <a:off x="457200" y="2020823"/>
            <a:ext cx="5455768" cy="292608"/>
          </a:xfrm>
          <a:prstGeom prst="rect">
            <a:avLst/>
          </a:prstGeom>
          <a:noFill/>
          <a:ln/>
        </p:spPr>
        <p:txBody>
          <a:bodyPr wrap="square" lIns="0" tIns="0" rIns="0" bIns="0" rtlCol="0" anchor="t"/>
          <a:lstStyle/>
          <a:p>
            <a:pPr marL="0" indent="0" algn="l">
              <a:buNone/>
            </a:pP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문항별 응답 현황</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 8"/>
          <p:cNvSpPr/>
          <p:nvPr/>
        </p:nvSpPr>
        <p:spPr>
          <a:xfrm>
            <a:off x="6278728" y="1810511"/>
            <a:ext cx="5455768" cy="201168"/>
          </a:xfrm>
          <a:prstGeom prst="rect">
            <a:avLst/>
          </a:prstGeom>
          <a:noFill/>
          <a:ln/>
        </p:spPr>
        <p:txBody>
          <a:bodyPr wrap="square" lIns="0" tIns="0" rIns="0" bIns="0" rtlCol="0" anchor="t"/>
          <a:lstStyle/>
          <a:p>
            <a:pPr marL="0" indent="0" algn="l">
              <a:buNone/>
            </a:pPr>
            <a:r>
              <a:rPr lang="en-US" sz="1000" b="1" kern="0" spc="20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PART 02</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9"/>
          <p:cNvSpPr/>
          <p:nvPr/>
        </p:nvSpPr>
        <p:spPr>
          <a:xfrm>
            <a:off x="6278728" y="2020823"/>
            <a:ext cx="5455768" cy="292608"/>
          </a:xfrm>
          <a:prstGeom prst="rect">
            <a:avLst/>
          </a:prstGeom>
          <a:noFill/>
          <a:ln/>
        </p:spPr>
        <p:txBody>
          <a:bodyPr wrap="square" lIns="0" tIns="0" rIns="0" bIns="0" rtlCol="0" anchor="t"/>
          <a:lstStyle/>
          <a:p>
            <a:pPr marL="0" indent="0" algn="l">
              <a:buNone/>
            </a:pP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응답자별 답변 현황</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Shape 11"/>
          <p:cNvSpPr/>
          <p:nvPr/>
        </p:nvSpPr>
        <p:spPr>
          <a:xfrm>
            <a:off x="457200" y="2313431"/>
            <a:ext cx="5455768" cy="2790458"/>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15" name="Shape 12"/>
          <p:cNvSpPr/>
          <p:nvPr/>
        </p:nvSpPr>
        <p:spPr>
          <a:xfrm>
            <a:off x="457200" y="2313432"/>
            <a:ext cx="5455768" cy="329184"/>
          </a:xfrm>
          <a:prstGeom prst="rect">
            <a:avLst/>
          </a:prstGeom>
          <a:solidFill>
            <a:srgbClr val="EEF0F3"/>
          </a:solidFill>
          <a:ln w="12700">
            <a:solidFill>
              <a:srgbClr val="E5E7EB"/>
            </a:solidFill>
            <a:prstDash val="solid"/>
          </a:ln>
        </p:spPr>
      </p:sp>
      <p:sp>
        <p:nvSpPr>
          <p:cNvPr id="16" name="Shape 13"/>
          <p:cNvSpPr/>
          <p:nvPr/>
        </p:nvSpPr>
        <p:spPr>
          <a:xfrm>
            <a:off x="585216" y="2414016"/>
            <a:ext cx="118872" cy="118872"/>
          </a:xfrm>
          <a:prstGeom prst="ellipse">
            <a:avLst/>
          </a:prstGeom>
          <a:solidFill>
            <a:srgbClr val="E0826B"/>
          </a:solidFill>
          <a:ln w="12700">
            <a:solidFill>
              <a:srgbClr val="E0826B"/>
            </a:solidFill>
            <a:prstDash val="solid"/>
          </a:ln>
        </p:spPr>
      </p:sp>
      <p:sp>
        <p:nvSpPr>
          <p:cNvPr id="17" name="Shape 14"/>
          <p:cNvSpPr/>
          <p:nvPr/>
        </p:nvSpPr>
        <p:spPr>
          <a:xfrm>
            <a:off x="740664" y="2414016"/>
            <a:ext cx="118872" cy="118872"/>
          </a:xfrm>
          <a:prstGeom prst="ellipse">
            <a:avLst/>
          </a:prstGeom>
          <a:solidFill>
            <a:srgbClr val="E3C66D"/>
          </a:solidFill>
          <a:ln w="12700">
            <a:solidFill>
              <a:srgbClr val="E3C66D"/>
            </a:solidFill>
            <a:prstDash val="solid"/>
          </a:ln>
        </p:spPr>
      </p:sp>
      <p:sp>
        <p:nvSpPr>
          <p:cNvPr id="18" name="Shape 15"/>
          <p:cNvSpPr/>
          <p:nvPr/>
        </p:nvSpPr>
        <p:spPr>
          <a:xfrm>
            <a:off x="896112" y="2414016"/>
            <a:ext cx="118872" cy="118872"/>
          </a:xfrm>
          <a:prstGeom prst="ellipse">
            <a:avLst/>
          </a:prstGeom>
          <a:solidFill>
            <a:srgbClr val="9DC97A"/>
          </a:solidFill>
          <a:ln w="12700">
            <a:solidFill>
              <a:srgbClr val="9DC97A"/>
            </a:solidFill>
            <a:prstDash val="solid"/>
          </a:ln>
        </p:spPr>
      </p:sp>
      <p:sp>
        <p:nvSpPr>
          <p:cNvPr id="19" name="Shape 16"/>
          <p:cNvSpPr/>
          <p:nvPr/>
        </p:nvSpPr>
        <p:spPr>
          <a:xfrm>
            <a:off x="1143000" y="2386584"/>
            <a:ext cx="4587088" cy="182880"/>
          </a:xfrm>
          <a:prstGeom prst="roundRect">
            <a:avLst>
              <a:gd name="adj" fmla="val 20000"/>
            </a:avLst>
          </a:prstGeom>
          <a:solidFill>
            <a:srgbClr val="FFFFFF"/>
          </a:solidFill>
          <a:ln w="6350">
            <a:solidFill>
              <a:srgbClr val="E5E7EB"/>
            </a:solidFill>
            <a:prstDash val="solid"/>
          </a:ln>
        </p:spPr>
      </p:sp>
      <p:sp>
        <p:nvSpPr>
          <p:cNvPr id="20" name="Text 17"/>
          <p:cNvSpPr/>
          <p:nvPr/>
        </p:nvSpPr>
        <p:spPr>
          <a:xfrm>
            <a:off x="1188720" y="2386584"/>
            <a:ext cx="4495648" cy="182880"/>
          </a:xfrm>
          <a:prstGeom prst="rect">
            <a:avLst/>
          </a:prstGeom>
          <a:noFill/>
          <a:ln/>
        </p:spPr>
        <p:txBody>
          <a:bodyPr wrap="square" lIns="0" tIns="0" rIns="0" bIns="0" rtlCol="0" anchor="ctr"/>
          <a:lstStyle/>
          <a:p>
            <a:pPr marL="0" indent="0" algn="l">
              <a:buNone/>
            </a:pP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문항 결과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객관식 및 순위선택형</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Shape 34"/>
          <p:cNvSpPr/>
          <p:nvPr/>
        </p:nvSpPr>
        <p:spPr>
          <a:xfrm>
            <a:off x="457200" y="5205018"/>
            <a:ext cx="5455768" cy="1187630"/>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8" name="Shape 35"/>
          <p:cNvSpPr/>
          <p:nvPr/>
        </p:nvSpPr>
        <p:spPr>
          <a:xfrm>
            <a:off x="457200" y="5204473"/>
            <a:ext cx="5455768" cy="54864"/>
          </a:xfrm>
          <a:prstGeom prst="rect">
            <a:avLst/>
          </a:prstGeom>
          <a:solidFill>
            <a:srgbClr val="1456F0"/>
          </a:solidFill>
          <a:ln w="12700">
            <a:solidFill>
              <a:srgbClr val="1456F0"/>
            </a:solidFill>
            <a:prstDash val="solid"/>
          </a:ln>
        </p:spPr>
      </p:sp>
      <p:sp>
        <p:nvSpPr>
          <p:cNvPr id="39" name="Text 36"/>
          <p:cNvSpPr/>
          <p:nvPr/>
        </p:nvSpPr>
        <p:spPr>
          <a:xfrm>
            <a:off x="658368" y="5405641"/>
            <a:ext cx="509000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문항별 결과를 직관적으로 비교</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Text 37"/>
          <p:cNvSpPr/>
          <p:nvPr/>
        </p:nvSpPr>
        <p:spPr>
          <a:xfrm>
            <a:off x="658368" y="5934400"/>
            <a:ext cx="5090008" cy="256032"/>
          </a:xfrm>
          <a:prstGeom prst="rect">
            <a:avLst/>
          </a:prstGeom>
          <a:noFill/>
          <a:ln/>
        </p:spPr>
        <p:txBody>
          <a:bodyPr wrap="square" lIns="0" tIns="0" rIns="0" bIns="0" rtlCol="0" anchor="t"/>
          <a:lstStyle/>
          <a:p>
            <a:r>
              <a:rPr lang="en-US" sz="105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err="1">
                <a:latin typeface="Pretendard" panose="02000503000000020004" pitchFamily="50" charset="-127"/>
                <a:ea typeface="Pretendard" panose="02000503000000020004" pitchFamily="50" charset="-127"/>
                <a:cs typeface="Pretendard" panose="02000503000000020004" pitchFamily="50" charset="-127"/>
              </a:rPr>
              <a:t>보기별</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 응답 수와 비율</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을 </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Progress Bar</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로 시각화</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Text 38"/>
          <p:cNvSpPr/>
          <p:nvPr/>
        </p:nvSpPr>
        <p:spPr>
          <a:xfrm>
            <a:off x="658368" y="6054865"/>
            <a:ext cx="5090008" cy="256032"/>
          </a:xfrm>
          <a:prstGeom prst="rect">
            <a:avLst/>
          </a:prstGeom>
          <a:noFill/>
          <a:ln/>
        </p:spPr>
        <p:txBody>
          <a:bodyPr wrap="square" lIns="0" tIns="0" rIns="0" bIns="0" rtlCol="0" anchor="t"/>
          <a:lstStyle/>
          <a:p>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Shape 40"/>
          <p:cNvSpPr/>
          <p:nvPr/>
        </p:nvSpPr>
        <p:spPr>
          <a:xfrm>
            <a:off x="6278728" y="2313431"/>
            <a:ext cx="5455768" cy="2790458"/>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sp>
      <p:sp>
        <p:nvSpPr>
          <p:cNvPr id="44" name="Shape 41"/>
          <p:cNvSpPr/>
          <p:nvPr/>
        </p:nvSpPr>
        <p:spPr>
          <a:xfrm>
            <a:off x="6278728" y="2313431"/>
            <a:ext cx="5455768" cy="329184"/>
          </a:xfrm>
          <a:prstGeom prst="rect">
            <a:avLst/>
          </a:prstGeom>
          <a:solidFill>
            <a:srgbClr val="EEF0F3"/>
          </a:solidFill>
          <a:ln w="12700">
            <a:solidFill>
              <a:srgbClr val="E5E7EB"/>
            </a:solidFill>
            <a:prstDash val="solid"/>
          </a:ln>
        </p:spPr>
      </p:sp>
      <p:sp>
        <p:nvSpPr>
          <p:cNvPr id="45" name="Shape 42"/>
          <p:cNvSpPr/>
          <p:nvPr/>
        </p:nvSpPr>
        <p:spPr>
          <a:xfrm>
            <a:off x="6406744" y="2414015"/>
            <a:ext cx="118872" cy="118872"/>
          </a:xfrm>
          <a:prstGeom prst="ellipse">
            <a:avLst/>
          </a:prstGeom>
          <a:solidFill>
            <a:srgbClr val="E0826B"/>
          </a:solidFill>
          <a:ln w="12700">
            <a:solidFill>
              <a:srgbClr val="E0826B"/>
            </a:solidFill>
            <a:prstDash val="solid"/>
          </a:ln>
        </p:spPr>
      </p:sp>
      <p:sp>
        <p:nvSpPr>
          <p:cNvPr id="46" name="Shape 43"/>
          <p:cNvSpPr/>
          <p:nvPr/>
        </p:nvSpPr>
        <p:spPr>
          <a:xfrm>
            <a:off x="6562192" y="2414015"/>
            <a:ext cx="118872" cy="118872"/>
          </a:xfrm>
          <a:prstGeom prst="ellipse">
            <a:avLst/>
          </a:prstGeom>
          <a:solidFill>
            <a:srgbClr val="E3C66D"/>
          </a:solidFill>
          <a:ln w="12700">
            <a:solidFill>
              <a:srgbClr val="E3C66D"/>
            </a:solidFill>
            <a:prstDash val="solid"/>
          </a:ln>
        </p:spPr>
      </p:sp>
      <p:sp>
        <p:nvSpPr>
          <p:cNvPr id="47" name="Shape 44"/>
          <p:cNvSpPr/>
          <p:nvPr/>
        </p:nvSpPr>
        <p:spPr>
          <a:xfrm>
            <a:off x="6717640" y="2414015"/>
            <a:ext cx="118872" cy="118872"/>
          </a:xfrm>
          <a:prstGeom prst="ellipse">
            <a:avLst/>
          </a:prstGeom>
          <a:solidFill>
            <a:srgbClr val="9DC97A"/>
          </a:solidFill>
          <a:ln w="12700">
            <a:solidFill>
              <a:srgbClr val="9DC97A"/>
            </a:solidFill>
            <a:prstDash val="solid"/>
          </a:ln>
        </p:spPr>
      </p:sp>
      <p:sp>
        <p:nvSpPr>
          <p:cNvPr id="48" name="Shape 45"/>
          <p:cNvSpPr/>
          <p:nvPr/>
        </p:nvSpPr>
        <p:spPr>
          <a:xfrm>
            <a:off x="6964528" y="2386583"/>
            <a:ext cx="4587088" cy="182880"/>
          </a:xfrm>
          <a:prstGeom prst="roundRect">
            <a:avLst>
              <a:gd name="adj" fmla="val 20000"/>
            </a:avLst>
          </a:prstGeom>
          <a:solidFill>
            <a:srgbClr val="FFFFFF"/>
          </a:solidFill>
          <a:ln w="6350">
            <a:solidFill>
              <a:srgbClr val="E5E7EB"/>
            </a:solidFill>
            <a:prstDash val="solid"/>
          </a:ln>
        </p:spPr>
      </p:sp>
      <p:sp>
        <p:nvSpPr>
          <p:cNvPr id="49" name="Text 46"/>
          <p:cNvSpPr/>
          <p:nvPr/>
        </p:nvSpPr>
        <p:spPr>
          <a:xfrm>
            <a:off x="7010248" y="2386583"/>
            <a:ext cx="4495648" cy="182880"/>
          </a:xfrm>
          <a:prstGeom prst="rect">
            <a:avLst/>
          </a:prstGeom>
          <a:noFill/>
          <a:ln/>
        </p:spPr>
        <p:txBody>
          <a:bodyPr wrap="square" lIns="0" tIns="0" rIns="0" bIns="0" rtlCol="0" anchor="ctr"/>
          <a:lstStyle/>
          <a:p>
            <a:pPr marL="0" indent="0" algn="l">
              <a:buNone/>
            </a:pP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응답자별 답변 내역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응답자 </a:t>
            </a:r>
            <a:r>
              <a:rPr lang="en-US"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개별</a:t>
            </a: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조회</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3" name="Shape 80"/>
          <p:cNvSpPr/>
          <p:nvPr/>
        </p:nvSpPr>
        <p:spPr>
          <a:xfrm>
            <a:off x="6278728" y="5204473"/>
            <a:ext cx="5455768" cy="1187630"/>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84" name="Shape 81"/>
          <p:cNvSpPr/>
          <p:nvPr/>
        </p:nvSpPr>
        <p:spPr>
          <a:xfrm>
            <a:off x="6278728" y="5204473"/>
            <a:ext cx="5455768" cy="54864"/>
          </a:xfrm>
          <a:prstGeom prst="rect">
            <a:avLst/>
          </a:prstGeom>
          <a:solidFill>
            <a:srgbClr val="EA5EC1"/>
          </a:solidFill>
          <a:ln w="12700">
            <a:solidFill>
              <a:srgbClr val="EA5EC1"/>
            </a:solidFill>
            <a:prstDash val="solid"/>
          </a:ln>
        </p:spPr>
      </p:sp>
      <p:sp>
        <p:nvSpPr>
          <p:cNvPr id="85" name="Text 82"/>
          <p:cNvSpPr/>
          <p:nvPr/>
        </p:nvSpPr>
        <p:spPr>
          <a:xfrm>
            <a:off x="6479896" y="5405641"/>
            <a:ext cx="5090008" cy="292608"/>
          </a:xfrm>
          <a:prstGeom prst="rect">
            <a:avLst/>
          </a:prstGeom>
          <a:noFill/>
          <a:ln/>
        </p:spPr>
        <p:txBody>
          <a:bodyPr wrap="square" lIns="0" tIns="0" rIns="0" bIns="0" rtlCol="0" anchor="t"/>
          <a:lstStyle/>
          <a:p>
            <a:pPr marL="0" indent="0" algn="l">
              <a:buNone/>
            </a:pPr>
            <a:r>
              <a:rPr lang="en-US" sz="14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개인별</a:t>
            </a:r>
            <a:r>
              <a:rPr 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답변 상세 조회 가능</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6" name="Text 83"/>
          <p:cNvSpPr/>
          <p:nvPr/>
        </p:nvSpPr>
        <p:spPr>
          <a:xfrm>
            <a:off x="6479896" y="5798833"/>
            <a:ext cx="5090008" cy="256032"/>
          </a:xfrm>
          <a:prstGeom prst="rect">
            <a:avLst/>
          </a:prstGeom>
          <a:noFill/>
          <a:ln/>
        </p:spPr>
        <p:txBody>
          <a:bodyPr wrap="square" lIns="0" tIns="0" rIns="0" bIns="0" rtlCol="0" anchor="t"/>
          <a:lstStyle/>
          <a:p>
            <a:r>
              <a:rPr lang="en-US" sz="105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응답자별 문항 답변 내역을 그리드</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표</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형태로 조회</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7" name="Text 84"/>
          <p:cNvSpPr/>
          <p:nvPr/>
        </p:nvSpPr>
        <p:spPr>
          <a:xfrm>
            <a:off x="6479896" y="6054865"/>
            <a:ext cx="5090008" cy="256032"/>
          </a:xfrm>
          <a:prstGeom prst="rect">
            <a:avLst/>
          </a:prstGeom>
          <a:noFill/>
          <a:ln/>
        </p:spPr>
        <p:txBody>
          <a:bodyPr wrap="square" lIns="0" tIns="0" rIns="0" bIns="0" rtlCol="0" anchor="t"/>
          <a:lstStyle/>
          <a:p>
            <a:r>
              <a:rPr lang="en-US" sz="105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부서</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이름과 문항별 답변을 함께 제공해 개별 응답 내용 확인</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8" name="Text 85"/>
          <p:cNvSpPr/>
          <p:nvPr/>
        </p:nvSpPr>
        <p:spPr>
          <a:xfrm>
            <a:off x="6479896" y="6310897"/>
            <a:ext cx="5090008" cy="256032"/>
          </a:xfrm>
          <a:prstGeom prst="rect">
            <a:avLst/>
          </a:prstGeom>
          <a:noFill/>
          <a:ln/>
        </p:spPr>
        <p:txBody>
          <a:bodyPr wrap="square" lIns="0" tIns="0" rIns="0" bIns="0" rtlCol="0" anchor="t"/>
          <a:lstStyle/>
          <a:p>
            <a:pPr marL="0" indent="0" algn="l">
              <a:buNone/>
            </a:pP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10" name="그림 9">
            <a:extLst>
              <a:ext uri="{FF2B5EF4-FFF2-40B4-BE49-F238E27FC236}">
                <a16:creationId xmlns:a16="http://schemas.microsoft.com/office/drawing/2014/main" id="{5B777019-F4A5-4D4F-9EA6-74FB4076E046}"/>
              </a:ext>
            </a:extLst>
          </p:cNvPr>
          <p:cNvPicPr>
            <a:picLocks noChangeAspect="1"/>
          </p:cNvPicPr>
          <p:nvPr/>
        </p:nvPicPr>
        <p:blipFill>
          <a:blip r:embed="rId4"/>
          <a:stretch>
            <a:fillRect/>
          </a:stretch>
        </p:blipFill>
        <p:spPr>
          <a:xfrm>
            <a:off x="536524" y="2670048"/>
            <a:ext cx="5327752" cy="2433841"/>
          </a:xfrm>
          <a:prstGeom prst="roundRect">
            <a:avLst>
              <a:gd name="adj" fmla="val 9706"/>
            </a:avLst>
          </a:prstGeom>
        </p:spPr>
      </p:pic>
      <p:pic>
        <p:nvPicPr>
          <p:cNvPr id="21" name="그림 20">
            <a:extLst>
              <a:ext uri="{FF2B5EF4-FFF2-40B4-BE49-F238E27FC236}">
                <a16:creationId xmlns:a16="http://schemas.microsoft.com/office/drawing/2014/main" id="{7A4B5A23-3FFC-4587-80D2-BB6AFD9EE216}"/>
              </a:ext>
            </a:extLst>
          </p:cNvPr>
          <p:cNvPicPr>
            <a:picLocks noChangeAspect="1"/>
          </p:cNvPicPr>
          <p:nvPr/>
        </p:nvPicPr>
        <p:blipFill>
          <a:blip r:embed="rId5"/>
          <a:stretch>
            <a:fillRect/>
          </a:stretch>
        </p:blipFill>
        <p:spPr>
          <a:xfrm>
            <a:off x="6278728" y="3140815"/>
            <a:ext cx="5446552" cy="1955181"/>
          </a:xfrm>
          <a:prstGeom prst="roundRect">
            <a:avLst>
              <a:gd name="adj" fmla="val 12282"/>
            </a:avLst>
          </a:prstGeom>
        </p:spPr>
      </p:pic>
      <p:pic>
        <p:nvPicPr>
          <p:cNvPr id="13" name="그림 12">
            <a:extLst>
              <a:ext uri="{FF2B5EF4-FFF2-40B4-BE49-F238E27FC236}">
                <a16:creationId xmlns:a16="http://schemas.microsoft.com/office/drawing/2014/main" id="{3C00CBE1-6AF3-4F29-BE09-F47F105E1A0D}"/>
              </a:ext>
            </a:extLst>
          </p:cNvPr>
          <p:cNvPicPr>
            <a:picLocks noChangeAspect="1"/>
          </p:cNvPicPr>
          <p:nvPr/>
        </p:nvPicPr>
        <p:blipFill>
          <a:blip r:embed="rId6"/>
          <a:stretch>
            <a:fillRect/>
          </a:stretch>
        </p:blipFill>
        <p:spPr>
          <a:xfrm>
            <a:off x="6288252" y="2679019"/>
            <a:ext cx="5437027" cy="461796"/>
          </a:xfrm>
          <a:prstGeom prst="round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04. </a:t>
            </a:r>
            <a:r>
              <a:rPr lang="en-US"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주요</a:t>
            </a: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개선 기능</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11</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엑셀 내보내기 및 이력 관리</a:t>
            </a:r>
            <a:endParaRPr lang="en-US" sz="2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201" y="1417028"/>
            <a:ext cx="11277295" cy="292608"/>
          </a:xfrm>
          <a:prstGeom prst="rect">
            <a:avLst/>
          </a:prstGeom>
          <a:noFill/>
          <a:ln/>
        </p:spPr>
        <p:txBody>
          <a:bodyPr wrap="square" lIns="0" tIns="0" rIns="0" bIns="0" rtlCol="0" anchor="t"/>
          <a:lstStyle/>
          <a:p>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4</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개 통계 데이터를 시트별로 분리해 엑셀로 내보내고</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내보내기 이력을 기록</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조회할 수 있도록 개선했습니다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5"/>
          <p:cNvSpPr/>
          <p:nvPr/>
        </p:nvSpPr>
        <p:spPr>
          <a:xfrm>
            <a:off x="457200" y="1907540"/>
            <a:ext cx="5455768" cy="201168"/>
          </a:xfrm>
          <a:prstGeom prst="rect">
            <a:avLst/>
          </a:prstGeom>
          <a:noFill/>
          <a:ln/>
        </p:spPr>
        <p:txBody>
          <a:bodyPr wrap="square" lIns="0" tIns="0" rIns="0" bIns="0" rtlCol="0" anchor="t"/>
          <a:lstStyle/>
          <a:p>
            <a:pPr marL="0" indent="0" algn="l">
              <a:buNone/>
            </a:pPr>
            <a:r>
              <a:rPr lang="en-US" sz="10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PART 01</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6"/>
          <p:cNvSpPr/>
          <p:nvPr/>
        </p:nvSpPr>
        <p:spPr>
          <a:xfrm>
            <a:off x="457200" y="2117852"/>
            <a:ext cx="5455768" cy="292608"/>
          </a:xfrm>
          <a:prstGeom prst="rect">
            <a:avLst/>
          </a:prstGeom>
          <a:noFill/>
          <a:ln/>
        </p:spPr>
        <p:txBody>
          <a:bodyPr wrap="square" lIns="0" tIns="0" rIns="0" bIns="0" rtlCol="0" anchor="t"/>
          <a:lstStyle/>
          <a:p>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4</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개 통계 유형별 엑셀 시트 분리</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 8"/>
          <p:cNvSpPr/>
          <p:nvPr/>
        </p:nvSpPr>
        <p:spPr>
          <a:xfrm>
            <a:off x="6278728" y="1907540"/>
            <a:ext cx="5455768" cy="201168"/>
          </a:xfrm>
          <a:prstGeom prst="rect">
            <a:avLst/>
          </a:prstGeom>
          <a:noFill/>
          <a:ln/>
        </p:spPr>
        <p:txBody>
          <a:bodyPr wrap="square" lIns="0" tIns="0" rIns="0" bIns="0" rtlCol="0" anchor="t"/>
          <a:lstStyle/>
          <a:p>
            <a:pPr marL="0" indent="0" algn="l">
              <a:buNone/>
            </a:pPr>
            <a:r>
              <a:rPr lang="en-US" sz="1000" b="1" kern="0" spc="20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PART 02</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9"/>
          <p:cNvSpPr/>
          <p:nvPr/>
        </p:nvSpPr>
        <p:spPr>
          <a:xfrm>
            <a:off x="6278728" y="2117852"/>
            <a:ext cx="545576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엑셀 내보내기 이력 관리</a:t>
            </a:r>
            <a:endParaRPr lang="en-US"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Shape 11"/>
          <p:cNvSpPr/>
          <p:nvPr/>
        </p:nvSpPr>
        <p:spPr>
          <a:xfrm>
            <a:off x="6278728" y="2410459"/>
            <a:ext cx="5455768" cy="2657057"/>
          </a:xfrm>
          <a:prstGeom prst="roundRect">
            <a:avLst>
              <a:gd name="adj" fmla="val 8000"/>
            </a:avLst>
          </a:prstGeom>
          <a:solidFill>
            <a:srgbClr val="F8F9FB"/>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15" name="Shape 12"/>
          <p:cNvSpPr/>
          <p:nvPr/>
        </p:nvSpPr>
        <p:spPr>
          <a:xfrm>
            <a:off x="6278728" y="2410460"/>
            <a:ext cx="5455768" cy="329184"/>
          </a:xfrm>
          <a:prstGeom prst="rect">
            <a:avLst/>
          </a:prstGeom>
          <a:solidFill>
            <a:srgbClr val="EEF0F3"/>
          </a:solidFill>
          <a:ln w="12700">
            <a:solidFill>
              <a:srgbClr val="E5E7EB"/>
            </a:solidFill>
            <a:prstDash val="solid"/>
          </a:ln>
        </p:spPr>
      </p:sp>
      <p:sp>
        <p:nvSpPr>
          <p:cNvPr id="16" name="Shape 13"/>
          <p:cNvSpPr/>
          <p:nvPr/>
        </p:nvSpPr>
        <p:spPr>
          <a:xfrm>
            <a:off x="6386932" y="2524760"/>
            <a:ext cx="118872" cy="118872"/>
          </a:xfrm>
          <a:prstGeom prst="ellipse">
            <a:avLst/>
          </a:prstGeom>
          <a:solidFill>
            <a:srgbClr val="E0826B"/>
          </a:solidFill>
          <a:ln w="12700">
            <a:solidFill>
              <a:srgbClr val="E0826B"/>
            </a:solidFill>
            <a:prstDash val="solid"/>
          </a:ln>
        </p:spPr>
      </p:sp>
      <p:sp>
        <p:nvSpPr>
          <p:cNvPr id="17" name="Shape 14"/>
          <p:cNvSpPr/>
          <p:nvPr/>
        </p:nvSpPr>
        <p:spPr>
          <a:xfrm>
            <a:off x="6542380" y="2524760"/>
            <a:ext cx="118872" cy="118872"/>
          </a:xfrm>
          <a:prstGeom prst="ellipse">
            <a:avLst/>
          </a:prstGeom>
          <a:solidFill>
            <a:srgbClr val="E3C66D"/>
          </a:solidFill>
          <a:ln w="12700">
            <a:solidFill>
              <a:srgbClr val="E3C66D"/>
            </a:solidFill>
            <a:prstDash val="solid"/>
          </a:ln>
        </p:spPr>
      </p:sp>
      <p:sp>
        <p:nvSpPr>
          <p:cNvPr id="18" name="Shape 15"/>
          <p:cNvSpPr/>
          <p:nvPr/>
        </p:nvSpPr>
        <p:spPr>
          <a:xfrm>
            <a:off x="6697828" y="2524760"/>
            <a:ext cx="118872" cy="118872"/>
          </a:xfrm>
          <a:prstGeom prst="ellipse">
            <a:avLst/>
          </a:prstGeom>
          <a:solidFill>
            <a:srgbClr val="9DC97A"/>
          </a:solidFill>
          <a:ln w="12700">
            <a:solidFill>
              <a:srgbClr val="9DC97A"/>
            </a:solidFill>
            <a:prstDash val="solid"/>
          </a:ln>
        </p:spPr>
      </p:sp>
      <p:sp>
        <p:nvSpPr>
          <p:cNvPr id="19" name="Shape 16"/>
          <p:cNvSpPr/>
          <p:nvPr/>
        </p:nvSpPr>
        <p:spPr>
          <a:xfrm>
            <a:off x="6944716" y="2497328"/>
            <a:ext cx="4587088" cy="182880"/>
          </a:xfrm>
          <a:prstGeom prst="roundRect">
            <a:avLst>
              <a:gd name="adj" fmla="val 20000"/>
            </a:avLst>
          </a:prstGeom>
          <a:solidFill>
            <a:srgbClr val="FFFFFF"/>
          </a:solidFill>
          <a:ln w="6350">
            <a:solidFill>
              <a:srgbClr val="E5E7EB"/>
            </a:solidFill>
            <a:prstDash val="solid"/>
          </a:ln>
        </p:spPr>
      </p:sp>
      <p:sp>
        <p:nvSpPr>
          <p:cNvPr id="20" name="Text 17"/>
          <p:cNvSpPr/>
          <p:nvPr/>
        </p:nvSpPr>
        <p:spPr>
          <a:xfrm>
            <a:off x="6990436" y="2497328"/>
            <a:ext cx="4495648" cy="182880"/>
          </a:xfrm>
          <a:prstGeom prst="rect">
            <a:avLst/>
          </a:prstGeom>
          <a:noFill/>
          <a:ln/>
        </p:spPr>
        <p:txBody>
          <a:bodyPr wrap="square" lIns="0" tIns="0" rIns="0" bIns="0" rtlCol="0" anchor="ctr"/>
          <a:lstStyle/>
          <a:p>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엑셀 내보내기 </a:t>
            </a:r>
            <a:r>
              <a:rPr lang="en-US" altLang="ko-KR"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내역</a:t>
            </a:r>
            <a:r>
              <a:rPr lang="en-US" altLang="ko-KR"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 </a:t>
            </a:r>
            <a:r>
              <a:rPr lang="ko-KR" alt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이력 </a:t>
            </a:r>
            <a:r>
              <a:rPr lang="en-US" altLang="ko-KR"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개별</a:t>
            </a:r>
            <a:r>
              <a:rPr lang="en-US" altLang="ko-KR"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en-US" altLang="ko-KR" sz="9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조회</a:t>
            </a:r>
            <a:endParaRPr lang="en-US" altLang="ko-KR"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4" name="Shape 41"/>
          <p:cNvSpPr/>
          <p:nvPr/>
        </p:nvSpPr>
        <p:spPr>
          <a:xfrm>
            <a:off x="424327" y="5168101"/>
            <a:ext cx="5455768" cy="1155627"/>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5" name="Shape 42"/>
          <p:cNvSpPr/>
          <p:nvPr/>
        </p:nvSpPr>
        <p:spPr>
          <a:xfrm>
            <a:off x="457200" y="5168101"/>
            <a:ext cx="5455768" cy="54864"/>
          </a:xfrm>
          <a:prstGeom prst="rect">
            <a:avLst/>
          </a:prstGeom>
          <a:solidFill>
            <a:srgbClr val="1456F0"/>
          </a:solidFill>
          <a:ln w="12700">
            <a:solidFill>
              <a:srgbClr val="1456F0"/>
            </a:solidFill>
            <a:prstDash val="solid"/>
          </a:ln>
        </p:spPr>
      </p:sp>
      <p:sp>
        <p:nvSpPr>
          <p:cNvPr id="46" name="Text 43"/>
          <p:cNvSpPr/>
          <p:nvPr/>
        </p:nvSpPr>
        <p:spPr>
          <a:xfrm>
            <a:off x="658368" y="5369269"/>
            <a:ext cx="509000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한 번의 내보내기로 </a:t>
            </a:r>
            <a:r>
              <a:rPr lang="ko-KR" altLang="en-US" sz="1400" b="1" dirty="0" err="1">
                <a:latin typeface="Pretendard" panose="02000503000000020004" pitchFamily="50" charset="-127"/>
                <a:ea typeface="Pretendard" panose="02000503000000020004" pitchFamily="50" charset="-127"/>
                <a:cs typeface="Pretendard" panose="02000503000000020004" pitchFamily="50" charset="-127"/>
              </a:rPr>
              <a:t>통계별</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 데이터 확인</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7" name="Text 44"/>
          <p:cNvSpPr/>
          <p:nvPr/>
        </p:nvSpPr>
        <p:spPr>
          <a:xfrm>
            <a:off x="658368" y="5762461"/>
            <a:ext cx="5090008" cy="256032"/>
          </a:xfrm>
          <a:prstGeom prst="rect">
            <a:avLst/>
          </a:prstGeom>
          <a:noFill/>
          <a:ln/>
        </p:spPr>
        <p:txBody>
          <a:bodyPr wrap="square" lIns="0" tIns="0" rIns="0" bIns="0" rtlCol="0" anchor="t"/>
          <a:lstStyle/>
          <a:p>
            <a:r>
              <a:rPr lang="en-US" sz="105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전체 요약</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050" dirty="0" err="1">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 현황</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문항별 분석</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응답자별 데이터를 시트별로 분리</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8" name="Text 45"/>
          <p:cNvSpPr/>
          <p:nvPr/>
        </p:nvSpPr>
        <p:spPr>
          <a:xfrm>
            <a:off x="658368" y="6018493"/>
            <a:ext cx="5090008" cy="256032"/>
          </a:xfrm>
          <a:prstGeom prst="rect">
            <a:avLst/>
          </a:prstGeom>
          <a:noFill/>
          <a:ln/>
        </p:spPr>
        <p:txBody>
          <a:bodyPr wrap="square" lIns="0" tIns="0" rIns="0" bIns="0" rtlCol="0" anchor="t"/>
          <a:lstStyle/>
          <a:p>
            <a:r>
              <a:rPr lang="en-US" altLang="ko-KR" sz="105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r>
              <a:rPr lang="en-US" sz="105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단일 엑셀 파일 안에서 통계 유형별 데이터를 바로 확인 가능</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1" name="Shape 48"/>
          <p:cNvSpPr/>
          <p:nvPr/>
        </p:nvSpPr>
        <p:spPr>
          <a:xfrm>
            <a:off x="433852" y="2414016"/>
            <a:ext cx="5455768" cy="2653500"/>
          </a:xfrm>
          <a:prstGeom prst="rect">
            <a:avLst/>
          </a:prstGeom>
          <a:solidFill>
            <a:srgbClr val="DADFE6"/>
          </a:solidFill>
          <a:ln w="12700">
            <a:solidFill>
              <a:srgbClr val="DADFE6"/>
            </a:solidFill>
            <a:prstDash val="solid"/>
          </a:ln>
        </p:spPr>
        <p:txBody>
          <a:bodyPr/>
          <a:lstStyle/>
          <a:p>
            <a:endParaRPr lang="ko-KR" altLang="en-US" dirty="0"/>
          </a:p>
        </p:txBody>
      </p:sp>
      <p:sp>
        <p:nvSpPr>
          <p:cNvPr id="78" name="Shape 75"/>
          <p:cNvSpPr/>
          <p:nvPr/>
        </p:nvSpPr>
        <p:spPr>
          <a:xfrm>
            <a:off x="6278728" y="5168101"/>
            <a:ext cx="5455768" cy="1155627"/>
          </a:xfrm>
          <a:prstGeom prst="roundRect">
            <a:avLst>
              <a:gd name="adj" fmla="val 7975"/>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79" name="Shape 76"/>
          <p:cNvSpPr/>
          <p:nvPr/>
        </p:nvSpPr>
        <p:spPr>
          <a:xfrm>
            <a:off x="6278728" y="5168101"/>
            <a:ext cx="5455768" cy="54864"/>
          </a:xfrm>
          <a:prstGeom prst="rect">
            <a:avLst/>
          </a:prstGeom>
          <a:solidFill>
            <a:srgbClr val="EA5EC1"/>
          </a:solidFill>
          <a:ln w="12700">
            <a:solidFill>
              <a:srgbClr val="EA5EC1"/>
            </a:solidFill>
            <a:prstDash val="solid"/>
          </a:ln>
        </p:spPr>
      </p:sp>
      <p:sp>
        <p:nvSpPr>
          <p:cNvPr id="80" name="Text 77"/>
          <p:cNvSpPr/>
          <p:nvPr/>
        </p:nvSpPr>
        <p:spPr>
          <a:xfrm>
            <a:off x="6479896" y="5369269"/>
            <a:ext cx="5090008" cy="292608"/>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누가</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언제 내보냈는지 이력으로 확인</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1" name="Text 78"/>
          <p:cNvSpPr/>
          <p:nvPr/>
        </p:nvSpPr>
        <p:spPr>
          <a:xfrm>
            <a:off x="6479896" y="5762461"/>
            <a:ext cx="5090008" cy="256032"/>
          </a:xfrm>
          <a:prstGeom prst="rect">
            <a:avLst/>
          </a:prstGeom>
          <a:noFill/>
          <a:ln/>
        </p:spPr>
        <p:txBody>
          <a:bodyPr wrap="square" lIns="0" tIns="0" rIns="0" bIns="0" rtlCol="0" anchor="t"/>
          <a:lstStyle/>
          <a:p>
            <a:r>
              <a:rPr lang="en-US" sz="105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엑셀 내보내기 시 사용자</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일시</a:t>
            </a:r>
            <a:r>
              <a:rPr lang="en-US" altLang="ko-KR" sz="105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파일 이름을 저장</a:t>
            </a:r>
            <a:endParaRPr lang="en-US" altLang="ko-KR" sz="1050" dirty="0">
              <a:latin typeface="Pretendard" panose="02000503000000020004" pitchFamily="50" charset="-127"/>
              <a:ea typeface="Pretendard" panose="02000503000000020004" pitchFamily="50" charset="-127"/>
              <a:cs typeface="Pretendard" panose="02000503000000020004" pitchFamily="50" charset="-127"/>
            </a:endParaRPr>
          </a:p>
          <a:p>
            <a:pPr marL="0" indent="0" algn="l">
              <a:buNone/>
            </a:pP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2" name="Text 79"/>
          <p:cNvSpPr/>
          <p:nvPr/>
        </p:nvSpPr>
        <p:spPr>
          <a:xfrm>
            <a:off x="6479896" y="6018493"/>
            <a:ext cx="5090008" cy="256032"/>
          </a:xfrm>
          <a:prstGeom prst="rect">
            <a:avLst/>
          </a:prstGeom>
          <a:noFill/>
          <a:ln/>
        </p:spPr>
        <p:txBody>
          <a:bodyPr wrap="square" lIns="0" tIns="0" rIns="0" bIns="0" rtlCol="0" anchor="t"/>
          <a:lstStyle/>
          <a:p>
            <a:r>
              <a:rPr lang="en-US" sz="105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다운로드 내역 추적으로 데이터 관리 안정성 강화</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4" name="Text 12"/>
          <p:cNvSpPr/>
          <p:nvPr/>
        </p:nvSpPr>
        <p:spPr>
          <a:xfrm>
            <a:off x="6132362" y="3734235"/>
            <a:ext cx="5455768" cy="320040"/>
          </a:xfrm>
          <a:prstGeom prst="rect">
            <a:avLst/>
          </a:prstGeom>
          <a:noFill/>
          <a:ln/>
        </p:spPr>
        <p:txBody>
          <a:bodyPr wrap="square" lIns="0" tIns="0" rIns="0" bIns="0" rtlCol="0" anchor="ctr"/>
          <a:lstStyle/>
          <a:p>
            <a:pPr marL="0" indent="0" algn="ctr">
              <a:buNone/>
            </a:pPr>
            <a:r>
              <a:rPr lang="en-US" sz="1300" b="1" kern="0" spc="1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UI 화면 캡처 영역</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13" name="그림 12">
            <a:extLst>
              <a:ext uri="{FF2B5EF4-FFF2-40B4-BE49-F238E27FC236}">
                <a16:creationId xmlns:a16="http://schemas.microsoft.com/office/drawing/2014/main" id="{0C13082A-C5CB-46CB-A2FB-EC6B966AF53B}"/>
              </a:ext>
            </a:extLst>
          </p:cNvPr>
          <p:cNvPicPr>
            <a:picLocks noChangeAspect="1"/>
          </p:cNvPicPr>
          <p:nvPr/>
        </p:nvPicPr>
        <p:blipFill>
          <a:blip r:embed="rId4"/>
          <a:stretch>
            <a:fillRect/>
          </a:stretch>
        </p:blipFill>
        <p:spPr>
          <a:xfrm>
            <a:off x="511736" y="2479040"/>
            <a:ext cx="5346695" cy="2590229"/>
          </a:xfrm>
          <a:prstGeom prst="roundRect">
            <a:avLst>
              <a:gd name="adj" fmla="val 6370"/>
            </a:avLst>
          </a:prstGeom>
        </p:spPr>
      </p:pic>
      <p:pic>
        <p:nvPicPr>
          <p:cNvPr id="22" name="그림 21">
            <a:extLst>
              <a:ext uri="{FF2B5EF4-FFF2-40B4-BE49-F238E27FC236}">
                <a16:creationId xmlns:a16="http://schemas.microsoft.com/office/drawing/2014/main" id="{B9BBAA44-9C53-4635-96CA-851C9163DA80}"/>
              </a:ext>
            </a:extLst>
          </p:cNvPr>
          <p:cNvPicPr>
            <a:picLocks noChangeAspect="1"/>
          </p:cNvPicPr>
          <p:nvPr/>
        </p:nvPicPr>
        <p:blipFill>
          <a:blip r:embed="rId5"/>
          <a:stretch>
            <a:fillRect/>
          </a:stretch>
        </p:blipFill>
        <p:spPr>
          <a:xfrm>
            <a:off x="6344988" y="4558700"/>
            <a:ext cx="5359823" cy="428450"/>
          </a:xfrm>
          <a:prstGeom prst="roundRect">
            <a:avLst>
              <a:gd name="adj" fmla="val 32229"/>
            </a:avLst>
          </a:prstGeom>
        </p:spPr>
      </p:pic>
      <p:pic>
        <p:nvPicPr>
          <p:cNvPr id="23" name="그림 22">
            <a:extLst>
              <a:ext uri="{FF2B5EF4-FFF2-40B4-BE49-F238E27FC236}">
                <a16:creationId xmlns:a16="http://schemas.microsoft.com/office/drawing/2014/main" id="{AC26AAFF-1387-4826-9D81-C74B16C0AA53}"/>
              </a:ext>
            </a:extLst>
          </p:cNvPr>
          <p:cNvPicPr>
            <a:picLocks noChangeAspect="1"/>
          </p:cNvPicPr>
          <p:nvPr/>
        </p:nvPicPr>
        <p:blipFill>
          <a:blip r:embed="rId6"/>
          <a:stretch>
            <a:fillRect/>
          </a:stretch>
        </p:blipFill>
        <p:spPr>
          <a:xfrm>
            <a:off x="6342284" y="2767076"/>
            <a:ext cx="5392212" cy="1875417"/>
          </a:xfrm>
          <a:prstGeom prst="roundRect">
            <a:avLst>
              <a:gd name="adj" fmla="val 8033"/>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05. </a:t>
            </a:r>
            <a:r>
              <a:rPr lang="en-US"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시스템</a:t>
            </a: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en-US" sz="1200" dirty="0" err="1">
                <a:solidFill>
                  <a:srgbClr val="8E8E93"/>
                </a:solidFill>
                <a:latin typeface="Pretendard" panose="02000503000000020004" pitchFamily="50" charset="-127"/>
                <a:ea typeface="Pretendard" panose="02000503000000020004" pitchFamily="50" charset="-127"/>
                <a:cs typeface="Pretendard" panose="02000503000000020004" pitchFamily="50" charset="-127"/>
              </a:rPr>
              <a:t>아키텍처</a:t>
            </a: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및 기술 스택</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12</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시스템 아키텍처 및 기술 스택</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200" y="1392417"/>
            <a:ext cx="11277295" cy="292608"/>
          </a:xfrm>
          <a:prstGeom prst="rect">
            <a:avLst/>
          </a:prstGeom>
          <a:noFill/>
          <a:ln/>
        </p:spPr>
        <p:txBody>
          <a:bodyPr wrap="square" lIns="0" tIns="0" rIns="0" bIns="0" rtlCol="0" anchor="t"/>
          <a:lstStyle/>
          <a:p>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데모 사이트와 설문 서버의 연동</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인증 구조</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계층별 책임 분리를 중심으로 시스템 아키텍처를 구성했습니다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Shape 5"/>
          <p:cNvSpPr/>
          <p:nvPr/>
        </p:nvSpPr>
        <p:spPr>
          <a:xfrm>
            <a:off x="457200" y="2020824"/>
            <a:ext cx="5852160" cy="3968496"/>
          </a:xfrm>
          <a:prstGeom prst="roundRect">
            <a:avLst>
              <a:gd name="adj" fmla="val 3059"/>
            </a:avLst>
          </a:prstGeom>
          <a:solidFill>
            <a:srgbClr val="F8F9FB"/>
          </a:solidFill>
          <a:ln w="9525">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9" name="Text 6"/>
          <p:cNvSpPr/>
          <p:nvPr/>
        </p:nvSpPr>
        <p:spPr>
          <a:xfrm>
            <a:off x="640080" y="2167128"/>
            <a:ext cx="2743200" cy="201168"/>
          </a:xfrm>
          <a:prstGeom prst="rect">
            <a:avLst/>
          </a:prstGeom>
          <a:noFill/>
          <a:ln/>
        </p:spPr>
        <p:txBody>
          <a:bodyPr wrap="square" lIns="0" tIns="0" rIns="0" bIns="0" rtlCol="0" anchor="t"/>
          <a:lstStyle/>
          <a:p>
            <a:pPr marL="0" indent="0" algn="l">
              <a:buNone/>
            </a:pPr>
            <a:r>
              <a:rPr lang="en-US" sz="9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ARCHITECTURE</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 name="Text 7"/>
          <p:cNvSpPr/>
          <p:nvPr/>
        </p:nvSpPr>
        <p:spPr>
          <a:xfrm>
            <a:off x="640080" y="2368296"/>
            <a:ext cx="5486400" cy="274320"/>
          </a:xfrm>
          <a:prstGeom prst="rect">
            <a:avLst/>
          </a:prstGeom>
          <a:noFill/>
          <a:ln/>
        </p:spPr>
        <p:txBody>
          <a:bodyPr wrap="square" lIns="0" tIns="0" rIns="0" bIns="0" rtlCol="0" anchor="t"/>
          <a:lstStyle/>
          <a:p>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설문 시스템 아키텍처 구조</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Shape 8"/>
          <p:cNvSpPr/>
          <p:nvPr/>
        </p:nvSpPr>
        <p:spPr>
          <a:xfrm>
            <a:off x="685800" y="2798064"/>
            <a:ext cx="2142003" cy="502920"/>
          </a:xfrm>
          <a:prstGeom prst="roundRect">
            <a:avLst>
              <a:gd name="adj" fmla="val 14545"/>
            </a:avLst>
          </a:prstGeom>
          <a:solidFill>
            <a:srgbClr val="FFFFFF"/>
          </a:solidFill>
          <a:ln w="9525">
            <a:solidFill>
              <a:srgbClr val="E5E7EB"/>
            </a:solidFill>
            <a:prstDash val="solid"/>
          </a:ln>
        </p:spPr>
      </p:sp>
      <p:sp>
        <p:nvSpPr>
          <p:cNvPr id="12" name="Text 9"/>
          <p:cNvSpPr/>
          <p:nvPr/>
        </p:nvSpPr>
        <p:spPr>
          <a:xfrm>
            <a:off x="777240" y="2852928"/>
            <a:ext cx="2240280" cy="201168"/>
          </a:xfrm>
          <a:prstGeom prst="rect">
            <a:avLst/>
          </a:prstGeom>
          <a:noFill/>
          <a:ln/>
        </p:spPr>
        <p:txBody>
          <a:bodyPr wrap="square" lIns="0" tIns="0" rIns="0" bIns="0" rtlCol="0" anchor="t"/>
          <a:lstStyle/>
          <a:p>
            <a:pPr marL="0" indent="0" algn="l">
              <a:buNone/>
            </a:pPr>
            <a:r>
              <a:rPr lang="ko-KR" altLang="en-US" sz="100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게시처</a:t>
            </a:r>
            <a:r>
              <a:rPr lang="en-US" sz="10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사이트</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 name="Text 10"/>
          <p:cNvSpPr/>
          <p:nvPr/>
        </p:nvSpPr>
        <p:spPr>
          <a:xfrm>
            <a:off x="777240" y="3054096"/>
            <a:ext cx="2240280" cy="182880"/>
          </a:xfrm>
          <a:prstGeom prst="rect">
            <a:avLst/>
          </a:prstGeom>
          <a:noFill/>
          <a:ln/>
        </p:spPr>
        <p:txBody>
          <a:bodyPr wrap="square" lIns="0" tIns="0" rIns="0" bIns="0" rtlCol="0" anchor="t"/>
          <a:lstStyle/>
          <a:p>
            <a:pPr marL="0" indent="0" algn="l">
              <a:buNone/>
            </a:pPr>
            <a:r>
              <a:rPr lang="en-US" sz="9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Port 8081</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Text 11"/>
          <p:cNvSpPr/>
          <p:nvPr/>
        </p:nvSpPr>
        <p:spPr>
          <a:xfrm>
            <a:off x="3108960" y="2871216"/>
            <a:ext cx="548640" cy="429768"/>
          </a:xfrm>
          <a:prstGeom prst="rect">
            <a:avLst/>
          </a:prstGeom>
          <a:noFill/>
          <a:ln/>
        </p:spPr>
        <p:txBody>
          <a:bodyPr wrap="square" lIns="0" tIns="0" rIns="0" bIns="0" rtlCol="0" anchor="ctr"/>
          <a:lstStyle/>
          <a:p>
            <a:pPr marL="0" indent="0" algn="ctr">
              <a:buNone/>
            </a:pPr>
            <a:r>
              <a:rPr lang="en-US" sz="16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Shape 12"/>
          <p:cNvSpPr/>
          <p:nvPr/>
        </p:nvSpPr>
        <p:spPr>
          <a:xfrm>
            <a:off x="2982098" y="2701089"/>
            <a:ext cx="816037" cy="256031"/>
          </a:xfrm>
          <a:prstGeom prst="roundRect">
            <a:avLst>
              <a:gd name="adj" fmla="val 44444"/>
            </a:avLst>
          </a:prstGeom>
          <a:solidFill>
            <a:srgbClr val="EEF4FF"/>
          </a:solidFill>
          <a:ln w="6350">
            <a:solidFill>
              <a:srgbClr val="BFDBFE"/>
            </a:solidFill>
            <a:prstDash val="solid"/>
          </a:ln>
        </p:spPr>
      </p:sp>
      <p:sp>
        <p:nvSpPr>
          <p:cNvPr id="16" name="Text 13"/>
          <p:cNvSpPr/>
          <p:nvPr/>
        </p:nvSpPr>
        <p:spPr>
          <a:xfrm>
            <a:off x="3070077" y="2713535"/>
            <a:ext cx="640080" cy="198120"/>
          </a:xfrm>
          <a:prstGeom prst="rect">
            <a:avLst/>
          </a:prstGeom>
          <a:noFill/>
          <a:ln/>
        </p:spPr>
        <p:txBody>
          <a:bodyPr wrap="square" lIns="0" tIns="0" rIns="0" bIns="0" rtlCol="0" anchor="ctr"/>
          <a:lstStyle/>
          <a:p>
            <a:pPr marL="0" indent="0" algn="ctr">
              <a:buNone/>
            </a:pPr>
            <a:r>
              <a:rPr lang="en-US" sz="65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X-Internal-</a:t>
            </a:r>
          </a:p>
          <a:p>
            <a:pPr marL="0" indent="0" algn="ctr">
              <a:buNone/>
            </a:pPr>
            <a:r>
              <a:rPr lang="en-US" sz="650" b="1" dirty="0" err="1">
                <a:solidFill>
                  <a:srgbClr val="1456F0"/>
                </a:solidFill>
                <a:latin typeface="Pretendard" panose="02000503000000020004" pitchFamily="50" charset="-127"/>
                <a:ea typeface="Pretendard" panose="02000503000000020004" pitchFamily="50" charset="-127"/>
                <a:cs typeface="Pretendard" panose="02000503000000020004" pitchFamily="50" charset="-127"/>
              </a:rPr>
              <a:t>Api</a:t>
            </a:r>
            <a:r>
              <a:rPr lang="en-US" sz="65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-Key</a:t>
            </a:r>
            <a:endParaRPr lang="en-US" sz="6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7" name="Shape 14"/>
          <p:cNvSpPr/>
          <p:nvPr/>
        </p:nvSpPr>
        <p:spPr>
          <a:xfrm>
            <a:off x="3893036" y="2798064"/>
            <a:ext cx="2187724" cy="502920"/>
          </a:xfrm>
          <a:prstGeom prst="roundRect">
            <a:avLst>
              <a:gd name="adj" fmla="val 14545"/>
            </a:avLst>
          </a:prstGeom>
          <a:solidFill>
            <a:srgbClr val="EEF4FF"/>
          </a:solidFill>
          <a:ln w="9525">
            <a:solidFill>
              <a:srgbClr val="BFDBFE"/>
            </a:solidFill>
            <a:prstDash val="solid"/>
          </a:ln>
        </p:spPr>
      </p:sp>
      <p:sp>
        <p:nvSpPr>
          <p:cNvPr id="18" name="Text 15"/>
          <p:cNvSpPr/>
          <p:nvPr/>
        </p:nvSpPr>
        <p:spPr>
          <a:xfrm>
            <a:off x="4023359" y="2845792"/>
            <a:ext cx="2240280" cy="201168"/>
          </a:xfrm>
          <a:prstGeom prst="rect">
            <a:avLst/>
          </a:prstGeom>
          <a:noFill/>
          <a:ln/>
        </p:spPr>
        <p:txBody>
          <a:bodyPr wrap="square" lIns="0" tIns="0" rIns="0" bIns="0" rtlCol="0" anchor="t"/>
          <a:lstStyle/>
          <a:p>
            <a:pPr marL="0" indent="0" algn="l">
              <a:buNone/>
            </a:pPr>
            <a:r>
              <a:rPr lang="en-US" sz="10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Spring Boot 서버</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9" name="Text 16"/>
          <p:cNvSpPr/>
          <p:nvPr/>
        </p:nvSpPr>
        <p:spPr>
          <a:xfrm>
            <a:off x="4023359" y="3060650"/>
            <a:ext cx="2240280" cy="182880"/>
          </a:xfrm>
          <a:prstGeom prst="rect">
            <a:avLst/>
          </a:prstGeom>
          <a:noFill/>
          <a:ln/>
        </p:spPr>
        <p:txBody>
          <a:bodyPr wrap="square" lIns="0" tIns="0" rIns="0" bIns="0" rtlCol="0" anchor="t"/>
          <a:lstStyle/>
          <a:p>
            <a:r>
              <a:rPr lang="en-US" sz="90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Port 8080  ·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메인 애플리케이션</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Shape 17"/>
          <p:cNvSpPr/>
          <p:nvPr/>
        </p:nvSpPr>
        <p:spPr>
          <a:xfrm>
            <a:off x="685800" y="3438144"/>
            <a:ext cx="5394960" cy="365760"/>
          </a:xfrm>
          <a:prstGeom prst="roundRect">
            <a:avLst>
              <a:gd name="adj" fmla="val 15000"/>
            </a:avLst>
          </a:prstGeom>
          <a:solidFill>
            <a:srgbClr val="FFF8E6"/>
          </a:solidFill>
          <a:ln w="6350">
            <a:solidFill>
              <a:srgbClr val="E8D38A"/>
            </a:solidFill>
            <a:prstDash val="solid"/>
          </a:ln>
        </p:spPr>
      </p:sp>
      <p:sp>
        <p:nvSpPr>
          <p:cNvPr id="21" name="Text 18"/>
          <p:cNvSpPr/>
          <p:nvPr/>
        </p:nvSpPr>
        <p:spPr>
          <a:xfrm>
            <a:off x="777240" y="3438144"/>
            <a:ext cx="5212080" cy="365760"/>
          </a:xfrm>
          <a:prstGeom prst="rect">
            <a:avLst/>
          </a:prstGeom>
          <a:noFill/>
          <a:ln/>
        </p:spPr>
        <p:txBody>
          <a:bodyPr wrap="square" lIns="0" tIns="0" rIns="0" bIns="0" rtlCol="0" anchor="ctr"/>
          <a:lstStyle/>
          <a:p>
            <a:r>
              <a:rPr lang="en-US" sz="950" b="1" kern="0" spc="150" dirty="0">
                <a:solidFill>
                  <a:srgbClr val="B07E1C"/>
                </a:solidFill>
                <a:latin typeface="Pretendard" panose="02000503000000020004" pitchFamily="50" charset="-127"/>
                <a:ea typeface="Pretendard" panose="02000503000000020004" pitchFamily="50" charset="-127"/>
                <a:cs typeface="Pretendard" panose="02000503000000020004" pitchFamily="50" charset="-127"/>
              </a:rPr>
              <a:t>SECURITY  </a:t>
            </a:r>
            <a:r>
              <a:rPr lang="en-US" altLang="ko-KR" sz="1000" dirty="0">
                <a:latin typeface="Pretendard" panose="02000503000000020004" pitchFamily="50" charset="-127"/>
                <a:ea typeface="Pretendard" panose="02000503000000020004" pitchFamily="50" charset="-127"/>
                <a:cs typeface="Pretendard" panose="02000503000000020004" pitchFamily="50" charset="-127"/>
              </a:rPr>
              <a:t>Spring Security · JWT</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Shape 19"/>
          <p:cNvSpPr/>
          <p:nvPr/>
        </p:nvSpPr>
        <p:spPr>
          <a:xfrm>
            <a:off x="685800" y="3968496"/>
            <a:ext cx="5394960" cy="566928"/>
          </a:xfrm>
          <a:prstGeom prst="roundRect">
            <a:avLst>
              <a:gd name="adj" fmla="val 12903"/>
            </a:avLst>
          </a:prstGeom>
          <a:solidFill>
            <a:srgbClr val="FFFFFF"/>
          </a:solidFill>
          <a:ln w="9525">
            <a:solidFill>
              <a:srgbClr val="E5E7EB"/>
            </a:solidFill>
            <a:prstDash val="solid"/>
          </a:ln>
        </p:spPr>
      </p:sp>
      <p:sp>
        <p:nvSpPr>
          <p:cNvPr id="23" name="Shape 20"/>
          <p:cNvSpPr/>
          <p:nvPr/>
        </p:nvSpPr>
        <p:spPr>
          <a:xfrm>
            <a:off x="685800" y="3968496"/>
            <a:ext cx="54864" cy="566928"/>
          </a:xfrm>
          <a:prstGeom prst="rect">
            <a:avLst/>
          </a:prstGeom>
          <a:solidFill>
            <a:srgbClr val="1456F0"/>
          </a:solidFill>
          <a:ln w="12700">
            <a:solidFill>
              <a:srgbClr val="1456F0"/>
            </a:solidFill>
            <a:prstDash val="solid"/>
          </a:ln>
        </p:spPr>
      </p:sp>
      <p:sp>
        <p:nvSpPr>
          <p:cNvPr id="24" name="Text 21"/>
          <p:cNvSpPr/>
          <p:nvPr/>
        </p:nvSpPr>
        <p:spPr>
          <a:xfrm>
            <a:off x="832104" y="4023360"/>
            <a:ext cx="1783080" cy="164592"/>
          </a:xfrm>
          <a:prstGeom prst="rect">
            <a:avLst/>
          </a:prstGeom>
          <a:noFill/>
          <a:ln/>
        </p:spPr>
        <p:txBody>
          <a:bodyPr wrap="square" lIns="0" tIns="0" rIns="0" bIns="0" rtlCol="0" anchor="t"/>
          <a:lstStyle/>
          <a:p>
            <a:pPr marL="0" indent="0" algn="l">
              <a:buNone/>
            </a:pPr>
            <a:r>
              <a:rPr lang="en-US" sz="750" b="1" kern="0" spc="1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WEB LAYER</a:t>
            </a:r>
            <a:endParaRPr lang="en-US" sz="7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 name="Text 22"/>
          <p:cNvSpPr/>
          <p:nvPr/>
        </p:nvSpPr>
        <p:spPr>
          <a:xfrm>
            <a:off x="832104" y="4224528"/>
            <a:ext cx="1783080" cy="237744"/>
          </a:xfrm>
          <a:prstGeom prst="rect">
            <a:avLst/>
          </a:prstGeom>
          <a:noFill/>
          <a:ln/>
        </p:spPr>
        <p:txBody>
          <a:bodyPr wrap="square" lIns="0" tIns="0" rIns="0" bIns="0" rtlCol="0" anchor="t"/>
          <a:lstStyle/>
          <a:p>
            <a:pPr marL="0" indent="0" algn="l">
              <a:buNone/>
            </a:pPr>
            <a:r>
              <a:rPr lang="en-US" sz="10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프레젠테이션 계층</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6" name="Text 23"/>
          <p:cNvSpPr/>
          <p:nvPr/>
        </p:nvSpPr>
        <p:spPr>
          <a:xfrm>
            <a:off x="2560320" y="4197096"/>
            <a:ext cx="3383280" cy="201168"/>
          </a:xfrm>
          <a:prstGeom prst="rect">
            <a:avLst/>
          </a:prstGeom>
          <a:noFill/>
          <a:ln/>
        </p:spPr>
        <p:txBody>
          <a:bodyPr wrap="square" lIns="0" tIns="0" rIns="0" bIns="0" rtlCol="0" anchor="t"/>
          <a:lstStyle/>
          <a:p>
            <a:pPr marL="0" indent="0" algn="l">
              <a:buNone/>
            </a:pPr>
            <a:r>
              <a:rPr lang="en-US" sz="85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Spring MVC · Thymeleaf · Alpine.js · TailwindCSS</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Shape 25"/>
          <p:cNvSpPr/>
          <p:nvPr/>
        </p:nvSpPr>
        <p:spPr>
          <a:xfrm>
            <a:off x="685800" y="4626864"/>
            <a:ext cx="5394960" cy="566928"/>
          </a:xfrm>
          <a:prstGeom prst="roundRect">
            <a:avLst>
              <a:gd name="adj" fmla="val 12903"/>
            </a:avLst>
          </a:prstGeom>
          <a:solidFill>
            <a:srgbClr val="FFFFFF"/>
          </a:solidFill>
          <a:ln w="9525">
            <a:solidFill>
              <a:srgbClr val="E5E7EB"/>
            </a:solidFill>
            <a:prstDash val="solid"/>
          </a:ln>
        </p:spPr>
      </p:sp>
      <p:sp>
        <p:nvSpPr>
          <p:cNvPr id="29" name="Shape 26"/>
          <p:cNvSpPr/>
          <p:nvPr/>
        </p:nvSpPr>
        <p:spPr>
          <a:xfrm>
            <a:off x="685800" y="4626864"/>
            <a:ext cx="54864" cy="566928"/>
          </a:xfrm>
          <a:prstGeom prst="rect">
            <a:avLst/>
          </a:prstGeom>
          <a:solidFill>
            <a:srgbClr val="EA5EC1"/>
          </a:solidFill>
          <a:ln w="12700">
            <a:solidFill>
              <a:srgbClr val="EA5EC1"/>
            </a:solidFill>
            <a:prstDash val="solid"/>
          </a:ln>
        </p:spPr>
      </p:sp>
      <p:sp>
        <p:nvSpPr>
          <p:cNvPr id="30" name="Text 27"/>
          <p:cNvSpPr/>
          <p:nvPr/>
        </p:nvSpPr>
        <p:spPr>
          <a:xfrm>
            <a:off x="832104" y="4681728"/>
            <a:ext cx="1783080" cy="164592"/>
          </a:xfrm>
          <a:prstGeom prst="rect">
            <a:avLst/>
          </a:prstGeom>
          <a:noFill/>
          <a:ln/>
        </p:spPr>
        <p:txBody>
          <a:bodyPr wrap="square" lIns="0" tIns="0" rIns="0" bIns="0" rtlCol="0" anchor="t"/>
          <a:lstStyle/>
          <a:p>
            <a:pPr marL="0" indent="0" algn="l">
              <a:buNone/>
            </a:pPr>
            <a:r>
              <a:rPr lang="en-US" sz="750" b="1" kern="0" spc="15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BUSINESS LAYER</a:t>
            </a:r>
            <a:endParaRPr lang="en-US" sz="7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1" name="Text 28"/>
          <p:cNvSpPr/>
          <p:nvPr/>
        </p:nvSpPr>
        <p:spPr>
          <a:xfrm>
            <a:off x="832104" y="4882896"/>
            <a:ext cx="1783080" cy="237744"/>
          </a:xfrm>
          <a:prstGeom prst="rect">
            <a:avLst/>
          </a:prstGeom>
          <a:noFill/>
          <a:ln/>
        </p:spPr>
        <p:txBody>
          <a:bodyPr wrap="square" lIns="0" tIns="0" rIns="0" bIns="0" rtlCol="0" anchor="t"/>
          <a:lstStyle/>
          <a:p>
            <a:pPr marL="0" indent="0" algn="l">
              <a:buNone/>
            </a:pPr>
            <a:r>
              <a:rPr lang="en-US" sz="10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비즈니스 계층</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Text 29"/>
          <p:cNvSpPr/>
          <p:nvPr/>
        </p:nvSpPr>
        <p:spPr>
          <a:xfrm>
            <a:off x="2560320" y="4832507"/>
            <a:ext cx="3383280" cy="201168"/>
          </a:xfrm>
          <a:prstGeom prst="rect">
            <a:avLst/>
          </a:prstGeom>
          <a:noFill/>
          <a:ln/>
        </p:spPr>
        <p:txBody>
          <a:bodyPr wrap="square" lIns="0" tIns="0" rIns="0" bIns="0" rtlCol="0" anchor="t"/>
          <a:lstStyle/>
          <a:p>
            <a:pPr marL="0" indent="0" algn="l">
              <a:buNone/>
            </a:pPr>
            <a:r>
              <a:rPr lang="en-US" sz="850" b="1"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Domain Service + Spring Batch</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Shape 31"/>
          <p:cNvSpPr/>
          <p:nvPr/>
        </p:nvSpPr>
        <p:spPr>
          <a:xfrm>
            <a:off x="685800" y="5285232"/>
            <a:ext cx="5394960" cy="566928"/>
          </a:xfrm>
          <a:prstGeom prst="roundRect">
            <a:avLst>
              <a:gd name="adj" fmla="val 12903"/>
            </a:avLst>
          </a:prstGeom>
          <a:solidFill>
            <a:srgbClr val="FFFFFF"/>
          </a:solidFill>
          <a:ln w="9525">
            <a:solidFill>
              <a:srgbClr val="E5E7EB"/>
            </a:solidFill>
            <a:prstDash val="solid"/>
          </a:ln>
        </p:spPr>
      </p:sp>
      <p:sp>
        <p:nvSpPr>
          <p:cNvPr id="35" name="Shape 32"/>
          <p:cNvSpPr/>
          <p:nvPr/>
        </p:nvSpPr>
        <p:spPr>
          <a:xfrm>
            <a:off x="685800" y="5285232"/>
            <a:ext cx="54864" cy="566928"/>
          </a:xfrm>
          <a:prstGeom prst="rect">
            <a:avLst/>
          </a:prstGeom>
          <a:solidFill>
            <a:srgbClr val="18181B"/>
          </a:solidFill>
          <a:ln w="12700">
            <a:solidFill>
              <a:srgbClr val="18181B"/>
            </a:solidFill>
            <a:prstDash val="solid"/>
          </a:ln>
        </p:spPr>
      </p:sp>
      <p:sp>
        <p:nvSpPr>
          <p:cNvPr id="36" name="Text 33"/>
          <p:cNvSpPr/>
          <p:nvPr/>
        </p:nvSpPr>
        <p:spPr>
          <a:xfrm>
            <a:off x="832104" y="5340096"/>
            <a:ext cx="1783080" cy="164592"/>
          </a:xfrm>
          <a:prstGeom prst="rect">
            <a:avLst/>
          </a:prstGeom>
          <a:noFill/>
          <a:ln/>
        </p:spPr>
        <p:txBody>
          <a:bodyPr wrap="square" lIns="0" tIns="0" rIns="0" bIns="0" rtlCol="0" anchor="t"/>
          <a:lstStyle/>
          <a:p>
            <a:pPr marL="0" indent="0" algn="l">
              <a:buNone/>
            </a:pPr>
            <a:r>
              <a:rPr lang="en-US" sz="750" b="1" kern="0" spc="150" dirty="0">
                <a:solidFill>
                  <a:srgbClr val="18181B"/>
                </a:solidFill>
                <a:latin typeface="Pretendard" panose="02000503000000020004" pitchFamily="50" charset="-127"/>
                <a:ea typeface="Pretendard" panose="02000503000000020004" pitchFamily="50" charset="-127"/>
                <a:cs typeface="Pretendard" panose="02000503000000020004" pitchFamily="50" charset="-127"/>
              </a:rPr>
              <a:t>DATA · INFRA LAYER</a:t>
            </a:r>
            <a:endParaRPr lang="en-US" sz="7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Text 34"/>
          <p:cNvSpPr/>
          <p:nvPr/>
        </p:nvSpPr>
        <p:spPr>
          <a:xfrm>
            <a:off x="832104" y="5541264"/>
            <a:ext cx="1783080" cy="237744"/>
          </a:xfrm>
          <a:prstGeom prst="rect">
            <a:avLst/>
          </a:prstGeom>
          <a:noFill/>
          <a:ln/>
        </p:spPr>
        <p:txBody>
          <a:bodyPr wrap="square" lIns="0" tIns="0" rIns="0" bIns="0" rtlCol="0" anchor="t"/>
          <a:lstStyle/>
          <a:p>
            <a:pPr marL="0" indent="0" algn="l">
              <a:buNone/>
            </a:pPr>
            <a:r>
              <a:rPr lang="en-US" sz="10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데이터·인프라 계층</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8" name="Text 35"/>
          <p:cNvSpPr/>
          <p:nvPr/>
        </p:nvSpPr>
        <p:spPr>
          <a:xfrm>
            <a:off x="2560320" y="5468112"/>
            <a:ext cx="3383280" cy="201168"/>
          </a:xfrm>
          <a:prstGeom prst="rect">
            <a:avLst/>
          </a:prstGeom>
          <a:noFill/>
          <a:ln/>
        </p:spPr>
        <p:txBody>
          <a:bodyPr wrap="square" lIns="0" tIns="0" rIns="0" bIns="0" rtlCol="0" anchor="t"/>
          <a:lstStyle/>
          <a:p>
            <a:pPr marL="0" indent="0" algn="l">
              <a:buNone/>
            </a:pPr>
            <a:r>
              <a:rPr lang="en-US" sz="850" b="1" dirty="0">
                <a:solidFill>
                  <a:srgbClr val="18181B"/>
                </a:solidFill>
                <a:latin typeface="Pretendard" panose="02000503000000020004" pitchFamily="50" charset="-127"/>
                <a:ea typeface="Pretendard" panose="02000503000000020004" pitchFamily="50" charset="-127"/>
                <a:cs typeface="Pretendard" panose="02000503000000020004" pitchFamily="50" charset="-127"/>
              </a:rPr>
              <a:t>JPA  · QueryDSL + MySQL · Redis</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Text 37"/>
          <p:cNvSpPr/>
          <p:nvPr/>
        </p:nvSpPr>
        <p:spPr>
          <a:xfrm>
            <a:off x="6446520" y="2020824"/>
            <a:ext cx="5287975" cy="201168"/>
          </a:xfrm>
          <a:prstGeom prst="rect">
            <a:avLst/>
          </a:prstGeom>
          <a:noFill/>
          <a:ln/>
        </p:spPr>
        <p:txBody>
          <a:bodyPr wrap="square" lIns="0" tIns="0" rIns="0" bIns="0" rtlCol="0" anchor="t"/>
          <a:lstStyle/>
          <a:p>
            <a:pPr marL="0" indent="0" algn="l">
              <a:buNone/>
            </a:pPr>
            <a:r>
              <a:rPr lang="en-US" sz="9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DESIGN INTENT</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Text 38"/>
          <p:cNvSpPr/>
          <p:nvPr/>
        </p:nvSpPr>
        <p:spPr>
          <a:xfrm>
            <a:off x="6446520" y="2221992"/>
            <a:ext cx="5287975" cy="274320"/>
          </a:xfrm>
          <a:prstGeom prst="rect">
            <a:avLst/>
          </a:prstGeom>
          <a:noFill/>
          <a:ln/>
        </p:spPr>
        <p:txBody>
          <a:bodyPr wrap="square" lIns="0" tIns="0" rIns="0" bIns="0" rtlCol="0" anchor="t"/>
          <a:lstStyle/>
          <a:p>
            <a:pPr marL="0" indent="0" algn="l">
              <a:buNone/>
            </a:pPr>
            <a:r>
              <a:rPr lang="en-US" sz="13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각 계층의 설계 의도</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2" name="Shape 39"/>
          <p:cNvSpPr/>
          <p:nvPr/>
        </p:nvSpPr>
        <p:spPr>
          <a:xfrm>
            <a:off x="6446520" y="2596896"/>
            <a:ext cx="5287975" cy="758952"/>
          </a:xfrm>
          <a:prstGeom prst="roundRect">
            <a:avLst>
              <a:gd name="adj" fmla="val 14458"/>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3" name="Shape 40"/>
          <p:cNvSpPr/>
          <p:nvPr/>
        </p:nvSpPr>
        <p:spPr>
          <a:xfrm>
            <a:off x="6446520" y="2596896"/>
            <a:ext cx="64008" cy="758952"/>
          </a:xfrm>
          <a:prstGeom prst="rect">
            <a:avLst/>
          </a:prstGeom>
          <a:solidFill>
            <a:srgbClr val="1456F0"/>
          </a:solidFill>
          <a:ln w="12700">
            <a:solidFill>
              <a:srgbClr val="1456F0"/>
            </a:solidFill>
            <a:prstDash val="solid"/>
          </a:ln>
        </p:spPr>
      </p:sp>
      <p:sp>
        <p:nvSpPr>
          <p:cNvPr id="44" name="Shape 41"/>
          <p:cNvSpPr/>
          <p:nvPr/>
        </p:nvSpPr>
        <p:spPr>
          <a:xfrm>
            <a:off x="6629400" y="2743200"/>
            <a:ext cx="292608" cy="292608"/>
          </a:xfrm>
          <a:prstGeom prst="ellipse">
            <a:avLst/>
          </a:prstGeom>
          <a:solidFill>
            <a:srgbClr val="1456F0"/>
          </a:solidFill>
          <a:ln w="12700">
            <a:solidFill>
              <a:srgbClr val="1456F0"/>
            </a:solidFill>
            <a:prstDash val="solid"/>
          </a:ln>
        </p:spPr>
      </p:sp>
      <p:sp>
        <p:nvSpPr>
          <p:cNvPr id="45" name="Text 42"/>
          <p:cNvSpPr/>
          <p:nvPr/>
        </p:nvSpPr>
        <p:spPr>
          <a:xfrm>
            <a:off x="6629400" y="274320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01</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6" name="Text 43"/>
          <p:cNvSpPr/>
          <p:nvPr/>
        </p:nvSpPr>
        <p:spPr>
          <a:xfrm>
            <a:off x="6995160" y="2743200"/>
            <a:ext cx="4602175" cy="274320"/>
          </a:xfrm>
          <a:prstGeom prst="rect">
            <a:avLst/>
          </a:prstGeom>
          <a:noFill/>
          <a:ln/>
        </p:spPr>
        <p:txBody>
          <a:bodyPr wrap="square" lIns="0" tIns="0" rIns="0" bIns="0" rtlCol="0" anchor="t"/>
          <a:lstStyle/>
          <a:p>
            <a:pPr marL="0" indent="0" algn="l">
              <a:buNone/>
            </a:pPr>
            <a:r>
              <a:rPr lang="en-US" sz="12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외부 연동 · 보안</a:t>
            </a:r>
            <a:endParaRPr lang="en-US" sz="12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7" name="Text 44"/>
          <p:cNvSpPr/>
          <p:nvPr/>
        </p:nvSpPr>
        <p:spPr>
          <a:xfrm>
            <a:off x="6629400" y="3086100"/>
            <a:ext cx="4967935" cy="384048"/>
          </a:xfrm>
          <a:prstGeom prst="rect">
            <a:avLst/>
          </a:prstGeom>
          <a:noFill/>
          <a:ln/>
        </p:spPr>
        <p:txBody>
          <a:bodyPr wrap="square" lIns="0" tIns="0" rIns="0" bIns="0" rtlCol="0" anchor="t"/>
          <a:lstStyle/>
          <a:p>
            <a:r>
              <a:rPr lang="ko-KR" altLang="en-US" sz="1000" dirty="0">
                <a:latin typeface="Pretendard" panose="02000503000000020004" pitchFamily="50" charset="-127"/>
                <a:ea typeface="Pretendard" panose="02000503000000020004" pitchFamily="50" charset="-127"/>
                <a:cs typeface="Pretendard" panose="02000503000000020004" pitchFamily="50" charset="-127"/>
              </a:rPr>
              <a:t>외부 사이트 진입 시 </a:t>
            </a:r>
            <a:r>
              <a:rPr lang="en-US" altLang="ko-KR" sz="1000" dirty="0">
                <a:latin typeface="Pretendard" panose="02000503000000020004" pitchFamily="50" charset="-127"/>
                <a:ea typeface="Pretendard" panose="02000503000000020004" pitchFamily="50" charset="-127"/>
                <a:cs typeface="Pretendard" panose="02000503000000020004" pitchFamily="50" charset="-127"/>
              </a:rPr>
              <a:t>API Key</a:t>
            </a: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로 요청을 검증하고</a:t>
            </a:r>
            <a:r>
              <a:rPr lang="en-US" altLang="ko-KR" sz="10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관리자와 참여자 인증 흐름을 분리</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8" name="Shape 45"/>
          <p:cNvSpPr/>
          <p:nvPr/>
        </p:nvSpPr>
        <p:spPr>
          <a:xfrm>
            <a:off x="6446520" y="3447288"/>
            <a:ext cx="5287975" cy="758952"/>
          </a:xfrm>
          <a:prstGeom prst="roundRect">
            <a:avLst>
              <a:gd name="adj" fmla="val 14458"/>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9" name="Shape 46"/>
          <p:cNvSpPr/>
          <p:nvPr/>
        </p:nvSpPr>
        <p:spPr>
          <a:xfrm>
            <a:off x="6446520" y="3447288"/>
            <a:ext cx="64008" cy="758952"/>
          </a:xfrm>
          <a:prstGeom prst="rect">
            <a:avLst/>
          </a:prstGeom>
          <a:solidFill>
            <a:srgbClr val="EA5EC1"/>
          </a:solidFill>
          <a:ln w="12700">
            <a:solidFill>
              <a:srgbClr val="EA5EC1"/>
            </a:solidFill>
            <a:prstDash val="solid"/>
          </a:ln>
        </p:spPr>
      </p:sp>
      <p:sp>
        <p:nvSpPr>
          <p:cNvPr id="50" name="Shape 47"/>
          <p:cNvSpPr/>
          <p:nvPr/>
        </p:nvSpPr>
        <p:spPr>
          <a:xfrm>
            <a:off x="6629400" y="3593592"/>
            <a:ext cx="292608" cy="292608"/>
          </a:xfrm>
          <a:prstGeom prst="ellipse">
            <a:avLst/>
          </a:prstGeom>
          <a:solidFill>
            <a:srgbClr val="EA5EC1"/>
          </a:solidFill>
          <a:ln w="12700">
            <a:solidFill>
              <a:srgbClr val="EA5EC1"/>
            </a:solidFill>
            <a:prstDash val="solid"/>
          </a:ln>
        </p:spPr>
      </p:sp>
      <p:sp>
        <p:nvSpPr>
          <p:cNvPr id="51" name="Text 48"/>
          <p:cNvSpPr/>
          <p:nvPr/>
        </p:nvSpPr>
        <p:spPr>
          <a:xfrm>
            <a:off x="6629400" y="359359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02</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2" name="Text 49"/>
          <p:cNvSpPr/>
          <p:nvPr/>
        </p:nvSpPr>
        <p:spPr>
          <a:xfrm>
            <a:off x="6995160" y="3593592"/>
            <a:ext cx="4602175" cy="274320"/>
          </a:xfrm>
          <a:prstGeom prst="rect">
            <a:avLst/>
          </a:prstGeom>
          <a:noFill/>
          <a:ln/>
        </p:spPr>
        <p:txBody>
          <a:bodyPr wrap="square" lIns="0" tIns="0" rIns="0" bIns="0" rtlCol="0" anchor="t"/>
          <a:lstStyle/>
          <a:p>
            <a:pPr marL="0" indent="0" algn="l">
              <a:buNone/>
            </a:pPr>
            <a:r>
              <a:rPr lang="en-US" sz="12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Web · Business 계층</a:t>
            </a:r>
            <a:endParaRPr lang="en-US" sz="12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3" name="Text 50"/>
          <p:cNvSpPr/>
          <p:nvPr/>
        </p:nvSpPr>
        <p:spPr>
          <a:xfrm>
            <a:off x="6629400" y="3963622"/>
            <a:ext cx="4967935" cy="384048"/>
          </a:xfrm>
          <a:prstGeom prst="rect">
            <a:avLst/>
          </a:prstGeom>
          <a:noFill/>
          <a:ln/>
        </p:spPr>
        <p:txBody>
          <a:bodyPr wrap="square" lIns="0" tIns="0" rIns="0" bIns="0" rtlCol="0" anchor="t"/>
          <a:lstStyle/>
          <a:p>
            <a:r>
              <a:rPr lang="ko-KR" altLang="en-US" sz="1000" dirty="0">
                <a:latin typeface="Pretendard" panose="02000503000000020004" pitchFamily="50" charset="-127"/>
                <a:ea typeface="Pretendard" panose="02000503000000020004" pitchFamily="50" charset="-127"/>
                <a:cs typeface="Pretendard" panose="02000503000000020004" pitchFamily="50" charset="-127"/>
              </a:rPr>
              <a:t>화면 처리는 </a:t>
            </a:r>
            <a:r>
              <a:rPr lang="en-US" altLang="ko-KR" sz="1000" dirty="0">
                <a:latin typeface="Pretendard" panose="02000503000000020004" pitchFamily="50" charset="-127"/>
                <a:ea typeface="Pretendard" panose="02000503000000020004" pitchFamily="50" charset="-127"/>
                <a:cs typeface="Pretendard" panose="02000503000000020004" pitchFamily="50" charset="-127"/>
              </a:rPr>
              <a:t>Web </a:t>
            </a: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계층에서 담당하고</a:t>
            </a:r>
            <a:r>
              <a:rPr lang="en-US" altLang="ko-KR" sz="10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설문 응답</a:t>
            </a:r>
            <a:r>
              <a:rPr lang="en-US" altLang="ko-KR" sz="10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통계 로직은 </a:t>
            </a:r>
            <a:r>
              <a:rPr lang="en-US" altLang="ko-KR" sz="1000" dirty="0">
                <a:latin typeface="Pretendard" panose="02000503000000020004" pitchFamily="50" charset="-127"/>
                <a:ea typeface="Pretendard" panose="02000503000000020004" pitchFamily="50" charset="-127"/>
                <a:cs typeface="Pretendard" panose="02000503000000020004" pitchFamily="50" charset="-127"/>
              </a:rPr>
              <a:t>Business </a:t>
            </a: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계층에서 처리하도록 분리</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4" name="Shape 51"/>
          <p:cNvSpPr/>
          <p:nvPr/>
        </p:nvSpPr>
        <p:spPr>
          <a:xfrm>
            <a:off x="6446520" y="4297680"/>
            <a:ext cx="5287975" cy="758952"/>
          </a:xfrm>
          <a:prstGeom prst="roundRect">
            <a:avLst>
              <a:gd name="adj" fmla="val 14458"/>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55" name="Shape 52"/>
          <p:cNvSpPr/>
          <p:nvPr/>
        </p:nvSpPr>
        <p:spPr>
          <a:xfrm>
            <a:off x="6446520" y="4297680"/>
            <a:ext cx="64008" cy="758952"/>
          </a:xfrm>
          <a:prstGeom prst="rect">
            <a:avLst/>
          </a:prstGeom>
          <a:solidFill>
            <a:srgbClr val="18181B"/>
          </a:solidFill>
          <a:ln w="12700">
            <a:solidFill>
              <a:srgbClr val="18181B"/>
            </a:solidFill>
            <a:prstDash val="solid"/>
          </a:ln>
        </p:spPr>
      </p:sp>
      <p:sp>
        <p:nvSpPr>
          <p:cNvPr id="56" name="Shape 53"/>
          <p:cNvSpPr/>
          <p:nvPr/>
        </p:nvSpPr>
        <p:spPr>
          <a:xfrm>
            <a:off x="6629400" y="4443984"/>
            <a:ext cx="292608" cy="292608"/>
          </a:xfrm>
          <a:prstGeom prst="ellipse">
            <a:avLst/>
          </a:prstGeom>
          <a:solidFill>
            <a:srgbClr val="18181B"/>
          </a:solidFill>
          <a:ln w="12700">
            <a:solidFill>
              <a:srgbClr val="18181B"/>
            </a:solidFill>
            <a:prstDash val="solid"/>
          </a:ln>
        </p:spPr>
      </p:sp>
      <p:sp>
        <p:nvSpPr>
          <p:cNvPr id="57" name="Text 54"/>
          <p:cNvSpPr/>
          <p:nvPr/>
        </p:nvSpPr>
        <p:spPr>
          <a:xfrm>
            <a:off x="6629400" y="444398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03</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8" name="Text 55"/>
          <p:cNvSpPr/>
          <p:nvPr/>
        </p:nvSpPr>
        <p:spPr>
          <a:xfrm>
            <a:off x="6995160" y="4443984"/>
            <a:ext cx="4602175" cy="274320"/>
          </a:xfrm>
          <a:prstGeom prst="rect">
            <a:avLst/>
          </a:prstGeom>
          <a:noFill/>
          <a:ln/>
        </p:spPr>
        <p:txBody>
          <a:bodyPr wrap="square" lIns="0" tIns="0" rIns="0" bIns="0" rtlCol="0" anchor="t"/>
          <a:lstStyle/>
          <a:p>
            <a:pPr marL="0" indent="0" algn="l">
              <a:buNone/>
            </a:pPr>
            <a:r>
              <a:rPr lang="en-US" sz="12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Data · Infra 계층</a:t>
            </a:r>
            <a:endParaRPr lang="en-US" sz="12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9" name="Text 56"/>
          <p:cNvSpPr/>
          <p:nvPr/>
        </p:nvSpPr>
        <p:spPr>
          <a:xfrm>
            <a:off x="6629400" y="4783417"/>
            <a:ext cx="4967935" cy="384048"/>
          </a:xfrm>
          <a:prstGeom prst="rect">
            <a:avLst/>
          </a:prstGeom>
          <a:noFill/>
          <a:ln/>
        </p:spPr>
        <p:txBody>
          <a:bodyPr wrap="square" lIns="0" tIns="0" rIns="0" bIns="0" rtlCol="0" anchor="t"/>
          <a:lstStyle/>
          <a:p>
            <a:r>
              <a:rPr lang="ko-KR" altLang="en-US" sz="1000" dirty="0">
                <a:latin typeface="Pretendard" panose="02000503000000020004" pitchFamily="50" charset="-127"/>
                <a:ea typeface="Pretendard" panose="02000503000000020004" pitchFamily="50" charset="-127"/>
                <a:cs typeface="Pretendard" panose="02000503000000020004" pitchFamily="50" charset="-127"/>
              </a:rPr>
              <a:t>설문 데이터는 </a:t>
            </a:r>
            <a:r>
              <a:rPr lang="en-US" altLang="ko-KR" sz="1000" dirty="0">
                <a:latin typeface="Pretendard" panose="02000503000000020004" pitchFamily="50" charset="-127"/>
                <a:ea typeface="Pretendard" panose="02000503000000020004" pitchFamily="50" charset="-127"/>
                <a:cs typeface="Pretendard" panose="02000503000000020004" pitchFamily="50" charset="-127"/>
              </a:rPr>
              <a:t>MySQL</a:t>
            </a: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에 저장하고</a:t>
            </a:r>
            <a:r>
              <a:rPr lang="en-US" altLang="ko-KR" sz="10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토큰과 임시저장 데이터는 </a:t>
            </a:r>
            <a:r>
              <a:rPr lang="en-US" altLang="ko-KR" sz="1000" dirty="0">
                <a:latin typeface="Pretendard" panose="02000503000000020004" pitchFamily="50" charset="-127"/>
                <a:ea typeface="Pretendard" panose="02000503000000020004" pitchFamily="50" charset="-127"/>
                <a:cs typeface="Pretendard" panose="02000503000000020004" pitchFamily="50" charset="-127"/>
              </a:rPr>
              <a:t>Redis</a:t>
            </a: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를 활용해 처리</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0" name="Shape 57"/>
          <p:cNvSpPr/>
          <p:nvPr/>
        </p:nvSpPr>
        <p:spPr>
          <a:xfrm>
            <a:off x="6446520" y="5148072"/>
            <a:ext cx="5287975" cy="841248"/>
          </a:xfrm>
          <a:prstGeom prst="roundRect">
            <a:avLst>
              <a:gd name="adj" fmla="val 14458"/>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61" name="Shape 58"/>
          <p:cNvSpPr/>
          <p:nvPr/>
        </p:nvSpPr>
        <p:spPr>
          <a:xfrm>
            <a:off x="6446520" y="5148072"/>
            <a:ext cx="64008" cy="758952"/>
          </a:xfrm>
          <a:prstGeom prst="rect">
            <a:avLst/>
          </a:prstGeom>
          <a:solidFill>
            <a:srgbClr val="8E8E93"/>
          </a:solidFill>
          <a:ln w="12700">
            <a:solidFill>
              <a:srgbClr val="8E8E93"/>
            </a:solidFill>
            <a:prstDash val="solid"/>
          </a:ln>
        </p:spPr>
      </p:sp>
      <p:sp>
        <p:nvSpPr>
          <p:cNvPr id="62" name="Shape 59"/>
          <p:cNvSpPr/>
          <p:nvPr/>
        </p:nvSpPr>
        <p:spPr>
          <a:xfrm>
            <a:off x="6629400" y="5294376"/>
            <a:ext cx="292608" cy="292608"/>
          </a:xfrm>
          <a:prstGeom prst="ellipse">
            <a:avLst/>
          </a:prstGeom>
          <a:solidFill>
            <a:srgbClr val="8E8E93"/>
          </a:solidFill>
          <a:ln w="12700">
            <a:solidFill>
              <a:srgbClr val="8E8E93"/>
            </a:solidFill>
            <a:prstDash val="solid"/>
          </a:ln>
        </p:spPr>
      </p:sp>
      <p:sp>
        <p:nvSpPr>
          <p:cNvPr id="63" name="Text 60"/>
          <p:cNvSpPr/>
          <p:nvPr/>
        </p:nvSpPr>
        <p:spPr>
          <a:xfrm>
            <a:off x="6629400" y="529437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04</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4" name="Text 61"/>
          <p:cNvSpPr/>
          <p:nvPr/>
        </p:nvSpPr>
        <p:spPr>
          <a:xfrm>
            <a:off x="6995160" y="5294376"/>
            <a:ext cx="4602175" cy="274320"/>
          </a:xfrm>
          <a:prstGeom prst="rect">
            <a:avLst/>
          </a:prstGeom>
          <a:noFill/>
          <a:ln/>
        </p:spPr>
        <p:txBody>
          <a:bodyPr wrap="square" lIns="0" tIns="0" rIns="0" bIns="0" rtlCol="0" anchor="t"/>
          <a:lstStyle/>
          <a:p>
            <a:pPr marL="0" indent="0" algn="l">
              <a:buNone/>
            </a:pPr>
            <a:r>
              <a:rPr lang="en-US" sz="125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기술</a:t>
            </a:r>
            <a:r>
              <a:rPr lang="en-US" sz="12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스택</a:t>
            </a:r>
            <a:endParaRPr lang="en-US" sz="12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5" name="Text 62"/>
          <p:cNvSpPr/>
          <p:nvPr/>
        </p:nvSpPr>
        <p:spPr>
          <a:xfrm>
            <a:off x="6629400" y="5668476"/>
            <a:ext cx="4967935" cy="384048"/>
          </a:xfrm>
          <a:prstGeom prst="rect">
            <a:avLst/>
          </a:prstGeom>
          <a:noFill/>
          <a:ln/>
        </p:spPr>
        <p:txBody>
          <a:bodyPr wrap="square" lIns="0" tIns="0" rIns="0" bIns="0" rtlCol="0" anchor="t"/>
          <a:lstStyle/>
          <a:p>
            <a:r>
              <a:rPr lang="en-US" altLang="ko-KR" sz="1000" dirty="0">
                <a:latin typeface="Pretendard" panose="02000503000000020004" pitchFamily="50" charset="-127"/>
                <a:ea typeface="Pretendard" panose="02000503000000020004" pitchFamily="50" charset="-127"/>
                <a:cs typeface="Pretendard" panose="02000503000000020004" pitchFamily="50" charset="-127"/>
              </a:rPr>
              <a:t>Java 17</a:t>
            </a: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과 </a:t>
            </a:r>
            <a:r>
              <a:rPr lang="en-US" altLang="ko-KR" sz="1000" dirty="0">
                <a:latin typeface="Pretendard" panose="02000503000000020004" pitchFamily="50" charset="-127"/>
                <a:ea typeface="Pretendard" panose="02000503000000020004" pitchFamily="50" charset="-127"/>
                <a:cs typeface="Pretendard" panose="02000503000000020004" pitchFamily="50" charset="-127"/>
              </a:rPr>
              <a:t>Spring Boot</a:t>
            </a: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를 기반으로</a:t>
            </a:r>
            <a:r>
              <a:rPr lang="en-US" altLang="ko-KR" sz="10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000" dirty="0" err="1">
                <a:latin typeface="Pretendard" panose="02000503000000020004" pitchFamily="50" charset="-127"/>
                <a:ea typeface="Pretendard" panose="02000503000000020004" pitchFamily="50" charset="-127"/>
                <a:cs typeface="Pretendard" panose="02000503000000020004" pitchFamily="50" charset="-127"/>
              </a:rPr>
              <a:t>Thymeleaf·Alpine.js·MySQL·Redis</a:t>
            </a:r>
            <a:r>
              <a:rPr lang="en-US" altLang="ko-KR" sz="10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등을 활용</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Shape 64"/>
          <p:cNvSpPr/>
          <p:nvPr/>
        </p:nvSpPr>
        <p:spPr>
          <a:xfrm>
            <a:off x="6510528" y="3650971"/>
            <a:ext cx="5287975" cy="554935"/>
          </a:xfrm>
          <a:prstGeom prst="roundRect">
            <a:avLst>
              <a:gd name="adj" fmla="val 16667"/>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06.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핵심 구현 및 결과</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13</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참여 인증 플로우</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199" y="1424178"/>
            <a:ext cx="11277295" cy="292608"/>
          </a:xfrm>
          <a:prstGeom prst="rect">
            <a:avLst/>
          </a:prstGeom>
          <a:noFill/>
          <a:ln/>
        </p:spPr>
        <p:txBody>
          <a:bodyPr wrap="square" lIns="0" tIns="0" rIns="0" bIns="0" rtlCol="0" anchor="t"/>
          <a:lstStyle/>
          <a:p>
            <a:pPr marL="0" indent="0" algn="l">
              <a:buNone/>
            </a:pPr>
            <a:r>
              <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외부 iframe </a:t>
            </a:r>
            <a:r>
              <a:rPr lang="en-US" sz="1600" dirty="0" err="1">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진입부터</a:t>
            </a:r>
            <a:r>
              <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최종 </a:t>
            </a:r>
            <a:r>
              <a:rPr lang="ko-KR" altLang="en-US" sz="1600" dirty="0" err="1">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제출까</a:t>
            </a:r>
            <a:r>
              <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지 </a:t>
            </a:r>
            <a:r>
              <a:rPr lang="en-US" sz="1600" dirty="0" err="1">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안전한</a:t>
            </a:r>
            <a:r>
              <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인증 흐름을 설계했습니다.</a:t>
            </a:r>
          </a:p>
        </p:txBody>
      </p:sp>
      <p:sp>
        <p:nvSpPr>
          <p:cNvPr id="8" name="Shape 5"/>
          <p:cNvSpPr/>
          <p:nvPr/>
        </p:nvSpPr>
        <p:spPr>
          <a:xfrm>
            <a:off x="457200" y="2002754"/>
            <a:ext cx="5852160" cy="4174309"/>
          </a:xfrm>
          <a:prstGeom prst="roundRect">
            <a:avLst>
              <a:gd name="adj" fmla="val 3023"/>
            </a:avLst>
          </a:prstGeom>
          <a:solidFill>
            <a:srgbClr val="F8F9FB"/>
          </a:solidFill>
          <a:ln w="9525">
            <a:solidFill>
              <a:srgbClr val="E5E7EB"/>
            </a:solidFill>
            <a:prstDash val="solid"/>
          </a:ln>
          <a:effectLst>
            <a:outerShdw blurRad="76200" dist="25400" dir="5400000" algn="bl" rotWithShape="0">
              <a:srgbClr val="000000">
                <a:alpha val="8000"/>
              </a:srgbClr>
            </a:outerShdw>
          </a:effectLst>
        </p:spPr>
        <p:txBody>
          <a:bodyPr/>
          <a:lstStyle/>
          <a:p>
            <a:endParaRPr lang="ko-KR" altLang="en-US" dirty="0"/>
          </a:p>
        </p:txBody>
      </p:sp>
      <p:sp>
        <p:nvSpPr>
          <p:cNvPr id="9" name="Text 6"/>
          <p:cNvSpPr/>
          <p:nvPr/>
        </p:nvSpPr>
        <p:spPr>
          <a:xfrm>
            <a:off x="640080" y="2130771"/>
            <a:ext cx="3657600" cy="201168"/>
          </a:xfrm>
          <a:prstGeom prst="rect">
            <a:avLst/>
          </a:prstGeom>
          <a:noFill/>
          <a:ln/>
        </p:spPr>
        <p:txBody>
          <a:bodyPr wrap="square" lIns="0" tIns="0" rIns="0" bIns="0" rtlCol="0" anchor="t"/>
          <a:lstStyle/>
          <a:p>
            <a:pPr marL="0" indent="0" algn="l">
              <a:buNone/>
            </a:pPr>
            <a:r>
              <a:rPr lang="en-US" sz="9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AUTH SEQUENCE</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 name="Text 7"/>
          <p:cNvSpPr/>
          <p:nvPr/>
        </p:nvSpPr>
        <p:spPr>
          <a:xfrm>
            <a:off x="640080" y="2313651"/>
            <a:ext cx="5486400" cy="256032"/>
          </a:xfrm>
          <a:prstGeom prst="rect">
            <a:avLst/>
          </a:prstGeom>
          <a:noFill/>
          <a:ln/>
        </p:spPr>
        <p:txBody>
          <a:bodyPr wrap="square" lIns="0" tIns="0" rIns="0" bIns="0" rtlCol="0" anchor="t"/>
          <a:lstStyle/>
          <a:p>
            <a:pPr marL="0" indent="0" algn="l">
              <a:buNone/>
            </a:pPr>
            <a:r>
              <a:rPr lang="en-US" sz="12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참여 인증 및 상태 유지 플로우</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Shape 8"/>
          <p:cNvSpPr/>
          <p:nvPr/>
        </p:nvSpPr>
        <p:spPr>
          <a:xfrm>
            <a:off x="658368" y="2688555"/>
            <a:ext cx="1737360" cy="384048"/>
          </a:xfrm>
          <a:prstGeom prst="roundRect">
            <a:avLst>
              <a:gd name="adj" fmla="val 19048"/>
            </a:avLst>
          </a:prstGeom>
          <a:solidFill>
            <a:srgbClr val="FFFFFF"/>
          </a:solidFill>
          <a:ln w="6350">
            <a:solidFill>
              <a:srgbClr val="8E8E93"/>
            </a:solidFill>
            <a:prstDash val="solid"/>
          </a:ln>
        </p:spPr>
      </p:sp>
      <p:sp>
        <p:nvSpPr>
          <p:cNvPr id="12" name="Text 9"/>
          <p:cNvSpPr/>
          <p:nvPr/>
        </p:nvSpPr>
        <p:spPr>
          <a:xfrm>
            <a:off x="658368" y="2734275"/>
            <a:ext cx="1737360" cy="182880"/>
          </a:xfrm>
          <a:prstGeom prst="rect">
            <a:avLst/>
          </a:prstGeom>
          <a:noFill/>
          <a:ln/>
        </p:spPr>
        <p:txBody>
          <a:bodyPr wrap="square" lIns="0" tIns="0" rIns="0" bIns="0" rtlCol="0" anchor="t"/>
          <a:lstStyle/>
          <a:p>
            <a:pPr marL="0" indent="0" algn="ctr">
              <a:buNone/>
            </a:pPr>
            <a:r>
              <a:rPr lang="en-US" sz="1000" b="1"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Demo Site</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 name="Text 10"/>
          <p:cNvSpPr/>
          <p:nvPr/>
        </p:nvSpPr>
        <p:spPr>
          <a:xfrm>
            <a:off x="658368" y="2908011"/>
            <a:ext cx="1737360" cy="146304"/>
          </a:xfrm>
          <a:prstGeom prst="rect">
            <a:avLst/>
          </a:prstGeom>
          <a:noFill/>
          <a:ln/>
        </p:spPr>
        <p:txBody>
          <a:bodyPr wrap="square" lIns="0" tIns="0" rIns="0" bIns="0" rtlCol="0" anchor="t"/>
          <a:lstStyle/>
          <a:p>
            <a:pPr marL="0" indent="0" algn="ctr">
              <a:buNone/>
            </a:pPr>
            <a:r>
              <a:rPr lang="en-US" sz="75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:8081</a:t>
            </a:r>
            <a:endParaRPr lang="en-US" sz="7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Shape 11"/>
          <p:cNvSpPr/>
          <p:nvPr/>
        </p:nvSpPr>
        <p:spPr>
          <a:xfrm>
            <a:off x="2514600" y="2688555"/>
            <a:ext cx="1737360" cy="384048"/>
          </a:xfrm>
          <a:prstGeom prst="roundRect">
            <a:avLst>
              <a:gd name="adj" fmla="val 19048"/>
            </a:avLst>
          </a:prstGeom>
          <a:solidFill>
            <a:srgbClr val="EEF4FF"/>
          </a:solidFill>
          <a:ln w="6350">
            <a:solidFill>
              <a:srgbClr val="1456F0"/>
            </a:solidFill>
            <a:prstDash val="solid"/>
          </a:ln>
        </p:spPr>
      </p:sp>
      <p:sp>
        <p:nvSpPr>
          <p:cNvPr id="15" name="Text 12"/>
          <p:cNvSpPr/>
          <p:nvPr/>
        </p:nvSpPr>
        <p:spPr>
          <a:xfrm>
            <a:off x="2514600" y="2734275"/>
            <a:ext cx="1737360" cy="182880"/>
          </a:xfrm>
          <a:prstGeom prst="rect">
            <a:avLst/>
          </a:prstGeom>
          <a:noFill/>
          <a:ln/>
        </p:spPr>
        <p:txBody>
          <a:bodyPr wrap="square" lIns="0" tIns="0" rIns="0" bIns="0" rtlCol="0" anchor="t"/>
          <a:lstStyle/>
          <a:p>
            <a:pPr marL="0" indent="0" algn="ctr">
              <a:buNone/>
            </a:pPr>
            <a:r>
              <a:rPr lang="en-US" sz="10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Spring Boot Server</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Text 13"/>
          <p:cNvSpPr/>
          <p:nvPr/>
        </p:nvSpPr>
        <p:spPr>
          <a:xfrm>
            <a:off x="2514600" y="2908011"/>
            <a:ext cx="1737360" cy="146304"/>
          </a:xfrm>
          <a:prstGeom prst="rect">
            <a:avLst/>
          </a:prstGeom>
          <a:noFill/>
          <a:ln/>
        </p:spPr>
        <p:txBody>
          <a:bodyPr wrap="square" lIns="0" tIns="0" rIns="0" bIns="0" rtlCol="0" anchor="t"/>
          <a:lstStyle/>
          <a:p>
            <a:pPr marL="0" indent="0" algn="ctr">
              <a:buNone/>
            </a:pPr>
            <a:r>
              <a:rPr lang="en-US" sz="75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:8080</a:t>
            </a:r>
            <a:endParaRPr lang="en-US" sz="7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7" name="Shape 14"/>
          <p:cNvSpPr/>
          <p:nvPr/>
        </p:nvSpPr>
        <p:spPr>
          <a:xfrm>
            <a:off x="4370832" y="2688555"/>
            <a:ext cx="1737360" cy="384048"/>
          </a:xfrm>
          <a:prstGeom prst="roundRect">
            <a:avLst>
              <a:gd name="adj" fmla="val 19048"/>
            </a:avLst>
          </a:prstGeom>
          <a:solidFill>
            <a:srgbClr val="FFF4F2"/>
          </a:solidFill>
          <a:ln w="6350">
            <a:solidFill>
              <a:srgbClr val="D9472B"/>
            </a:solidFill>
            <a:prstDash val="solid"/>
          </a:ln>
        </p:spPr>
      </p:sp>
      <p:sp>
        <p:nvSpPr>
          <p:cNvPr id="18" name="Text 15"/>
          <p:cNvSpPr/>
          <p:nvPr/>
        </p:nvSpPr>
        <p:spPr>
          <a:xfrm>
            <a:off x="4370832" y="2734275"/>
            <a:ext cx="1737360" cy="182880"/>
          </a:xfrm>
          <a:prstGeom prst="rect">
            <a:avLst/>
          </a:prstGeom>
          <a:noFill/>
          <a:ln/>
        </p:spPr>
        <p:txBody>
          <a:bodyPr wrap="square" lIns="0" tIns="0" rIns="0" bIns="0" rtlCol="0" anchor="t"/>
          <a:lstStyle/>
          <a:p>
            <a:pPr marL="0" indent="0" algn="ctr">
              <a:buNone/>
            </a:pPr>
            <a:r>
              <a:rPr lang="en-US" sz="1000" b="1" dirty="0">
                <a:solidFill>
                  <a:srgbClr val="D9472B"/>
                </a:solidFill>
                <a:latin typeface="Pretendard" panose="02000503000000020004" pitchFamily="50" charset="-127"/>
                <a:ea typeface="Pretendard" panose="02000503000000020004" pitchFamily="50" charset="-127"/>
                <a:cs typeface="Pretendard" panose="02000503000000020004" pitchFamily="50" charset="-127"/>
              </a:rPr>
              <a:t>Redis</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9" name="Text 16"/>
          <p:cNvSpPr/>
          <p:nvPr/>
        </p:nvSpPr>
        <p:spPr>
          <a:xfrm>
            <a:off x="4370832" y="2908011"/>
            <a:ext cx="1737360" cy="146304"/>
          </a:xfrm>
          <a:prstGeom prst="rect">
            <a:avLst/>
          </a:prstGeom>
          <a:noFill/>
          <a:ln/>
        </p:spPr>
        <p:txBody>
          <a:bodyPr wrap="square" lIns="0" tIns="0" rIns="0" bIns="0" rtlCol="0" anchor="t"/>
          <a:lstStyle/>
          <a:p>
            <a:pPr marL="0" indent="0" algn="ctr">
              <a:buNone/>
            </a:pPr>
            <a:endParaRPr lang="en-US" sz="7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Shape 17"/>
          <p:cNvSpPr/>
          <p:nvPr/>
        </p:nvSpPr>
        <p:spPr>
          <a:xfrm>
            <a:off x="1527048" y="3118323"/>
            <a:ext cx="0" cy="2679192"/>
          </a:xfrm>
          <a:prstGeom prst="line">
            <a:avLst/>
          </a:prstGeom>
          <a:noFill/>
          <a:ln w="9525">
            <a:solidFill>
              <a:srgbClr val="E5E7EB"/>
            </a:solidFill>
            <a:prstDash val="dash"/>
          </a:ln>
        </p:spPr>
      </p:sp>
      <p:sp>
        <p:nvSpPr>
          <p:cNvPr id="21" name="Shape 18"/>
          <p:cNvSpPr/>
          <p:nvPr/>
        </p:nvSpPr>
        <p:spPr>
          <a:xfrm>
            <a:off x="3383280" y="3118323"/>
            <a:ext cx="0" cy="2679192"/>
          </a:xfrm>
          <a:prstGeom prst="line">
            <a:avLst/>
          </a:prstGeom>
          <a:noFill/>
          <a:ln w="9525">
            <a:solidFill>
              <a:srgbClr val="E5E7EB"/>
            </a:solidFill>
            <a:prstDash val="dash"/>
          </a:ln>
        </p:spPr>
      </p:sp>
      <p:sp>
        <p:nvSpPr>
          <p:cNvPr id="22" name="Shape 19"/>
          <p:cNvSpPr/>
          <p:nvPr/>
        </p:nvSpPr>
        <p:spPr>
          <a:xfrm>
            <a:off x="5239512" y="3118323"/>
            <a:ext cx="0" cy="2679192"/>
          </a:xfrm>
          <a:prstGeom prst="line">
            <a:avLst/>
          </a:prstGeom>
          <a:noFill/>
          <a:ln w="9525">
            <a:solidFill>
              <a:srgbClr val="E5E7EB"/>
            </a:solidFill>
            <a:prstDash val="dash"/>
          </a:ln>
        </p:spPr>
      </p:sp>
      <p:sp>
        <p:nvSpPr>
          <p:cNvPr id="23" name="Shape 20"/>
          <p:cNvSpPr/>
          <p:nvPr/>
        </p:nvSpPr>
        <p:spPr>
          <a:xfrm>
            <a:off x="1527048" y="3301203"/>
            <a:ext cx="1856232" cy="0"/>
          </a:xfrm>
          <a:prstGeom prst="line">
            <a:avLst/>
          </a:prstGeom>
          <a:noFill/>
          <a:ln w="19050">
            <a:solidFill>
              <a:srgbClr val="1456F0"/>
            </a:solidFill>
            <a:prstDash val="solid"/>
            <a:headEnd type="none"/>
            <a:tailEnd type="triangle"/>
          </a:ln>
        </p:spPr>
      </p:sp>
      <p:sp>
        <p:nvSpPr>
          <p:cNvPr id="24" name="Text 21"/>
          <p:cNvSpPr/>
          <p:nvPr/>
        </p:nvSpPr>
        <p:spPr>
          <a:xfrm>
            <a:off x="1527048" y="3063459"/>
            <a:ext cx="1856232" cy="201168"/>
          </a:xfrm>
          <a:prstGeom prst="rect">
            <a:avLst/>
          </a:prstGeom>
          <a:noFill/>
          <a:ln/>
        </p:spPr>
        <p:txBody>
          <a:bodyPr wrap="square" lIns="0" tIns="0" rIns="0" bIns="0" rtlCol="0" anchor="b"/>
          <a:lstStyle/>
          <a:p>
            <a:pPr marL="0" indent="0" algn="ctr">
              <a:buNone/>
            </a:pPr>
            <a:r>
              <a:rPr lang="en-US" sz="9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① API Key 사전 검증</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 name="Text 22"/>
          <p:cNvSpPr/>
          <p:nvPr/>
        </p:nvSpPr>
        <p:spPr>
          <a:xfrm>
            <a:off x="1527048" y="3337779"/>
            <a:ext cx="1856232" cy="201168"/>
          </a:xfrm>
          <a:prstGeom prst="rect">
            <a:avLst/>
          </a:prstGeom>
          <a:noFill/>
          <a:ln/>
        </p:spPr>
        <p:txBody>
          <a:bodyPr wrap="square" lIns="0" tIns="0" rIns="0" bIns="0" rtlCol="0" anchor="t"/>
          <a:lstStyle/>
          <a:p>
            <a:pPr marL="0" indent="0" algn="ctr">
              <a:buNone/>
            </a:pPr>
            <a:r>
              <a:rPr lang="en-US" sz="7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X-Internal-Api-Key · 직원/설문/중복 검증</a:t>
            </a:r>
            <a:endParaRPr lang="en-US" sz="7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6" name="Shape 23"/>
          <p:cNvSpPr/>
          <p:nvPr/>
        </p:nvSpPr>
        <p:spPr>
          <a:xfrm>
            <a:off x="3383280" y="3804123"/>
            <a:ext cx="1856232" cy="0"/>
          </a:xfrm>
          <a:prstGeom prst="line">
            <a:avLst/>
          </a:prstGeom>
          <a:noFill/>
          <a:ln w="19050">
            <a:solidFill>
              <a:srgbClr val="D9472B"/>
            </a:solidFill>
            <a:prstDash val="solid"/>
            <a:headEnd type="none"/>
            <a:tailEnd type="triangle"/>
          </a:ln>
        </p:spPr>
      </p:sp>
      <p:sp>
        <p:nvSpPr>
          <p:cNvPr id="27" name="Text 24"/>
          <p:cNvSpPr/>
          <p:nvPr/>
        </p:nvSpPr>
        <p:spPr>
          <a:xfrm>
            <a:off x="3383280" y="3566379"/>
            <a:ext cx="1856232" cy="201168"/>
          </a:xfrm>
          <a:prstGeom prst="rect">
            <a:avLst/>
          </a:prstGeom>
          <a:noFill/>
          <a:ln/>
        </p:spPr>
        <p:txBody>
          <a:bodyPr wrap="square" lIns="0" tIns="0" rIns="0" bIns="0" rtlCol="0" anchor="b"/>
          <a:lstStyle/>
          <a:p>
            <a:pPr marL="0" indent="0" algn="ctr">
              <a:buNone/>
            </a:pPr>
            <a:r>
              <a:rPr lang="en-US" sz="9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② Redis 일회용 토큰 발급</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Text 25"/>
          <p:cNvSpPr/>
          <p:nvPr/>
        </p:nvSpPr>
        <p:spPr>
          <a:xfrm>
            <a:off x="3383280" y="3840699"/>
            <a:ext cx="1856232" cy="201168"/>
          </a:xfrm>
          <a:prstGeom prst="rect">
            <a:avLst/>
          </a:prstGeom>
          <a:noFill/>
          <a:ln/>
        </p:spPr>
        <p:txBody>
          <a:bodyPr wrap="square" lIns="0" tIns="0" rIns="0" bIns="0" rtlCol="0" anchor="t"/>
          <a:lstStyle/>
          <a:p>
            <a:pPr marL="0" indent="0" algn="ctr">
              <a:buNone/>
            </a:pPr>
            <a:r>
              <a:rPr lang="en-US" sz="7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survey_tk:{token} · UUID · TTL 10분</a:t>
            </a:r>
            <a:endParaRPr lang="en-US" sz="7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Shape 26"/>
          <p:cNvSpPr/>
          <p:nvPr/>
        </p:nvSpPr>
        <p:spPr>
          <a:xfrm>
            <a:off x="1527048" y="4307043"/>
            <a:ext cx="1856232" cy="0"/>
          </a:xfrm>
          <a:prstGeom prst="line">
            <a:avLst/>
          </a:prstGeom>
          <a:noFill/>
          <a:ln w="19050">
            <a:solidFill>
              <a:srgbClr val="1456F0"/>
            </a:solidFill>
            <a:prstDash val="solid"/>
            <a:headEnd type="none"/>
            <a:tailEnd type="triangle"/>
          </a:ln>
        </p:spPr>
      </p:sp>
      <p:sp>
        <p:nvSpPr>
          <p:cNvPr id="30" name="Text 27"/>
          <p:cNvSpPr/>
          <p:nvPr/>
        </p:nvSpPr>
        <p:spPr>
          <a:xfrm>
            <a:off x="1527048" y="4069299"/>
            <a:ext cx="1856232" cy="201168"/>
          </a:xfrm>
          <a:prstGeom prst="rect">
            <a:avLst/>
          </a:prstGeom>
          <a:noFill/>
          <a:ln/>
        </p:spPr>
        <p:txBody>
          <a:bodyPr wrap="square" lIns="0" tIns="0" rIns="0" bIns="0" rtlCol="0" anchor="b"/>
          <a:lstStyle/>
          <a:p>
            <a:pPr marL="0" indent="0" algn="ctr">
              <a:buNone/>
            </a:pPr>
            <a:r>
              <a:rPr lang="en-US" sz="9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③ iframe 설문 진입</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1" name="Text 28"/>
          <p:cNvSpPr/>
          <p:nvPr/>
        </p:nvSpPr>
        <p:spPr>
          <a:xfrm>
            <a:off x="1527048" y="4343619"/>
            <a:ext cx="1856232" cy="201168"/>
          </a:xfrm>
          <a:prstGeom prst="rect">
            <a:avLst/>
          </a:prstGeom>
          <a:noFill/>
          <a:ln/>
        </p:spPr>
        <p:txBody>
          <a:bodyPr wrap="square" lIns="0" tIns="0" rIns="0" bIns="0" rtlCol="0" anchor="t"/>
          <a:lstStyle/>
          <a:p>
            <a:pPr marL="0" indent="0" algn="ctr">
              <a:buNone/>
            </a:pPr>
            <a:r>
              <a:rPr lang="en-US" sz="7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토큰 포함 iframe URL 호출</a:t>
            </a:r>
            <a:endParaRPr lang="en-US" sz="7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Shape 29"/>
          <p:cNvSpPr/>
          <p:nvPr/>
        </p:nvSpPr>
        <p:spPr>
          <a:xfrm>
            <a:off x="3383280" y="4809963"/>
            <a:ext cx="1856232" cy="0"/>
          </a:xfrm>
          <a:prstGeom prst="line">
            <a:avLst/>
          </a:prstGeom>
          <a:noFill/>
          <a:ln w="19050">
            <a:solidFill>
              <a:srgbClr val="1456F0"/>
            </a:solidFill>
            <a:prstDash val="solid"/>
            <a:headEnd type="none"/>
            <a:tailEnd type="triangle"/>
          </a:ln>
        </p:spPr>
      </p:sp>
      <p:sp>
        <p:nvSpPr>
          <p:cNvPr id="33" name="Text 30"/>
          <p:cNvSpPr/>
          <p:nvPr/>
        </p:nvSpPr>
        <p:spPr>
          <a:xfrm>
            <a:off x="3383280" y="4572219"/>
            <a:ext cx="1856232" cy="201168"/>
          </a:xfrm>
          <a:prstGeom prst="rect">
            <a:avLst/>
          </a:prstGeom>
          <a:noFill/>
          <a:ln/>
        </p:spPr>
        <p:txBody>
          <a:bodyPr wrap="square" lIns="0" tIns="0" rIns="0" bIns="0" rtlCol="0" anchor="b"/>
          <a:lstStyle/>
          <a:p>
            <a:pPr marL="0" indent="0" algn="ctr">
              <a:buNone/>
            </a:pPr>
            <a:r>
              <a:rPr lang="en-US" sz="9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④ 토큰 검증 후 Client JWT 발급</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Text 31"/>
          <p:cNvSpPr/>
          <p:nvPr/>
        </p:nvSpPr>
        <p:spPr>
          <a:xfrm>
            <a:off x="3383280" y="4846539"/>
            <a:ext cx="1856232" cy="201168"/>
          </a:xfrm>
          <a:prstGeom prst="rect">
            <a:avLst/>
          </a:prstGeom>
          <a:noFill/>
          <a:ln/>
        </p:spPr>
        <p:txBody>
          <a:bodyPr wrap="square" lIns="0" tIns="0" rIns="0" bIns="0" rtlCol="0" anchor="t"/>
          <a:lstStyle/>
          <a:p>
            <a:pPr marL="0" indent="0" algn="ctr">
              <a:buNone/>
            </a:pPr>
            <a:r>
              <a:rPr lang="en-US" sz="7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Redis 토큰 즉시 삭제 · HttpOnly Cookie 저장</a:t>
            </a:r>
            <a:endParaRPr lang="en-US" sz="7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Shape 32"/>
          <p:cNvSpPr/>
          <p:nvPr/>
        </p:nvSpPr>
        <p:spPr>
          <a:xfrm>
            <a:off x="1527048" y="5312883"/>
            <a:ext cx="3712464" cy="0"/>
          </a:xfrm>
          <a:prstGeom prst="line">
            <a:avLst/>
          </a:prstGeom>
          <a:noFill/>
          <a:ln w="19050">
            <a:solidFill>
              <a:srgbClr val="EA5EC1"/>
            </a:solidFill>
            <a:prstDash val="solid"/>
            <a:headEnd type="none"/>
            <a:tailEnd type="triangle"/>
          </a:ln>
        </p:spPr>
      </p:sp>
      <p:sp>
        <p:nvSpPr>
          <p:cNvPr id="36" name="Text 33"/>
          <p:cNvSpPr/>
          <p:nvPr/>
        </p:nvSpPr>
        <p:spPr>
          <a:xfrm>
            <a:off x="1527048" y="5075139"/>
            <a:ext cx="3712464" cy="201168"/>
          </a:xfrm>
          <a:prstGeom prst="rect">
            <a:avLst/>
          </a:prstGeom>
          <a:noFill/>
          <a:ln/>
        </p:spPr>
        <p:txBody>
          <a:bodyPr wrap="square" lIns="0" tIns="0" rIns="0" bIns="0" rtlCol="0" anchor="b"/>
          <a:lstStyle/>
          <a:p>
            <a:pPr marL="0" indent="0" algn="ctr">
              <a:buNone/>
            </a:pPr>
            <a:r>
              <a:rPr lang="en-US" sz="9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⑤ 응답 상태 유지 · 자동 임시저장</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Text 34"/>
          <p:cNvSpPr/>
          <p:nvPr/>
        </p:nvSpPr>
        <p:spPr>
          <a:xfrm>
            <a:off x="1527048" y="5349459"/>
            <a:ext cx="3712464" cy="201168"/>
          </a:xfrm>
          <a:prstGeom prst="rect">
            <a:avLst/>
          </a:prstGeom>
          <a:noFill/>
          <a:ln/>
        </p:spPr>
        <p:txBody>
          <a:bodyPr wrap="square" lIns="0" tIns="0" rIns="0" bIns="0" rtlCol="0" anchor="t"/>
          <a:lstStyle/>
          <a:p>
            <a:pPr marL="0" indent="0" algn="ctr">
              <a:buNone/>
            </a:pPr>
            <a:r>
              <a:rPr lang="en-US" sz="7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ClientTokenFilter 검증 · Redis 자동 저장</a:t>
            </a:r>
            <a:endParaRPr lang="en-US" sz="7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8" name="Shape 35"/>
          <p:cNvSpPr/>
          <p:nvPr/>
        </p:nvSpPr>
        <p:spPr>
          <a:xfrm>
            <a:off x="1527048" y="5815803"/>
            <a:ext cx="1856232" cy="0"/>
          </a:xfrm>
          <a:prstGeom prst="line">
            <a:avLst/>
          </a:prstGeom>
          <a:noFill/>
          <a:ln w="19050">
            <a:solidFill>
              <a:srgbClr val="EA5EC1"/>
            </a:solidFill>
            <a:prstDash val="solid"/>
            <a:headEnd type="none"/>
            <a:tailEnd type="triangle"/>
          </a:ln>
        </p:spPr>
      </p:sp>
      <p:sp>
        <p:nvSpPr>
          <p:cNvPr id="39" name="Text 36"/>
          <p:cNvSpPr/>
          <p:nvPr/>
        </p:nvSpPr>
        <p:spPr>
          <a:xfrm>
            <a:off x="1527048" y="5578059"/>
            <a:ext cx="1856232" cy="201168"/>
          </a:xfrm>
          <a:prstGeom prst="rect">
            <a:avLst/>
          </a:prstGeom>
          <a:noFill/>
          <a:ln/>
        </p:spPr>
        <p:txBody>
          <a:bodyPr wrap="square" lIns="0" tIns="0" rIns="0" bIns="0" rtlCol="0" anchor="b"/>
          <a:lstStyle/>
          <a:p>
            <a:pPr marL="0" indent="0" algn="ctr">
              <a:buNone/>
            </a:pPr>
            <a:r>
              <a:rPr lang="en-US" sz="9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⑥ 제출 · 모달 종료</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0" name="Text 37"/>
          <p:cNvSpPr/>
          <p:nvPr/>
        </p:nvSpPr>
        <p:spPr>
          <a:xfrm>
            <a:off x="1527048" y="5852379"/>
            <a:ext cx="1856232" cy="201168"/>
          </a:xfrm>
          <a:prstGeom prst="rect">
            <a:avLst/>
          </a:prstGeom>
          <a:noFill/>
          <a:ln/>
        </p:spPr>
        <p:txBody>
          <a:bodyPr wrap="square" lIns="0" tIns="0" rIns="0" bIns="0" rtlCol="0" anchor="t"/>
          <a:lstStyle/>
          <a:p>
            <a:pPr marL="0" indent="0" algn="ctr">
              <a:buNone/>
            </a:pPr>
            <a:r>
              <a:rPr lang="en-US" sz="7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자격 재검증 · 임시저장 삭제 · postMessage</a:t>
            </a:r>
            <a:endParaRPr lang="en-US" sz="7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Text 38"/>
          <p:cNvSpPr/>
          <p:nvPr/>
        </p:nvSpPr>
        <p:spPr>
          <a:xfrm>
            <a:off x="6446520" y="2002755"/>
            <a:ext cx="5287975" cy="182880"/>
          </a:xfrm>
          <a:prstGeom prst="rect">
            <a:avLst/>
          </a:prstGeom>
          <a:noFill/>
          <a:ln/>
        </p:spPr>
        <p:txBody>
          <a:bodyPr wrap="square" lIns="0" tIns="0" rIns="0" bIns="0" rtlCol="0" anchor="t"/>
          <a:lstStyle/>
          <a:p>
            <a:pPr marL="0" indent="0" algn="l">
              <a:buNone/>
            </a:pPr>
            <a:r>
              <a:rPr lang="en-US" sz="9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FLOW BREAKDOWN</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2" name="Text 39"/>
          <p:cNvSpPr/>
          <p:nvPr/>
        </p:nvSpPr>
        <p:spPr>
          <a:xfrm>
            <a:off x="6446520" y="2185635"/>
            <a:ext cx="5287975" cy="256032"/>
          </a:xfrm>
          <a:prstGeom prst="rect">
            <a:avLst/>
          </a:prstGeom>
          <a:noFill/>
          <a:ln/>
        </p:spPr>
        <p:txBody>
          <a:bodyPr wrap="square" lIns="0" tIns="0" rIns="0" bIns="0" rtlCol="0" anchor="t"/>
          <a:lstStyle/>
          <a:p>
            <a:pPr marL="0" indent="0" algn="l">
              <a:buNone/>
            </a:pPr>
            <a:r>
              <a:rPr lang="en-US" sz="12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단계별 기술 포인트</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1" name="Shape 40"/>
          <p:cNvSpPr/>
          <p:nvPr/>
        </p:nvSpPr>
        <p:spPr>
          <a:xfrm>
            <a:off x="6510528" y="2437944"/>
            <a:ext cx="5287975" cy="491183"/>
          </a:xfrm>
          <a:prstGeom prst="roundRect">
            <a:avLst>
              <a:gd name="adj" fmla="val 16667"/>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92" name="Shape 41"/>
          <p:cNvSpPr/>
          <p:nvPr/>
        </p:nvSpPr>
        <p:spPr>
          <a:xfrm>
            <a:off x="6446520" y="2437944"/>
            <a:ext cx="64008" cy="475263"/>
          </a:xfrm>
          <a:prstGeom prst="rect">
            <a:avLst/>
          </a:prstGeom>
          <a:solidFill>
            <a:srgbClr val="1456F0"/>
          </a:solidFill>
          <a:ln w="12700">
            <a:solidFill>
              <a:srgbClr val="1456F0"/>
            </a:solidFill>
            <a:prstDash val="solid"/>
          </a:ln>
        </p:spPr>
      </p:sp>
      <p:sp>
        <p:nvSpPr>
          <p:cNvPr id="93" name="Shape 42"/>
          <p:cNvSpPr/>
          <p:nvPr/>
        </p:nvSpPr>
        <p:spPr>
          <a:xfrm>
            <a:off x="6565392" y="2520241"/>
            <a:ext cx="274320" cy="274320"/>
          </a:xfrm>
          <a:prstGeom prst="ellipse">
            <a:avLst/>
          </a:prstGeom>
          <a:solidFill>
            <a:srgbClr val="1456F0"/>
          </a:solidFill>
          <a:ln w="12700">
            <a:solidFill>
              <a:srgbClr val="1456F0"/>
            </a:solidFill>
            <a:prstDash val="solid"/>
          </a:ln>
        </p:spPr>
      </p:sp>
      <p:sp>
        <p:nvSpPr>
          <p:cNvPr id="94" name="Text 43"/>
          <p:cNvSpPr/>
          <p:nvPr/>
        </p:nvSpPr>
        <p:spPr>
          <a:xfrm>
            <a:off x="6565392" y="2520241"/>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01</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5" name="Text 44"/>
          <p:cNvSpPr/>
          <p:nvPr/>
        </p:nvSpPr>
        <p:spPr>
          <a:xfrm>
            <a:off x="6967728" y="2483665"/>
            <a:ext cx="3596335" cy="201168"/>
          </a:xfrm>
          <a:prstGeom prst="rect">
            <a:avLst/>
          </a:prstGeom>
          <a:noFill/>
          <a:ln/>
        </p:spPr>
        <p:txBody>
          <a:bodyPr wrap="square" lIns="0" tIns="0" rIns="0" bIns="0" rtlCol="0" anchor="t"/>
          <a:lstStyle/>
          <a:p>
            <a:pPr marL="0" indent="0" algn="l">
              <a:buNone/>
            </a:pPr>
            <a:r>
              <a:rPr lang="en-US" sz="10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서버 간 사전 검증</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6" name="Text 47"/>
          <p:cNvSpPr/>
          <p:nvPr/>
        </p:nvSpPr>
        <p:spPr>
          <a:xfrm>
            <a:off x="6967728" y="2684833"/>
            <a:ext cx="4702759" cy="182880"/>
          </a:xfrm>
          <a:prstGeom prst="rect">
            <a:avLst/>
          </a:prstGeom>
          <a:noFill/>
          <a:ln/>
        </p:spPr>
        <p:txBody>
          <a:bodyPr wrap="square" lIns="0" tIns="0" rIns="0" bIns="0" rtlCol="0" anchor="t"/>
          <a:lstStyle/>
          <a:p>
            <a:r>
              <a:rPr lang="en-US" sz="900" dirty="0">
                <a:latin typeface="Pretendard" panose="02000503000000020004" pitchFamily="50" charset="-127"/>
                <a:ea typeface="Pretendard" panose="02000503000000020004" pitchFamily="50" charset="-127"/>
                <a:cs typeface="Pretendard" panose="02000503000000020004" pitchFamily="50" charset="-127"/>
              </a:rPr>
              <a:t>X-Internal-</a:t>
            </a:r>
            <a:r>
              <a:rPr lang="en-US" sz="900" dirty="0" err="1">
                <a:latin typeface="Pretendard" panose="02000503000000020004" pitchFamily="50" charset="-127"/>
                <a:ea typeface="Pretendard" panose="02000503000000020004" pitchFamily="50" charset="-127"/>
                <a:cs typeface="Pretendard" panose="02000503000000020004" pitchFamily="50" charset="-127"/>
              </a:rPr>
              <a:t>Api</a:t>
            </a:r>
            <a:r>
              <a:rPr lang="en-US" sz="900" dirty="0">
                <a:latin typeface="Pretendard" panose="02000503000000020004" pitchFamily="50" charset="-127"/>
                <a:ea typeface="Pretendard" panose="02000503000000020004" pitchFamily="50" charset="-127"/>
                <a:cs typeface="Pretendard" panose="02000503000000020004" pitchFamily="50" charset="-127"/>
              </a:rPr>
              <a:t>-Key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기반 내부 </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API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호출로 직원 존재</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대상 설문</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중복 제출 여부를 검증</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7" name="Shape 48"/>
          <p:cNvSpPr/>
          <p:nvPr/>
        </p:nvSpPr>
        <p:spPr>
          <a:xfrm>
            <a:off x="6510528" y="3078599"/>
            <a:ext cx="5287975" cy="521208"/>
          </a:xfrm>
          <a:prstGeom prst="roundRect">
            <a:avLst>
              <a:gd name="adj" fmla="val 16667"/>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98" name="Shape 49"/>
          <p:cNvSpPr/>
          <p:nvPr/>
        </p:nvSpPr>
        <p:spPr>
          <a:xfrm>
            <a:off x="6448424" y="3083389"/>
            <a:ext cx="62103" cy="525562"/>
          </a:xfrm>
          <a:prstGeom prst="rect">
            <a:avLst/>
          </a:prstGeom>
          <a:solidFill>
            <a:srgbClr val="D9472B"/>
          </a:solidFill>
          <a:ln w="12700">
            <a:solidFill>
              <a:srgbClr val="D9472B"/>
            </a:solidFill>
            <a:prstDash val="solid"/>
          </a:ln>
        </p:spPr>
      </p:sp>
      <p:sp>
        <p:nvSpPr>
          <p:cNvPr id="99" name="Shape 50"/>
          <p:cNvSpPr/>
          <p:nvPr/>
        </p:nvSpPr>
        <p:spPr>
          <a:xfrm>
            <a:off x="6565392" y="3195992"/>
            <a:ext cx="274320" cy="274320"/>
          </a:xfrm>
          <a:prstGeom prst="ellipse">
            <a:avLst/>
          </a:prstGeom>
          <a:solidFill>
            <a:srgbClr val="D9472B"/>
          </a:solidFill>
          <a:ln w="12700">
            <a:solidFill>
              <a:srgbClr val="D9472B"/>
            </a:solidFill>
            <a:prstDash val="solid"/>
          </a:ln>
        </p:spPr>
      </p:sp>
      <p:sp>
        <p:nvSpPr>
          <p:cNvPr id="100" name="Text 51"/>
          <p:cNvSpPr/>
          <p:nvPr/>
        </p:nvSpPr>
        <p:spPr>
          <a:xfrm>
            <a:off x="6565392" y="319599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02</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1" name="Text 52"/>
          <p:cNvSpPr/>
          <p:nvPr/>
        </p:nvSpPr>
        <p:spPr>
          <a:xfrm>
            <a:off x="6935724" y="3158193"/>
            <a:ext cx="3596335" cy="201168"/>
          </a:xfrm>
          <a:prstGeom prst="rect">
            <a:avLst/>
          </a:prstGeom>
          <a:noFill/>
          <a:ln/>
        </p:spPr>
        <p:txBody>
          <a:bodyPr wrap="square" lIns="0" tIns="0" rIns="0" bIns="0" rtlCol="0" anchor="t"/>
          <a:lstStyle/>
          <a:p>
            <a:pPr marL="0" indent="0" algn="l">
              <a:buNone/>
            </a:pPr>
            <a:r>
              <a:rPr lang="en-US" sz="10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Redis 일회용 토큰 발급</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2" name="Text 55"/>
          <p:cNvSpPr/>
          <p:nvPr/>
        </p:nvSpPr>
        <p:spPr>
          <a:xfrm>
            <a:off x="6935724" y="3346170"/>
            <a:ext cx="4702759" cy="182880"/>
          </a:xfrm>
          <a:prstGeom prst="rect">
            <a:avLst/>
          </a:prstGeom>
          <a:noFill/>
          <a:ln/>
        </p:spPr>
        <p:txBody>
          <a:bodyPr wrap="square" lIns="0" tIns="0" rIns="0" bIns="0" rtlCol="0" anchor="t"/>
          <a:lstStyle/>
          <a:p>
            <a:r>
              <a:rPr lang="ko-KR" altLang="en-US" sz="900" dirty="0">
                <a:latin typeface="Pretendard" panose="02000503000000020004" pitchFamily="50" charset="-127"/>
                <a:ea typeface="Pretendard" panose="02000503000000020004" pitchFamily="50" charset="-127"/>
                <a:cs typeface="Pretendard" panose="02000503000000020004" pitchFamily="50" charset="-127"/>
              </a:rPr>
              <a:t>검증 통과 시 </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UUID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토큰을 </a:t>
            </a:r>
            <a:r>
              <a:rPr lang="en-US" altLang="ko-KR" sz="900" dirty="0" err="1">
                <a:latin typeface="Pretendard" panose="02000503000000020004" pitchFamily="50" charset="-127"/>
                <a:ea typeface="Pretendard" panose="02000503000000020004" pitchFamily="50" charset="-127"/>
                <a:cs typeface="Pretendard" panose="02000503000000020004" pitchFamily="50" charset="-127"/>
              </a:rPr>
              <a:t>Redis</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에 저장하고 </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1</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분 </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TTL</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을 적용하여 제한된 시간 동안만 접근 허용</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4" name="Shape 57"/>
          <p:cNvSpPr/>
          <p:nvPr/>
        </p:nvSpPr>
        <p:spPr>
          <a:xfrm>
            <a:off x="6455664" y="3693779"/>
            <a:ext cx="64008" cy="471791"/>
          </a:xfrm>
          <a:prstGeom prst="rect">
            <a:avLst/>
          </a:prstGeom>
          <a:solidFill>
            <a:srgbClr val="1456F0"/>
          </a:solidFill>
          <a:ln w="12700">
            <a:solidFill>
              <a:srgbClr val="1456F0"/>
            </a:solidFill>
            <a:prstDash val="solid"/>
          </a:ln>
        </p:spPr>
      </p:sp>
      <p:sp>
        <p:nvSpPr>
          <p:cNvPr id="105" name="Shape 58"/>
          <p:cNvSpPr/>
          <p:nvPr/>
        </p:nvSpPr>
        <p:spPr>
          <a:xfrm>
            <a:off x="6569963" y="3808695"/>
            <a:ext cx="274320" cy="274320"/>
          </a:xfrm>
          <a:prstGeom prst="ellipse">
            <a:avLst/>
          </a:prstGeom>
          <a:solidFill>
            <a:srgbClr val="1456F0"/>
          </a:solidFill>
          <a:ln w="12700">
            <a:solidFill>
              <a:srgbClr val="1456F0"/>
            </a:solidFill>
            <a:prstDash val="solid"/>
          </a:ln>
        </p:spPr>
      </p:sp>
      <p:sp>
        <p:nvSpPr>
          <p:cNvPr id="106" name="Text 59"/>
          <p:cNvSpPr/>
          <p:nvPr/>
        </p:nvSpPr>
        <p:spPr>
          <a:xfrm>
            <a:off x="6569963" y="3808695"/>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03</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7" name="Text 60"/>
          <p:cNvSpPr/>
          <p:nvPr/>
        </p:nvSpPr>
        <p:spPr>
          <a:xfrm>
            <a:off x="6967728" y="3800913"/>
            <a:ext cx="3596335" cy="201168"/>
          </a:xfrm>
          <a:prstGeom prst="rect">
            <a:avLst/>
          </a:prstGeom>
          <a:noFill/>
          <a:ln/>
        </p:spPr>
        <p:txBody>
          <a:bodyPr wrap="square" lIns="0" tIns="0" rIns="0" bIns="0" rtlCol="0" anchor="t"/>
          <a:lstStyle/>
          <a:p>
            <a:pPr marL="0" indent="0" algn="l">
              <a:buNone/>
            </a:pPr>
            <a:r>
              <a:rPr lang="en-US" sz="10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iframe 진입 · JWT 전환</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8" name="Text 63"/>
          <p:cNvSpPr/>
          <p:nvPr/>
        </p:nvSpPr>
        <p:spPr>
          <a:xfrm>
            <a:off x="6967725" y="3991575"/>
            <a:ext cx="4702759" cy="182880"/>
          </a:xfrm>
          <a:prstGeom prst="rect">
            <a:avLst/>
          </a:prstGeom>
          <a:noFill/>
          <a:ln/>
        </p:spPr>
        <p:txBody>
          <a:bodyPr wrap="square" lIns="0" tIns="0" rIns="0" bIns="0" rtlCol="0" anchor="t"/>
          <a:lstStyle/>
          <a:p>
            <a:r>
              <a:rPr lang="en-US" altLang="ko-KR" sz="900" dirty="0">
                <a:latin typeface="Pretendard" panose="02000503000000020004" pitchFamily="50" charset="-127"/>
                <a:ea typeface="Pretendard" panose="02000503000000020004" pitchFamily="50" charset="-127"/>
                <a:cs typeface="Pretendard" panose="02000503000000020004" pitchFamily="50" charset="-127"/>
              </a:rPr>
              <a:t>iframe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진입 시 </a:t>
            </a:r>
            <a:r>
              <a:rPr lang="en-US" altLang="ko-KR" sz="900" dirty="0" err="1">
                <a:latin typeface="Pretendard" panose="02000503000000020004" pitchFamily="50" charset="-127"/>
                <a:ea typeface="Pretendard" panose="02000503000000020004" pitchFamily="50" charset="-127"/>
                <a:cs typeface="Pretendard" panose="02000503000000020004" pitchFamily="50" charset="-127"/>
              </a:rPr>
              <a:t>Redis</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토큰을 조회</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즉시 삭제한 뒤</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참여자 전용 </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Client JWT</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를 발급</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9" name="Shape 64"/>
          <p:cNvSpPr/>
          <p:nvPr/>
        </p:nvSpPr>
        <p:spPr>
          <a:xfrm>
            <a:off x="6446520" y="4262130"/>
            <a:ext cx="5351983" cy="554935"/>
          </a:xfrm>
          <a:prstGeom prst="roundRect">
            <a:avLst>
              <a:gd name="adj" fmla="val 16667"/>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110" name="Shape 65"/>
          <p:cNvSpPr/>
          <p:nvPr/>
        </p:nvSpPr>
        <p:spPr>
          <a:xfrm>
            <a:off x="6446520" y="4270101"/>
            <a:ext cx="64008" cy="503285"/>
          </a:xfrm>
          <a:prstGeom prst="rect">
            <a:avLst/>
          </a:prstGeom>
          <a:solidFill>
            <a:srgbClr val="1456F0"/>
          </a:solidFill>
          <a:ln w="12700">
            <a:solidFill>
              <a:srgbClr val="1456F0"/>
            </a:solidFill>
            <a:prstDash val="solid"/>
          </a:ln>
        </p:spPr>
      </p:sp>
      <p:sp>
        <p:nvSpPr>
          <p:cNvPr id="111" name="Shape 66"/>
          <p:cNvSpPr/>
          <p:nvPr/>
        </p:nvSpPr>
        <p:spPr>
          <a:xfrm>
            <a:off x="6565392" y="4386687"/>
            <a:ext cx="274320" cy="274320"/>
          </a:xfrm>
          <a:prstGeom prst="ellipse">
            <a:avLst/>
          </a:prstGeom>
          <a:solidFill>
            <a:srgbClr val="1456F0"/>
          </a:solidFill>
          <a:ln w="12700">
            <a:solidFill>
              <a:srgbClr val="1456F0"/>
            </a:solidFill>
            <a:prstDash val="solid"/>
          </a:ln>
        </p:spPr>
      </p:sp>
      <p:sp>
        <p:nvSpPr>
          <p:cNvPr id="112" name="Text 67"/>
          <p:cNvSpPr/>
          <p:nvPr/>
        </p:nvSpPr>
        <p:spPr>
          <a:xfrm>
            <a:off x="6565392" y="4375874"/>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04</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3" name="Text 68"/>
          <p:cNvSpPr/>
          <p:nvPr/>
        </p:nvSpPr>
        <p:spPr>
          <a:xfrm>
            <a:off x="6967728" y="4344792"/>
            <a:ext cx="3596335" cy="201168"/>
          </a:xfrm>
          <a:prstGeom prst="rect">
            <a:avLst/>
          </a:prstGeom>
          <a:noFill/>
          <a:ln/>
        </p:spPr>
        <p:txBody>
          <a:bodyPr wrap="square" lIns="0" tIns="0" rIns="0" bIns="0" rtlCol="0" anchor="t"/>
          <a:lstStyle/>
          <a:p>
            <a:pPr marL="0" indent="0" algn="l">
              <a:buNone/>
            </a:pPr>
            <a:r>
              <a:rPr lang="en-US" sz="10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HttpOnly 쿠키 인증 유지</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4" name="Text 71"/>
          <p:cNvSpPr/>
          <p:nvPr/>
        </p:nvSpPr>
        <p:spPr>
          <a:xfrm>
            <a:off x="6967726" y="4557878"/>
            <a:ext cx="4702759" cy="182880"/>
          </a:xfrm>
          <a:prstGeom prst="rect">
            <a:avLst/>
          </a:prstGeom>
          <a:noFill/>
          <a:ln/>
        </p:spPr>
        <p:txBody>
          <a:bodyPr wrap="square" lIns="0" tIns="0" rIns="0" bIns="0" rtlCol="0" anchor="t"/>
          <a:lstStyle/>
          <a:p>
            <a:r>
              <a:rPr lang="en-US" sz="900" dirty="0">
                <a:latin typeface="Pretendard" panose="02000503000000020004" pitchFamily="50" charset="-127"/>
                <a:ea typeface="Pretendard" panose="02000503000000020004" pitchFamily="50" charset="-127"/>
                <a:cs typeface="Pretendard" panose="02000503000000020004" pitchFamily="50" charset="-127"/>
              </a:rPr>
              <a:t>Client JWT를 HttpOnly </a:t>
            </a:r>
            <a:r>
              <a:rPr lang="en-US" sz="900" dirty="0" err="1">
                <a:latin typeface="Pretendard" panose="02000503000000020004" pitchFamily="50" charset="-127"/>
                <a:ea typeface="Pretendard" panose="02000503000000020004" pitchFamily="50" charset="-127"/>
                <a:cs typeface="Pretendard" panose="02000503000000020004" pitchFamily="50" charset="-127"/>
              </a:rPr>
              <a:t>Cookie에</a:t>
            </a:r>
            <a:r>
              <a:rPr lang="en-US" sz="900" dirty="0">
                <a:latin typeface="Pretendard" panose="02000503000000020004" pitchFamily="50" charset="-127"/>
                <a:ea typeface="Pretendard" panose="02000503000000020004" pitchFamily="50" charset="-127"/>
                <a:cs typeface="Pretendard" panose="02000503000000020004" pitchFamily="50" charset="-127"/>
              </a:rPr>
              <a:t> </a:t>
            </a:r>
            <a:r>
              <a:rPr lang="en-US" sz="900" dirty="0" err="1">
                <a:latin typeface="Pretendard" panose="02000503000000020004" pitchFamily="50" charset="-127"/>
                <a:ea typeface="Pretendard" panose="02000503000000020004" pitchFamily="50" charset="-127"/>
                <a:cs typeface="Pretendard" panose="02000503000000020004" pitchFamily="50" charset="-127"/>
              </a:rPr>
              <a:t>저장</a:t>
            </a:r>
            <a:r>
              <a:rPr lang="en-US" sz="9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외부 </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API </a:t>
            </a:r>
            <a:r>
              <a:rPr lang="ko-KR" altLang="en-US" sz="900" dirty="0" err="1">
                <a:latin typeface="Pretendard" panose="02000503000000020004" pitchFamily="50" charset="-127"/>
                <a:ea typeface="Pretendard" panose="02000503000000020004" pitchFamily="50" charset="-127"/>
                <a:cs typeface="Pretendard" panose="02000503000000020004" pitchFamily="50" charset="-127"/>
              </a:rPr>
              <a:t>요청마다</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900" dirty="0" err="1">
                <a:latin typeface="Pretendard" panose="02000503000000020004" pitchFamily="50" charset="-127"/>
                <a:ea typeface="Pretendard" panose="02000503000000020004" pitchFamily="50" charset="-127"/>
                <a:cs typeface="Pretendard" panose="02000503000000020004" pitchFamily="50" charset="-127"/>
              </a:rPr>
              <a:t>ClientTokenFilter</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에서 검증</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5" name="Shape 72"/>
          <p:cNvSpPr/>
          <p:nvPr/>
        </p:nvSpPr>
        <p:spPr>
          <a:xfrm>
            <a:off x="6455664" y="4929567"/>
            <a:ext cx="5342839" cy="581270"/>
          </a:xfrm>
          <a:prstGeom prst="roundRect">
            <a:avLst>
              <a:gd name="adj" fmla="val 16667"/>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116" name="Shape 73"/>
          <p:cNvSpPr/>
          <p:nvPr/>
        </p:nvSpPr>
        <p:spPr>
          <a:xfrm>
            <a:off x="6455664" y="4929567"/>
            <a:ext cx="54864" cy="521786"/>
          </a:xfrm>
          <a:prstGeom prst="rect">
            <a:avLst/>
          </a:prstGeom>
          <a:solidFill>
            <a:srgbClr val="EA5EC1"/>
          </a:solidFill>
          <a:ln w="12700">
            <a:solidFill>
              <a:srgbClr val="EA5EC1"/>
            </a:solidFill>
            <a:prstDash val="solid"/>
          </a:ln>
        </p:spPr>
      </p:sp>
      <p:sp>
        <p:nvSpPr>
          <p:cNvPr id="117" name="Shape 74"/>
          <p:cNvSpPr/>
          <p:nvPr/>
        </p:nvSpPr>
        <p:spPr>
          <a:xfrm>
            <a:off x="6565392" y="5064690"/>
            <a:ext cx="274320" cy="274320"/>
          </a:xfrm>
          <a:prstGeom prst="ellipse">
            <a:avLst/>
          </a:prstGeom>
          <a:solidFill>
            <a:srgbClr val="EA5EC1"/>
          </a:solidFill>
          <a:ln w="12700">
            <a:solidFill>
              <a:srgbClr val="EA5EC1"/>
            </a:solidFill>
            <a:prstDash val="solid"/>
          </a:ln>
        </p:spPr>
      </p:sp>
      <p:sp>
        <p:nvSpPr>
          <p:cNvPr id="118" name="Text 75"/>
          <p:cNvSpPr/>
          <p:nvPr/>
        </p:nvSpPr>
        <p:spPr>
          <a:xfrm>
            <a:off x="6565392" y="506469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05</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9" name="Text 76"/>
          <p:cNvSpPr/>
          <p:nvPr/>
        </p:nvSpPr>
        <p:spPr>
          <a:xfrm>
            <a:off x="6967727" y="5058161"/>
            <a:ext cx="3596335" cy="201168"/>
          </a:xfrm>
          <a:prstGeom prst="rect">
            <a:avLst/>
          </a:prstGeom>
          <a:noFill/>
          <a:ln/>
        </p:spPr>
        <p:txBody>
          <a:bodyPr wrap="square" lIns="0" tIns="0" rIns="0" bIns="0" rtlCol="0" anchor="t"/>
          <a:lstStyle/>
          <a:p>
            <a:pPr marL="0" indent="0" algn="l">
              <a:buNone/>
            </a:pPr>
            <a:r>
              <a:rPr lang="en-US" sz="10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Redis 임시저장 · 이어하기</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0" name="Text 79"/>
          <p:cNvSpPr/>
          <p:nvPr/>
        </p:nvSpPr>
        <p:spPr>
          <a:xfrm>
            <a:off x="6967727" y="5259329"/>
            <a:ext cx="4702759" cy="182880"/>
          </a:xfrm>
          <a:prstGeom prst="rect">
            <a:avLst/>
          </a:prstGeom>
          <a:noFill/>
          <a:ln/>
        </p:spPr>
        <p:txBody>
          <a:bodyPr wrap="square" lIns="0" tIns="0" rIns="0" bIns="0" rtlCol="0" anchor="t"/>
          <a:lstStyle/>
          <a:p>
            <a:r>
              <a:rPr lang="ko-KR" altLang="en-US" sz="900" dirty="0">
                <a:latin typeface="Pretendard" panose="02000503000000020004" pitchFamily="50" charset="-127"/>
                <a:ea typeface="Pretendard" panose="02000503000000020004" pitchFamily="50" charset="-127"/>
                <a:cs typeface="Pretendard" panose="02000503000000020004" pitchFamily="50" charset="-127"/>
              </a:rPr>
              <a:t>답변 작성 중 </a:t>
            </a:r>
            <a:r>
              <a:rPr lang="en-US" altLang="ko-KR" sz="900" dirty="0" err="1">
                <a:latin typeface="Pretendard" panose="02000503000000020004" pitchFamily="50" charset="-127"/>
                <a:ea typeface="Pretendard" panose="02000503000000020004" pitchFamily="50" charset="-127"/>
                <a:cs typeface="Pretendard" panose="02000503000000020004" pitchFamily="50" charset="-127"/>
              </a:rPr>
              <a:t>Redis</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에 자동 임시저장하여 페이지 이탈이나 중단 상황에서도 이어하기 지원</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1" name="Shape 80"/>
          <p:cNvSpPr/>
          <p:nvPr/>
        </p:nvSpPr>
        <p:spPr>
          <a:xfrm>
            <a:off x="6446520" y="5615367"/>
            <a:ext cx="5351983" cy="580716"/>
          </a:xfrm>
          <a:prstGeom prst="roundRect">
            <a:avLst>
              <a:gd name="adj" fmla="val 16667"/>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122" name="Shape 81"/>
          <p:cNvSpPr/>
          <p:nvPr/>
        </p:nvSpPr>
        <p:spPr>
          <a:xfrm>
            <a:off x="6455664" y="5618315"/>
            <a:ext cx="54864" cy="580716"/>
          </a:xfrm>
          <a:prstGeom prst="rect">
            <a:avLst/>
          </a:prstGeom>
          <a:solidFill>
            <a:srgbClr val="EA5EC1"/>
          </a:solidFill>
          <a:ln w="12700">
            <a:solidFill>
              <a:srgbClr val="EA5EC1"/>
            </a:solidFill>
            <a:prstDash val="solid"/>
          </a:ln>
        </p:spPr>
      </p:sp>
      <p:sp>
        <p:nvSpPr>
          <p:cNvPr id="123" name="Shape 82"/>
          <p:cNvSpPr/>
          <p:nvPr/>
        </p:nvSpPr>
        <p:spPr>
          <a:xfrm>
            <a:off x="6569963" y="5751795"/>
            <a:ext cx="274320" cy="274320"/>
          </a:xfrm>
          <a:prstGeom prst="ellipse">
            <a:avLst/>
          </a:prstGeom>
          <a:solidFill>
            <a:srgbClr val="EA5EC1"/>
          </a:solidFill>
          <a:ln w="12700">
            <a:solidFill>
              <a:srgbClr val="EA5EC1"/>
            </a:solidFill>
            <a:prstDash val="solid"/>
          </a:ln>
        </p:spPr>
      </p:sp>
      <p:sp>
        <p:nvSpPr>
          <p:cNvPr id="124" name="Text 83"/>
          <p:cNvSpPr/>
          <p:nvPr/>
        </p:nvSpPr>
        <p:spPr>
          <a:xfrm>
            <a:off x="6569963" y="5751795"/>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06</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5" name="Text 84"/>
          <p:cNvSpPr/>
          <p:nvPr/>
        </p:nvSpPr>
        <p:spPr>
          <a:xfrm>
            <a:off x="6967728" y="5687787"/>
            <a:ext cx="3596335" cy="201168"/>
          </a:xfrm>
          <a:prstGeom prst="rect">
            <a:avLst/>
          </a:prstGeom>
          <a:noFill/>
          <a:ln/>
        </p:spPr>
        <p:txBody>
          <a:bodyPr wrap="square" lIns="0" tIns="0" rIns="0" bIns="0" rtlCol="0" anchor="t"/>
          <a:lstStyle/>
          <a:p>
            <a:pPr marL="0" indent="0" algn="l">
              <a:buNone/>
            </a:pPr>
            <a:r>
              <a:rPr lang="en-US" sz="10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제출 검증 · 안전 종료</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6" name="Text 87"/>
          <p:cNvSpPr/>
          <p:nvPr/>
        </p:nvSpPr>
        <p:spPr>
          <a:xfrm>
            <a:off x="6967728" y="5908673"/>
            <a:ext cx="4702759" cy="182880"/>
          </a:xfrm>
          <a:prstGeom prst="rect">
            <a:avLst/>
          </a:prstGeom>
          <a:noFill/>
          <a:ln/>
        </p:spPr>
        <p:txBody>
          <a:bodyPr wrap="square" lIns="0" tIns="0" rIns="0" bIns="0" rtlCol="0" anchor="t"/>
          <a:lstStyle/>
          <a:p>
            <a:r>
              <a:rPr lang="ko-KR" altLang="en-US" sz="900" dirty="0">
                <a:latin typeface="Pretendard" panose="02000503000000020004" pitchFamily="50" charset="-127"/>
                <a:ea typeface="Pretendard" panose="02000503000000020004" pitchFamily="50" charset="-127"/>
                <a:cs typeface="Pretendard" panose="02000503000000020004" pitchFamily="50" charset="-127"/>
              </a:rPr>
              <a:t>최종 제출 시 참여 자격을 </a:t>
            </a:r>
            <a:r>
              <a:rPr lang="ko-KR" altLang="en-US" sz="900" dirty="0" err="1">
                <a:latin typeface="Pretendard" panose="02000503000000020004" pitchFamily="50" charset="-127"/>
                <a:ea typeface="Pretendard" panose="02000503000000020004" pitchFamily="50" charset="-127"/>
                <a:cs typeface="Pretendard" panose="02000503000000020004" pitchFamily="50" charset="-127"/>
              </a:rPr>
              <a:t>재검증하고</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 DB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저장 후 </a:t>
            </a:r>
            <a:r>
              <a:rPr lang="ko-KR" altLang="en-US" sz="900" dirty="0" err="1">
                <a:latin typeface="Pretendard" panose="02000503000000020004" pitchFamily="50" charset="-127"/>
                <a:ea typeface="Pretendard" panose="02000503000000020004" pitchFamily="50" charset="-127"/>
                <a:cs typeface="Pretendard" panose="02000503000000020004" pitchFamily="50" charset="-127"/>
              </a:rPr>
              <a:t>임시저장을</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 삭제한 뒤 </a:t>
            </a:r>
            <a:r>
              <a:rPr lang="en-US" altLang="ko-KR" sz="900" dirty="0" err="1">
                <a:latin typeface="Pretendard" panose="02000503000000020004" pitchFamily="50" charset="-127"/>
                <a:ea typeface="Pretendard" panose="02000503000000020004" pitchFamily="50" charset="-127"/>
                <a:cs typeface="Pretendard" panose="02000503000000020004" pitchFamily="50" charset="-127"/>
              </a:rPr>
              <a:t>postMessage</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로 </a:t>
            </a:r>
            <a:r>
              <a:rPr lang="ko-KR" altLang="en-US" sz="900" dirty="0" err="1">
                <a:latin typeface="Pretendard" panose="02000503000000020004" pitchFamily="50" charset="-127"/>
                <a:ea typeface="Pretendard" panose="02000503000000020004" pitchFamily="50" charset="-127"/>
                <a:cs typeface="Pretendard" panose="02000503000000020004" pitchFamily="50" charset="-127"/>
              </a:rPr>
              <a:t>모달</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 종료</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56">
            <a:extLst>
              <a:ext uri="{FF2B5EF4-FFF2-40B4-BE49-F238E27FC236}">
                <a16:creationId xmlns:a16="http://schemas.microsoft.com/office/drawing/2014/main" id="{6065ACA0-FFA0-4072-B91C-DCF29202B663}"/>
              </a:ext>
            </a:extLst>
          </p:cNvPr>
          <p:cNvSpPr/>
          <p:nvPr/>
        </p:nvSpPr>
        <p:spPr>
          <a:xfrm>
            <a:off x="6446520" y="3315964"/>
            <a:ext cx="5287975" cy="658368"/>
          </a:xfrm>
          <a:prstGeom prst="roundRect">
            <a:avLst>
              <a:gd name="adj" fmla="val 13889"/>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2" name="Text 0"/>
          <p:cNvSpPr/>
          <p:nvPr/>
        </p:nvSpPr>
        <p:spPr>
          <a:xfrm>
            <a:off x="457200" y="365760"/>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06.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핵심 구현 및 결과</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14</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r>
              <a:rPr lang="ko-KR" altLang="en-US" sz="2400" b="1" dirty="0">
                <a:latin typeface="Pretendard" panose="02000503000000020004" pitchFamily="50" charset="-127"/>
                <a:ea typeface="Pretendard" panose="02000503000000020004" pitchFamily="50" charset="-127"/>
                <a:cs typeface="Pretendard" panose="02000503000000020004" pitchFamily="50" charset="-127"/>
              </a:rPr>
              <a:t>배치 기반 통계 집계 최적화</a:t>
            </a:r>
            <a:endParaRPr lang="en-US" sz="2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200" y="1401561"/>
            <a:ext cx="11277295" cy="292608"/>
          </a:xfrm>
          <a:prstGeom prst="rect">
            <a:avLst/>
          </a:prstGeom>
          <a:noFill/>
          <a:ln/>
        </p:spPr>
        <p:txBody>
          <a:bodyPr wrap="square" lIns="0" tIns="0" rIns="0" bIns="0" rtlCol="0" anchor="t"/>
          <a:lstStyle/>
          <a:p>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Spring Batch</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로 응답 데이터를 사전 집계하여</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조회 성능을 </a:t>
            </a:r>
            <a:r>
              <a:rPr lang="ko-KR" altLang="en-US" sz="1600" dirty="0" err="1">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안정화했습니다</a:t>
            </a:r>
            <a:r>
              <a:rPr lang="en-US" altLang="ko-KR"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solidFill>
                <a:schemeClr val="tx1">
                  <a:lumMod val="65000"/>
                  <a:lumOff val="35000"/>
                </a:schemeClr>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Shape 5"/>
          <p:cNvSpPr/>
          <p:nvPr/>
        </p:nvSpPr>
        <p:spPr>
          <a:xfrm>
            <a:off x="457200" y="1990084"/>
            <a:ext cx="5852160" cy="3886200"/>
          </a:xfrm>
          <a:prstGeom prst="roundRect">
            <a:avLst>
              <a:gd name="adj" fmla="val 3059"/>
            </a:avLst>
          </a:prstGeom>
          <a:solidFill>
            <a:srgbClr val="F8F9FB"/>
          </a:solidFill>
          <a:ln w="9525">
            <a:solidFill>
              <a:srgbClr val="E5E7EB"/>
            </a:solidFill>
            <a:prstDash val="solid"/>
          </a:ln>
          <a:effectLst>
            <a:outerShdw blurRad="76200" dist="25400" dir="5400000" algn="bl" rotWithShape="0">
              <a:srgbClr val="000000">
                <a:alpha val="8000"/>
              </a:srgbClr>
            </a:outerShdw>
          </a:effectLst>
        </p:spPr>
      </p:sp>
      <p:sp>
        <p:nvSpPr>
          <p:cNvPr id="9" name="Text 6"/>
          <p:cNvSpPr/>
          <p:nvPr/>
        </p:nvSpPr>
        <p:spPr>
          <a:xfrm>
            <a:off x="640080" y="2136388"/>
            <a:ext cx="3657600" cy="201168"/>
          </a:xfrm>
          <a:prstGeom prst="rect">
            <a:avLst/>
          </a:prstGeom>
          <a:noFill/>
          <a:ln/>
        </p:spPr>
        <p:txBody>
          <a:bodyPr wrap="square" lIns="0" tIns="0" rIns="0" bIns="0" rtlCol="0" anchor="t"/>
          <a:lstStyle/>
          <a:p>
            <a:pPr marL="0" indent="0" algn="l">
              <a:buNone/>
            </a:pPr>
            <a:r>
              <a:rPr lang="en-US" sz="9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BATCH PIPELINE</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 name="Text 7"/>
          <p:cNvSpPr/>
          <p:nvPr/>
        </p:nvSpPr>
        <p:spPr>
          <a:xfrm>
            <a:off x="640080" y="2337556"/>
            <a:ext cx="5486400" cy="274320"/>
          </a:xfrm>
          <a:prstGeom prst="rect">
            <a:avLst/>
          </a:prstGeom>
          <a:noFill/>
          <a:ln/>
        </p:spPr>
        <p:txBody>
          <a:bodyPr wrap="square" lIns="0" tIns="0" rIns="0" bIns="0" rtlCol="0" anchor="t"/>
          <a:lstStyle/>
          <a:p>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Spring Batch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기반 통계 사전 집계 구조</a:t>
            </a:r>
            <a:endParaRPr lang="en-US" sz="13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Shape 8"/>
          <p:cNvSpPr/>
          <p:nvPr/>
        </p:nvSpPr>
        <p:spPr>
          <a:xfrm>
            <a:off x="685800" y="2767324"/>
            <a:ext cx="5394960" cy="274320"/>
          </a:xfrm>
          <a:prstGeom prst="roundRect">
            <a:avLst>
              <a:gd name="adj" fmla="val 20000"/>
            </a:avLst>
          </a:prstGeom>
          <a:solidFill>
            <a:srgbClr val="FFF8E6"/>
          </a:solidFill>
          <a:ln w="6350">
            <a:solidFill>
              <a:srgbClr val="E8D38A"/>
            </a:solidFill>
            <a:prstDash val="solid"/>
          </a:ln>
        </p:spPr>
      </p:sp>
      <p:sp>
        <p:nvSpPr>
          <p:cNvPr id="12" name="Text 9"/>
          <p:cNvSpPr/>
          <p:nvPr/>
        </p:nvSpPr>
        <p:spPr>
          <a:xfrm>
            <a:off x="777240" y="2767324"/>
            <a:ext cx="5212080" cy="274320"/>
          </a:xfrm>
          <a:prstGeom prst="rect">
            <a:avLst/>
          </a:prstGeom>
          <a:noFill/>
          <a:ln/>
        </p:spPr>
        <p:txBody>
          <a:bodyPr wrap="square" lIns="0" tIns="0" rIns="0" bIns="0" rtlCol="0" anchor="ctr"/>
          <a:lstStyle/>
          <a:p>
            <a:r>
              <a:rPr lang="en-US" sz="900" b="1" kern="0" spc="150" dirty="0">
                <a:solidFill>
                  <a:srgbClr val="B07E1C"/>
                </a:solidFill>
                <a:latin typeface="Pretendard" panose="02000503000000020004" pitchFamily="50" charset="-127"/>
                <a:ea typeface="Pretendard" panose="02000503000000020004" pitchFamily="50" charset="-127"/>
                <a:cs typeface="Pretendard" panose="02000503000000020004" pitchFamily="50" charset="-127"/>
              </a:rPr>
              <a:t>SCHEDULE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매일 </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08:00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자동 집계</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 name="Shape 10"/>
          <p:cNvSpPr/>
          <p:nvPr/>
        </p:nvSpPr>
        <p:spPr>
          <a:xfrm>
            <a:off x="685800" y="3178804"/>
            <a:ext cx="1603248" cy="1005840"/>
          </a:xfrm>
          <a:prstGeom prst="roundRect">
            <a:avLst>
              <a:gd name="adj" fmla="val 9091"/>
            </a:avLst>
          </a:prstGeom>
          <a:solidFill>
            <a:srgbClr val="FFFFFF"/>
          </a:solidFill>
          <a:ln w="6350">
            <a:solidFill>
              <a:srgbClr val="8E8E93"/>
            </a:solidFill>
            <a:prstDash val="solid"/>
          </a:ln>
        </p:spPr>
      </p:sp>
      <p:sp>
        <p:nvSpPr>
          <p:cNvPr id="14" name="Shape 11"/>
          <p:cNvSpPr/>
          <p:nvPr/>
        </p:nvSpPr>
        <p:spPr>
          <a:xfrm>
            <a:off x="850392" y="3288532"/>
            <a:ext cx="1274064" cy="201168"/>
          </a:xfrm>
          <a:prstGeom prst="roundRect">
            <a:avLst>
              <a:gd name="adj" fmla="val 22727"/>
            </a:avLst>
          </a:prstGeom>
          <a:solidFill>
            <a:srgbClr val="8E8E93"/>
          </a:solidFill>
          <a:ln w="12700">
            <a:solidFill>
              <a:srgbClr val="8E8E93"/>
            </a:solidFill>
            <a:prstDash val="solid"/>
          </a:ln>
        </p:spPr>
      </p:sp>
      <p:sp>
        <p:nvSpPr>
          <p:cNvPr id="15" name="Text 12"/>
          <p:cNvSpPr/>
          <p:nvPr/>
        </p:nvSpPr>
        <p:spPr>
          <a:xfrm>
            <a:off x="850392" y="3288532"/>
            <a:ext cx="1274064" cy="201168"/>
          </a:xfrm>
          <a:prstGeom prst="rect">
            <a:avLst/>
          </a:prstGeom>
          <a:noFill/>
          <a:ln/>
        </p:spPr>
        <p:txBody>
          <a:bodyPr wrap="square" lIns="0" tIns="0" rIns="0" bIns="0" rtlCol="0" anchor="ctr"/>
          <a:lstStyle/>
          <a:p>
            <a:pPr marL="0" indent="0" algn="ctr">
              <a:buNone/>
            </a:pPr>
            <a:r>
              <a:rPr lang="en-US" sz="85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READER</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Text 13"/>
          <p:cNvSpPr/>
          <p:nvPr/>
        </p:nvSpPr>
        <p:spPr>
          <a:xfrm>
            <a:off x="777240" y="3709156"/>
            <a:ext cx="1420368" cy="256032"/>
          </a:xfrm>
          <a:prstGeom prst="rect">
            <a:avLst/>
          </a:prstGeom>
          <a:noFill/>
          <a:ln/>
        </p:spPr>
        <p:txBody>
          <a:bodyPr wrap="square" lIns="0" tIns="0" rIns="0" bIns="0" rtlCol="0" anchor="t"/>
          <a:lstStyle/>
          <a:p>
            <a:pPr marL="0" indent="0" algn="ctr">
              <a:buNone/>
            </a:pPr>
            <a:r>
              <a:rPr lang="ko-KR" altLang="en-US" sz="1100" b="1" dirty="0">
                <a:latin typeface="Pretendard" panose="02000503000000020004" pitchFamily="50" charset="-127"/>
                <a:ea typeface="Pretendard" panose="02000503000000020004" pitchFamily="50" charset="-127"/>
                <a:cs typeface="Pretendard" panose="02000503000000020004" pitchFamily="50" charset="-127"/>
              </a:rPr>
              <a:t>응답 데이터 조회</a:t>
            </a:r>
            <a:endParaRPr lang="en-US" sz="11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Text 15"/>
          <p:cNvSpPr/>
          <p:nvPr/>
        </p:nvSpPr>
        <p:spPr>
          <a:xfrm>
            <a:off x="2289048" y="3178804"/>
            <a:ext cx="292608" cy="1005840"/>
          </a:xfrm>
          <a:prstGeom prst="rect">
            <a:avLst/>
          </a:prstGeom>
          <a:noFill/>
          <a:ln/>
        </p:spPr>
        <p:txBody>
          <a:bodyPr wrap="square" lIns="0" tIns="0" rIns="0" bIns="0" rtlCol="0" anchor="ctr"/>
          <a:lstStyle/>
          <a:p>
            <a:pPr marL="0" indent="0" algn="ctr">
              <a:buNone/>
            </a:pPr>
            <a:r>
              <a:rPr lang="en-US" sz="26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endParaRPr lang="en-US" sz="2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9" name="Shape 16"/>
          <p:cNvSpPr/>
          <p:nvPr/>
        </p:nvSpPr>
        <p:spPr>
          <a:xfrm>
            <a:off x="2581656" y="3178804"/>
            <a:ext cx="1603248" cy="1005840"/>
          </a:xfrm>
          <a:prstGeom prst="roundRect">
            <a:avLst>
              <a:gd name="adj" fmla="val 9091"/>
            </a:avLst>
          </a:prstGeom>
          <a:solidFill>
            <a:srgbClr val="EEF4FF"/>
          </a:solidFill>
          <a:ln w="15240">
            <a:solidFill>
              <a:srgbClr val="1456F0"/>
            </a:solidFill>
            <a:prstDash val="solid"/>
          </a:ln>
          <a:effectLst>
            <a:outerShdw blurRad="190500" dist="50800" dir="5400000" algn="bl" rotWithShape="0">
              <a:srgbClr val="2C1E74">
                <a:alpha val="16000"/>
              </a:srgbClr>
            </a:outerShdw>
          </a:effectLst>
        </p:spPr>
      </p:sp>
      <p:sp>
        <p:nvSpPr>
          <p:cNvPr id="20" name="Shape 17"/>
          <p:cNvSpPr/>
          <p:nvPr/>
        </p:nvSpPr>
        <p:spPr>
          <a:xfrm>
            <a:off x="2746248" y="3288532"/>
            <a:ext cx="1274064" cy="201168"/>
          </a:xfrm>
          <a:prstGeom prst="roundRect">
            <a:avLst>
              <a:gd name="adj" fmla="val 22727"/>
            </a:avLst>
          </a:prstGeom>
          <a:solidFill>
            <a:srgbClr val="1456F0"/>
          </a:solidFill>
          <a:ln w="12700">
            <a:solidFill>
              <a:srgbClr val="1456F0"/>
            </a:solidFill>
            <a:prstDash val="solid"/>
          </a:ln>
        </p:spPr>
      </p:sp>
      <p:sp>
        <p:nvSpPr>
          <p:cNvPr id="21" name="Text 18"/>
          <p:cNvSpPr/>
          <p:nvPr/>
        </p:nvSpPr>
        <p:spPr>
          <a:xfrm>
            <a:off x="2746248" y="3288532"/>
            <a:ext cx="1274064" cy="201168"/>
          </a:xfrm>
          <a:prstGeom prst="rect">
            <a:avLst/>
          </a:prstGeom>
          <a:noFill/>
          <a:ln/>
        </p:spPr>
        <p:txBody>
          <a:bodyPr wrap="square" lIns="0" tIns="0" rIns="0" bIns="0" rtlCol="0" anchor="ctr"/>
          <a:lstStyle/>
          <a:p>
            <a:pPr marL="0" indent="0" algn="ctr">
              <a:buNone/>
            </a:pPr>
            <a:r>
              <a:rPr lang="en-US" sz="85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PROCESSOR</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Text 19"/>
          <p:cNvSpPr/>
          <p:nvPr/>
        </p:nvSpPr>
        <p:spPr>
          <a:xfrm>
            <a:off x="2673096" y="3709156"/>
            <a:ext cx="1420368" cy="256032"/>
          </a:xfrm>
          <a:prstGeom prst="rect">
            <a:avLst/>
          </a:prstGeom>
          <a:noFill/>
          <a:ln/>
        </p:spPr>
        <p:txBody>
          <a:bodyPr wrap="square" lIns="0" tIns="0" rIns="0" bIns="0" rtlCol="0" anchor="t"/>
          <a:lstStyle/>
          <a:p>
            <a:pPr algn="ctr"/>
            <a:r>
              <a:rPr lang="ko-KR" altLang="en-US" sz="1100" b="1" dirty="0">
                <a:latin typeface="Pretendard" panose="02000503000000020004" pitchFamily="50" charset="-127"/>
                <a:ea typeface="Pretendard" panose="02000503000000020004" pitchFamily="50" charset="-127"/>
                <a:cs typeface="Pretendard" panose="02000503000000020004" pitchFamily="50" charset="-127"/>
              </a:rPr>
              <a:t>문항 유형별 통계 집계 </a:t>
            </a:r>
            <a:endParaRPr lang="en-US" sz="11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4" name="Text 21"/>
          <p:cNvSpPr/>
          <p:nvPr/>
        </p:nvSpPr>
        <p:spPr>
          <a:xfrm>
            <a:off x="4184904" y="3178804"/>
            <a:ext cx="292608" cy="1005840"/>
          </a:xfrm>
          <a:prstGeom prst="rect">
            <a:avLst/>
          </a:prstGeom>
          <a:noFill/>
          <a:ln/>
        </p:spPr>
        <p:txBody>
          <a:bodyPr wrap="square" lIns="0" tIns="0" rIns="0" bIns="0" rtlCol="0" anchor="ctr"/>
          <a:lstStyle/>
          <a:p>
            <a:pPr marL="0" indent="0" algn="ctr">
              <a:buNone/>
            </a:pPr>
            <a:r>
              <a:rPr lang="en-US" sz="26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endParaRPr lang="en-US" sz="2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 name="Shape 22"/>
          <p:cNvSpPr/>
          <p:nvPr/>
        </p:nvSpPr>
        <p:spPr>
          <a:xfrm>
            <a:off x="4477512" y="3178804"/>
            <a:ext cx="1603248" cy="1005840"/>
          </a:xfrm>
          <a:prstGeom prst="roundRect">
            <a:avLst>
              <a:gd name="adj" fmla="val 9091"/>
            </a:avLst>
          </a:prstGeom>
          <a:solidFill>
            <a:srgbClr val="FDEEF8"/>
          </a:solidFill>
          <a:ln w="6350">
            <a:solidFill>
              <a:srgbClr val="EA5EC1"/>
            </a:solidFill>
            <a:prstDash val="solid"/>
          </a:ln>
        </p:spPr>
      </p:sp>
      <p:sp>
        <p:nvSpPr>
          <p:cNvPr id="26" name="Shape 23"/>
          <p:cNvSpPr/>
          <p:nvPr/>
        </p:nvSpPr>
        <p:spPr>
          <a:xfrm>
            <a:off x="4642104" y="3288532"/>
            <a:ext cx="1274064" cy="201168"/>
          </a:xfrm>
          <a:prstGeom prst="roundRect">
            <a:avLst>
              <a:gd name="adj" fmla="val 22727"/>
            </a:avLst>
          </a:prstGeom>
          <a:solidFill>
            <a:srgbClr val="EA5EC1"/>
          </a:solidFill>
          <a:ln w="12700">
            <a:solidFill>
              <a:srgbClr val="EA5EC1"/>
            </a:solidFill>
            <a:prstDash val="solid"/>
          </a:ln>
        </p:spPr>
      </p:sp>
      <p:sp>
        <p:nvSpPr>
          <p:cNvPr id="27" name="Text 24"/>
          <p:cNvSpPr/>
          <p:nvPr/>
        </p:nvSpPr>
        <p:spPr>
          <a:xfrm>
            <a:off x="4642104" y="3288532"/>
            <a:ext cx="1274064" cy="201168"/>
          </a:xfrm>
          <a:prstGeom prst="rect">
            <a:avLst/>
          </a:prstGeom>
          <a:noFill/>
          <a:ln/>
        </p:spPr>
        <p:txBody>
          <a:bodyPr wrap="square" lIns="0" tIns="0" rIns="0" bIns="0" rtlCol="0" anchor="ctr"/>
          <a:lstStyle/>
          <a:p>
            <a:pPr marL="0" indent="0" algn="ctr">
              <a:buNone/>
            </a:pPr>
            <a:r>
              <a:rPr lang="en-US" sz="850" b="1" kern="0" spc="150"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WRITER</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Text 25"/>
          <p:cNvSpPr/>
          <p:nvPr/>
        </p:nvSpPr>
        <p:spPr>
          <a:xfrm>
            <a:off x="4568952" y="3697876"/>
            <a:ext cx="1420368" cy="256032"/>
          </a:xfrm>
          <a:prstGeom prst="rect">
            <a:avLst/>
          </a:prstGeom>
          <a:noFill/>
          <a:ln/>
        </p:spPr>
        <p:txBody>
          <a:bodyPr wrap="square" lIns="0" tIns="0" rIns="0" bIns="0" rtlCol="0" anchor="t"/>
          <a:lstStyle/>
          <a:p>
            <a:pPr algn="ctr"/>
            <a:r>
              <a:rPr lang="ko-KR" altLang="en-US" sz="1100" b="1" dirty="0">
                <a:latin typeface="Pretendard" panose="02000503000000020004" pitchFamily="50" charset="-127"/>
                <a:ea typeface="Pretendard" panose="02000503000000020004" pitchFamily="50" charset="-127"/>
                <a:cs typeface="Pretendard" panose="02000503000000020004" pitchFamily="50" charset="-127"/>
              </a:rPr>
              <a:t>통계 테이블 갱신 </a:t>
            </a:r>
            <a:endParaRPr lang="en-US" sz="11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0" name="Shape 27"/>
          <p:cNvSpPr/>
          <p:nvPr/>
        </p:nvSpPr>
        <p:spPr>
          <a:xfrm>
            <a:off x="685800" y="4413244"/>
            <a:ext cx="2560320" cy="777240"/>
          </a:xfrm>
          <a:prstGeom prst="roundRect">
            <a:avLst>
              <a:gd name="adj" fmla="val 9412"/>
            </a:avLst>
          </a:prstGeom>
          <a:solidFill>
            <a:srgbClr val="FFFFFF"/>
          </a:solidFill>
          <a:ln w="6350">
            <a:solidFill>
              <a:srgbClr val="E5E7EB"/>
            </a:solidFill>
            <a:prstDash val="solid"/>
          </a:ln>
        </p:spPr>
      </p:sp>
      <p:sp>
        <p:nvSpPr>
          <p:cNvPr id="31" name="Text 28"/>
          <p:cNvSpPr/>
          <p:nvPr/>
        </p:nvSpPr>
        <p:spPr>
          <a:xfrm>
            <a:off x="777240" y="4486396"/>
            <a:ext cx="2377440" cy="164592"/>
          </a:xfrm>
          <a:prstGeom prst="rect">
            <a:avLst/>
          </a:prstGeom>
          <a:noFill/>
          <a:ln/>
        </p:spPr>
        <p:txBody>
          <a:bodyPr wrap="square" lIns="0" tIns="0" rIns="0" bIns="0" rtlCol="0" anchor="t"/>
          <a:lstStyle/>
          <a:p>
            <a:pPr marL="0" indent="0" algn="l">
              <a:buNone/>
            </a:pPr>
            <a:r>
              <a:rPr lang="en-US" sz="800" b="1" kern="0" spc="15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CLIENT</a:t>
            </a:r>
            <a:endParaRPr lang="en-US" sz="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Text 29"/>
          <p:cNvSpPr/>
          <p:nvPr/>
        </p:nvSpPr>
        <p:spPr>
          <a:xfrm>
            <a:off x="777240" y="4650988"/>
            <a:ext cx="2377440" cy="219456"/>
          </a:xfrm>
          <a:prstGeom prst="rect">
            <a:avLst/>
          </a:prstGeom>
          <a:noFill/>
          <a:ln/>
        </p:spPr>
        <p:txBody>
          <a:bodyPr wrap="square" lIns="0" tIns="0" rIns="0" bIns="0" rtlCol="0" anchor="t"/>
          <a:lstStyle/>
          <a:p>
            <a:r>
              <a:rPr lang="en-US" sz="10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2</a:t>
            </a:r>
            <a:r>
              <a:rPr lang="ko-KR" altLang="en-US" sz="10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초 마다 </a:t>
            </a:r>
            <a:r>
              <a:rPr lang="en-US" altLang="ko-KR" sz="1000" dirty="0">
                <a:latin typeface="Pretendard" panose="02000503000000020004" pitchFamily="50" charset="-127"/>
                <a:ea typeface="Pretendard" panose="02000503000000020004" pitchFamily="50" charset="-127"/>
                <a:cs typeface="Pretendard" panose="02000503000000020004" pitchFamily="50" charset="-127"/>
              </a:rPr>
              <a:t>polling</a:t>
            </a:r>
            <a:r>
              <a:rPr lang="ko-KR" altLang="en-US" sz="1000" dirty="0">
                <a:latin typeface="Pretendard" panose="02000503000000020004" pitchFamily="50" charset="-127"/>
                <a:ea typeface="Pretendard" panose="02000503000000020004" pitchFamily="50" charset="-127"/>
                <a:cs typeface="Pretendard" panose="02000503000000020004" pitchFamily="50" charset="-127"/>
              </a:rPr>
              <a:t>으로 완료 확인 </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Text 30"/>
          <p:cNvSpPr/>
          <p:nvPr/>
        </p:nvSpPr>
        <p:spPr>
          <a:xfrm>
            <a:off x="777240" y="4870444"/>
            <a:ext cx="2377440" cy="201168"/>
          </a:xfrm>
          <a:prstGeom prst="rect">
            <a:avLst/>
          </a:prstGeom>
          <a:noFill/>
          <a:ln/>
        </p:spPr>
        <p:txBody>
          <a:bodyPr wrap="square" lIns="0" tIns="0" rIns="0" bIns="0" rtlCol="0" anchor="t"/>
          <a:lstStyle/>
          <a:p>
            <a:r>
              <a:rPr lang="ko-KR" altLang="en-US" sz="900" dirty="0">
                <a:latin typeface="Pretendard" panose="02000503000000020004" pitchFamily="50" charset="-127"/>
                <a:ea typeface="Pretendard" panose="02000503000000020004" pitchFamily="50" charset="-127"/>
                <a:cs typeface="Pretendard" panose="02000503000000020004" pitchFamily="50" charset="-127"/>
              </a:rPr>
              <a:t>최신 통계 화면 조회</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Text 31"/>
          <p:cNvSpPr/>
          <p:nvPr/>
        </p:nvSpPr>
        <p:spPr>
          <a:xfrm>
            <a:off x="3246120" y="4413244"/>
            <a:ext cx="274320" cy="777240"/>
          </a:xfrm>
          <a:prstGeom prst="rect">
            <a:avLst/>
          </a:prstGeom>
          <a:noFill/>
          <a:ln/>
        </p:spPr>
        <p:txBody>
          <a:bodyPr wrap="square" lIns="0" tIns="0" rIns="0" bIns="0" rtlCol="0" anchor="ctr"/>
          <a:lstStyle/>
          <a:p>
            <a:pPr marL="0" indent="0" algn="ctr">
              <a:buNone/>
            </a:pPr>
            <a:r>
              <a:rPr lang="en-US" sz="160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Shape 32"/>
          <p:cNvSpPr/>
          <p:nvPr/>
        </p:nvSpPr>
        <p:spPr>
          <a:xfrm>
            <a:off x="3520440" y="4413244"/>
            <a:ext cx="2560320" cy="777240"/>
          </a:xfrm>
          <a:prstGeom prst="roundRect">
            <a:avLst>
              <a:gd name="adj" fmla="val 9412"/>
            </a:avLst>
          </a:prstGeom>
          <a:solidFill>
            <a:srgbClr val="EEF4FF"/>
          </a:solidFill>
          <a:ln w="6350">
            <a:solidFill>
              <a:srgbClr val="BFDBFE"/>
            </a:solidFill>
            <a:prstDash val="solid"/>
          </a:ln>
        </p:spPr>
      </p:sp>
      <p:sp>
        <p:nvSpPr>
          <p:cNvPr id="36" name="Text 33"/>
          <p:cNvSpPr/>
          <p:nvPr/>
        </p:nvSpPr>
        <p:spPr>
          <a:xfrm>
            <a:off x="3611880" y="4486396"/>
            <a:ext cx="2377440" cy="164592"/>
          </a:xfrm>
          <a:prstGeom prst="rect">
            <a:avLst/>
          </a:prstGeom>
          <a:noFill/>
          <a:ln/>
        </p:spPr>
        <p:txBody>
          <a:bodyPr wrap="square" lIns="0" tIns="0" rIns="0" bIns="0" rtlCol="0" anchor="t"/>
          <a:lstStyle/>
          <a:p>
            <a:pPr marL="0" indent="0" algn="l">
              <a:buNone/>
            </a:pPr>
            <a:r>
              <a:rPr lang="en-US" sz="800" b="1" kern="0" spc="1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ASYNC</a:t>
            </a:r>
            <a:endParaRPr lang="en-US" sz="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Text 34"/>
          <p:cNvSpPr/>
          <p:nvPr/>
        </p:nvSpPr>
        <p:spPr>
          <a:xfrm>
            <a:off x="3611880" y="4650988"/>
            <a:ext cx="2377440" cy="219456"/>
          </a:xfrm>
          <a:prstGeom prst="rect">
            <a:avLst/>
          </a:prstGeom>
          <a:noFill/>
          <a:ln/>
        </p:spPr>
        <p:txBody>
          <a:bodyPr wrap="square" lIns="0" tIns="0" rIns="0" bIns="0" rtlCol="0" anchor="t"/>
          <a:lstStyle/>
          <a:p>
            <a:r>
              <a:rPr lang="ko-KR" altLang="en-US" sz="1000" dirty="0">
                <a:latin typeface="Pretendard" panose="02000503000000020004" pitchFamily="50" charset="-127"/>
                <a:ea typeface="Pretendard" panose="02000503000000020004" pitchFamily="50" charset="-127"/>
                <a:cs typeface="Pretendard" panose="02000503000000020004" pitchFamily="50" charset="-127"/>
              </a:rPr>
              <a:t>집계 요청 즉시 응답 반환</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8" name="Text 35"/>
          <p:cNvSpPr/>
          <p:nvPr/>
        </p:nvSpPr>
        <p:spPr>
          <a:xfrm>
            <a:off x="3611880" y="4870444"/>
            <a:ext cx="2377440" cy="201168"/>
          </a:xfrm>
          <a:prstGeom prst="rect">
            <a:avLst/>
          </a:prstGeom>
          <a:noFill/>
          <a:ln/>
        </p:spPr>
        <p:txBody>
          <a:bodyPr wrap="square" lIns="0" tIns="0" rIns="0" bIns="0" rtlCol="0" anchor="t"/>
          <a:lstStyle/>
          <a:p>
            <a:r>
              <a:rPr lang="ko-KR" altLang="en-US" sz="900" dirty="0">
                <a:latin typeface="Pretendard" panose="02000503000000020004" pitchFamily="50" charset="-127"/>
                <a:ea typeface="Pretendard" panose="02000503000000020004" pitchFamily="50" charset="-127"/>
                <a:cs typeface="Pretendard" panose="02000503000000020004" pitchFamily="50" charset="-127"/>
              </a:rPr>
              <a:t>배치 </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Job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백그라운드 실행</a:t>
            </a:r>
            <a:endParaRPr lang="en-US" sz="8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Text 38"/>
          <p:cNvSpPr/>
          <p:nvPr/>
        </p:nvSpPr>
        <p:spPr>
          <a:xfrm>
            <a:off x="6446520" y="1990084"/>
            <a:ext cx="5287975" cy="201168"/>
          </a:xfrm>
          <a:prstGeom prst="rect">
            <a:avLst/>
          </a:prstGeom>
          <a:noFill/>
          <a:ln/>
        </p:spPr>
        <p:txBody>
          <a:bodyPr wrap="square" lIns="0" tIns="0" rIns="0" bIns="0" rtlCol="0" anchor="t"/>
          <a:lstStyle/>
          <a:p>
            <a:pPr marL="0" indent="0" algn="l">
              <a:buNone/>
            </a:pPr>
            <a:r>
              <a:rPr lang="en-US" sz="9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OPTIMIZATION POINTS</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2" name="Text 39"/>
          <p:cNvSpPr/>
          <p:nvPr/>
        </p:nvSpPr>
        <p:spPr>
          <a:xfrm>
            <a:off x="6446520" y="2191252"/>
            <a:ext cx="5287975" cy="274320"/>
          </a:xfrm>
          <a:prstGeom prst="rect">
            <a:avLst/>
          </a:prstGeom>
          <a:noFill/>
          <a:ln/>
        </p:spPr>
        <p:txBody>
          <a:bodyPr wrap="square" lIns="0" tIns="0" rIns="0" bIns="0" rtlCol="0" anchor="t"/>
          <a:lstStyle/>
          <a:p>
            <a:pPr marL="0" indent="0" algn="l">
              <a:buNone/>
            </a:pPr>
            <a:r>
              <a:rPr lang="en-US" sz="13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단계별 최적화 포인트</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Shape 40"/>
          <p:cNvSpPr/>
          <p:nvPr/>
        </p:nvSpPr>
        <p:spPr>
          <a:xfrm>
            <a:off x="6446520" y="2566156"/>
            <a:ext cx="5287975" cy="658368"/>
          </a:xfrm>
          <a:prstGeom prst="roundRect">
            <a:avLst>
              <a:gd name="adj" fmla="val 13889"/>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4" name="Shape 41"/>
          <p:cNvSpPr/>
          <p:nvPr/>
        </p:nvSpPr>
        <p:spPr>
          <a:xfrm>
            <a:off x="6446520" y="2566156"/>
            <a:ext cx="54864" cy="658368"/>
          </a:xfrm>
          <a:prstGeom prst="rect">
            <a:avLst/>
          </a:prstGeom>
          <a:solidFill>
            <a:srgbClr val="1456F0"/>
          </a:solidFill>
          <a:ln w="12700">
            <a:solidFill>
              <a:srgbClr val="1456F0"/>
            </a:solidFill>
            <a:prstDash val="solid"/>
          </a:ln>
        </p:spPr>
      </p:sp>
      <p:sp>
        <p:nvSpPr>
          <p:cNvPr id="45" name="Shape 42"/>
          <p:cNvSpPr/>
          <p:nvPr/>
        </p:nvSpPr>
        <p:spPr>
          <a:xfrm>
            <a:off x="6592824" y="2730748"/>
            <a:ext cx="310896" cy="310896"/>
          </a:xfrm>
          <a:prstGeom prst="ellipse">
            <a:avLst/>
          </a:prstGeom>
          <a:solidFill>
            <a:srgbClr val="1456F0"/>
          </a:solidFill>
          <a:ln w="12700">
            <a:solidFill>
              <a:srgbClr val="1456F0"/>
            </a:solidFill>
            <a:prstDash val="solid"/>
          </a:ln>
        </p:spPr>
      </p:sp>
      <p:sp>
        <p:nvSpPr>
          <p:cNvPr id="46" name="Text 43"/>
          <p:cNvSpPr/>
          <p:nvPr/>
        </p:nvSpPr>
        <p:spPr>
          <a:xfrm>
            <a:off x="6592824" y="2730748"/>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01</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7" name="Text 44"/>
          <p:cNvSpPr/>
          <p:nvPr/>
        </p:nvSpPr>
        <p:spPr>
          <a:xfrm>
            <a:off x="6976872" y="2675884"/>
            <a:ext cx="3413455" cy="237744"/>
          </a:xfrm>
          <a:prstGeom prst="rect">
            <a:avLst/>
          </a:prstGeom>
          <a:noFill/>
          <a:ln/>
        </p:spPr>
        <p:txBody>
          <a:bodyPr wrap="square" lIns="0" tIns="0" rIns="0" bIns="0" rtlCol="0" anchor="t"/>
          <a:lstStyle/>
          <a:p>
            <a:pPr marL="0" indent="0" algn="l">
              <a:buNone/>
            </a:pPr>
            <a:r>
              <a:rPr lang="en-US" sz="11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JSON 파싱 · 맞춤 집계</a:t>
            </a:r>
            <a:endParaRPr lang="en-US" sz="11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0" name="Text 47"/>
          <p:cNvSpPr/>
          <p:nvPr/>
        </p:nvSpPr>
        <p:spPr>
          <a:xfrm>
            <a:off x="6976872" y="2931916"/>
            <a:ext cx="4629607" cy="274320"/>
          </a:xfrm>
          <a:prstGeom prst="rect">
            <a:avLst/>
          </a:prstGeom>
          <a:noFill/>
          <a:ln/>
        </p:spPr>
        <p:txBody>
          <a:bodyPr wrap="square" lIns="0" tIns="0" rIns="0" bIns="0" rtlCol="0" anchor="t"/>
          <a:lstStyle/>
          <a:p>
            <a:r>
              <a:rPr lang="ko-KR" altLang="en-US" sz="900" dirty="0">
                <a:latin typeface="Pretendard" panose="02000503000000020004" pitchFamily="50" charset="-127"/>
                <a:ea typeface="Pretendard" panose="02000503000000020004" pitchFamily="50" charset="-127"/>
                <a:cs typeface="Pretendard" panose="02000503000000020004" pitchFamily="50" charset="-127"/>
              </a:rPr>
              <a:t>응답 </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JSON</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을 문항별로 </a:t>
            </a:r>
            <a:r>
              <a:rPr lang="ko-KR" altLang="en-US" sz="900" dirty="0" err="1">
                <a:latin typeface="Pretendard" panose="02000503000000020004" pitchFamily="50" charset="-127"/>
                <a:ea typeface="Pretendard" panose="02000503000000020004" pitchFamily="50" charset="-127"/>
                <a:cs typeface="Pretendard" panose="02000503000000020004" pitchFamily="50" charset="-127"/>
              </a:rPr>
              <a:t>그룹핑하고</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문항 유형에 따라 집계 </a:t>
            </a:r>
            <a:r>
              <a:rPr lang="ko-KR" altLang="en-US" sz="900" dirty="0" err="1">
                <a:latin typeface="Pretendard" panose="02000503000000020004" pitchFamily="50" charset="-127"/>
                <a:ea typeface="Pretendard" panose="02000503000000020004" pitchFamily="50" charset="-127"/>
                <a:cs typeface="Pretendard" panose="02000503000000020004" pitchFamily="50" charset="-127"/>
              </a:rPr>
              <a:t>로직</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 분기</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2" name="Shape 49"/>
          <p:cNvSpPr/>
          <p:nvPr/>
        </p:nvSpPr>
        <p:spPr>
          <a:xfrm>
            <a:off x="6446520" y="3325108"/>
            <a:ext cx="73152" cy="630936"/>
          </a:xfrm>
          <a:prstGeom prst="rect">
            <a:avLst/>
          </a:prstGeom>
          <a:solidFill>
            <a:srgbClr val="EA5EC1"/>
          </a:solidFill>
          <a:ln w="12700">
            <a:solidFill>
              <a:srgbClr val="EA5EC1"/>
            </a:solidFill>
            <a:prstDash val="solid"/>
          </a:ln>
        </p:spPr>
      </p:sp>
      <p:sp>
        <p:nvSpPr>
          <p:cNvPr id="53" name="Shape 50"/>
          <p:cNvSpPr/>
          <p:nvPr/>
        </p:nvSpPr>
        <p:spPr>
          <a:xfrm>
            <a:off x="6592824" y="3462268"/>
            <a:ext cx="310896" cy="310896"/>
          </a:xfrm>
          <a:prstGeom prst="ellipse">
            <a:avLst/>
          </a:prstGeom>
          <a:solidFill>
            <a:srgbClr val="EA5EC1"/>
          </a:solidFill>
          <a:ln w="12700">
            <a:solidFill>
              <a:srgbClr val="EA5EC1"/>
            </a:solidFill>
            <a:prstDash val="solid"/>
          </a:ln>
        </p:spPr>
      </p:sp>
      <p:sp>
        <p:nvSpPr>
          <p:cNvPr id="54" name="Text 51"/>
          <p:cNvSpPr/>
          <p:nvPr/>
        </p:nvSpPr>
        <p:spPr>
          <a:xfrm>
            <a:off x="6592824" y="3462268"/>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02</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5" name="Text 52"/>
          <p:cNvSpPr/>
          <p:nvPr/>
        </p:nvSpPr>
        <p:spPr>
          <a:xfrm>
            <a:off x="6976872" y="3407404"/>
            <a:ext cx="3413455" cy="237744"/>
          </a:xfrm>
          <a:prstGeom prst="rect">
            <a:avLst/>
          </a:prstGeom>
          <a:noFill/>
          <a:ln/>
        </p:spPr>
        <p:txBody>
          <a:bodyPr wrap="square" lIns="0" tIns="0" rIns="0" bIns="0" rtlCol="0" anchor="t"/>
          <a:lstStyle/>
          <a:p>
            <a:r>
              <a:rPr lang="ko-KR" altLang="en-US" sz="1200" b="1" dirty="0">
                <a:latin typeface="Pretendard" panose="02000503000000020004" pitchFamily="50" charset="-127"/>
                <a:ea typeface="Pretendard" panose="02000503000000020004" pitchFamily="50" charset="-127"/>
                <a:cs typeface="Pretendard" panose="02000503000000020004" pitchFamily="50" charset="-127"/>
              </a:rPr>
              <a:t>트랜잭션 기반 통계 갱신</a:t>
            </a:r>
            <a:endParaRPr lang="en-US" sz="11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8" name="Text 55"/>
          <p:cNvSpPr/>
          <p:nvPr/>
        </p:nvSpPr>
        <p:spPr>
          <a:xfrm>
            <a:off x="6976872" y="3663436"/>
            <a:ext cx="4629607" cy="274320"/>
          </a:xfrm>
          <a:prstGeom prst="rect">
            <a:avLst/>
          </a:prstGeom>
          <a:noFill/>
          <a:ln/>
        </p:spPr>
        <p:txBody>
          <a:bodyPr wrap="square" lIns="0" tIns="0" rIns="0" bIns="0" rtlCol="0" anchor="t"/>
          <a:lstStyle/>
          <a:p>
            <a:r>
              <a:rPr lang="en-US" altLang="ko-KR" sz="900" dirty="0">
                <a:latin typeface="Pretendard" panose="02000503000000020004" pitchFamily="50" charset="-127"/>
                <a:ea typeface="Pretendard" panose="02000503000000020004" pitchFamily="50" charset="-127"/>
                <a:cs typeface="Pretendard" panose="02000503000000020004" pitchFamily="50" charset="-127"/>
              </a:rPr>
              <a:t>Delete + Insert</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를 단일 </a:t>
            </a:r>
            <a:r>
              <a:rPr lang="ko-KR" altLang="en-US" sz="900" dirty="0" err="1">
                <a:latin typeface="Pretendard" panose="02000503000000020004" pitchFamily="50" charset="-127"/>
                <a:ea typeface="Pretendard" panose="02000503000000020004" pitchFamily="50" charset="-127"/>
                <a:cs typeface="Pretendard" panose="02000503000000020004" pitchFamily="50" charset="-127"/>
              </a:rPr>
              <a:t>트랜젝션으로</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 처리</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9" name="Shape 56"/>
          <p:cNvSpPr/>
          <p:nvPr/>
        </p:nvSpPr>
        <p:spPr>
          <a:xfrm>
            <a:off x="6446520" y="4029196"/>
            <a:ext cx="5287975" cy="658368"/>
          </a:xfrm>
          <a:prstGeom prst="roundRect">
            <a:avLst>
              <a:gd name="adj" fmla="val 13889"/>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60" name="Shape 57"/>
          <p:cNvSpPr/>
          <p:nvPr/>
        </p:nvSpPr>
        <p:spPr>
          <a:xfrm>
            <a:off x="6446520" y="4065772"/>
            <a:ext cx="73152" cy="585216"/>
          </a:xfrm>
          <a:prstGeom prst="rect">
            <a:avLst/>
          </a:prstGeom>
          <a:solidFill>
            <a:srgbClr val="1456F0"/>
          </a:solidFill>
          <a:ln w="12700">
            <a:solidFill>
              <a:srgbClr val="1456F0"/>
            </a:solidFill>
            <a:prstDash val="solid"/>
          </a:ln>
        </p:spPr>
      </p:sp>
      <p:sp>
        <p:nvSpPr>
          <p:cNvPr id="61" name="Shape 58"/>
          <p:cNvSpPr/>
          <p:nvPr/>
        </p:nvSpPr>
        <p:spPr>
          <a:xfrm>
            <a:off x="6592824" y="4193788"/>
            <a:ext cx="310896" cy="310896"/>
          </a:xfrm>
          <a:prstGeom prst="ellipse">
            <a:avLst/>
          </a:prstGeom>
          <a:solidFill>
            <a:srgbClr val="1456F0"/>
          </a:solidFill>
          <a:ln w="12700">
            <a:solidFill>
              <a:srgbClr val="1456F0"/>
            </a:solidFill>
            <a:prstDash val="solid"/>
          </a:ln>
        </p:spPr>
      </p:sp>
      <p:sp>
        <p:nvSpPr>
          <p:cNvPr id="62" name="Text 59"/>
          <p:cNvSpPr/>
          <p:nvPr/>
        </p:nvSpPr>
        <p:spPr>
          <a:xfrm>
            <a:off x="6592824" y="4193788"/>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03</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3" name="Text 60"/>
          <p:cNvSpPr/>
          <p:nvPr/>
        </p:nvSpPr>
        <p:spPr>
          <a:xfrm>
            <a:off x="6976872" y="4138924"/>
            <a:ext cx="3413455" cy="237744"/>
          </a:xfrm>
          <a:prstGeom prst="rect">
            <a:avLst/>
          </a:prstGeom>
          <a:noFill/>
          <a:ln/>
        </p:spPr>
        <p:txBody>
          <a:bodyPr wrap="square" lIns="0" tIns="0" rIns="0" bIns="0" rtlCol="0" anchor="t"/>
          <a:lstStyle/>
          <a:p>
            <a:pPr marL="0" indent="0" algn="l">
              <a:buNone/>
            </a:pPr>
            <a:r>
              <a:rPr lang="en-US" sz="11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스케줄링 자동 실행</a:t>
            </a:r>
            <a:endParaRPr lang="en-US" sz="11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6" name="Text 63"/>
          <p:cNvSpPr/>
          <p:nvPr/>
        </p:nvSpPr>
        <p:spPr>
          <a:xfrm>
            <a:off x="6976872" y="4394956"/>
            <a:ext cx="4629607" cy="274320"/>
          </a:xfrm>
          <a:prstGeom prst="rect">
            <a:avLst/>
          </a:prstGeom>
          <a:noFill/>
          <a:ln/>
        </p:spPr>
        <p:txBody>
          <a:bodyPr wrap="square" lIns="0" tIns="0" rIns="0" bIns="0" rtlCol="0" anchor="t"/>
          <a:lstStyle/>
          <a:p>
            <a:r>
              <a:rPr lang="ko-KR" altLang="en-US" sz="900" dirty="0">
                <a:latin typeface="Pretendard" panose="02000503000000020004" pitchFamily="50" charset="-127"/>
                <a:ea typeface="Pretendard" panose="02000503000000020004" pitchFamily="50" charset="-127"/>
                <a:cs typeface="Pretendard" panose="02000503000000020004" pitchFamily="50" charset="-127"/>
              </a:rPr>
              <a:t>매일 </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08:00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자동 집계</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7" name="Shape 64"/>
          <p:cNvSpPr/>
          <p:nvPr/>
        </p:nvSpPr>
        <p:spPr>
          <a:xfrm>
            <a:off x="6446520" y="4760716"/>
            <a:ext cx="5287975" cy="658368"/>
          </a:xfrm>
          <a:prstGeom prst="roundRect">
            <a:avLst>
              <a:gd name="adj" fmla="val 13889"/>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68" name="Shape 65"/>
          <p:cNvSpPr/>
          <p:nvPr/>
        </p:nvSpPr>
        <p:spPr>
          <a:xfrm>
            <a:off x="6446520" y="4760716"/>
            <a:ext cx="54864" cy="640080"/>
          </a:xfrm>
          <a:prstGeom prst="rect">
            <a:avLst/>
          </a:prstGeom>
          <a:solidFill>
            <a:srgbClr val="1456F0"/>
          </a:solidFill>
          <a:ln w="12700">
            <a:solidFill>
              <a:srgbClr val="1456F0"/>
            </a:solidFill>
            <a:prstDash val="solid"/>
          </a:ln>
        </p:spPr>
      </p:sp>
      <p:sp>
        <p:nvSpPr>
          <p:cNvPr id="69" name="Shape 66"/>
          <p:cNvSpPr/>
          <p:nvPr/>
        </p:nvSpPr>
        <p:spPr>
          <a:xfrm>
            <a:off x="6592824" y="4925308"/>
            <a:ext cx="310896" cy="310896"/>
          </a:xfrm>
          <a:prstGeom prst="ellipse">
            <a:avLst/>
          </a:prstGeom>
          <a:solidFill>
            <a:srgbClr val="1456F0"/>
          </a:solidFill>
          <a:ln w="12700">
            <a:solidFill>
              <a:srgbClr val="1456F0"/>
            </a:solidFill>
            <a:prstDash val="solid"/>
          </a:ln>
        </p:spPr>
      </p:sp>
      <p:sp>
        <p:nvSpPr>
          <p:cNvPr id="70" name="Text 67"/>
          <p:cNvSpPr/>
          <p:nvPr/>
        </p:nvSpPr>
        <p:spPr>
          <a:xfrm>
            <a:off x="6592824" y="4925308"/>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04</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1" name="Text 68"/>
          <p:cNvSpPr/>
          <p:nvPr/>
        </p:nvSpPr>
        <p:spPr>
          <a:xfrm>
            <a:off x="6976872" y="4870444"/>
            <a:ext cx="3413455" cy="237744"/>
          </a:xfrm>
          <a:prstGeom prst="rect">
            <a:avLst/>
          </a:prstGeom>
          <a:noFill/>
          <a:ln/>
        </p:spPr>
        <p:txBody>
          <a:bodyPr wrap="square" lIns="0" tIns="0" rIns="0" bIns="0" rtlCol="0" anchor="t"/>
          <a:lstStyle/>
          <a:p>
            <a:r>
              <a:rPr lang="ko-KR" altLang="en-US" sz="1200" b="1" dirty="0">
                <a:latin typeface="Pretendard" panose="02000503000000020004" pitchFamily="50" charset="-127"/>
                <a:ea typeface="Pretendard" panose="02000503000000020004" pitchFamily="50" charset="-127"/>
                <a:cs typeface="Pretendard" panose="02000503000000020004" pitchFamily="50" charset="-127"/>
              </a:rPr>
              <a:t>비동기 실행 및 상태 확인</a:t>
            </a:r>
            <a:endParaRPr lang="en-US" sz="11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4" name="Text 71"/>
          <p:cNvSpPr/>
          <p:nvPr/>
        </p:nvSpPr>
        <p:spPr>
          <a:xfrm>
            <a:off x="6976872" y="5126476"/>
            <a:ext cx="4629607" cy="274320"/>
          </a:xfrm>
          <a:prstGeom prst="rect">
            <a:avLst/>
          </a:prstGeom>
          <a:noFill/>
          <a:ln/>
        </p:spPr>
        <p:txBody>
          <a:bodyPr wrap="square" lIns="0" tIns="0" rIns="0" bIns="0" rtlCol="0" anchor="t"/>
          <a:lstStyle/>
          <a:p>
            <a:r>
              <a:rPr lang="ko-KR" altLang="en-US" sz="900" dirty="0">
                <a:latin typeface="Pretendard" panose="02000503000000020004" pitchFamily="50" charset="-127"/>
                <a:ea typeface="Pretendard" panose="02000503000000020004" pitchFamily="50" charset="-127"/>
                <a:cs typeface="Pretendard" panose="02000503000000020004" pitchFamily="50" charset="-127"/>
              </a:rPr>
              <a:t>배치 요청은 즉시 응답하고 </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2</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초마다 </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polling</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으로 완료 여부 확인</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5" name="Shape 72"/>
          <p:cNvSpPr/>
          <p:nvPr/>
        </p:nvSpPr>
        <p:spPr>
          <a:xfrm>
            <a:off x="6446520" y="5492236"/>
            <a:ext cx="5287975" cy="658368"/>
          </a:xfrm>
          <a:prstGeom prst="roundRect">
            <a:avLst>
              <a:gd name="adj" fmla="val 13889"/>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76" name="Shape 73"/>
          <p:cNvSpPr/>
          <p:nvPr/>
        </p:nvSpPr>
        <p:spPr>
          <a:xfrm>
            <a:off x="6446520" y="5492236"/>
            <a:ext cx="54864" cy="658368"/>
          </a:xfrm>
          <a:prstGeom prst="rect">
            <a:avLst/>
          </a:prstGeom>
          <a:solidFill>
            <a:srgbClr val="D9472B"/>
          </a:solidFill>
          <a:ln w="12700">
            <a:solidFill>
              <a:srgbClr val="D9472B"/>
            </a:solidFill>
            <a:prstDash val="solid"/>
          </a:ln>
        </p:spPr>
      </p:sp>
      <p:sp>
        <p:nvSpPr>
          <p:cNvPr id="77" name="Shape 74"/>
          <p:cNvSpPr/>
          <p:nvPr/>
        </p:nvSpPr>
        <p:spPr>
          <a:xfrm>
            <a:off x="6592824" y="5656828"/>
            <a:ext cx="310896" cy="310896"/>
          </a:xfrm>
          <a:prstGeom prst="ellipse">
            <a:avLst/>
          </a:prstGeom>
          <a:solidFill>
            <a:srgbClr val="D9472B"/>
          </a:solidFill>
          <a:ln w="12700">
            <a:solidFill>
              <a:srgbClr val="D9472B"/>
            </a:solidFill>
            <a:prstDash val="solid"/>
          </a:ln>
        </p:spPr>
      </p:sp>
      <p:sp>
        <p:nvSpPr>
          <p:cNvPr id="78" name="Text 75"/>
          <p:cNvSpPr/>
          <p:nvPr/>
        </p:nvSpPr>
        <p:spPr>
          <a:xfrm>
            <a:off x="6592824" y="5656828"/>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05</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9" name="Text 76"/>
          <p:cNvSpPr/>
          <p:nvPr/>
        </p:nvSpPr>
        <p:spPr>
          <a:xfrm>
            <a:off x="6976872" y="5601964"/>
            <a:ext cx="3413455" cy="237744"/>
          </a:xfrm>
          <a:prstGeom prst="rect">
            <a:avLst/>
          </a:prstGeom>
          <a:noFill/>
          <a:ln/>
        </p:spPr>
        <p:txBody>
          <a:bodyPr wrap="square" lIns="0" tIns="0" rIns="0" bIns="0" rtlCol="0" anchor="t"/>
          <a:lstStyle/>
          <a:p>
            <a:r>
              <a:rPr lang="ko-KR" altLang="en-US" sz="1200" b="1" dirty="0">
                <a:latin typeface="Pretendard" panose="02000503000000020004" pitchFamily="50" charset="-127"/>
                <a:ea typeface="Pretendard" panose="02000503000000020004" pitchFamily="50" charset="-127"/>
                <a:cs typeface="Pretendard" panose="02000503000000020004" pitchFamily="50" charset="-127"/>
              </a:rPr>
              <a:t>수동 배치</a:t>
            </a:r>
            <a:endParaRPr lang="en-US" sz="11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2" name="Text 79"/>
          <p:cNvSpPr/>
          <p:nvPr/>
        </p:nvSpPr>
        <p:spPr>
          <a:xfrm>
            <a:off x="6976872" y="5857996"/>
            <a:ext cx="4629607" cy="274320"/>
          </a:xfrm>
          <a:prstGeom prst="rect">
            <a:avLst/>
          </a:prstGeom>
          <a:noFill/>
          <a:ln/>
        </p:spPr>
        <p:txBody>
          <a:bodyPr wrap="square" lIns="0" tIns="0" rIns="0" bIns="0" rtlCol="0" anchor="t"/>
          <a:lstStyle/>
          <a:p>
            <a:r>
              <a:rPr lang="ko-KR" altLang="en-US" sz="900" dirty="0">
                <a:latin typeface="Pretendard" panose="02000503000000020004" pitchFamily="50" charset="-127"/>
                <a:ea typeface="Pretendard" panose="02000503000000020004" pitchFamily="50" charset="-127"/>
                <a:cs typeface="Pretendard" panose="02000503000000020004" pitchFamily="50" charset="-127"/>
              </a:rPr>
              <a:t>배치 실패 또는 즉시 반영이 필요한 경우 수동 집계로 최신 통계 재생성</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3832103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59786"/>
            <a:ext cx="5486400" cy="274320"/>
          </a:xfrm>
          <a:prstGeom prst="rect">
            <a:avLst/>
          </a:prstGeom>
          <a:noFill/>
          <a:ln/>
        </p:spPr>
        <p:txBody>
          <a:bodyPr wrap="square" lIns="0" tIns="0" rIns="0" bIns="0" rtlCol="0" anchor="ctr"/>
          <a:lstStyle/>
          <a:p>
            <a:r>
              <a:rPr 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06. </a:t>
            </a:r>
            <a:r>
              <a:rPr lang="ko-KR" altLang="en-US" sz="12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핵심 구현 및 결과</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a:p>
            <a:pPr marL="0" indent="0" algn="l">
              <a:buNone/>
            </a:pP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anose="02000503000000020004" pitchFamily="50" charset="-127"/>
                <a:ea typeface="Pretendard" panose="02000503000000020004" pitchFamily="50" charset="-127"/>
                <a:cs typeface="Pretendard" panose="02000503000000020004" pitchFamily="50" charset="-127"/>
              </a:rPr>
              <a:t>15</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3"/>
          <p:cNvSpPr/>
          <p:nvPr/>
        </p:nvSpPr>
        <p:spPr>
          <a:xfrm>
            <a:off x="457200" y="914400"/>
            <a:ext cx="11277295" cy="685800"/>
          </a:xfrm>
          <a:prstGeom prst="rect">
            <a:avLst/>
          </a:prstGeom>
          <a:noFill/>
          <a:ln/>
        </p:spPr>
        <p:txBody>
          <a:bodyPr wrap="square" lIns="0" tIns="0" rIns="0" bIns="0" rtlCol="0" anchor="t"/>
          <a:lstStyle/>
          <a:p>
            <a:pPr marL="0" indent="0" algn="l">
              <a:buNone/>
            </a:pPr>
            <a:r>
              <a:rPr lang="ko-KR" alt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통계 데이터 </a:t>
            </a:r>
            <a:r>
              <a:rPr lang="en-US" sz="2400" b="1" kern="0" spc="-5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엑셀</a:t>
            </a:r>
            <a:r>
              <a:rPr 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2400" b="1" kern="0" spc="-5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다운로드</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4"/>
          <p:cNvSpPr/>
          <p:nvPr/>
        </p:nvSpPr>
        <p:spPr>
          <a:xfrm>
            <a:off x="457199" y="1402729"/>
            <a:ext cx="11277295" cy="292608"/>
          </a:xfrm>
          <a:prstGeom prst="rect">
            <a:avLst/>
          </a:prstGeom>
          <a:noFill/>
          <a:ln/>
        </p:spPr>
        <p:txBody>
          <a:bodyPr wrap="square" lIns="0" tIns="0" rIns="0" bIns="0" rtlCol="0" anchor="t"/>
          <a:lstStyle/>
          <a:p>
            <a:pPr marL="0" indent="0" algn="l">
              <a:buNone/>
            </a:pPr>
            <a:r>
              <a:rPr lang="ko-KR" altLang="en-US" sz="160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시트별로 생성 로직을 분리해 </a:t>
            </a:r>
            <a:r>
              <a:rPr lang="en-US" altLang="ko-KR" sz="160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4</a:t>
            </a:r>
            <a:r>
              <a:rPr lang="ko-KR" altLang="en-US" sz="160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종류의 통계 시트를 구성했습니다</a:t>
            </a:r>
            <a:r>
              <a:rPr lang="en-US" altLang="ko-KR" sz="160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Shape 5"/>
          <p:cNvSpPr/>
          <p:nvPr/>
        </p:nvSpPr>
        <p:spPr>
          <a:xfrm>
            <a:off x="457200" y="2268823"/>
            <a:ext cx="5852160" cy="3843415"/>
          </a:xfrm>
          <a:prstGeom prst="roundRect">
            <a:avLst>
              <a:gd name="adj" fmla="val 3023"/>
            </a:avLst>
          </a:prstGeom>
          <a:solidFill>
            <a:srgbClr val="F8F9FB"/>
          </a:solidFill>
          <a:ln w="9525">
            <a:solidFill>
              <a:srgbClr val="E5E7EB"/>
            </a:solidFill>
            <a:prstDash val="solid"/>
          </a:ln>
          <a:effectLst>
            <a:outerShdw blurRad="76200" dist="25400" dir="5400000" algn="bl" rotWithShape="0">
              <a:srgbClr val="000000">
                <a:alpha val="8000"/>
              </a:srgbClr>
            </a:outerShdw>
          </a:effectLst>
        </p:spPr>
      </p:sp>
      <p:sp>
        <p:nvSpPr>
          <p:cNvPr id="9" name="Text 6"/>
          <p:cNvSpPr/>
          <p:nvPr/>
        </p:nvSpPr>
        <p:spPr>
          <a:xfrm>
            <a:off x="640080" y="2371200"/>
            <a:ext cx="4572000" cy="182880"/>
          </a:xfrm>
          <a:prstGeom prst="rect">
            <a:avLst/>
          </a:prstGeom>
          <a:noFill/>
          <a:ln/>
        </p:spPr>
        <p:txBody>
          <a:bodyPr wrap="square" lIns="0" tIns="0" rIns="0" bIns="0" rtlCol="0" anchor="t"/>
          <a:lstStyle/>
          <a:p>
            <a:pPr marL="0" indent="0" algn="l">
              <a:buNone/>
            </a:pPr>
            <a:r>
              <a:rPr lang="en-US" sz="9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EXCEL EXPORT PIPELINE</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Shape 11"/>
          <p:cNvSpPr/>
          <p:nvPr/>
        </p:nvSpPr>
        <p:spPr>
          <a:xfrm>
            <a:off x="658368" y="2874120"/>
            <a:ext cx="5449824" cy="329184"/>
          </a:xfrm>
          <a:prstGeom prst="roundRect">
            <a:avLst>
              <a:gd name="adj" fmla="val 16667"/>
            </a:avLst>
          </a:prstGeom>
          <a:solidFill>
            <a:srgbClr val="FFFFFF"/>
          </a:solidFill>
          <a:ln w="6350">
            <a:solidFill>
              <a:srgbClr val="E5E7EB"/>
            </a:solidFill>
            <a:prstDash val="solid"/>
          </a:ln>
        </p:spPr>
      </p:sp>
      <p:sp>
        <p:nvSpPr>
          <p:cNvPr id="15" name="Shape 12"/>
          <p:cNvSpPr/>
          <p:nvPr/>
        </p:nvSpPr>
        <p:spPr>
          <a:xfrm>
            <a:off x="777240" y="2974704"/>
            <a:ext cx="128016" cy="128016"/>
          </a:xfrm>
          <a:prstGeom prst="ellipse">
            <a:avLst/>
          </a:prstGeom>
          <a:solidFill>
            <a:srgbClr val="1456F0"/>
          </a:solidFill>
          <a:ln w="12700">
            <a:solidFill>
              <a:srgbClr val="1456F0"/>
            </a:solidFill>
            <a:prstDash val="solid"/>
          </a:ln>
        </p:spPr>
      </p:sp>
      <p:sp>
        <p:nvSpPr>
          <p:cNvPr id="16" name="Text 13"/>
          <p:cNvSpPr/>
          <p:nvPr/>
        </p:nvSpPr>
        <p:spPr>
          <a:xfrm>
            <a:off x="1005840" y="2874120"/>
            <a:ext cx="4992624" cy="329184"/>
          </a:xfrm>
          <a:prstGeom prst="rect">
            <a:avLst/>
          </a:prstGeom>
          <a:noFill/>
          <a:ln/>
        </p:spPr>
        <p:txBody>
          <a:bodyPr wrap="square" lIns="0" tIns="0" rIns="0" bIns="0" rtlCol="0" anchor="ctr"/>
          <a:lstStyle/>
          <a:p>
            <a:pPr marL="0" indent="0" algn="l">
              <a:buNone/>
            </a:pPr>
            <a:r>
              <a:rPr lang="en-US" sz="900" b="1" kern="0" spc="1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DATA FETCH  </a:t>
            </a:r>
            <a:r>
              <a:rPr lang="en-US" sz="90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4종</a:t>
            </a:r>
            <a:r>
              <a:rPr lang="ko-KR" altLang="en-US" sz="90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류</a:t>
            </a:r>
            <a:r>
              <a:rPr lang="en-US" sz="90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통계 </a:t>
            </a:r>
            <a:r>
              <a:rPr lang="en-US" sz="90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일괄</a:t>
            </a:r>
            <a:r>
              <a:rPr lang="en-US" sz="90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r>
              <a:rPr lang="en-US" sz="900"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조회</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7" name="Shape 14"/>
          <p:cNvSpPr/>
          <p:nvPr/>
        </p:nvSpPr>
        <p:spPr>
          <a:xfrm>
            <a:off x="658368" y="3294744"/>
            <a:ext cx="5449824" cy="329184"/>
          </a:xfrm>
          <a:prstGeom prst="roundRect">
            <a:avLst>
              <a:gd name="adj" fmla="val 16667"/>
            </a:avLst>
          </a:prstGeom>
          <a:solidFill>
            <a:srgbClr val="FFFFFF"/>
          </a:solidFill>
          <a:ln w="6350">
            <a:solidFill>
              <a:srgbClr val="E5E7EB"/>
            </a:solidFill>
            <a:prstDash val="solid"/>
          </a:ln>
        </p:spPr>
      </p:sp>
      <p:sp>
        <p:nvSpPr>
          <p:cNvPr id="18" name="Shape 15"/>
          <p:cNvSpPr/>
          <p:nvPr/>
        </p:nvSpPr>
        <p:spPr>
          <a:xfrm>
            <a:off x="777240" y="3395328"/>
            <a:ext cx="128016" cy="128016"/>
          </a:xfrm>
          <a:prstGeom prst="ellipse">
            <a:avLst/>
          </a:prstGeom>
          <a:solidFill>
            <a:srgbClr val="1456F0"/>
          </a:solidFill>
          <a:ln w="12700">
            <a:solidFill>
              <a:srgbClr val="1456F0"/>
            </a:solidFill>
            <a:prstDash val="solid"/>
          </a:ln>
        </p:spPr>
      </p:sp>
      <p:sp>
        <p:nvSpPr>
          <p:cNvPr id="19" name="Text 16"/>
          <p:cNvSpPr/>
          <p:nvPr/>
        </p:nvSpPr>
        <p:spPr>
          <a:xfrm>
            <a:off x="1005840" y="3294744"/>
            <a:ext cx="4992624" cy="329184"/>
          </a:xfrm>
          <a:prstGeom prst="rect">
            <a:avLst/>
          </a:prstGeom>
          <a:noFill/>
          <a:ln/>
        </p:spPr>
        <p:txBody>
          <a:bodyPr wrap="square" lIns="0" tIns="0" rIns="0" bIns="0" rtlCol="0" anchor="ctr"/>
          <a:lstStyle/>
          <a:p>
            <a:pPr marL="0" indent="0" algn="l">
              <a:buNone/>
            </a:pPr>
            <a:r>
              <a:rPr lang="en-US" sz="900" b="1" kern="0" spc="1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WORKBOOK INIT  </a:t>
            </a:r>
            <a:r>
              <a:rPr lang="en-US" sz="90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SXSSFWorkbook 생성  ·  ExcelStyles 공유 인스턴스</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Text 17"/>
          <p:cNvSpPr/>
          <p:nvPr/>
        </p:nvSpPr>
        <p:spPr>
          <a:xfrm>
            <a:off x="384048" y="3742800"/>
            <a:ext cx="5449824" cy="201168"/>
          </a:xfrm>
          <a:prstGeom prst="rect">
            <a:avLst/>
          </a:prstGeom>
          <a:noFill/>
          <a:ln/>
        </p:spPr>
        <p:txBody>
          <a:bodyPr wrap="square" lIns="0" tIns="0" rIns="0" bIns="0" rtlCol="0" anchor="t"/>
          <a:lstStyle/>
          <a:p>
            <a:pPr marL="0" indent="0" algn="l">
              <a:buNone/>
            </a:pPr>
            <a:r>
              <a:rPr lang="en-US" sz="900" b="1" kern="0" spc="1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SHEET WRITER </a:t>
            </a:r>
            <a:r>
              <a:rPr lang="en-US" sz="900" dirty="0" err="1">
                <a:solidFill>
                  <a:srgbClr val="45515E"/>
                </a:solidFill>
                <a:latin typeface="Pretendard" panose="02000503000000020004" pitchFamily="50" charset="-127"/>
                <a:ea typeface="Pretendard" panose="02000503000000020004" pitchFamily="50" charset="-127"/>
                <a:cs typeface="Pretendard" panose="02000503000000020004" pitchFamily="50" charset="-127"/>
              </a:rPr>
              <a:t>시트별</a:t>
            </a:r>
            <a:r>
              <a:rPr lang="en-US" sz="90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 작성 책임 분리</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1" name="Shape 18"/>
          <p:cNvSpPr/>
          <p:nvPr/>
        </p:nvSpPr>
        <p:spPr>
          <a:xfrm>
            <a:off x="658368" y="3980544"/>
            <a:ext cx="1307592" cy="658368"/>
          </a:xfrm>
          <a:prstGeom prst="roundRect">
            <a:avLst>
              <a:gd name="adj" fmla="val 9722"/>
            </a:avLst>
          </a:prstGeom>
          <a:solidFill>
            <a:srgbClr val="FFFFFF"/>
          </a:solidFill>
          <a:ln w="6350">
            <a:solidFill>
              <a:srgbClr val="BFDBFE"/>
            </a:solidFill>
            <a:prstDash val="solid"/>
          </a:ln>
        </p:spPr>
      </p:sp>
      <p:sp>
        <p:nvSpPr>
          <p:cNvPr id="22" name="Shape 19"/>
          <p:cNvSpPr/>
          <p:nvPr/>
        </p:nvSpPr>
        <p:spPr>
          <a:xfrm>
            <a:off x="731520" y="4053696"/>
            <a:ext cx="320040" cy="73152"/>
          </a:xfrm>
          <a:prstGeom prst="rect">
            <a:avLst/>
          </a:prstGeom>
          <a:solidFill>
            <a:srgbClr val="1456F0"/>
          </a:solidFill>
          <a:ln w="12700">
            <a:solidFill>
              <a:srgbClr val="1456F0"/>
            </a:solidFill>
            <a:prstDash val="solid"/>
          </a:ln>
        </p:spPr>
      </p:sp>
      <p:sp>
        <p:nvSpPr>
          <p:cNvPr id="23" name="Text 20"/>
          <p:cNvSpPr/>
          <p:nvPr/>
        </p:nvSpPr>
        <p:spPr>
          <a:xfrm>
            <a:off x="713232" y="4163424"/>
            <a:ext cx="1197864" cy="219456"/>
          </a:xfrm>
          <a:prstGeom prst="rect">
            <a:avLst/>
          </a:prstGeom>
          <a:noFill/>
          <a:ln/>
        </p:spPr>
        <p:txBody>
          <a:bodyPr wrap="square" lIns="0" tIns="0" rIns="0" bIns="0" rtlCol="0" anchor="t"/>
          <a:lstStyle/>
          <a:p>
            <a:pPr marL="0" indent="0" algn="l">
              <a:buNone/>
            </a:pPr>
            <a:r>
              <a:rPr lang="en-US" sz="9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설문 요약</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4" name="Text 21"/>
          <p:cNvSpPr/>
          <p:nvPr/>
        </p:nvSpPr>
        <p:spPr>
          <a:xfrm>
            <a:off x="713232" y="4364592"/>
            <a:ext cx="1197864" cy="219456"/>
          </a:xfrm>
          <a:prstGeom prst="rect">
            <a:avLst/>
          </a:prstGeom>
          <a:noFill/>
          <a:ln/>
        </p:spPr>
        <p:txBody>
          <a:bodyPr wrap="square" lIns="0" tIns="0" rIns="0" bIns="0" rtlCol="0" anchor="t"/>
          <a:lstStyle/>
          <a:p>
            <a:pPr marL="0" indent="0" algn="l">
              <a:buNone/>
            </a:pPr>
            <a:endParaRPr lang="en-US" sz="7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 name="Shape 22"/>
          <p:cNvSpPr/>
          <p:nvPr/>
        </p:nvSpPr>
        <p:spPr>
          <a:xfrm>
            <a:off x="2039112" y="3980544"/>
            <a:ext cx="1307592" cy="658368"/>
          </a:xfrm>
          <a:prstGeom prst="roundRect">
            <a:avLst>
              <a:gd name="adj" fmla="val 9722"/>
            </a:avLst>
          </a:prstGeom>
          <a:solidFill>
            <a:srgbClr val="FFFFFF"/>
          </a:solidFill>
          <a:ln w="6350">
            <a:solidFill>
              <a:srgbClr val="BFDBFE"/>
            </a:solidFill>
            <a:prstDash val="solid"/>
          </a:ln>
        </p:spPr>
      </p:sp>
      <p:sp>
        <p:nvSpPr>
          <p:cNvPr id="26" name="Shape 23"/>
          <p:cNvSpPr/>
          <p:nvPr/>
        </p:nvSpPr>
        <p:spPr>
          <a:xfrm>
            <a:off x="2112264" y="4053696"/>
            <a:ext cx="320040" cy="73152"/>
          </a:xfrm>
          <a:prstGeom prst="rect">
            <a:avLst/>
          </a:prstGeom>
          <a:solidFill>
            <a:srgbClr val="1456F0"/>
          </a:solidFill>
          <a:ln w="12700">
            <a:solidFill>
              <a:srgbClr val="1456F0"/>
            </a:solidFill>
            <a:prstDash val="solid"/>
          </a:ln>
        </p:spPr>
      </p:sp>
      <p:sp>
        <p:nvSpPr>
          <p:cNvPr id="27" name="Text 24"/>
          <p:cNvSpPr/>
          <p:nvPr/>
        </p:nvSpPr>
        <p:spPr>
          <a:xfrm>
            <a:off x="2093976" y="4163424"/>
            <a:ext cx="1197864" cy="219456"/>
          </a:xfrm>
          <a:prstGeom prst="rect">
            <a:avLst/>
          </a:prstGeom>
          <a:noFill/>
          <a:ln/>
        </p:spPr>
        <p:txBody>
          <a:bodyPr wrap="square" lIns="0" tIns="0" rIns="0" bIns="0" rtlCol="0" anchor="t"/>
          <a:lstStyle/>
          <a:p>
            <a:pPr marL="0" indent="0" algn="l">
              <a:buNone/>
            </a:pPr>
            <a:r>
              <a:rPr lang="en-US" sz="9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조직별 응답현황</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Text 25"/>
          <p:cNvSpPr/>
          <p:nvPr/>
        </p:nvSpPr>
        <p:spPr>
          <a:xfrm>
            <a:off x="2093976" y="4364592"/>
            <a:ext cx="1197864" cy="219456"/>
          </a:xfrm>
          <a:prstGeom prst="rect">
            <a:avLst/>
          </a:prstGeom>
          <a:noFill/>
          <a:ln/>
        </p:spPr>
        <p:txBody>
          <a:bodyPr wrap="square" lIns="0" tIns="0" rIns="0" bIns="0" rtlCol="0" anchor="t"/>
          <a:lstStyle/>
          <a:p>
            <a:pPr marL="0" indent="0" algn="l">
              <a:buNone/>
            </a:pPr>
            <a:endParaRPr lang="en-US" sz="7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Shape 26"/>
          <p:cNvSpPr/>
          <p:nvPr/>
        </p:nvSpPr>
        <p:spPr>
          <a:xfrm>
            <a:off x="3419856" y="3980544"/>
            <a:ext cx="1307592" cy="658368"/>
          </a:xfrm>
          <a:prstGeom prst="roundRect">
            <a:avLst>
              <a:gd name="adj" fmla="val 9722"/>
            </a:avLst>
          </a:prstGeom>
          <a:solidFill>
            <a:srgbClr val="FFFFFF"/>
          </a:solidFill>
          <a:ln w="6350">
            <a:solidFill>
              <a:srgbClr val="BFDBFE"/>
            </a:solidFill>
            <a:prstDash val="solid"/>
          </a:ln>
        </p:spPr>
      </p:sp>
      <p:sp>
        <p:nvSpPr>
          <p:cNvPr id="30" name="Shape 27"/>
          <p:cNvSpPr/>
          <p:nvPr/>
        </p:nvSpPr>
        <p:spPr>
          <a:xfrm>
            <a:off x="3493008" y="4053696"/>
            <a:ext cx="320040" cy="73152"/>
          </a:xfrm>
          <a:prstGeom prst="rect">
            <a:avLst/>
          </a:prstGeom>
          <a:solidFill>
            <a:srgbClr val="1456F0"/>
          </a:solidFill>
          <a:ln w="12700">
            <a:solidFill>
              <a:srgbClr val="1456F0"/>
            </a:solidFill>
            <a:prstDash val="solid"/>
          </a:ln>
        </p:spPr>
      </p:sp>
      <p:sp>
        <p:nvSpPr>
          <p:cNvPr id="31" name="Text 28"/>
          <p:cNvSpPr/>
          <p:nvPr/>
        </p:nvSpPr>
        <p:spPr>
          <a:xfrm>
            <a:off x="3474720" y="4163424"/>
            <a:ext cx="1197864" cy="219456"/>
          </a:xfrm>
          <a:prstGeom prst="rect">
            <a:avLst/>
          </a:prstGeom>
          <a:noFill/>
          <a:ln/>
        </p:spPr>
        <p:txBody>
          <a:bodyPr wrap="square" lIns="0" tIns="0" rIns="0" bIns="0" rtlCol="0" anchor="t"/>
          <a:lstStyle/>
          <a:p>
            <a:pPr marL="0" indent="0" algn="l">
              <a:buNone/>
            </a:pPr>
            <a:r>
              <a:rPr lang="en-US" sz="9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응답자별 답변</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Text 29"/>
          <p:cNvSpPr/>
          <p:nvPr/>
        </p:nvSpPr>
        <p:spPr>
          <a:xfrm>
            <a:off x="3474720" y="4364592"/>
            <a:ext cx="1197864" cy="219456"/>
          </a:xfrm>
          <a:prstGeom prst="rect">
            <a:avLst/>
          </a:prstGeom>
          <a:noFill/>
          <a:ln/>
        </p:spPr>
        <p:txBody>
          <a:bodyPr wrap="square" lIns="0" tIns="0" rIns="0" bIns="0" rtlCol="0" anchor="t"/>
          <a:lstStyle/>
          <a:p>
            <a:pPr marL="0" indent="0" algn="l">
              <a:buNone/>
            </a:pPr>
            <a:endParaRPr lang="en-US" sz="7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Shape 30"/>
          <p:cNvSpPr/>
          <p:nvPr/>
        </p:nvSpPr>
        <p:spPr>
          <a:xfrm>
            <a:off x="4800600" y="3980544"/>
            <a:ext cx="1307592" cy="658368"/>
          </a:xfrm>
          <a:prstGeom prst="roundRect">
            <a:avLst>
              <a:gd name="adj" fmla="val 9722"/>
            </a:avLst>
          </a:prstGeom>
          <a:solidFill>
            <a:srgbClr val="FFFFFF"/>
          </a:solidFill>
          <a:ln w="6350">
            <a:solidFill>
              <a:srgbClr val="BFDBFE"/>
            </a:solidFill>
            <a:prstDash val="solid"/>
          </a:ln>
        </p:spPr>
      </p:sp>
      <p:sp>
        <p:nvSpPr>
          <p:cNvPr id="34" name="Shape 31"/>
          <p:cNvSpPr/>
          <p:nvPr/>
        </p:nvSpPr>
        <p:spPr>
          <a:xfrm>
            <a:off x="4873752" y="4053696"/>
            <a:ext cx="320040" cy="73152"/>
          </a:xfrm>
          <a:prstGeom prst="rect">
            <a:avLst/>
          </a:prstGeom>
          <a:solidFill>
            <a:srgbClr val="1456F0"/>
          </a:solidFill>
          <a:ln w="12700">
            <a:solidFill>
              <a:srgbClr val="1456F0"/>
            </a:solidFill>
            <a:prstDash val="solid"/>
          </a:ln>
        </p:spPr>
      </p:sp>
      <p:sp>
        <p:nvSpPr>
          <p:cNvPr id="35" name="Text 32"/>
          <p:cNvSpPr/>
          <p:nvPr/>
        </p:nvSpPr>
        <p:spPr>
          <a:xfrm>
            <a:off x="4855464" y="4163424"/>
            <a:ext cx="1197864" cy="219456"/>
          </a:xfrm>
          <a:prstGeom prst="rect">
            <a:avLst/>
          </a:prstGeom>
          <a:noFill/>
          <a:ln/>
        </p:spPr>
        <p:txBody>
          <a:bodyPr wrap="square" lIns="0" tIns="0" rIns="0" bIns="0" rtlCol="0" anchor="t"/>
          <a:lstStyle/>
          <a:p>
            <a:pPr marL="0" indent="0" algn="l">
              <a:buNone/>
            </a:pPr>
            <a:r>
              <a:rPr lang="en-US" sz="9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문항별 응답현황</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6" name="Text 33"/>
          <p:cNvSpPr/>
          <p:nvPr/>
        </p:nvSpPr>
        <p:spPr>
          <a:xfrm>
            <a:off x="4855464" y="4364592"/>
            <a:ext cx="1197864" cy="219456"/>
          </a:xfrm>
          <a:prstGeom prst="rect">
            <a:avLst/>
          </a:prstGeom>
          <a:noFill/>
          <a:ln/>
        </p:spPr>
        <p:txBody>
          <a:bodyPr wrap="square" lIns="0" tIns="0" rIns="0" bIns="0" rtlCol="0" anchor="t"/>
          <a:lstStyle/>
          <a:p>
            <a:pPr marL="0" indent="0" algn="l">
              <a:buNone/>
            </a:pPr>
            <a:endParaRPr lang="en-US" sz="7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Shape 34"/>
          <p:cNvSpPr/>
          <p:nvPr/>
        </p:nvSpPr>
        <p:spPr>
          <a:xfrm>
            <a:off x="658368" y="4821792"/>
            <a:ext cx="5449824" cy="457200"/>
          </a:xfrm>
          <a:prstGeom prst="roundRect">
            <a:avLst>
              <a:gd name="adj" fmla="val 20000"/>
            </a:avLst>
          </a:prstGeom>
          <a:solidFill>
            <a:srgbClr val="EEF4FF"/>
          </a:solidFill>
          <a:ln w="9525">
            <a:solidFill>
              <a:srgbClr val="BFDBFE"/>
            </a:solidFill>
            <a:prstDash val="solid"/>
          </a:ln>
          <a:effectLst>
            <a:outerShdw blurRad="190500" dist="50800" dir="5400000" algn="bl" rotWithShape="0">
              <a:srgbClr val="2C1E74">
                <a:alpha val="16000"/>
              </a:srgbClr>
            </a:outerShdw>
          </a:effectLst>
        </p:spPr>
      </p:sp>
      <p:sp>
        <p:nvSpPr>
          <p:cNvPr id="38" name="Text 35"/>
          <p:cNvSpPr/>
          <p:nvPr/>
        </p:nvSpPr>
        <p:spPr>
          <a:xfrm>
            <a:off x="902650" y="4821792"/>
            <a:ext cx="5120640" cy="457200"/>
          </a:xfrm>
          <a:prstGeom prst="rect">
            <a:avLst/>
          </a:prstGeom>
          <a:noFill/>
          <a:ln/>
        </p:spPr>
        <p:txBody>
          <a:bodyPr wrap="square" lIns="0" tIns="0" rIns="0" bIns="0" rtlCol="0" anchor="ctr"/>
          <a:lstStyle/>
          <a:p>
            <a:pPr marL="0" indent="0" algn="l">
              <a:buNone/>
            </a:pPr>
            <a:r>
              <a:rPr lang="en-US" sz="950" b="1" kern="0" spc="15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  STREAMING  </a:t>
            </a:r>
            <a:r>
              <a:rPr lang="en-US" sz="9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SXSSFWorkbook</a:t>
            </a:r>
            <a:r>
              <a:rPr lang="en-US" sz="9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  ·  Row 단위 disk flush  ·  </a:t>
            </a:r>
            <a:r>
              <a:rPr lang="en-US" sz="950" b="1"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대용량도 일정한 메모리로 처리</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9" name="Shape 36"/>
          <p:cNvSpPr/>
          <p:nvPr/>
        </p:nvSpPr>
        <p:spPr>
          <a:xfrm>
            <a:off x="658368" y="5493813"/>
            <a:ext cx="5449824" cy="310896"/>
          </a:xfrm>
          <a:prstGeom prst="roundRect">
            <a:avLst>
              <a:gd name="adj" fmla="val 17647"/>
            </a:avLst>
          </a:prstGeom>
          <a:solidFill>
            <a:srgbClr val="FFFFFF"/>
          </a:solidFill>
          <a:ln w="6350">
            <a:solidFill>
              <a:srgbClr val="E5E7EB"/>
            </a:solidFill>
            <a:prstDash val="solid"/>
          </a:ln>
        </p:spPr>
      </p:sp>
      <p:sp>
        <p:nvSpPr>
          <p:cNvPr id="40" name="Shape 37"/>
          <p:cNvSpPr/>
          <p:nvPr/>
        </p:nvSpPr>
        <p:spPr>
          <a:xfrm>
            <a:off x="777240" y="5585253"/>
            <a:ext cx="128016" cy="128016"/>
          </a:xfrm>
          <a:prstGeom prst="ellipse">
            <a:avLst/>
          </a:prstGeom>
          <a:solidFill>
            <a:srgbClr val="EA5EC1"/>
          </a:solidFill>
          <a:ln w="12700">
            <a:solidFill>
              <a:srgbClr val="EA5EC1"/>
            </a:solidFill>
            <a:prstDash val="solid"/>
          </a:ln>
        </p:spPr>
      </p:sp>
      <p:sp>
        <p:nvSpPr>
          <p:cNvPr id="41" name="Text 38"/>
          <p:cNvSpPr/>
          <p:nvPr/>
        </p:nvSpPr>
        <p:spPr>
          <a:xfrm>
            <a:off x="1005840" y="5493813"/>
            <a:ext cx="4992624" cy="310896"/>
          </a:xfrm>
          <a:prstGeom prst="rect">
            <a:avLst/>
          </a:prstGeom>
          <a:noFill/>
          <a:ln/>
        </p:spPr>
        <p:txBody>
          <a:bodyPr wrap="square" lIns="0" tIns="0" rIns="0" bIns="0" rtlCol="0" anchor="ctr"/>
          <a:lstStyle/>
          <a:p>
            <a:pPr marL="0" indent="0" algn="l">
              <a:buNone/>
            </a:pPr>
            <a:r>
              <a:rPr lang="en-US" sz="900" b="1" kern="0" spc="150" dirty="0">
                <a:solidFill>
                  <a:srgbClr val="EA5EC1"/>
                </a:solidFill>
                <a:latin typeface="Pretendard" panose="02000503000000020004" pitchFamily="50" charset="-127"/>
                <a:ea typeface="Pretendard" panose="02000503000000020004" pitchFamily="50" charset="-127"/>
                <a:cs typeface="Pretendard" panose="02000503000000020004" pitchFamily="50" charset="-127"/>
              </a:rPr>
              <a:t>DELIVERY  </a:t>
            </a:r>
            <a:r>
              <a:rPr lang="en-US" sz="90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ByteArrayOutputStream → byte[]  ·  한글 파일명 인코딩 → .xlsx 반환</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2" name="Text 39"/>
          <p:cNvSpPr/>
          <p:nvPr/>
        </p:nvSpPr>
        <p:spPr>
          <a:xfrm>
            <a:off x="6446520" y="2331720"/>
            <a:ext cx="5287975" cy="182880"/>
          </a:xfrm>
          <a:prstGeom prst="rect">
            <a:avLst/>
          </a:prstGeom>
          <a:noFill/>
          <a:ln/>
        </p:spPr>
        <p:txBody>
          <a:bodyPr wrap="square" lIns="0" tIns="0" rIns="0" bIns="0" rtlCol="0" anchor="t"/>
          <a:lstStyle/>
          <a:p>
            <a:pPr marL="0" indent="0" algn="l">
              <a:buNone/>
            </a:pPr>
            <a:r>
              <a:rPr lang="en-US" sz="900" b="1" kern="0" spc="200" dirty="0">
                <a:solidFill>
                  <a:srgbClr val="1456F0"/>
                </a:solidFill>
                <a:latin typeface="Pretendard" panose="02000503000000020004" pitchFamily="50" charset="-127"/>
                <a:ea typeface="Pretendard" panose="02000503000000020004" pitchFamily="50" charset="-127"/>
                <a:cs typeface="Pretendard" panose="02000503000000020004" pitchFamily="50" charset="-127"/>
              </a:rPr>
              <a:t>CORE TECHNIQUES</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3" name="Text 40"/>
          <p:cNvSpPr/>
          <p:nvPr/>
        </p:nvSpPr>
        <p:spPr>
          <a:xfrm>
            <a:off x="6446520" y="2514600"/>
            <a:ext cx="5287975" cy="256032"/>
          </a:xfrm>
          <a:prstGeom prst="rect">
            <a:avLst/>
          </a:prstGeom>
          <a:noFill/>
          <a:ln/>
        </p:spPr>
        <p:txBody>
          <a:bodyPr wrap="square" lIns="0" tIns="0" rIns="0" bIns="0" rtlCol="0" anchor="t"/>
          <a:lstStyle/>
          <a:p>
            <a:pPr marL="0" indent="0" algn="l">
              <a:buNone/>
            </a:pPr>
            <a:r>
              <a:rPr lang="en-US" sz="120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핵심 설계 포인트</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4" name="Shape 41"/>
          <p:cNvSpPr/>
          <p:nvPr/>
        </p:nvSpPr>
        <p:spPr>
          <a:xfrm>
            <a:off x="6446520" y="2890642"/>
            <a:ext cx="5287975" cy="852158"/>
          </a:xfrm>
          <a:prstGeom prst="roundRect">
            <a:avLst>
              <a:gd name="adj" fmla="val 12048"/>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45" name="Shape 42"/>
          <p:cNvSpPr/>
          <p:nvPr/>
        </p:nvSpPr>
        <p:spPr>
          <a:xfrm>
            <a:off x="6446519" y="2898648"/>
            <a:ext cx="54864" cy="758952"/>
          </a:xfrm>
          <a:prstGeom prst="rect">
            <a:avLst/>
          </a:prstGeom>
          <a:solidFill>
            <a:srgbClr val="1456F0"/>
          </a:solidFill>
          <a:ln w="12700">
            <a:solidFill>
              <a:srgbClr val="1456F0"/>
            </a:solidFill>
            <a:prstDash val="solid"/>
          </a:ln>
        </p:spPr>
      </p:sp>
      <p:sp>
        <p:nvSpPr>
          <p:cNvPr id="46" name="Shape 43"/>
          <p:cNvSpPr/>
          <p:nvPr/>
        </p:nvSpPr>
        <p:spPr>
          <a:xfrm>
            <a:off x="6647688" y="2988296"/>
            <a:ext cx="310896" cy="310896"/>
          </a:xfrm>
          <a:prstGeom prst="ellipse">
            <a:avLst/>
          </a:prstGeom>
          <a:solidFill>
            <a:srgbClr val="1456F0"/>
          </a:solidFill>
          <a:ln w="12700">
            <a:solidFill>
              <a:srgbClr val="1456F0"/>
            </a:solidFill>
            <a:prstDash val="solid"/>
          </a:ln>
        </p:spPr>
      </p:sp>
      <p:sp>
        <p:nvSpPr>
          <p:cNvPr id="47" name="Text 44"/>
          <p:cNvSpPr/>
          <p:nvPr/>
        </p:nvSpPr>
        <p:spPr>
          <a:xfrm>
            <a:off x="6647688" y="298829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01</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8" name="Text 45"/>
          <p:cNvSpPr/>
          <p:nvPr/>
        </p:nvSpPr>
        <p:spPr>
          <a:xfrm>
            <a:off x="7031736" y="3048155"/>
            <a:ext cx="3459175" cy="256032"/>
          </a:xfrm>
          <a:prstGeom prst="rect">
            <a:avLst/>
          </a:prstGeom>
          <a:noFill/>
          <a:ln/>
        </p:spPr>
        <p:txBody>
          <a:bodyPr wrap="square" lIns="0" tIns="0" rIns="0" bIns="0" rtlCol="0" anchor="t"/>
          <a:lstStyle/>
          <a:p>
            <a:pPr marL="0" indent="0" algn="l">
              <a:buNone/>
            </a:pPr>
            <a:r>
              <a:rPr lang="ko-KR" altLang="en-US" sz="1150" b="1" dirty="0" err="1">
                <a:solidFill>
                  <a:srgbClr val="222222"/>
                </a:solidFill>
                <a:latin typeface="Pretendard" panose="02000503000000020004" pitchFamily="50" charset="-127"/>
                <a:ea typeface="Pretendard" panose="02000503000000020004" pitchFamily="50" charset="-127"/>
                <a:cs typeface="Pretendard" panose="02000503000000020004" pitchFamily="50" charset="-127"/>
              </a:rPr>
              <a:t>시트별</a:t>
            </a:r>
            <a:r>
              <a:rPr lang="ko-KR" altLang="en-US" sz="11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생성 책임 분리</a:t>
            </a:r>
            <a:endParaRPr lang="en-US" sz="11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1" name="Text 48"/>
          <p:cNvSpPr/>
          <p:nvPr/>
        </p:nvSpPr>
        <p:spPr>
          <a:xfrm>
            <a:off x="6693408" y="3402062"/>
            <a:ext cx="4967935" cy="274320"/>
          </a:xfrm>
          <a:prstGeom prst="rect">
            <a:avLst/>
          </a:prstGeom>
          <a:noFill/>
          <a:ln/>
        </p:spPr>
        <p:txBody>
          <a:bodyPr wrap="square" lIns="0" tIns="0" rIns="0" bIns="0" rtlCol="0" anchor="t"/>
          <a:lstStyle/>
          <a:p>
            <a:pPr marL="0" indent="0" algn="l">
              <a:buNone/>
            </a:pPr>
            <a:r>
              <a:rPr lang="ko-KR" altLang="en-US" sz="9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설문 요약</a:t>
            </a:r>
            <a:r>
              <a:rPr lang="en-US" altLang="ko-KR" sz="9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950" dirty="0" err="1">
                <a:solidFill>
                  <a:srgbClr val="45515E"/>
                </a:solidFill>
                <a:latin typeface="Pretendard" panose="02000503000000020004" pitchFamily="50" charset="-127"/>
                <a:ea typeface="Pretendard" panose="02000503000000020004" pitchFamily="50" charset="-127"/>
                <a:cs typeface="Pretendard" panose="02000503000000020004" pitchFamily="50" charset="-127"/>
              </a:rPr>
              <a:t>조직별</a:t>
            </a:r>
            <a:r>
              <a:rPr lang="ko-KR" altLang="en-US" sz="9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 응답 현황</a:t>
            </a:r>
            <a:r>
              <a:rPr lang="en-US" altLang="ko-KR" sz="9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9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응답자별 답변</a:t>
            </a:r>
            <a:r>
              <a:rPr lang="en-US" altLang="ko-KR" sz="9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9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문항별 응답 현황을 각각 독립적으로 생성하도록 분리</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0" name="Shape 57"/>
          <p:cNvSpPr/>
          <p:nvPr/>
        </p:nvSpPr>
        <p:spPr>
          <a:xfrm>
            <a:off x="6446519" y="3921489"/>
            <a:ext cx="5287975" cy="886206"/>
          </a:xfrm>
          <a:prstGeom prst="roundRect">
            <a:avLst>
              <a:gd name="adj" fmla="val 12048"/>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61" name="Shape 58"/>
          <p:cNvSpPr/>
          <p:nvPr/>
        </p:nvSpPr>
        <p:spPr>
          <a:xfrm>
            <a:off x="6446519" y="3920726"/>
            <a:ext cx="45719" cy="837057"/>
          </a:xfrm>
          <a:prstGeom prst="rect">
            <a:avLst/>
          </a:prstGeom>
          <a:solidFill>
            <a:srgbClr val="1456F0"/>
          </a:solidFill>
          <a:ln w="12700">
            <a:solidFill>
              <a:srgbClr val="1456F0"/>
            </a:solidFill>
            <a:prstDash val="solid"/>
          </a:ln>
        </p:spPr>
      </p:sp>
      <p:sp>
        <p:nvSpPr>
          <p:cNvPr id="62" name="Shape 59"/>
          <p:cNvSpPr/>
          <p:nvPr/>
        </p:nvSpPr>
        <p:spPr>
          <a:xfrm>
            <a:off x="6652260" y="4058649"/>
            <a:ext cx="310896" cy="310896"/>
          </a:xfrm>
          <a:prstGeom prst="ellipse">
            <a:avLst/>
          </a:prstGeom>
          <a:solidFill>
            <a:srgbClr val="1456F0"/>
          </a:solidFill>
          <a:ln w="12700">
            <a:solidFill>
              <a:srgbClr val="1456F0"/>
            </a:solidFill>
            <a:prstDash val="solid"/>
          </a:ln>
        </p:spPr>
      </p:sp>
      <p:sp>
        <p:nvSpPr>
          <p:cNvPr id="63" name="Text 60"/>
          <p:cNvSpPr/>
          <p:nvPr/>
        </p:nvSpPr>
        <p:spPr>
          <a:xfrm>
            <a:off x="6652260" y="4086081"/>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02</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4" name="Text 61"/>
          <p:cNvSpPr/>
          <p:nvPr/>
        </p:nvSpPr>
        <p:spPr>
          <a:xfrm>
            <a:off x="7036308" y="4140945"/>
            <a:ext cx="3459175" cy="256032"/>
          </a:xfrm>
          <a:prstGeom prst="rect">
            <a:avLst/>
          </a:prstGeom>
          <a:noFill/>
          <a:ln/>
        </p:spPr>
        <p:txBody>
          <a:bodyPr wrap="square" lIns="0" tIns="0" rIns="0" bIns="0" rtlCol="0" anchor="t"/>
          <a:lstStyle/>
          <a:p>
            <a:pPr marL="0" indent="0" algn="l">
              <a:buNone/>
            </a:pPr>
            <a:r>
              <a:rPr lang="ko-KR" altLang="en-US" sz="1150" b="1"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공통 스타일 재사용</a:t>
            </a:r>
            <a:endParaRPr lang="en-US" sz="11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7" name="Text 64"/>
          <p:cNvSpPr/>
          <p:nvPr/>
        </p:nvSpPr>
        <p:spPr>
          <a:xfrm>
            <a:off x="6693408" y="4470129"/>
            <a:ext cx="4967935" cy="274320"/>
          </a:xfrm>
          <a:prstGeom prst="rect">
            <a:avLst/>
          </a:prstGeom>
          <a:noFill/>
          <a:ln/>
        </p:spPr>
        <p:txBody>
          <a:bodyPr wrap="square" lIns="0" tIns="0" rIns="0" bIns="0" rtlCol="0" anchor="t"/>
          <a:lstStyle/>
          <a:p>
            <a:pPr marL="0" indent="0" algn="l">
              <a:buNone/>
            </a:pPr>
            <a:r>
              <a:rPr lang="ko-KR" altLang="en-US" sz="9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제목</a:t>
            </a:r>
            <a:r>
              <a:rPr lang="en-US" altLang="ko-KR" sz="9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9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헤더</a:t>
            </a:r>
            <a:r>
              <a:rPr lang="en-US" altLang="ko-KR" sz="9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950" dirty="0">
                <a:solidFill>
                  <a:srgbClr val="45515E"/>
                </a:solidFill>
                <a:latin typeface="Pretendard" panose="02000503000000020004" pitchFamily="50" charset="-127"/>
                <a:ea typeface="Pretendard" panose="02000503000000020004" pitchFamily="50" charset="-127"/>
                <a:cs typeface="Pretendard" panose="02000503000000020004" pitchFamily="50" charset="-127"/>
              </a:rPr>
              <a:t>본문 영역의 스타일을 공통으로 관리해 시트 간 서식을 일관되게 적용</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5486400" cy="274320"/>
          </a:xfrm>
          <a:prstGeom prst="rect">
            <a:avLst/>
          </a:prstGeom>
          <a:noFill/>
          <a:ln/>
        </p:spPr>
        <p:txBody>
          <a:bodyPr wrap="square" lIns="0" tIns="0" rIns="0" bIns="0" rtlCol="0" anchor="ctr"/>
          <a:lstStyle/>
          <a:p>
            <a:pPr marL="0" indent="0" algn="l">
              <a:buNone/>
            </a:pPr>
            <a:r>
              <a:rPr lang="en-US" sz="1200" dirty="0">
                <a:solidFill>
                  <a:srgbClr val="8E8E93"/>
                </a:solidFill>
                <a:latin typeface="Pretendard" pitchFamily="34" charset="0"/>
                <a:ea typeface="Pretendard" pitchFamily="34" charset="-122"/>
                <a:cs typeface="Pretendard" pitchFamily="34" charset="-120"/>
              </a:rPr>
              <a:t>07. 기대효과</a:t>
            </a:r>
            <a:endParaRPr lang="en-US" sz="1200" dirty="0"/>
          </a:p>
        </p:txBody>
      </p:sp>
      <p:pic>
        <p:nvPicPr>
          <p:cNvPr id="3" name="Image 0" descr="Woongjin_logo_transparent.png"/>
          <p:cNvPicPr>
            <a:picLocks noChangeAspect="1"/>
          </p:cNvPicPr>
          <p:nvPr/>
        </p:nvPicPr>
        <p:blipFill>
          <a:blip r:embed="rId3"/>
          <a:stretch>
            <a:fillRect/>
          </a:stretch>
        </p:blipFill>
        <p:spPr>
          <a:xfrm>
            <a:off x="10911535" y="262890"/>
            <a:ext cx="822960" cy="480060"/>
          </a:xfrm>
          <a:prstGeom prst="rect">
            <a:avLst/>
          </a:prstGeom>
        </p:spPr>
      </p:pic>
      <p:sp>
        <p:nvSpPr>
          <p:cNvPr id="4" name="Text 1"/>
          <p:cNvSpPr/>
          <p:nvPr/>
        </p:nvSpPr>
        <p:spPr>
          <a:xfrm>
            <a:off x="457200" y="914400"/>
            <a:ext cx="11277295" cy="685800"/>
          </a:xfrm>
          <a:prstGeom prst="rect">
            <a:avLst/>
          </a:prstGeom>
          <a:noFill/>
          <a:ln/>
        </p:spPr>
        <p:txBody>
          <a:bodyPr wrap="square" lIns="0" tIns="0" rIns="0" bIns="0" rtlCol="0" anchor="t"/>
          <a:lstStyle/>
          <a:p>
            <a:pPr marL="0" indent="0" algn="l">
              <a:buNone/>
            </a:pPr>
            <a:r>
              <a:rPr lang="en-US" sz="2400" b="1" kern="0" spc="-50" dirty="0">
                <a:solidFill>
                  <a:srgbClr val="222222"/>
                </a:solidFill>
                <a:latin typeface="Pretendard" pitchFamily="34" charset="0"/>
                <a:ea typeface="Pretendard" pitchFamily="34" charset="-122"/>
                <a:cs typeface="Pretendard" pitchFamily="34" charset="-120"/>
              </a:rPr>
              <a:t>기대효과</a:t>
            </a:r>
            <a:endParaRPr lang="en-US" sz="2400" dirty="0"/>
          </a:p>
        </p:txBody>
      </p:sp>
      <p:sp>
        <p:nvSpPr>
          <p:cNvPr id="5" name="Text 2"/>
          <p:cNvSpPr/>
          <p:nvPr/>
        </p:nvSpPr>
        <p:spPr>
          <a:xfrm>
            <a:off x="457200" y="1367028"/>
            <a:ext cx="11277295" cy="292608"/>
          </a:xfrm>
          <a:prstGeom prst="rect">
            <a:avLst/>
          </a:prstGeom>
          <a:noFill/>
          <a:ln/>
        </p:spPr>
        <p:txBody>
          <a:bodyPr wrap="square" lIns="0" tIns="0" rIns="0" bIns="0" rtlCol="0" anchor="t"/>
          <a:lstStyle/>
          <a:p>
            <a:r>
              <a:rPr lang="ko-KR" altLang="en-US" sz="1600" dirty="0">
                <a:latin typeface="Pretendard" panose="02000503000000020004" pitchFamily="50" charset="-127"/>
                <a:ea typeface="Pretendard" panose="02000503000000020004" pitchFamily="50" charset="-127"/>
                <a:cs typeface="Pretendard" panose="02000503000000020004" pitchFamily="50" charset="-127"/>
              </a:rPr>
              <a:t>설문 참여부터 설문 결과 활용까지 전반적인 개선 효과를 기대할 수 있습니다</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Shape 3"/>
          <p:cNvSpPr/>
          <p:nvPr/>
        </p:nvSpPr>
        <p:spPr>
          <a:xfrm>
            <a:off x="457200" y="2207934"/>
            <a:ext cx="3637178" cy="3200400"/>
          </a:xfrm>
          <a:prstGeom prst="roundRect">
            <a:avLst>
              <a:gd name="adj" fmla="val 4571"/>
            </a:avLst>
          </a:prstGeom>
          <a:solidFill>
            <a:srgbClr val="EEF4FF"/>
          </a:solidFill>
          <a:ln w="9525">
            <a:solidFill>
              <a:srgbClr val="BFDBFE"/>
            </a:solidFill>
            <a:prstDash val="solid"/>
          </a:ln>
          <a:effectLst>
            <a:outerShdw blurRad="190500" dist="50800" dir="5400000" algn="bl" rotWithShape="0">
              <a:srgbClr val="2C1E74">
                <a:alpha val="16000"/>
              </a:srgbClr>
            </a:outerShdw>
          </a:effectLst>
        </p:spPr>
      </p:sp>
      <p:sp>
        <p:nvSpPr>
          <p:cNvPr id="7" name="Shape 4"/>
          <p:cNvSpPr/>
          <p:nvPr/>
        </p:nvSpPr>
        <p:spPr>
          <a:xfrm>
            <a:off x="457200" y="2212848"/>
            <a:ext cx="3637178" cy="64008"/>
          </a:xfrm>
          <a:prstGeom prst="rect">
            <a:avLst/>
          </a:prstGeom>
          <a:solidFill>
            <a:srgbClr val="1456F0"/>
          </a:solidFill>
          <a:ln w="12700">
            <a:solidFill>
              <a:srgbClr val="1456F0"/>
            </a:solidFill>
            <a:prstDash val="solid"/>
          </a:ln>
        </p:spPr>
      </p:sp>
      <p:sp>
        <p:nvSpPr>
          <p:cNvPr id="8" name="Shape 5"/>
          <p:cNvSpPr/>
          <p:nvPr/>
        </p:nvSpPr>
        <p:spPr>
          <a:xfrm>
            <a:off x="685800" y="2468880"/>
            <a:ext cx="914400" cy="274320"/>
          </a:xfrm>
          <a:prstGeom prst="roundRect">
            <a:avLst>
              <a:gd name="adj" fmla="val 50000"/>
            </a:avLst>
          </a:prstGeom>
          <a:solidFill>
            <a:srgbClr val="1456F0"/>
          </a:solidFill>
          <a:ln w="12700">
            <a:solidFill>
              <a:srgbClr val="1456F0"/>
            </a:solidFill>
            <a:prstDash val="solid"/>
          </a:ln>
        </p:spPr>
      </p:sp>
      <p:sp>
        <p:nvSpPr>
          <p:cNvPr id="9" name="Text 6"/>
          <p:cNvSpPr/>
          <p:nvPr/>
        </p:nvSpPr>
        <p:spPr>
          <a:xfrm>
            <a:off x="685800" y="2468880"/>
            <a:ext cx="9144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itchFamily="34" charset="0"/>
                <a:ea typeface="Pretendard" pitchFamily="34" charset="-122"/>
                <a:cs typeface="Pretendard" pitchFamily="34" charset="-120"/>
              </a:rPr>
              <a:t>관리자</a:t>
            </a:r>
            <a:endParaRPr lang="en-US" sz="1000" dirty="0"/>
          </a:p>
        </p:txBody>
      </p:sp>
      <p:sp>
        <p:nvSpPr>
          <p:cNvPr id="11" name="Text 8"/>
          <p:cNvSpPr/>
          <p:nvPr/>
        </p:nvSpPr>
        <p:spPr>
          <a:xfrm>
            <a:off x="685800" y="3063240"/>
            <a:ext cx="3179978" cy="365760"/>
          </a:xfrm>
          <a:prstGeom prst="rect">
            <a:avLst/>
          </a:prstGeom>
          <a:noFill/>
          <a:ln/>
        </p:spPr>
        <p:txBody>
          <a:bodyPr wrap="square" lIns="0" tIns="0" rIns="0" bIns="0" rtlCol="0" anchor="t"/>
          <a:lstStyle/>
          <a:p>
            <a:r>
              <a:rPr lang="ko-KR" altLang="en-US" b="1" dirty="0">
                <a:latin typeface="Pretendard" panose="02000503000000020004" pitchFamily="50" charset="-127"/>
                <a:ea typeface="Pretendard" panose="02000503000000020004" pitchFamily="50" charset="-127"/>
                <a:cs typeface="Pretendard" panose="02000503000000020004" pitchFamily="50" charset="-127"/>
              </a:rPr>
              <a:t>설문 결과 </a:t>
            </a:r>
            <a:r>
              <a:rPr lang="ko-KR" altLang="en-US" b="1" dirty="0" err="1">
                <a:latin typeface="Pretendard" panose="02000503000000020004" pitchFamily="50" charset="-127"/>
                <a:ea typeface="Pretendard" panose="02000503000000020004" pitchFamily="50" charset="-127"/>
                <a:cs typeface="Pretendard" panose="02000503000000020004" pitchFamily="50" charset="-127"/>
              </a:rPr>
              <a:t>활용성</a:t>
            </a:r>
            <a:r>
              <a:rPr lang="ko-KR" altLang="en-US" b="1" dirty="0">
                <a:latin typeface="Pretendard" panose="02000503000000020004" pitchFamily="50" charset="-127"/>
                <a:ea typeface="Pretendard" panose="02000503000000020004" pitchFamily="50" charset="-127"/>
                <a:cs typeface="Pretendard" panose="02000503000000020004" pitchFamily="50" charset="-127"/>
              </a:rPr>
              <a:t> 향상</a:t>
            </a:r>
            <a:endParaRPr lang="en-US" sz="18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 name="Shape 10"/>
          <p:cNvSpPr/>
          <p:nvPr/>
        </p:nvSpPr>
        <p:spPr>
          <a:xfrm>
            <a:off x="685800" y="3840480"/>
            <a:ext cx="3179978" cy="0"/>
          </a:xfrm>
          <a:prstGeom prst="line">
            <a:avLst/>
          </a:prstGeom>
          <a:noFill/>
          <a:ln w="6350">
            <a:solidFill>
              <a:srgbClr val="E5E7EB"/>
            </a:solidFill>
            <a:prstDash val="solid"/>
          </a:ln>
        </p:spPr>
      </p:sp>
      <p:sp>
        <p:nvSpPr>
          <p:cNvPr id="14" name="Shape 11"/>
          <p:cNvSpPr/>
          <p:nvPr/>
        </p:nvSpPr>
        <p:spPr>
          <a:xfrm>
            <a:off x="704088" y="4258819"/>
            <a:ext cx="91440" cy="91440"/>
          </a:xfrm>
          <a:prstGeom prst="ellipse">
            <a:avLst/>
          </a:prstGeom>
          <a:solidFill>
            <a:srgbClr val="1456F0"/>
          </a:solidFill>
          <a:ln w="12700">
            <a:solidFill>
              <a:srgbClr val="1456F0"/>
            </a:solidFill>
            <a:prstDash val="solid"/>
          </a:ln>
        </p:spPr>
      </p:sp>
      <p:sp>
        <p:nvSpPr>
          <p:cNvPr id="16" name="Shape 13"/>
          <p:cNvSpPr/>
          <p:nvPr/>
        </p:nvSpPr>
        <p:spPr>
          <a:xfrm>
            <a:off x="704088" y="4766311"/>
            <a:ext cx="91440" cy="91440"/>
          </a:xfrm>
          <a:prstGeom prst="ellipse">
            <a:avLst/>
          </a:prstGeom>
          <a:solidFill>
            <a:srgbClr val="1456F0"/>
          </a:solidFill>
          <a:ln w="12700">
            <a:solidFill>
              <a:srgbClr val="1456F0"/>
            </a:solidFill>
            <a:prstDash val="solid"/>
          </a:ln>
        </p:spPr>
      </p:sp>
      <p:sp>
        <p:nvSpPr>
          <p:cNvPr id="17" name="Text 14"/>
          <p:cNvSpPr/>
          <p:nvPr/>
        </p:nvSpPr>
        <p:spPr>
          <a:xfrm>
            <a:off x="868680" y="4711447"/>
            <a:ext cx="2997098" cy="384048"/>
          </a:xfrm>
          <a:prstGeom prst="rect">
            <a:avLst/>
          </a:prstGeom>
          <a:noFill/>
          <a:ln/>
        </p:spPr>
        <p:txBody>
          <a:bodyPr wrap="square" lIns="0" tIns="0" rIns="0" bIns="0" rtlCol="0" anchor="t"/>
          <a:lstStyle/>
          <a:p>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엑셀 다운로드 및 이력 기록으로 데이터 활용성과 추적성 강화</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Shape 17"/>
          <p:cNvSpPr/>
          <p:nvPr/>
        </p:nvSpPr>
        <p:spPr>
          <a:xfrm>
            <a:off x="4277258" y="2303946"/>
            <a:ext cx="3637178" cy="3104388"/>
          </a:xfrm>
          <a:prstGeom prst="roundRect">
            <a:avLst>
              <a:gd name="adj" fmla="val 4258"/>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21" name="Shape 18"/>
          <p:cNvSpPr/>
          <p:nvPr/>
        </p:nvSpPr>
        <p:spPr>
          <a:xfrm>
            <a:off x="4277258" y="2212848"/>
            <a:ext cx="3637178" cy="64008"/>
          </a:xfrm>
          <a:prstGeom prst="rect">
            <a:avLst/>
          </a:prstGeom>
          <a:solidFill>
            <a:srgbClr val="EA5EC1"/>
          </a:solidFill>
          <a:ln w="12700">
            <a:solidFill>
              <a:srgbClr val="EA5EC1"/>
            </a:solidFill>
            <a:prstDash val="solid"/>
          </a:ln>
        </p:spPr>
      </p:sp>
      <p:sp>
        <p:nvSpPr>
          <p:cNvPr id="22" name="Shape 19"/>
          <p:cNvSpPr/>
          <p:nvPr/>
        </p:nvSpPr>
        <p:spPr>
          <a:xfrm>
            <a:off x="4505858" y="2468880"/>
            <a:ext cx="914400" cy="274320"/>
          </a:xfrm>
          <a:prstGeom prst="roundRect">
            <a:avLst>
              <a:gd name="adj" fmla="val 50000"/>
            </a:avLst>
          </a:prstGeom>
          <a:solidFill>
            <a:srgbClr val="EA5EC1"/>
          </a:solidFill>
          <a:ln w="12700">
            <a:solidFill>
              <a:srgbClr val="EA5EC1"/>
            </a:solidFill>
            <a:prstDash val="solid"/>
          </a:ln>
        </p:spPr>
      </p:sp>
      <p:sp>
        <p:nvSpPr>
          <p:cNvPr id="23" name="Text 20"/>
          <p:cNvSpPr/>
          <p:nvPr/>
        </p:nvSpPr>
        <p:spPr>
          <a:xfrm>
            <a:off x="4505858" y="2468880"/>
            <a:ext cx="9144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itchFamily="34" charset="0"/>
                <a:ea typeface="Pretendard" pitchFamily="34" charset="-122"/>
                <a:cs typeface="Pretendard" pitchFamily="34" charset="-120"/>
              </a:rPr>
              <a:t>사용자</a:t>
            </a:r>
            <a:endParaRPr lang="en-US" sz="1000" dirty="0"/>
          </a:p>
        </p:txBody>
      </p:sp>
      <p:sp>
        <p:nvSpPr>
          <p:cNvPr id="25" name="Text 22"/>
          <p:cNvSpPr/>
          <p:nvPr/>
        </p:nvSpPr>
        <p:spPr>
          <a:xfrm>
            <a:off x="4505858" y="3063240"/>
            <a:ext cx="3179978" cy="365760"/>
          </a:xfrm>
          <a:prstGeom prst="rect">
            <a:avLst/>
          </a:prstGeom>
          <a:noFill/>
          <a:ln/>
        </p:spPr>
        <p:txBody>
          <a:bodyPr wrap="square" lIns="0" tIns="0" rIns="0" bIns="0" rtlCol="0" anchor="t"/>
          <a:lstStyle/>
          <a:p>
            <a:r>
              <a:rPr lang="ko-KR" altLang="en-US" sz="1800" b="1" dirty="0">
                <a:latin typeface="Pretendard" panose="02000503000000020004" pitchFamily="50" charset="-127"/>
                <a:ea typeface="Pretendard" panose="02000503000000020004" pitchFamily="50" charset="-127"/>
                <a:cs typeface="Pretendard" panose="02000503000000020004" pitchFamily="50" charset="-127"/>
              </a:rPr>
              <a:t>설문 작성 편의성 향상</a:t>
            </a:r>
            <a:endParaRPr lang="en-US" sz="18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7" name="Shape 24"/>
          <p:cNvSpPr/>
          <p:nvPr/>
        </p:nvSpPr>
        <p:spPr>
          <a:xfrm>
            <a:off x="4505858" y="3840480"/>
            <a:ext cx="3179978" cy="0"/>
          </a:xfrm>
          <a:prstGeom prst="line">
            <a:avLst/>
          </a:prstGeom>
          <a:noFill/>
          <a:ln w="6350">
            <a:solidFill>
              <a:srgbClr val="E5E7EB"/>
            </a:solidFill>
            <a:prstDash val="solid"/>
          </a:ln>
        </p:spPr>
      </p:sp>
      <p:sp>
        <p:nvSpPr>
          <p:cNvPr id="28" name="Shape 25"/>
          <p:cNvSpPr/>
          <p:nvPr/>
        </p:nvSpPr>
        <p:spPr>
          <a:xfrm>
            <a:off x="4524146" y="4258819"/>
            <a:ext cx="91440" cy="91440"/>
          </a:xfrm>
          <a:prstGeom prst="ellipse">
            <a:avLst/>
          </a:prstGeom>
          <a:solidFill>
            <a:srgbClr val="EA5EC1"/>
          </a:solidFill>
          <a:ln w="12700">
            <a:solidFill>
              <a:srgbClr val="EA5EC1"/>
            </a:solidFill>
            <a:prstDash val="solid"/>
          </a:ln>
        </p:spPr>
      </p:sp>
      <p:sp>
        <p:nvSpPr>
          <p:cNvPr id="29" name="Text 26"/>
          <p:cNvSpPr/>
          <p:nvPr/>
        </p:nvSpPr>
        <p:spPr>
          <a:xfrm>
            <a:off x="4688738" y="4240359"/>
            <a:ext cx="2997098" cy="384048"/>
          </a:xfrm>
          <a:prstGeom prst="rect">
            <a:avLst/>
          </a:prstGeom>
          <a:noFill/>
          <a:ln/>
        </p:spPr>
        <p:txBody>
          <a:bodyPr wrap="square" lIns="0" tIns="0" rIns="0" bIns="0" rtlCol="0" anchor="t"/>
          <a:lstStyle/>
          <a:p>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카드형 화면으로 문항과 선택지를 쉽게 구분</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0" name="Shape 27"/>
          <p:cNvSpPr/>
          <p:nvPr/>
        </p:nvSpPr>
        <p:spPr>
          <a:xfrm>
            <a:off x="4524146" y="4766311"/>
            <a:ext cx="91440" cy="91440"/>
          </a:xfrm>
          <a:prstGeom prst="ellipse">
            <a:avLst/>
          </a:prstGeom>
          <a:solidFill>
            <a:srgbClr val="EA5EC1"/>
          </a:solidFill>
          <a:ln w="12700">
            <a:solidFill>
              <a:srgbClr val="EA5EC1"/>
            </a:solidFill>
            <a:prstDash val="solid"/>
          </a:ln>
        </p:spPr>
      </p:sp>
      <p:sp>
        <p:nvSpPr>
          <p:cNvPr id="31" name="Text 28"/>
          <p:cNvSpPr/>
          <p:nvPr/>
        </p:nvSpPr>
        <p:spPr>
          <a:xfrm>
            <a:off x="4688738" y="4711447"/>
            <a:ext cx="2997098" cy="384048"/>
          </a:xfrm>
          <a:prstGeom prst="rect">
            <a:avLst/>
          </a:prstGeom>
          <a:noFill/>
          <a:ln/>
        </p:spPr>
        <p:txBody>
          <a:bodyPr wrap="square" lIns="0" tIns="0" rIns="0" bIns="0" rtlCol="0" anchor="t"/>
          <a:lstStyle/>
          <a:p>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진행률 표시와 이어하기로 </a:t>
            </a:r>
            <a:r>
              <a:rPr lang="ko-KR" altLang="en-US" sz="1200" dirty="0" err="1">
                <a:latin typeface="Pretendard" panose="02000503000000020004" pitchFamily="50" charset="-127"/>
                <a:ea typeface="Pretendard" panose="02000503000000020004" pitchFamily="50" charset="-127"/>
                <a:cs typeface="Pretendard" panose="02000503000000020004" pitchFamily="50" charset="-127"/>
              </a:rPr>
              <a:t>재작성</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 부담 완화</a:t>
            </a:r>
            <a:endPar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endParaRPr>
          </a:p>
        </p:txBody>
      </p:sp>
      <p:sp>
        <p:nvSpPr>
          <p:cNvPr id="34" name="Shape 31"/>
          <p:cNvSpPr/>
          <p:nvPr/>
        </p:nvSpPr>
        <p:spPr>
          <a:xfrm>
            <a:off x="8097317" y="2212848"/>
            <a:ext cx="3637178" cy="3200400"/>
          </a:xfrm>
          <a:prstGeom prst="roundRect">
            <a:avLst>
              <a:gd name="adj" fmla="val 4571"/>
            </a:avLst>
          </a:prstGeom>
          <a:solidFill>
            <a:srgbClr val="FFFFFF"/>
          </a:solidFill>
          <a:ln w="9525">
            <a:solidFill>
              <a:srgbClr val="E5E7EB"/>
            </a:solidFill>
            <a:prstDash val="solid"/>
          </a:ln>
          <a:effectLst>
            <a:outerShdw blurRad="76200" dist="25400" dir="5400000" algn="bl" rotWithShape="0">
              <a:srgbClr val="000000">
                <a:alpha val="8000"/>
              </a:srgbClr>
            </a:outerShdw>
          </a:effectLst>
        </p:spPr>
      </p:sp>
      <p:sp>
        <p:nvSpPr>
          <p:cNvPr id="35" name="Shape 32"/>
          <p:cNvSpPr/>
          <p:nvPr/>
        </p:nvSpPr>
        <p:spPr>
          <a:xfrm>
            <a:off x="8097317" y="2212848"/>
            <a:ext cx="3637178" cy="64008"/>
          </a:xfrm>
          <a:prstGeom prst="rect">
            <a:avLst/>
          </a:prstGeom>
          <a:solidFill>
            <a:srgbClr val="18181B"/>
          </a:solidFill>
          <a:ln w="12700">
            <a:solidFill>
              <a:srgbClr val="18181B"/>
            </a:solidFill>
            <a:prstDash val="solid"/>
          </a:ln>
        </p:spPr>
      </p:sp>
      <p:sp>
        <p:nvSpPr>
          <p:cNvPr id="36" name="Shape 33"/>
          <p:cNvSpPr/>
          <p:nvPr/>
        </p:nvSpPr>
        <p:spPr>
          <a:xfrm>
            <a:off x="8325917" y="2468880"/>
            <a:ext cx="914400" cy="274320"/>
          </a:xfrm>
          <a:prstGeom prst="roundRect">
            <a:avLst>
              <a:gd name="adj" fmla="val 50000"/>
            </a:avLst>
          </a:prstGeom>
          <a:solidFill>
            <a:srgbClr val="18181B"/>
          </a:solidFill>
          <a:ln w="12700">
            <a:solidFill>
              <a:srgbClr val="18181B"/>
            </a:solidFill>
            <a:prstDash val="solid"/>
          </a:ln>
        </p:spPr>
      </p:sp>
      <p:sp>
        <p:nvSpPr>
          <p:cNvPr id="37" name="Text 34"/>
          <p:cNvSpPr/>
          <p:nvPr/>
        </p:nvSpPr>
        <p:spPr>
          <a:xfrm>
            <a:off x="8325917" y="2468880"/>
            <a:ext cx="9144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Pretendard" pitchFamily="34" charset="0"/>
                <a:ea typeface="Pretendard" pitchFamily="34" charset="-122"/>
                <a:cs typeface="Pretendard" pitchFamily="34" charset="-120"/>
              </a:rPr>
              <a:t>시스템</a:t>
            </a:r>
            <a:endParaRPr lang="en-US" sz="1000" dirty="0"/>
          </a:p>
        </p:txBody>
      </p:sp>
      <p:sp>
        <p:nvSpPr>
          <p:cNvPr id="39" name="Text 36"/>
          <p:cNvSpPr/>
          <p:nvPr/>
        </p:nvSpPr>
        <p:spPr>
          <a:xfrm>
            <a:off x="8325917" y="3063240"/>
            <a:ext cx="3179978" cy="365760"/>
          </a:xfrm>
          <a:prstGeom prst="rect">
            <a:avLst/>
          </a:prstGeom>
          <a:noFill/>
          <a:ln/>
        </p:spPr>
        <p:txBody>
          <a:bodyPr wrap="square" lIns="0" tIns="0" rIns="0" bIns="0" rtlCol="0" anchor="t"/>
          <a:lstStyle/>
          <a:p>
            <a:r>
              <a:rPr lang="en-US" altLang="ko-KR" b="1" dirty="0">
                <a:latin typeface="Pretendard" panose="02000503000000020004" pitchFamily="50" charset="-127"/>
                <a:ea typeface="Pretendard" panose="02000503000000020004" pitchFamily="50" charset="-127"/>
                <a:cs typeface="Pretendard" panose="02000503000000020004" pitchFamily="50" charset="-127"/>
              </a:rPr>
              <a:t>.NET </a:t>
            </a:r>
            <a:r>
              <a:rPr lang="ko-KR" altLang="en-US" b="1" dirty="0" err="1">
                <a:latin typeface="Pretendard" panose="02000503000000020004" pitchFamily="50" charset="-127"/>
                <a:ea typeface="Pretendard" panose="02000503000000020004" pitchFamily="50" charset="-127"/>
                <a:cs typeface="Pretendard" panose="02000503000000020004" pitchFamily="50" charset="-127"/>
              </a:rPr>
              <a:t>레거시</a:t>
            </a:r>
            <a:r>
              <a:rPr lang="ko-KR" altLang="en-US" b="1" dirty="0">
                <a:latin typeface="Pretendard" panose="02000503000000020004" pitchFamily="50" charset="-127"/>
                <a:ea typeface="Pretendard" panose="02000503000000020004" pitchFamily="50" charset="-127"/>
                <a:cs typeface="Pretendard" panose="02000503000000020004" pitchFamily="50" charset="-127"/>
              </a:rPr>
              <a:t> 의존도 완화</a:t>
            </a:r>
            <a:r>
              <a:rPr lang="en-US" sz="1800" b="1" kern="0" spc="-30" dirty="0">
                <a:solidFill>
                  <a:srgbClr val="222222"/>
                </a:solidFill>
                <a:latin typeface="Pretendard" panose="02000503000000020004" pitchFamily="50" charset="-127"/>
                <a:ea typeface="Pretendard" panose="02000503000000020004" pitchFamily="50" charset="-127"/>
                <a:cs typeface="Pretendard" panose="02000503000000020004" pitchFamily="50" charset="-127"/>
              </a:rPr>
              <a:t>	</a:t>
            </a:r>
            <a:endParaRPr lang="en-US" sz="18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Shape 38"/>
          <p:cNvSpPr/>
          <p:nvPr/>
        </p:nvSpPr>
        <p:spPr>
          <a:xfrm>
            <a:off x="8325917" y="3840480"/>
            <a:ext cx="3179978" cy="0"/>
          </a:xfrm>
          <a:prstGeom prst="line">
            <a:avLst/>
          </a:prstGeom>
          <a:noFill/>
          <a:ln w="6350">
            <a:solidFill>
              <a:srgbClr val="E5E7EB"/>
            </a:solidFill>
            <a:prstDash val="solid"/>
          </a:ln>
        </p:spPr>
      </p:sp>
      <p:sp>
        <p:nvSpPr>
          <p:cNvPr id="42" name="Shape 39"/>
          <p:cNvSpPr/>
          <p:nvPr/>
        </p:nvSpPr>
        <p:spPr>
          <a:xfrm>
            <a:off x="8344205" y="4258819"/>
            <a:ext cx="91440" cy="91440"/>
          </a:xfrm>
          <a:prstGeom prst="ellipse">
            <a:avLst/>
          </a:prstGeom>
          <a:solidFill>
            <a:srgbClr val="18181B"/>
          </a:solidFill>
          <a:ln w="12700">
            <a:solidFill>
              <a:srgbClr val="18181B"/>
            </a:solidFill>
            <a:prstDash val="solid"/>
          </a:ln>
        </p:spPr>
      </p:sp>
      <p:sp>
        <p:nvSpPr>
          <p:cNvPr id="43" name="Text 40"/>
          <p:cNvSpPr/>
          <p:nvPr/>
        </p:nvSpPr>
        <p:spPr>
          <a:xfrm>
            <a:off x="8508797" y="4203955"/>
            <a:ext cx="2997098" cy="384048"/>
          </a:xfrm>
          <a:prstGeom prst="rect">
            <a:avLst/>
          </a:prstGeom>
          <a:noFill/>
          <a:ln/>
        </p:spPr>
        <p:txBody>
          <a:bodyPr wrap="square" lIns="0" tIns="0" rIns="0" bIns="0" rtlCol="0" anchor="t"/>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Java/Spring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기반으로 유지보수 가능한 구조 마련</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9" name="Text 46"/>
          <p:cNvSpPr/>
          <p:nvPr/>
        </p:nvSpPr>
        <p:spPr>
          <a:xfrm>
            <a:off x="457200" y="6446520"/>
            <a:ext cx="2743200" cy="228600"/>
          </a:xfrm>
          <a:prstGeom prst="rect">
            <a:avLst/>
          </a:prstGeom>
          <a:noFill/>
          <a:ln/>
        </p:spPr>
        <p:txBody>
          <a:bodyPr wrap="square" lIns="0" tIns="0" rIns="0" bIns="0" rtlCol="0" anchor="ctr"/>
          <a:lstStyle/>
          <a:p>
            <a:pPr marL="0" indent="0" algn="l">
              <a:buNone/>
            </a:pPr>
            <a:r>
              <a:rPr lang="en-US" sz="1000" dirty="0">
                <a:solidFill>
                  <a:srgbClr val="8E8E93"/>
                </a:solidFill>
                <a:latin typeface="Pretendard" pitchFamily="34" charset="0"/>
                <a:ea typeface="Pretendard" pitchFamily="34" charset="-122"/>
                <a:cs typeface="Pretendard" pitchFamily="34" charset="-120"/>
              </a:rPr>
              <a:t>16</a:t>
            </a:r>
            <a:endParaRPr lang="en-US" sz="1000" dirty="0"/>
          </a:p>
        </p:txBody>
      </p:sp>
      <p:sp>
        <p:nvSpPr>
          <p:cNvPr id="51" name="Text 14"/>
          <p:cNvSpPr/>
          <p:nvPr/>
        </p:nvSpPr>
        <p:spPr>
          <a:xfrm>
            <a:off x="868680" y="4203955"/>
            <a:ext cx="2997098" cy="384048"/>
          </a:xfrm>
          <a:prstGeom prst="rect">
            <a:avLst/>
          </a:prstGeom>
          <a:noFill/>
          <a:ln/>
        </p:spPr>
        <p:txBody>
          <a:bodyPr wrap="square" lIns="0" tIns="0" rIns="0" bIns="0" rtlCol="0" anchor="t"/>
          <a:lstStyle/>
          <a:p>
            <a:r>
              <a:rPr lang="ko-KR" altLang="en-US" sz="1200" dirty="0">
                <a:latin typeface="Pretendard" panose="02000503000000020004" pitchFamily="50" charset="-127"/>
                <a:ea typeface="Pretendard" panose="02000503000000020004" pitchFamily="50" charset="-127"/>
                <a:cs typeface="Pretendard" panose="02000503000000020004" pitchFamily="50" charset="-127"/>
              </a:rPr>
              <a:t>통계 시각화로 설문 진행 현황과 결과를 직관적으로 파악</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37543018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7583D6CB-80B7-49C1-8223-AF40E98A9F3C}"/>
              </a:ext>
            </a:extLst>
          </p:cNvPr>
          <p:cNvSpPr/>
          <p:nvPr/>
        </p:nvSpPr>
        <p:spPr>
          <a:xfrm>
            <a:off x="457200" y="1367027"/>
            <a:ext cx="11277295" cy="4211839"/>
          </a:xfrm>
          <a:prstGeom prst="rect">
            <a:avLst/>
          </a:prstGeom>
          <a:noFill/>
          <a:ln/>
        </p:spPr>
        <p:txBody>
          <a:bodyPr wrap="square" lIns="0" tIns="0" rIns="0" bIns="0" rtlCol="0" anchor="t"/>
          <a:lstStyle/>
          <a:p>
            <a:pPr algn="ctr"/>
            <a:endParaRPr lang="en-US" altLang="ko-KR" sz="6000" dirty="0">
              <a:latin typeface="Pretendard" panose="02000503000000020004" pitchFamily="50" charset="-127"/>
              <a:ea typeface="Pretendard" panose="02000503000000020004" pitchFamily="50" charset="-127"/>
              <a:cs typeface="Pretendard" panose="02000503000000020004" pitchFamily="50" charset="-127"/>
            </a:endParaRPr>
          </a:p>
          <a:p>
            <a:pPr algn="ctr"/>
            <a:endParaRPr lang="en-US" altLang="ko-KR" sz="6000" dirty="0">
              <a:latin typeface="Pretendard" panose="02000503000000020004" pitchFamily="50" charset="-127"/>
              <a:ea typeface="Pretendard" panose="02000503000000020004" pitchFamily="50" charset="-127"/>
              <a:cs typeface="Pretendard" panose="02000503000000020004" pitchFamily="50" charset="-127"/>
            </a:endParaRPr>
          </a:p>
          <a:p>
            <a:pPr algn="ctr"/>
            <a:r>
              <a:rPr lang="ko-KR" altLang="en-US" sz="6000" dirty="0">
                <a:latin typeface="Pretendard" panose="02000503000000020004" pitchFamily="50" charset="-127"/>
                <a:ea typeface="Pretendard" panose="02000503000000020004" pitchFamily="50" charset="-127"/>
                <a:cs typeface="Pretendard" panose="02000503000000020004" pitchFamily="50" charset="-127"/>
              </a:rPr>
              <a:t>감사합니다</a:t>
            </a:r>
            <a:endParaRPr lang="en-US" sz="600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523585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2719</TotalTime>
  <Words>1771</Words>
  <Application>Microsoft Office PowerPoint</Application>
  <PresentationFormat>와이드스크린</PresentationFormat>
  <Paragraphs>375</Paragraphs>
  <Slides>17</Slides>
  <Notes>16</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17</vt:i4>
      </vt:variant>
    </vt:vector>
  </HeadingPairs>
  <TitlesOfParts>
    <vt:vector size="22" baseType="lpstr">
      <vt:lpstr>맑은 고딕</vt:lpstr>
      <vt:lpstr>Pretendard</vt:lpstr>
      <vt:lpstr>Calibri</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레거시 설문조사 서비스 개선</dc:title>
  <dc:subject>PptxGenJS Presentation</dc:subject>
  <dc:creator>웅진씽크빅</dc:creator>
  <cp:lastModifiedBy>user</cp:lastModifiedBy>
  <cp:revision>143</cp:revision>
  <dcterms:created xsi:type="dcterms:W3CDTF">2026-05-18T12:01:15Z</dcterms:created>
  <dcterms:modified xsi:type="dcterms:W3CDTF">2026-05-27T08:57:38Z</dcterms:modified>
</cp:coreProperties>
</file>