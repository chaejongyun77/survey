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74" r:id="rId3"/>
    <p:sldId id="256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  <p:sldId id="269" r:id="rId15"/>
    <p:sldId id="271" r:id="rId16"/>
    <p:sldId id="275" r:id="rId17"/>
  </p:sldIdLst>
  <p:sldSz cx="12192000" cy="6858000"/>
  <p:notesSz cx="6858000" cy="12192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Pretendard" panose="02000503000000020004" pitchFamily="50" charset="-127"/>
      <p:regular r:id="rId23"/>
      <p:bold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4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38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314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31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338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743200"/>
            <a:ext cx="73152" cy="155448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2743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kern="0" spc="-1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레거시 설문조사 서비스 개선</a:t>
            </a:r>
            <a:endParaRPr lang="en-US" sz="4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1695" y="492404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800" kern="0" spc="-2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CIT</a:t>
            </a:r>
            <a:r>
              <a:rPr lang="ko-KR" altLang="en-US" sz="1800" kern="0" spc="-2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사업본부 </a:t>
            </a:r>
            <a:r>
              <a:rPr lang="ko-KR" altLang="en-US" kern="0" spc="-2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그룹</a:t>
            </a:r>
            <a:r>
              <a:rPr lang="en-US" altLang="ko-KR" kern="0" spc="-2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IT</a:t>
            </a:r>
            <a:r>
              <a:rPr lang="ko-KR" altLang="en-US" kern="0" spc="-20" dirty="0" err="1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혁신팀</a:t>
            </a:r>
            <a:endParaRPr lang="en-US" altLang="ko-KR" kern="0" spc="-20" dirty="0">
              <a:solidFill>
                <a:srgbClr val="45515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r">
              <a:buNone/>
            </a:pPr>
            <a:r>
              <a:rPr lang="ko-KR" altLang="en-US" kern="0" spc="-20" dirty="0" err="1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채종윤</a:t>
            </a:r>
            <a:r>
              <a:rPr lang="ko-KR" altLang="en-US" kern="0" spc="-2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인턴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6263640"/>
            <a:ext cx="1127729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01152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CONTENTS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94360" y="1516299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417320" y="1626027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00200" y="169528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개요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4360" y="2128947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2174667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378413" y="12573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2787315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2833035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417320" y="2942763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00200" y="29793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 목표 및 방향 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(TO –BE)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94360" y="3445683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3491403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600200" y="3564555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600200" y="366971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개선 기능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94360" y="4149771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600200" y="4300647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 및 기술 스택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594360" y="4762419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8" name="Text 45"/>
          <p:cNvSpPr/>
          <p:nvPr/>
        </p:nvSpPr>
        <p:spPr>
          <a:xfrm>
            <a:off x="594360" y="4808139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1600200" y="4978471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구현 및 결과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Shape 22">
            <a:extLst>
              <a:ext uri="{FF2B5EF4-FFF2-40B4-BE49-F238E27FC236}">
                <a16:creationId xmlns:a16="http://schemas.microsoft.com/office/drawing/2014/main" id="{ACEC23A1-FA94-4A7E-AEF5-790AE8574C91}"/>
              </a:ext>
            </a:extLst>
          </p:cNvPr>
          <p:cNvSpPr/>
          <p:nvPr/>
        </p:nvSpPr>
        <p:spPr>
          <a:xfrm>
            <a:off x="1417320" y="2292275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3" name="Shape 22">
            <a:extLst>
              <a:ext uri="{FF2B5EF4-FFF2-40B4-BE49-F238E27FC236}">
                <a16:creationId xmlns:a16="http://schemas.microsoft.com/office/drawing/2014/main" id="{79D0AE60-0049-4667-A9DD-C5DAFDE20A69}"/>
              </a:ext>
            </a:extLst>
          </p:cNvPr>
          <p:cNvSpPr/>
          <p:nvPr/>
        </p:nvSpPr>
        <p:spPr>
          <a:xfrm>
            <a:off x="1417320" y="3614847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4" name="Shape 22">
            <a:extLst>
              <a:ext uri="{FF2B5EF4-FFF2-40B4-BE49-F238E27FC236}">
                <a16:creationId xmlns:a16="http://schemas.microsoft.com/office/drawing/2014/main" id="{C6326832-1B6D-43AD-8EF4-5DE182EEF19E}"/>
              </a:ext>
            </a:extLst>
          </p:cNvPr>
          <p:cNvSpPr/>
          <p:nvPr/>
        </p:nvSpPr>
        <p:spPr>
          <a:xfrm>
            <a:off x="1417320" y="4247826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5" name="Shape 22">
            <a:extLst>
              <a:ext uri="{FF2B5EF4-FFF2-40B4-BE49-F238E27FC236}">
                <a16:creationId xmlns:a16="http://schemas.microsoft.com/office/drawing/2014/main" id="{2EE68D42-A8C4-4CB3-A495-B2CA481B1822}"/>
              </a:ext>
            </a:extLst>
          </p:cNvPr>
          <p:cNvSpPr/>
          <p:nvPr/>
        </p:nvSpPr>
        <p:spPr>
          <a:xfrm>
            <a:off x="1417320" y="4931584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D4F03CE6-2814-499F-B753-8A8232394B86}"/>
              </a:ext>
            </a:extLst>
          </p:cNvPr>
          <p:cNvSpPr/>
          <p:nvPr/>
        </p:nvSpPr>
        <p:spPr>
          <a:xfrm>
            <a:off x="1600200" y="2344999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서비스 한계 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 – IS</a:t>
            </a:r>
            <a:r>
              <a:rPr 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13F9F4D6-AA46-42BE-9933-9BDA97B55833}"/>
              </a:ext>
            </a:extLst>
          </p:cNvPr>
          <p:cNvSpPr/>
          <p:nvPr/>
        </p:nvSpPr>
        <p:spPr>
          <a:xfrm>
            <a:off x="594360" y="4119672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</p:sp>
      <p:sp>
        <p:nvSpPr>
          <p:cNvPr id="34" name="Shape 44">
            <a:extLst>
              <a:ext uri="{FF2B5EF4-FFF2-40B4-BE49-F238E27FC236}">
                <a16:creationId xmlns:a16="http://schemas.microsoft.com/office/drawing/2014/main" id="{D350946E-6AEB-45E7-B8EC-B5FDE88DB4E2}"/>
              </a:ext>
            </a:extLst>
          </p:cNvPr>
          <p:cNvSpPr/>
          <p:nvPr/>
        </p:nvSpPr>
        <p:spPr>
          <a:xfrm>
            <a:off x="594360" y="5476794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7" name="Shape 44">
            <a:extLst>
              <a:ext uri="{FF2B5EF4-FFF2-40B4-BE49-F238E27FC236}">
                <a16:creationId xmlns:a16="http://schemas.microsoft.com/office/drawing/2014/main" id="{9BBF7272-30F5-4B4A-B678-4D9EDE5CD382}"/>
              </a:ext>
            </a:extLst>
          </p:cNvPr>
          <p:cNvSpPr/>
          <p:nvPr/>
        </p:nvSpPr>
        <p:spPr>
          <a:xfrm>
            <a:off x="594360" y="5476793"/>
            <a:ext cx="11002975" cy="0"/>
          </a:xfrm>
          <a:prstGeom prst="line">
            <a:avLst/>
          </a:prstGeom>
          <a:noFill/>
          <a:ln w="635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Text 45">
            <a:extLst>
              <a:ext uri="{FF2B5EF4-FFF2-40B4-BE49-F238E27FC236}">
                <a16:creationId xmlns:a16="http://schemas.microsoft.com/office/drawing/2014/main" id="{C5AD47CA-FB69-496C-9FC6-6D8979A87D96}"/>
              </a:ext>
            </a:extLst>
          </p:cNvPr>
          <p:cNvSpPr/>
          <p:nvPr/>
        </p:nvSpPr>
        <p:spPr>
          <a:xfrm>
            <a:off x="594360" y="5522513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000" b="1" kern="0" spc="-1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en-US" altLang="ko-KR" sz="3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48">
            <a:extLst>
              <a:ext uri="{FF2B5EF4-FFF2-40B4-BE49-F238E27FC236}">
                <a16:creationId xmlns:a16="http://schemas.microsoft.com/office/drawing/2014/main" id="{CD5245AF-DF50-4990-99A3-46EE2270B8BD}"/>
              </a:ext>
            </a:extLst>
          </p:cNvPr>
          <p:cNvSpPr/>
          <p:nvPr/>
        </p:nvSpPr>
        <p:spPr>
          <a:xfrm>
            <a:off x="1600200" y="5692845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기대효과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CC2F728F-C45B-4A20-BE53-1A417BFA9168}"/>
              </a:ext>
            </a:extLst>
          </p:cNvPr>
          <p:cNvSpPr/>
          <p:nvPr/>
        </p:nvSpPr>
        <p:spPr>
          <a:xfrm>
            <a:off x="1417320" y="5645958"/>
            <a:ext cx="36576" cy="34747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8046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01. 프로젝트 개요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배경 및 목적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8230" y="136400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웅진씽크빅은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전국 지국 영업조직원을 대상으로 업무 만족도 및 제품 피드백 수집을 위해 설문조사 서비스를 적극 활용하고 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234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배경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2615184"/>
            <a:ext cx="5547208" cy="1399032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" y="2781864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본사에서 적극적으로 활용하고 있는 설문조사 서비스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8368" y="3293587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2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전국 지국 영업조직원을 대상으로 업무 만족도 및 제품 피드백 수집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8368" y="3543252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2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영업조직원의 접근성 고려 필요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187288" y="2634392"/>
            <a:ext cx="5547208" cy="1389888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187288" y="2621790"/>
            <a:ext cx="64008" cy="12801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2172" y="2783079"/>
            <a:ext cx="518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 효율성과 사용자 편의성 측면의 개선 필요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88456" y="3203454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r>
              <a:rPr lang="en-US" sz="12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분석 및 데이터 관리 효율성 부족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388456" y="3437216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r>
              <a:rPr lang="en-US" sz="12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직관적이지 않은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UI·UX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설문 참여 부담 증가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7200" y="4507992"/>
            <a:ext cx="112772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</a:t>
            </a:r>
            <a:r>
              <a:rPr lang="en-US" sz="18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목적</a:t>
            </a:r>
            <a:r>
              <a:rPr lang="en-US" sz="1200" b="1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기존 핵심 기능은 유지하면서 3가지 방향으로 고도화</a:t>
            </a:r>
            <a:endParaRPr lang="en-US" sz="1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7200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57200" y="4928616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8368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134258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34258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58368" y="5577840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관리 효율성 향상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58368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277258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277258" y="4928616"/>
            <a:ext cx="363717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478426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954317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954317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460139" y="5584207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</a:t>
            </a:r>
            <a:r>
              <a:rPr lang="en-US" sz="135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</a:t>
            </a:r>
            <a:r>
              <a:rPr lang="en-US" sz="135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편의성 향상</a:t>
            </a:r>
            <a:endParaRPr lang="en-US" sz="13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478426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8097317" y="4928616"/>
            <a:ext cx="3637178" cy="1252728"/>
          </a:xfrm>
          <a:prstGeom prst="roundRect">
            <a:avLst>
              <a:gd name="adj" fmla="val 116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097317" y="4928616"/>
            <a:ext cx="3637178" cy="54864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298485" y="5074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50" dirty="0">
                <a:solidFill>
                  <a:srgbClr val="1818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0774375" y="5129784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774375" y="51297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298485" y="5554596"/>
            <a:ext cx="3271418" cy="425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재구현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및</a:t>
            </a:r>
            <a:endParaRPr lang="en-US" altLang="ko-KR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유지보수성 향상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298485" y="5797296"/>
            <a:ext cx="32714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5"/>
          <p:cNvSpPr/>
          <p:nvPr/>
        </p:nvSpPr>
        <p:spPr>
          <a:xfrm>
            <a:off x="457200" y="19964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BACKGROUND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457200" y="42702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OBJECTIVE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DCFE9A50-C47F-4166-BC8C-B0741817BCC2}"/>
              </a:ext>
            </a:extLst>
          </p:cNvPr>
          <p:cNvSpPr/>
          <p:nvPr/>
        </p:nvSpPr>
        <p:spPr>
          <a:xfrm>
            <a:off x="6388456" y="3673111"/>
            <a:ext cx="518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r>
              <a:rPr lang="en-US" sz="12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: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레거시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구조로 인한 유지보수 및 확장성 한계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3BA8D4D0-9033-40BE-B7AB-EA4F1B33CB85}"/>
              </a:ext>
            </a:extLst>
          </p:cNvPr>
          <p:cNvSpPr/>
          <p:nvPr/>
        </p:nvSpPr>
        <p:spPr>
          <a:xfrm>
            <a:off x="475488" y="2621790"/>
            <a:ext cx="64008" cy="12801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 한계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한계점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측면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364742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관리 측면에서 관리자가 겪는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불편 요소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04178" y="2227990"/>
            <a:ext cx="4999342" cy="4058510"/>
          </a:xfrm>
          <a:prstGeom prst="roundRect">
            <a:avLst>
              <a:gd name="adj" fmla="val 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4178" y="1904870"/>
            <a:ext cx="4999342" cy="384048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" y="1984952"/>
            <a:ext cx="128016" cy="128016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984952"/>
            <a:ext cx="128016" cy="128016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9808" y="1984952"/>
            <a:ext cx="128016" cy="128016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96129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822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5148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BEFORE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77840" y="2249424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확인 과정에서 </a:t>
            </a:r>
            <a:r>
              <a:rPr lang="en-US" sz="16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관리자가</a:t>
            </a:r>
            <a:r>
              <a:rPr lang="en-US" sz="16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겪는 3가지 불편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77840" y="2615184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615184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779008" y="302666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진행 현황 파악 어려움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79008" y="3401568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미응답자 수와 응답률과 같은 정보가 제공되지 않아 설문 진행 상황을 정확히 파악하기 어려움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577840" y="3831336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77840" y="3831336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79008" y="3995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779008" y="4233477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결과의 시각적인 파악 어려움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779008" y="4550794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텍스트 형태로 제공된 문항 응답 분포를 직관적으로 파악하기 어려움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577840" y="5047488"/>
            <a:ext cx="6156655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5047488"/>
            <a:ext cx="64008" cy="105156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79008" y="5212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779008" y="5426964"/>
            <a:ext cx="5790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다운로드 이력 관리 부재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779008" y="5833872"/>
            <a:ext cx="5790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파일 다운로드 이력이 남지 않아 엑셀 다운로드 확보에 한계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17FA2E85-F28A-42DB-997E-598CA4ACF1A2}"/>
              </a:ext>
            </a:extLst>
          </p:cNvPr>
          <p:cNvSpPr/>
          <p:nvPr/>
        </p:nvSpPr>
        <p:spPr>
          <a:xfrm>
            <a:off x="5577840" y="2039112"/>
            <a:ext cx="6156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405CFDD-2A81-48E3-98C8-AF9174148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182" y="2310956"/>
            <a:ext cx="4935333" cy="3953505"/>
          </a:xfrm>
          <a:prstGeom prst="roundRect">
            <a:avLst>
              <a:gd name="adj" fmla="val 2465"/>
            </a:avLst>
          </a:prstGeom>
        </p:spPr>
      </p:pic>
      <p:sp>
        <p:nvSpPr>
          <p:cNvPr id="39" name="Shape 10">
            <a:extLst>
              <a:ext uri="{FF2B5EF4-FFF2-40B4-BE49-F238E27FC236}">
                <a16:creationId xmlns:a16="http://schemas.microsoft.com/office/drawing/2014/main" id="{518A9E28-3925-479E-ABE1-67E734A7217D}"/>
              </a:ext>
            </a:extLst>
          </p:cNvPr>
          <p:cNvSpPr/>
          <p:nvPr/>
        </p:nvSpPr>
        <p:spPr>
          <a:xfrm>
            <a:off x="1011935" y="1968223"/>
            <a:ext cx="4259580" cy="23772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BDC84961-1EE7-4F49-ABDA-E36F431DCF73}"/>
              </a:ext>
            </a:extLst>
          </p:cNvPr>
          <p:cNvSpPr/>
          <p:nvPr/>
        </p:nvSpPr>
        <p:spPr>
          <a:xfrm>
            <a:off x="1057655" y="2004800"/>
            <a:ext cx="4183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</a:t>
            </a: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</a:t>
            </a: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화면 — 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 한계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서비스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한계점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- 사용자 측면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39446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설문 응답 과정에서 사용자가 겪는 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불편 요소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52424" y="2112264"/>
            <a:ext cx="5006338" cy="3936112"/>
          </a:xfrm>
          <a:prstGeom prst="roundRect">
            <a:avLst>
              <a:gd name="adj" fmla="val 4051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424" y="1998946"/>
            <a:ext cx="5010149" cy="292608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3008" y="2077975"/>
            <a:ext cx="128016" cy="128016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5888" y="2077975"/>
            <a:ext cx="128016" cy="128016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8768" y="2077975"/>
            <a:ext cx="128016" cy="128016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860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77840" y="2112264"/>
            <a:ext cx="6156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77840" y="2322576"/>
            <a:ext cx="6156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과정에서 사용자가 겪는 4가지 불편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577840" y="26883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26883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79008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801868" y="3072384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유형별 응답 방식 인지 어려움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79008" y="35844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순위선택형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문항의 경우 우선순위 지정 방식이 직관적으로 드러나지 않아 이해하는데 시간이 소요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747608" y="26883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747608" y="26883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48776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820095" y="28529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948776" y="3072384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조건분기 응답 흐름 파악 어려움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948776" y="35844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특정 보기를 선택했을 때 조건 분기 문항으로 이어지는 흐름을 사용자가 파악하기 어려움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5577840" y="42885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42885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79008" y="4453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5779008" y="4723168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이탈 시 작성 내용 유실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779008" y="51846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중 화면을 벗어나면 입력한 응답이 저장되지 않아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처음부터 다시 작성해야 하는 부담이 발생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747608" y="4288536"/>
            <a:ext cx="2986888" cy="1463040"/>
          </a:xfrm>
          <a:prstGeom prst="roundRect">
            <a:avLst>
              <a:gd name="adj" fmla="val 812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8747608" y="4288536"/>
            <a:ext cx="64008" cy="1463040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48776" y="4453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948776" y="4723168"/>
            <a:ext cx="2602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진행 상태 확인 어려움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948776" y="5184648"/>
            <a:ext cx="2602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남은 문항 수를 확인하기 어려워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설문 완료까지의 소요를 예측하기 어려움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9B0A036-D014-4B86-8C98-52239C0A2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18" y="2334900"/>
            <a:ext cx="4916807" cy="3646667"/>
          </a:xfrm>
          <a:prstGeom prst="roundRect">
            <a:avLst>
              <a:gd name="adj" fmla="val 2040"/>
            </a:avLst>
          </a:prstGeom>
        </p:spPr>
      </p:pic>
      <p:sp>
        <p:nvSpPr>
          <p:cNvPr id="47" name="Shape 10">
            <a:extLst>
              <a:ext uri="{FF2B5EF4-FFF2-40B4-BE49-F238E27FC236}">
                <a16:creationId xmlns:a16="http://schemas.microsoft.com/office/drawing/2014/main" id="{93B50E5C-368C-4093-B8E4-633211903B3A}"/>
              </a:ext>
            </a:extLst>
          </p:cNvPr>
          <p:cNvSpPr/>
          <p:nvPr/>
        </p:nvSpPr>
        <p:spPr>
          <a:xfrm>
            <a:off x="1045845" y="2034956"/>
            <a:ext cx="4259580" cy="256597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11">
            <a:extLst>
              <a:ext uri="{FF2B5EF4-FFF2-40B4-BE49-F238E27FC236}">
                <a16:creationId xmlns:a16="http://schemas.microsoft.com/office/drawing/2014/main" id="{8B02CFF7-3B7D-4444-A244-AEA1FAA689EE}"/>
              </a:ext>
            </a:extLst>
          </p:cNvPr>
          <p:cNvSpPr/>
          <p:nvPr/>
        </p:nvSpPr>
        <p:spPr>
          <a:xfrm>
            <a:off x="1091565" y="2071533"/>
            <a:ext cx="41835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— 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 목표 및 방향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프로젝트 핵심 개선 </a:t>
            </a: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방향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(To-Be)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7323" y="140588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기능은 유지하고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관점의 핵심 불편사항을 개선했습니다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46610" y="2143634"/>
            <a:ext cx="3637178" cy="3971803"/>
          </a:xfrm>
          <a:prstGeom prst="roundRect">
            <a:avLst>
              <a:gd name="adj" fmla="val 4525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4897" y="2132832"/>
            <a:ext cx="3637178" cy="6400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3134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관리자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" y="269748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통계 분석 및 이력 관리 강화</a:t>
            </a:r>
            <a:endParaRPr lang="en-US" sz="16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8368" y="313639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가독성과 이력 추적성을 함께 강화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8368" y="353872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3694176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03810" y="3679826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응답률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비율 기반 통계 시각화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4400" y="393192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대상자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완료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미응답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응답률을 카드 및 막대그래프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제공하여 설문 진행 현황을 한눈에 파악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58368" y="4507993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" y="4507993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14400" y="4514091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유형별 엑셀 시트 분리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14400" y="4745737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요약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시트를 분리해 데이터 확인 및 재가공 편의성 강화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8368" y="5257801"/>
            <a:ext cx="201168" cy="20116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58368" y="5257801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14400" y="5257801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다운로드 </a:t>
            </a: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이력</a:t>
            </a: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추적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14400" y="5495545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다운로드 사용자와 시점을 기록하고 팝업으로 조회해 데이터 추적성 및 관리 안정성 확보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240150" y="2190744"/>
            <a:ext cx="3637178" cy="3918978"/>
          </a:xfrm>
          <a:prstGeom prst="roundRect">
            <a:avLst>
              <a:gd name="adj" fmla="val 4525"/>
            </a:avLst>
          </a:prstGeom>
          <a:solidFill>
            <a:srgbClr val="FDEEF8"/>
          </a:solidFill>
          <a:ln w="9525">
            <a:solidFill>
              <a:srgbClr val="F4C2E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246524" y="2114553"/>
            <a:ext cx="3618891" cy="76191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478426" y="23134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78426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478426" y="269748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 편의성 향상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478426" y="313639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직관적인 응답 화면과 설문 상태 유지로 설문 참여 부담 완화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478426" y="353872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78426" y="3694176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78426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715637" y="3674112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UX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734458" y="393192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유형을 명확히 구분하고 조건분기 흐름을 명시해서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참여자의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방식 인지 부담 완화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460139" y="4443984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460139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716171" y="4443984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 진행률 표시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716171" y="4681728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문항 대비 남은 문항 수를 시각화해 참여자가 설문 완료 시점을 예측 가능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460139" y="5193792"/>
            <a:ext cx="201168" cy="20116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460139" y="5193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716171" y="5190486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임시저장 및 이어하기 프로세스 도입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716171" y="5431536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 이탈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중단 시에도 작성 내용을 보존하고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중단 지점부터 이어서 참여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097317" y="2143634"/>
            <a:ext cx="3673752" cy="3892673"/>
          </a:xfrm>
          <a:prstGeom prst="roundRect">
            <a:avLst>
              <a:gd name="adj" fmla="val 4525"/>
            </a:avLst>
          </a:prstGeom>
          <a:solidFill>
            <a:srgbClr val="F5F6F8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108212" y="2133013"/>
            <a:ext cx="3637178" cy="6400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298485" y="23134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298485" y="2313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8298485" y="2697480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유지보수성 및 확장성 향상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298485" y="3136392"/>
            <a:ext cx="32714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재구현으로 유지보수 가능한 운영 구조 마련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298485" y="3538728"/>
            <a:ext cx="323484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98485" y="3694176"/>
            <a:ext cx="201168" cy="201168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98485" y="36941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8554517" y="3694176"/>
            <a:ext cx="30153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.NET 레거시 → Java / Spring 재구현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8554517" y="3931920"/>
            <a:ext cx="301538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.NET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설문 시스템을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환경으로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재구현하여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사내 개발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운영 체계에 맞는 유지보수 기반 마련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8280198" y="44439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11">
            <a:extLst>
              <a:ext uri="{FF2B5EF4-FFF2-40B4-BE49-F238E27FC236}">
                <a16:creationId xmlns:a16="http://schemas.microsoft.com/office/drawing/2014/main" id="{E4C51714-1EA6-4DA0-99D3-6555D80D74F9}"/>
              </a:ext>
            </a:extLst>
          </p:cNvPr>
          <p:cNvSpPr/>
          <p:nvPr/>
        </p:nvSpPr>
        <p:spPr>
          <a:xfrm>
            <a:off x="6674203" y="1650928"/>
            <a:ext cx="4874894" cy="3160106"/>
          </a:xfrm>
          <a:prstGeom prst="roundRect">
            <a:avLst>
              <a:gd name="adj" fmla="val 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11">
            <a:extLst>
              <a:ext uri="{FF2B5EF4-FFF2-40B4-BE49-F238E27FC236}">
                <a16:creationId xmlns:a16="http://schemas.microsoft.com/office/drawing/2014/main" id="{C76C7560-90EA-4974-BED2-C4F9AAB84798}"/>
              </a:ext>
            </a:extLst>
          </p:cNvPr>
          <p:cNvSpPr/>
          <p:nvPr/>
        </p:nvSpPr>
        <p:spPr>
          <a:xfrm>
            <a:off x="640081" y="1650928"/>
            <a:ext cx="4712970" cy="3160106"/>
          </a:xfrm>
          <a:prstGeom prst="roundRect">
            <a:avLst>
              <a:gd name="adj" fmla="val 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 개선 기능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55396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753383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및 UX 개</a:t>
            </a:r>
            <a:r>
              <a:rPr lang="ko-KR" alt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269727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참여자가 쉽게 이해하고 응답할 수 있도록 화면 구조와 응답 흐름을 개선했습니다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57200" y="2864504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3184544"/>
            <a:ext cx="545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기존 설문 응답 화면 스크린샷이 위치합니다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080" y="3870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BEFORE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78728" y="2864504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838795" y="38703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AFER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57200" y="4962906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57200" y="4962906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8368" y="514578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58368" y="5537836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가독성 개선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" y="5857876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단위 카드 레이아웃을 적용해 사용자가 문항과 선택지를 쉽게 구분하도록 개선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133892" y="4962906"/>
            <a:ext cx="3637178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8133892" y="4962906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335060" y="514578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335060" y="5537836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순위선택형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Drag &amp; Drop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적용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8335060" y="5857876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Select Box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순위를 선택하던 방식을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Drag &amp; Drop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변경하여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항목을 직접 이동하며 순서를 정할 수 있도록 개선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295546" y="4954490"/>
            <a:ext cx="3637178" cy="14714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4295546" y="4962906"/>
            <a:ext cx="363717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496714" y="514578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496714" y="5537836"/>
            <a:ext cx="3271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조건분기 흐름 안내 개선</a:t>
            </a:r>
            <a:endParaRPr lang="en-US" sz="13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496714" y="5857876"/>
            <a:ext cx="32714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선택에 따라 추가되는 문항의 연결 관계를 명확히 보여줘 응답 흐름 개선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4B4F244B-4F3C-4AA1-96A5-6F6F79856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63" y="1690351"/>
            <a:ext cx="4763765" cy="3055672"/>
          </a:xfrm>
          <a:prstGeom prst="roundRect">
            <a:avLst>
              <a:gd name="adj" fmla="val 8358"/>
            </a:avLst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7012127-7A71-4E89-AA7F-82171C0977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72" y="1714208"/>
            <a:ext cx="4588988" cy="3031815"/>
          </a:xfrm>
          <a:prstGeom prst="roundRect">
            <a:avLst>
              <a:gd name="adj" fmla="val 7556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55"/>
          <p:cNvSpPr/>
          <p:nvPr/>
        </p:nvSpPr>
        <p:spPr>
          <a:xfrm>
            <a:off x="6675120" y="2666643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4433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 기능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07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 표시 및</a:t>
            </a:r>
            <a:r>
              <a:rPr lang="en-US" altLang="ko-KR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이어하기 도입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5311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중 페이지를 이탈하더라도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설문을 이어서 작성할 수 있도록 추가했습니다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048256"/>
            <a:ext cx="6035040" cy="1751289"/>
          </a:xfrm>
          <a:prstGeom prst="roundRect">
            <a:avLst>
              <a:gd name="adj" fmla="val 11034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2028492"/>
            <a:ext cx="6053328" cy="347472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" y="2174596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2174596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2688" y="2174596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88720" y="2110588"/>
            <a:ext cx="5120640" cy="2119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21471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응답 화면 — 진행률 표시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5488" y="4211025"/>
            <a:ext cx="6035040" cy="212140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04088" y="4375617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4088" y="4576785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저장 및 이어하기 흐름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704088" y="5052272"/>
            <a:ext cx="1188720" cy="1156503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33856" y="5162001"/>
            <a:ext cx="329184" cy="32918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33856" y="51620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4088" y="565289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입력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49808" y="583577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사용자가 문항에 응답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892808" y="5052273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167128" y="5052272"/>
            <a:ext cx="1188720" cy="1156503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96896" y="5162001"/>
            <a:ext cx="329184" cy="329184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96896" y="51620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67128" y="565289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저장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212848" y="583577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중인 응답 내용 저장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3355848" y="5052273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630168" y="5052273"/>
            <a:ext cx="1188720" cy="1156502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059936" y="5162001"/>
            <a:ext cx="329184" cy="329184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059936" y="51620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630168" y="565289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이탈</a:t>
            </a:r>
            <a:r>
              <a:rPr lang="en-US" altLang="ko-KR" sz="11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</a:t>
            </a:r>
            <a:r>
              <a:rPr lang="ko-KR" altLang="en-US" sz="110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3675888" y="583577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페이지</a:t>
            </a:r>
            <a:r>
              <a:rPr lang="en-US" sz="8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/ </a:t>
            </a:r>
            <a:r>
              <a:rPr lang="en-US" sz="8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네트워크</a:t>
            </a:r>
            <a:r>
              <a:rPr lang="en-US" sz="8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8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단절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818888" y="5052273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5093208" y="5052273"/>
            <a:ext cx="1188720" cy="1156502"/>
          </a:xfrm>
          <a:prstGeom prst="roundRect">
            <a:avLst>
              <a:gd name="adj" fmla="val 10526"/>
            </a:avLst>
          </a:prstGeom>
          <a:solidFill>
            <a:srgbClr val="F8F9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22976" y="5162001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22976" y="516200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093208" y="5652897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이어하기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138928" y="5835777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중단 지점부터 재개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6675120" y="2121408"/>
            <a:ext cx="50593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IMPROVEMENTS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675120" y="233172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참여를 돕는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가지 기능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675120" y="2715768"/>
            <a:ext cx="64008" cy="98585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876288" y="2827199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876288" y="3224427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실시간</a:t>
            </a:r>
            <a:r>
              <a:rPr lang="en-US" sz="13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</a:t>
            </a:r>
            <a:r>
              <a:rPr lang="en-US" sz="1300" b="1" kern="0" spc="-2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300" b="1" kern="0" spc="-2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표시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876288" y="3498747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남은 문항 수를 시각화해 설문 완료 시점을 쉽게 파악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6675120" y="3855363"/>
            <a:ext cx="5059375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675120" y="3904488"/>
            <a:ext cx="64008" cy="1029867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876288" y="4001667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876288" y="4422291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작성 내용 자동 저장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876288" y="4696611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중 입력한 내용을 자동으로 저장해 페이지 이탈이나 중단 상황에서도 작성 내용 유실을 방지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6675120" y="5093208"/>
            <a:ext cx="5059375" cy="1239226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6675120" y="5178750"/>
            <a:ext cx="64008" cy="1153683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876288" y="52395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kern="0" spc="-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2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6876288" y="5660136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3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중단 지점부터 이어하기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876288" y="5934456"/>
            <a:ext cx="4693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재접속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시 이전 응답 위치부터 이어서 참여할 수 있어 </a:t>
            </a:r>
            <a:r>
              <a:rPr lang="ko-KR" altLang="en-US" sz="10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재작성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부담을 완화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D76966-44D9-4086-8FB0-7D78E3068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7" y="2503780"/>
            <a:ext cx="5934076" cy="1180237"/>
          </a:xfrm>
          <a:prstGeom prst="roundRect">
            <a:avLst>
              <a:gd name="adj" fmla="val 12632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 기능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및 </a:t>
            </a:r>
            <a:r>
              <a:rPr lang="ko-KR" altLang="en-US" sz="2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 현황 개선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411873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응답률과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참여 현황을 한눈에 파악할 수 있도록 통계 페이지를 개선하였습니다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898139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108451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</a:t>
            </a: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78728" y="1898139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8728" y="2108451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</a:t>
            </a: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382771"/>
            <a:ext cx="5455768" cy="271652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382771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483355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483355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483355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455923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455923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응</a:t>
            </a: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답 현황 — 전체 요약 대시보드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57200" y="5199882"/>
            <a:ext cx="5455768" cy="1158254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5199881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5401049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진행 현황을 한눈에 파악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" y="5794241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총 대상자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완료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미응답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응답률을 카드형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상단 배치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8368" y="605027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응답률을 제공해 설문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진행 상황을 빠르게 확인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278728" y="2382771"/>
            <a:ext cx="5455768" cy="2728726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78728" y="2382771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6744" y="2483355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62192" y="2483355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17640" y="2483355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64528" y="2455923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9" name="Text 46"/>
          <p:cNvSpPr/>
          <p:nvPr/>
        </p:nvSpPr>
        <p:spPr>
          <a:xfrm>
            <a:off x="7010248" y="2455923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</a:t>
            </a: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현황 — 조직별 트리 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6278728" y="5199881"/>
            <a:ext cx="5455768" cy="1158255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0" name="Shape 67"/>
          <p:cNvSpPr/>
          <p:nvPr/>
        </p:nvSpPr>
        <p:spPr>
          <a:xfrm>
            <a:off x="6278728" y="5199881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479896" y="5401049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응답률을 트리 구조와 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Progress Bar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시각화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6479896" y="5794241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부서부터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UNIT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까지 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참여도 비교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6479896" y="605027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참여율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저조 조직을 색상으로 구분해 독려 조직 파악 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10834" y="3494964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6366816" y="3490712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37B441A8-587B-47B8-9BFA-D64647496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38" y="2764908"/>
            <a:ext cx="5327752" cy="2253034"/>
          </a:xfrm>
          <a:prstGeom prst="roundRect">
            <a:avLst>
              <a:gd name="adj" fmla="val 10386"/>
            </a:avLst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609BED3-545D-43B9-BECD-47F1B8F31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816" y="2766819"/>
            <a:ext cx="5298246" cy="2251123"/>
          </a:xfrm>
          <a:prstGeom prst="roundRect">
            <a:avLst>
              <a:gd name="adj" fmla="val 5243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altLang="ko-KR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altLang="ko-KR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 기능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09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및 </a:t>
            </a:r>
            <a:r>
              <a:rPr lang="ko-KR" altLang="en-US" sz="2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</a:t>
            </a:r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답변 현황 개선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1" y="1382690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응답률과 응답자별 답변 현황을 한눈에 파악할 수 있도록 통계 페이지를 개선하였습니다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8" name="Text 5"/>
          <p:cNvSpPr/>
          <p:nvPr/>
        </p:nvSpPr>
        <p:spPr>
          <a:xfrm>
            <a:off x="457200" y="1810511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020823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 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78728" y="1810511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8728" y="2020823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 현황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313431"/>
            <a:ext cx="5455768" cy="279045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313432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414016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" y="2414016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6112" y="2414016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43000" y="2386584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88720" y="2386584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결과 — 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객관식 및 순위선택형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57200" y="5204473"/>
            <a:ext cx="5455768" cy="1187630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" y="5204473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5405641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결과를 직관적으로 비교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58368" y="579883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보기별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 수와 비율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(%)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Progress Bar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시각화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58368" y="6054865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갱신 버튼과 최근 집계 시점을 제공해 통계 데이터 최신 상태 확인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278728" y="2313431"/>
            <a:ext cx="5455768" cy="2790458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278728" y="2313431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406744" y="2414015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62192" y="2414015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717640" y="2414015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964528" y="2386583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10248" y="2386583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 내역 — 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 </a:t>
            </a:r>
            <a:r>
              <a:rPr lang="en-US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</a:t>
            </a: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조회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6278728" y="5204473"/>
            <a:ext cx="5455768" cy="1187630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4" name="Shape 81"/>
          <p:cNvSpPr/>
          <p:nvPr/>
        </p:nvSpPr>
        <p:spPr>
          <a:xfrm>
            <a:off x="6278728" y="5204473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479896" y="5405641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개인별</a:t>
            </a:r>
            <a:r>
              <a:rPr 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4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답변 상세 조회 가능</a:t>
            </a:r>
            <a:endParaRPr 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6479896" y="579883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문항 답변 내역을 그리드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형태로 조회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6479896" y="6054865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부서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이름과 문항별 답변을 함께 제공해 개별 응답 내용 확인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6479896" y="6310897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B777019-F4A5-4D4F-9EA6-74FB4076E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24" y="2670048"/>
            <a:ext cx="5327752" cy="2433841"/>
          </a:xfrm>
          <a:prstGeom prst="roundRect">
            <a:avLst>
              <a:gd name="adj" fmla="val 9706"/>
            </a:avLst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7A4B5A23-3FFC-4587-80D2-BB6AFD9EE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28" y="3140815"/>
            <a:ext cx="5446552" cy="1955181"/>
          </a:xfrm>
          <a:prstGeom prst="roundRect">
            <a:avLst>
              <a:gd name="adj" fmla="val 12282"/>
            </a:avLst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00CBE1-6AF3-4F29-BE09-F47F105E1A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252" y="2679019"/>
            <a:ext cx="5437027" cy="461796"/>
          </a:xfrm>
          <a:prstGeom prst="round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주요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개선 기능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10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내보내기 및 이력 관리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1" y="141702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통계 데이터를 시트별로 분리해 엑셀로 내보내고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내보내기 이력을 기록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조회할 수 있도록 개선했습니다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90754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11785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 통계 유형별 엑셀 시트 분리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78728" y="1907540"/>
            <a:ext cx="545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PART 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78728" y="2117852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내보내기 이력 관리</a:t>
            </a:r>
            <a:endParaRPr lang="en-US" sz="1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78728" y="2410459"/>
            <a:ext cx="5455768" cy="2657057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Shape 12"/>
          <p:cNvSpPr/>
          <p:nvPr/>
        </p:nvSpPr>
        <p:spPr>
          <a:xfrm>
            <a:off x="6278728" y="2410460"/>
            <a:ext cx="5455768" cy="329184"/>
          </a:xfrm>
          <a:prstGeom prst="rect">
            <a:avLst/>
          </a:prstGeom>
          <a:solidFill>
            <a:srgbClr val="EEF0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86932" y="2524760"/>
            <a:ext cx="118872" cy="118872"/>
          </a:xfrm>
          <a:prstGeom prst="ellipse">
            <a:avLst/>
          </a:prstGeom>
          <a:solidFill>
            <a:srgbClr val="E0826B"/>
          </a:solidFill>
          <a:ln w="12700">
            <a:solidFill>
              <a:srgbClr val="E082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42380" y="2524760"/>
            <a:ext cx="118872" cy="118872"/>
          </a:xfrm>
          <a:prstGeom prst="ellipse">
            <a:avLst/>
          </a:prstGeom>
          <a:solidFill>
            <a:srgbClr val="E3C66D"/>
          </a:solidFill>
          <a:ln w="12700">
            <a:solidFill>
              <a:srgbClr val="E3C66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97828" y="2524760"/>
            <a:ext cx="118872" cy="118872"/>
          </a:xfrm>
          <a:prstGeom prst="ellipse">
            <a:avLst/>
          </a:prstGeom>
          <a:solidFill>
            <a:srgbClr val="9DC97A"/>
          </a:solidFill>
          <a:ln w="12700">
            <a:solidFill>
              <a:srgbClr val="9DC97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44716" y="2497328"/>
            <a:ext cx="4587088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90436" y="2497328"/>
            <a:ext cx="449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내보내기 </a:t>
            </a:r>
            <a:r>
              <a:rPr lang="en-US" altLang="ko-KR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내역</a:t>
            </a:r>
            <a:r>
              <a:rPr lang="en-US" altLang="ko-KR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 </a:t>
            </a:r>
            <a:r>
              <a:rPr lang="ko-KR" alt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이력 </a:t>
            </a:r>
            <a:r>
              <a:rPr lang="en-US" altLang="ko-KR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개별</a:t>
            </a:r>
            <a:r>
              <a:rPr lang="en-US" altLang="ko-KR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</a:t>
            </a:r>
            <a:endParaRPr lang="en-US" altLang="ko-KR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24327" y="5168101"/>
            <a:ext cx="5455768" cy="1155627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457200" y="5168101"/>
            <a:ext cx="5455768" cy="54864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8368" y="5369269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한 번의 내보내기로 </a:t>
            </a:r>
            <a:r>
              <a:rPr lang="ko-KR" altLang="en-US" sz="1400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통계별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데이터 확인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58368" y="5762461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전체 요약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현황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분석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데이터를 시트별로 분리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58368" y="601849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</a:t>
            </a:r>
            <a:r>
              <a:rPr lang="en-US" sz="10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단일 엑셀 파일 안에서 통계 유형별 데이터를 바로 확인 가능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433852" y="2414016"/>
            <a:ext cx="5455768" cy="2653500"/>
          </a:xfrm>
          <a:prstGeom prst="rect">
            <a:avLst/>
          </a:prstGeom>
          <a:solidFill>
            <a:srgbClr val="DADFE6"/>
          </a:solidFill>
          <a:ln w="12700">
            <a:solidFill>
              <a:srgbClr val="DADFE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8" name="Shape 75"/>
          <p:cNvSpPr/>
          <p:nvPr/>
        </p:nvSpPr>
        <p:spPr>
          <a:xfrm>
            <a:off x="6278728" y="5168101"/>
            <a:ext cx="5455768" cy="1155627"/>
          </a:xfrm>
          <a:prstGeom prst="roundRect">
            <a:avLst>
              <a:gd name="adj" fmla="val 79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6278728" y="5168101"/>
            <a:ext cx="5455768" cy="54864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479896" y="5369269"/>
            <a:ext cx="509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누가</a:t>
            </a:r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언제 내보냈는지 이력으로 확인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6479896" y="5762461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내보내기 시 사용자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일시</a:t>
            </a:r>
            <a:r>
              <a:rPr lang="en-US" altLang="ko-KR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파일 이름을 저장</a:t>
            </a:r>
            <a:endParaRPr lang="en-US" altLang="ko-KR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6479896" y="6018493"/>
            <a:ext cx="509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• </a:t>
            </a:r>
            <a:r>
              <a:rPr lang="ko-KR" altLang="en-US" sz="10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다운로드 내역 추적으로 데이터 관리 안정성 강화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6132362" y="3734235"/>
            <a:ext cx="545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UI 화면 캡처 영역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C13082A-C5CB-46CB-A2FB-EC6B966AF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36" y="2479040"/>
            <a:ext cx="5346695" cy="2590229"/>
          </a:xfrm>
          <a:prstGeom prst="roundRect">
            <a:avLst>
              <a:gd name="adj" fmla="val 6370"/>
            </a:avLst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9BBAA44-9C53-4635-96CA-851C9163D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988" y="4558700"/>
            <a:ext cx="5359823" cy="428450"/>
          </a:xfrm>
          <a:prstGeom prst="roundRect">
            <a:avLst>
              <a:gd name="adj" fmla="val 32229"/>
            </a:avLst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C26AAFF-1387-4826-9D81-C74B16C0A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2284" y="2767076"/>
            <a:ext cx="5392212" cy="1875417"/>
          </a:xfrm>
          <a:prstGeom prst="roundRect">
            <a:avLst>
              <a:gd name="adj" fmla="val 8033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05.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1200" dirty="0" err="1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아키텍처</a:t>
            </a: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및 기술 스택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시스템 아키텍처 및 기술 스택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392417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데모 사이트와 설문 서버의 연동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인증 구조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계층별 책임 분리를 중심으로 시스템 아키텍처를 구성했습니다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020824"/>
            <a:ext cx="5852160" cy="3968496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6"/>
          <p:cNvSpPr/>
          <p:nvPr/>
        </p:nvSpPr>
        <p:spPr>
          <a:xfrm>
            <a:off x="640080" y="21671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ARCHITECTURE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368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시스템 아키텍처 구조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2798064"/>
            <a:ext cx="2142003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8529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데모 사이트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3054096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Port 8081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08960" y="2871216"/>
            <a:ext cx="548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⇆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982098" y="2701089"/>
            <a:ext cx="816037" cy="256031"/>
          </a:xfrm>
          <a:prstGeom prst="roundRect">
            <a:avLst>
              <a:gd name="adj" fmla="val 44444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0077" y="2713535"/>
            <a:ext cx="640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X-Internal-</a:t>
            </a:r>
          </a:p>
          <a:p>
            <a:pPr marL="0" indent="0" algn="ctr">
              <a:buNone/>
            </a:pPr>
            <a:r>
              <a:rPr lang="en-US" sz="650" b="1" dirty="0" err="1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en-US" sz="6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-Key</a:t>
            </a:r>
            <a:endParaRPr lang="en-US" sz="6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893036" y="2798064"/>
            <a:ext cx="2187724" cy="502920"/>
          </a:xfrm>
          <a:prstGeom prst="roundRect">
            <a:avLst>
              <a:gd name="adj" fmla="val 14545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023359" y="2845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Boot 서버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023359" y="306065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Port 8080  · 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메인 애플리케이션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85800" y="3438144"/>
            <a:ext cx="5394960" cy="365760"/>
          </a:xfrm>
          <a:prstGeom prst="roundRect">
            <a:avLst>
              <a:gd name="adj" fmla="val 15000"/>
            </a:avLst>
          </a:prstGeom>
          <a:solidFill>
            <a:srgbClr val="FFF8E6"/>
          </a:solidFill>
          <a:ln w="6350">
            <a:solidFill>
              <a:srgbClr val="E8D3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34381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kern="0" spc="150" dirty="0">
                <a:solidFill>
                  <a:srgbClr val="B07E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SECURITY 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Security · JWT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85800" y="396849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5800" y="3968496"/>
            <a:ext cx="54864" cy="56692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2104" y="402336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WEB LAYER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32104" y="42245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프레젠테이션 계층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560320" y="4197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MVC · Thymeleaf · Alpine.js · TailwindCSS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85800" y="462686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85800" y="4626864"/>
            <a:ext cx="54864" cy="56692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2104" y="468172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BUSINESS LAYER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32104" y="4882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비즈니스 계층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560320" y="4832507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Domain Service + Spring Batch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85800" y="528523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5800" y="5285232"/>
            <a:ext cx="54864" cy="56692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2104" y="534009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1818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· INFRA LAYER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32104" y="554126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데이터·인프라 계층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560320" y="54681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8181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JPA  · QueryDSL + MySQL · Redis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46520" y="2020824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DESIGN INTENT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46520" y="2221992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각 계층의 설계 의도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446520" y="2596896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446520" y="2596896"/>
            <a:ext cx="64008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629400" y="2743200"/>
            <a:ext cx="292608" cy="292608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629400" y="2743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995160" y="2743200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연동 · 보안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629400" y="3086100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내부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Key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검증과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Security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이중 필터 체인으로 관리자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참여자 인증 체계를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6446520" y="3447288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6446520" y="3447288"/>
            <a:ext cx="64008" cy="758952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629400" y="3593592"/>
            <a:ext cx="292608" cy="292608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629400" y="3593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995160" y="359359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Web · Business 계층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629400" y="3904488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SSR 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화면 구성과 서비스 계층 중심 설계로 화면 처리와 비즈니스 로직 책임을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446520" y="4297680"/>
            <a:ext cx="5287975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6446520" y="4297680"/>
            <a:ext cx="64008" cy="758952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629400" y="4443984"/>
            <a:ext cx="292608" cy="292608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62940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995160" y="4443984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· Infra 계층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629400" y="4754880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쿼리 특성에 따라 데이터 접근 기술을 구분 적용하고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Redis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와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MySQL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의 저장 역할을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6446520" y="5148072"/>
            <a:ext cx="5287975" cy="841248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46520" y="5148072"/>
            <a:ext cx="64008" cy="758952"/>
          </a:xfrm>
          <a:prstGeom prst="rect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629400" y="5294376"/>
            <a:ext cx="292608" cy="292608"/>
          </a:xfrm>
          <a:prstGeom prst="ellipse">
            <a:avLst/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29400" y="5294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1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6995160" y="5294376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기술</a:t>
            </a:r>
            <a:r>
              <a:rPr lang="en-US" sz="12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스택</a:t>
            </a:r>
            <a:endParaRPr lang="en-US" sz="12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6629400" y="5605272"/>
            <a:ext cx="4967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 17 · Spring Boot 3.5  / </a:t>
            </a:r>
            <a:r>
              <a:rPr lang="en-US" sz="95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Thymeleaf</a:t>
            </a:r>
            <a:r>
              <a:rPr lang="en-US" sz="95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· Alpine.js · TailwindCSS  /  Apache POI · Gradle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 MySQL · Redis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64"/>
          <p:cNvSpPr/>
          <p:nvPr/>
        </p:nvSpPr>
        <p:spPr>
          <a:xfrm>
            <a:off x="6510528" y="3650971"/>
            <a:ext cx="5287975" cy="55493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구현 및 결과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 인증 플로우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2417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iframe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진입부터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제출까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지, API Key·일회용 토큰·Client JWT·Redis 기반의 안전한 인증 흐름을 설계했습니다.</a:t>
            </a:r>
          </a:p>
        </p:txBody>
      </p:sp>
      <p:sp>
        <p:nvSpPr>
          <p:cNvPr id="8" name="Shape 5"/>
          <p:cNvSpPr/>
          <p:nvPr/>
        </p:nvSpPr>
        <p:spPr>
          <a:xfrm>
            <a:off x="457200" y="2002754"/>
            <a:ext cx="5852160" cy="4174309"/>
          </a:xfrm>
          <a:prstGeom prst="roundRect">
            <a:avLst>
              <a:gd name="adj" fmla="val 3023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6"/>
          <p:cNvSpPr/>
          <p:nvPr/>
        </p:nvSpPr>
        <p:spPr>
          <a:xfrm>
            <a:off x="640080" y="2130771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AUTH SEQUENCE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313651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 인증 및 상태 유지 플로우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58368" y="2688555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73427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Demo Site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8368" y="2908011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:8081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514600" y="2688555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EEF4FF"/>
          </a:solidFill>
          <a:ln w="6350">
            <a:solidFill>
              <a:srgbClr val="145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14600" y="273427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Boot Server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514600" y="2908011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:8080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370832" y="2688555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FF4F2"/>
          </a:solidFill>
          <a:ln w="6350">
            <a:solidFill>
              <a:srgbClr val="D947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70832" y="2734275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472B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370832" y="2908011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527048" y="3118323"/>
            <a:ext cx="0" cy="2679192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3383280" y="3118323"/>
            <a:ext cx="0" cy="2679192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5239512" y="3118323"/>
            <a:ext cx="0" cy="2679192"/>
          </a:xfrm>
          <a:prstGeom prst="line">
            <a:avLst/>
          </a:prstGeom>
          <a:noFill/>
          <a:ln w="9525">
            <a:solidFill>
              <a:srgbClr val="E5E7EB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527048" y="3301203"/>
            <a:ext cx="1856232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1527048" y="306345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① API Key 사전 검증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527048" y="333777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X-Internal-Api-Key · 직원/설문/중복 검증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3383280" y="3804123"/>
            <a:ext cx="1856232" cy="0"/>
          </a:xfrm>
          <a:prstGeom prst="line">
            <a:avLst/>
          </a:prstGeom>
          <a:noFill/>
          <a:ln w="19050">
            <a:solidFill>
              <a:srgbClr val="D9472B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3383280" y="356637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② Redis 일회용 토큰 발급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83280" y="384069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survey_tk:{token} · UUID · TTL 10분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527048" y="4307043"/>
            <a:ext cx="1856232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1527048" y="406929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③ iframe 설문 진입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527048" y="434361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 포함 iframe URL 호출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3383280" y="4809963"/>
            <a:ext cx="1856232" cy="0"/>
          </a:xfrm>
          <a:prstGeom prst="line">
            <a:avLst/>
          </a:prstGeom>
          <a:noFill/>
          <a:ln w="19050">
            <a:solidFill>
              <a:srgbClr val="1456F0"/>
            </a:solidFill>
            <a:prstDash val="solid"/>
            <a:headEnd type="none"/>
            <a:tailEnd type="triangle"/>
          </a:ln>
        </p:spPr>
      </p:sp>
      <p:sp>
        <p:nvSpPr>
          <p:cNvPr id="33" name="Text 30"/>
          <p:cNvSpPr/>
          <p:nvPr/>
        </p:nvSpPr>
        <p:spPr>
          <a:xfrm>
            <a:off x="3383280" y="457221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④ 토큰 검증 후 Client JWT 발급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383280" y="484653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 토큰 즉시 삭제 · HttpOnly Cookie 저장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527048" y="5312883"/>
            <a:ext cx="3712464" cy="0"/>
          </a:xfrm>
          <a:prstGeom prst="line">
            <a:avLst/>
          </a:prstGeom>
          <a:noFill/>
          <a:ln w="19050">
            <a:solidFill>
              <a:srgbClr val="EA5EC1"/>
            </a:solidFill>
            <a:prstDash val="solid"/>
            <a:headEnd type="none"/>
            <a:tailEnd type="triangle"/>
          </a:ln>
        </p:spPr>
      </p:sp>
      <p:sp>
        <p:nvSpPr>
          <p:cNvPr id="36" name="Text 33"/>
          <p:cNvSpPr/>
          <p:nvPr/>
        </p:nvSpPr>
        <p:spPr>
          <a:xfrm>
            <a:off x="1527048" y="5075139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⑤ 응답 상태 유지 · 자동 임시저장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527048" y="5349459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ClientTokenFilter 검증 · Redis 자동 저장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1527048" y="5815803"/>
            <a:ext cx="1856232" cy="0"/>
          </a:xfrm>
          <a:prstGeom prst="line">
            <a:avLst/>
          </a:prstGeom>
          <a:noFill/>
          <a:ln w="19050">
            <a:solidFill>
              <a:srgbClr val="EA5EC1"/>
            </a:solidFill>
            <a:prstDash val="solid"/>
            <a:headEnd type="none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1527048" y="557805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⑥ 제출 · 모달 종료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527048" y="5852379"/>
            <a:ext cx="1856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자격 재검증 · 임시저장 삭제 · postMessage</a:t>
            </a: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46520" y="2002755"/>
            <a:ext cx="5287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 BREAKDOWN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46520" y="2185635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단계별 기술 포인트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1" name="Shape 40"/>
          <p:cNvSpPr/>
          <p:nvPr/>
        </p:nvSpPr>
        <p:spPr>
          <a:xfrm>
            <a:off x="6510528" y="2437944"/>
            <a:ext cx="5287975" cy="49118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2" name="Shape 41"/>
          <p:cNvSpPr/>
          <p:nvPr/>
        </p:nvSpPr>
        <p:spPr>
          <a:xfrm>
            <a:off x="6446520" y="2437944"/>
            <a:ext cx="64008" cy="475263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93" name="Shape 42"/>
          <p:cNvSpPr/>
          <p:nvPr/>
        </p:nvSpPr>
        <p:spPr>
          <a:xfrm>
            <a:off x="6565392" y="2520241"/>
            <a:ext cx="274320" cy="27432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94" name="Text 43"/>
          <p:cNvSpPr/>
          <p:nvPr/>
        </p:nvSpPr>
        <p:spPr>
          <a:xfrm>
            <a:off x="6565392" y="252024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5" name="Text 44"/>
          <p:cNvSpPr/>
          <p:nvPr/>
        </p:nvSpPr>
        <p:spPr>
          <a:xfrm>
            <a:off x="6967728" y="2483665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서버 간 사전 검증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6" name="Text 47"/>
          <p:cNvSpPr/>
          <p:nvPr/>
        </p:nvSpPr>
        <p:spPr>
          <a:xfrm>
            <a:off x="6967728" y="2684833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X-Internal-</a:t>
            </a:r>
            <a:r>
              <a:rPr 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</a:t>
            </a:r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-Key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내부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호출로 직원 존재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대상 설문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중복 제출 여부를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선검증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7" name="Shape 48"/>
          <p:cNvSpPr/>
          <p:nvPr/>
        </p:nvSpPr>
        <p:spPr>
          <a:xfrm>
            <a:off x="6510528" y="3078599"/>
            <a:ext cx="5287975" cy="5212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8" name="Shape 49"/>
          <p:cNvSpPr/>
          <p:nvPr/>
        </p:nvSpPr>
        <p:spPr>
          <a:xfrm>
            <a:off x="6448424" y="3083389"/>
            <a:ext cx="62103" cy="525562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99" name="Shape 50"/>
          <p:cNvSpPr/>
          <p:nvPr/>
        </p:nvSpPr>
        <p:spPr>
          <a:xfrm>
            <a:off x="6565392" y="3195992"/>
            <a:ext cx="274320" cy="274320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100" name="Text 51"/>
          <p:cNvSpPr/>
          <p:nvPr/>
        </p:nvSpPr>
        <p:spPr>
          <a:xfrm>
            <a:off x="6565392" y="3195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1" name="Text 52"/>
          <p:cNvSpPr/>
          <p:nvPr/>
        </p:nvSpPr>
        <p:spPr>
          <a:xfrm>
            <a:off x="6935724" y="3158193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 일회용 토큰 발급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2" name="Text 55"/>
          <p:cNvSpPr/>
          <p:nvPr/>
        </p:nvSpPr>
        <p:spPr>
          <a:xfrm>
            <a:off x="6935724" y="3346170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검증 통과 시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UUID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토큰을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저장하고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TTL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적용하여 제한된 시간 동안만 접근 허용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4" name="Shape 57"/>
          <p:cNvSpPr/>
          <p:nvPr/>
        </p:nvSpPr>
        <p:spPr>
          <a:xfrm>
            <a:off x="6455664" y="3693779"/>
            <a:ext cx="64008" cy="471791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5" name="Shape 58"/>
          <p:cNvSpPr/>
          <p:nvPr/>
        </p:nvSpPr>
        <p:spPr>
          <a:xfrm>
            <a:off x="6569963" y="3808695"/>
            <a:ext cx="274320" cy="27432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06" name="Text 59"/>
          <p:cNvSpPr/>
          <p:nvPr/>
        </p:nvSpPr>
        <p:spPr>
          <a:xfrm>
            <a:off x="6569963" y="38086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7" name="Text 60"/>
          <p:cNvSpPr/>
          <p:nvPr/>
        </p:nvSpPr>
        <p:spPr>
          <a:xfrm>
            <a:off x="6967728" y="3800913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iframe 진입 · JWT 전환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8" name="Text 63"/>
          <p:cNvSpPr/>
          <p:nvPr/>
        </p:nvSpPr>
        <p:spPr>
          <a:xfrm>
            <a:off x="6967725" y="3991575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iframe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진입 시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토큰을 조회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즉시 삭제한 뒤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참여자 전용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 JWT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발급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9" name="Shape 64"/>
          <p:cNvSpPr/>
          <p:nvPr/>
        </p:nvSpPr>
        <p:spPr>
          <a:xfrm>
            <a:off x="6446520" y="4262130"/>
            <a:ext cx="5351983" cy="55493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0" name="Shape 65"/>
          <p:cNvSpPr/>
          <p:nvPr/>
        </p:nvSpPr>
        <p:spPr>
          <a:xfrm>
            <a:off x="6446520" y="4270101"/>
            <a:ext cx="64008" cy="503285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1" name="Shape 66"/>
          <p:cNvSpPr/>
          <p:nvPr/>
        </p:nvSpPr>
        <p:spPr>
          <a:xfrm>
            <a:off x="6565392" y="4386687"/>
            <a:ext cx="274320" cy="27432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12" name="Text 67"/>
          <p:cNvSpPr/>
          <p:nvPr/>
        </p:nvSpPr>
        <p:spPr>
          <a:xfrm>
            <a:off x="6565392" y="43758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3" name="Text 68"/>
          <p:cNvSpPr/>
          <p:nvPr/>
        </p:nvSpPr>
        <p:spPr>
          <a:xfrm>
            <a:off x="6967728" y="4344792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HttpOnly 쿠키 인증 유지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4" name="Text 71"/>
          <p:cNvSpPr/>
          <p:nvPr/>
        </p:nvSpPr>
        <p:spPr>
          <a:xfrm>
            <a:off x="6967726" y="4557878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 JWT를 HttpOnly </a:t>
            </a:r>
            <a:r>
              <a:rPr 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Cookie에</a:t>
            </a:r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</a:t>
            </a:r>
            <a:r>
              <a:rPr 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외부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API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요청마다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ClientTokenFilter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에서 검증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5" name="Shape 72"/>
          <p:cNvSpPr/>
          <p:nvPr/>
        </p:nvSpPr>
        <p:spPr>
          <a:xfrm>
            <a:off x="6455664" y="4929567"/>
            <a:ext cx="5342839" cy="5812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6" name="Shape 73"/>
          <p:cNvSpPr/>
          <p:nvPr/>
        </p:nvSpPr>
        <p:spPr>
          <a:xfrm>
            <a:off x="6455664" y="4929567"/>
            <a:ext cx="54864" cy="521786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17" name="Shape 74"/>
          <p:cNvSpPr/>
          <p:nvPr/>
        </p:nvSpPr>
        <p:spPr>
          <a:xfrm>
            <a:off x="6565392" y="5064690"/>
            <a:ext cx="274320" cy="274320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18" name="Text 75"/>
          <p:cNvSpPr/>
          <p:nvPr/>
        </p:nvSpPr>
        <p:spPr>
          <a:xfrm>
            <a:off x="6565392" y="50646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9" name="Text 76"/>
          <p:cNvSpPr/>
          <p:nvPr/>
        </p:nvSpPr>
        <p:spPr>
          <a:xfrm>
            <a:off x="6967727" y="5058161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 임시저장 · 이어하기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0" name="Text 79"/>
          <p:cNvSpPr/>
          <p:nvPr/>
        </p:nvSpPr>
        <p:spPr>
          <a:xfrm>
            <a:off x="6967727" y="5259329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답변 작성 중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Redis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 자동 임시저장하여 페이지 이탈이나 중단 상황에서도 이어하기 지원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1" name="Shape 80"/>
          <p:cNvSpPr/>
          <p:nvPr/>
        </p:nvSpPr>
        <p:spPr>
          <a:xfrm>
            <a:off x="6446520" y="5615367"/>
            <a:ext cx="5351983" cy="5807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2" name="Shape 81"/>
          <p:cNvSpPr/>
          <p:nvPr/>
        </p:nvSpPr>
        <p:spPr>
          <a:xfrm>
            <a:off x="6455664" y="5618315"/>
            <a:ext cx="54864" cy="580716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23" name="Shape 82"/>
          <p:cNvSpPr/>
          <p:nvPr/>
        </p:nvSpPr>
        <p:spPr>
          <a:xfrm>
            <a:off x="6569963" y="5751795"/>
            <a:ext cx="274320" cy="274320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124" name="Text 83"/>
          <p:cNvSpPr/>
          <p:nvPr/>
        </p:nvSpPr>
        <p:spPr>
          <a:xfrm>
            <a:off x="6569963" y="57517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5" name="Text 84"/>
          <p:cNvSpPr/>
          <p:nvPr/>
        </p:nvSpPr>
        <p:spPr>
          <a:xfrm>
            <a:off x="6967728" y="5687787"/>
            <a:ext cx="35963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제출 검증 · 안전 종료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26" name="Text 87"/>
          <p:cNvSpPr/>
          <p:nvPr/>
        </p:nvSpPr>
        <p:spPr>
          <a:xfrm>
            <a:off x="6967728" y="5908673"/>
            <a:ext cx="47027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최종 제출 시 참여 자격을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재검증하고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DB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저장 후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임시저장을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삭제한 뒤 </a:t>
            </a:r>
            <a:r>
              <a:rPr lang="en-US" altLang="ko-KR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postMessage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모달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종료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56">
            <a:extLst>
              <a:ext uri="{FF2B5EF4-FFF2-40B4-BE49-F238E27FC236}">
                <a16:creationId xmlns:a16="http://schemas.microsoft.com/office/drawing/2014/main" id="{6065ACA0-FFA0-4072-B91C-DCF29202B663}"/>
              </a:ext>
            </a:extLst>
          </p:cNvPr>
          <p:cNvSpPr/>
          <p:nvPr/>
        </p:nvSpPr>
        <p:spPr>
          <a:xfrm>
            <a:off x="6446520" y="3315964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구현 및 결과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기반 통계 집계 최적화</a:t>
            </a:r>
            <a:endParaRPr lang="en-US" sz="24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1401561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Batch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 응답 데이터를 사전 집계하여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 성능을 </a:t>
            </a:r>
            <a:r>
              <a:rPr lang="ko-KR" alt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안정화했습니다</a:t>
            </a: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990084"/>
            <a:ext cx="5852160" cy="3886200"/>
          </a:xfrm>
          <a:prstGeom prst="roundRect">
            <a:avLst>
              <a:gd name="adj" fmla="val 3059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1363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BATCH PIPELINE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23375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Spring Batch </a:t>
            </a:r>
            <a:r>
              <a:rPr lang="ko-KR" altLang="en-US" sz="14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통계 사전 집계 구조</a:t>
            </a:r>
            <a:endParaRPr lang="en-US" sz="13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85800" y="2767324"/>
            <a:ext cx="5394960" cy="274320"/>
          </a:xfrm>
          <a:prstGeom prst="roundRect">
            <a:avLst>
              <a:gd name="adj" fmla="val 20000"/>
            </a:avLst>
          </a:prstGeom>
          <a:solidFill>
            <a:srgbClr val="FFF8E6"/>
          </a:solidFill>
          <a:ln w="6350">
            <a:solidFill>
              <a:srgbClr val="E8D3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27673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kern="0" spc="150" dirty="0">
                <a:solidFill>
                  <a:srgbClr val="B07E1C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SCHEDULE 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매일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08:00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집계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" y="3178804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8E8E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0392" y="3288532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8E8E93"/>
          </a:solidFill>
          <a:ln w="12700">
            <a:solidFill>
              <a:srgbClr val="8E8E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0392" y="3288532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READER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7240" y="3709156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데이터 조회</a:t>
            </a:r>
            <a:endParaRPr 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289048" y="3178804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581656" y="3178804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EEF4FF"/>
          </a:solidFill>
          <a:ln w="1524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6248" y="3288532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46248" y="3288532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PROCESSOR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673096" y="3709156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유형별 통계 집계 </a:t>
            </a:r>
            <a:endParaRPr 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184904" y="3178804"/>
            <a:ext cx="292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›</a:t>
            </a:r>
            <a:endParaRPr lang="en-US" sz="2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477512" y="3178804"/>
            <a:ext cx="1603248" cy="1005840"/>
          </a:xfrm>
          <a:prstGeom prst="roundRect">
            <a:avLst>
              <a:gd name="adj" fmla="val 9091"/>
            </a:avLst>
          </a:prstGeom>
          <a:solidFill>
            <a:srgbClr val="FDEEF8"/>
          </a:solidFill>
          <a:ln w="6350">
            <a:solidFill>
              <a:srgbClr val="EA5EC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42104" y="3288532"/>
            <a:ext cx="1274064" cy="201168"/>
          </a:xfrm>
          <a:prstGeom prst="roundRect">
            <a:avLst>
              <a:gd name="adj" fmla="val 22727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42104" y="3288532"/>
            <a:ext cx="127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WRITER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568952" y="3697876"/>
            <a:ext cx="142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en-US" sz="11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테이블 갱신 </a:t>
            </a:r>
            <a:endParaRPr lang="en-US" sz="11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5800" y="4413244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44863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CLIENT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77240" y="46509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0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 마다 </a:t>
            </a:r>
            <a:r>
              <a:rPr lang="en-US" altLang="ko-KR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polling</a:t>
            </a:r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완료 확인 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77240" y="48704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최신 통계 화면 조회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246120" y="4413244"/>
            <a:ext cx="274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⇄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3520440" y="4413244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EF4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11880" y="448639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ASYNC</a:t>
            </a:r>
            <a:endParaRPr lang="en-US" sz="8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611880" y="46509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집계 요청 즉시 응답 반환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611880" y="48704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Job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백그라운드 실행</a:t>
            </a:r>
            <a:endParaRPr lang="en-US" sz="8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46520" y="1990084"/>
            <a:ext cx="5287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OPTIMIZATION POINTS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46520" y="2191252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단계별 최적화 포인트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446520" y="256615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446520" y="2566156"/>
            <a:ext cx="54864" cy="65836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92824" y="273074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592824" y="2730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6976872" y="267588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 파싱 · 맞춤 집계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976872" y="293191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JSON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문항별로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그룹핑하고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 유형에 따라 집계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로직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분기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446520" y="3325108"/>
            <a:ext cx="73152" cy="630936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592824" y="3462268"/>
            <a:ext cx="310896" cy="310896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592824" y="34622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6976872" y="340740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트랜잭션 기반 통계 갱신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976872" y="366343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Delete + Insert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를 단일 </a:t>
            </a:r>
            <a:r>
              <a:rPr lang="ko-KR" altLang="en-US" sz="9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트랜젝션으로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처리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6446520" y="402919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6446520" y="4065772"/>
            <a:ext cx="73152" cy="585216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592824" y="419378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592824" y="41937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03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6976872" y="413892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스케줄링 자동 실행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6976872" y="439495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매일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08:00 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자동 집계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6446520" y="476071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65"/>
          <p:cNvSpPr/>
          <p:nvPr/>
        </p:nvSpPr>
        <p:spPr>
          <a:xfrm>
            <a:off x="6446520" y="4760716"/>
            <a:ext cx="54864" cy="64008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6592824" y="4925308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592824" y="49253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04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976872" y="487044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비동기 실행 및 상태 확인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976872" y="512647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요청은 즉시 응답하고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초마다 </a:t>
            </a:r>
            <a:r>
              <a:rPr lang="en-US" altLang="ko-KR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polling</a:t>
            </a:r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으로 완료 여부 확인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5" name="Shape 72"/>
          <p:cNvSpPr/>
          <p:nvPr/>
        </p:nvSpPr>
        <p:spPr>
          <a:xfrm>
            <a:off x="6446520" y="5492236"/>
            <a:ext cx="528797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6446520" y="5492236"/>
            <a:ext cx="54864" cy="658368"/>
          </a:xfrm>
          <a:prstGeom prst="rect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6592824" y="5656828"/>
            <a:ext cx="310896" cy="310896"/>
          </a:xfrm>
          <a:prstGeom prst="ellipse">
            <a:avLst/>
          </a:prstGeom>
          <a:solidFill>
            <a:srgbClr val="D9472B"/>
          </a:solidFill>
          <a:ln w="12700">
            <a:solidFill>
              <a:srgbClr val="D9472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592824" y="56568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05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6976872" y="5601964"/>
            <a:ext cx="3413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수동 배치</a:t>
            </a:r>
            <a:endParaRPr lang="en-US" sz="115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6976872" y="5857996"/>
            <a:ext cx="46296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9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배치 실패 또는 즉시 반영이 필요한 경우 수동 집계로 최신 통계 재생성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210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978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06. </a:t>
            </a:r>
            <a:r>
              <a:rPr lang="ko-KR" altLang="en-US" sz="12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구현 및 결과</a:t>
            </a:r>
            <a:endParaRPr lang="en-US" altLang="ko-KR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marL="0" indent="0" algn="l">
              <a:buNone/>
            </a:pP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14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대용량</a:t>
            </a:r>
            <a:r>
              <a:rPr lang="en-US" sz="2400" b="1" kern="0" spc="-5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통계 엑셀 출력 구조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199" y="1402729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6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시트별로 생성 로직을 분리해 </a:t>
            </a:r>
            <a:r>
              <a:rPr lang="en-US" altLang="ko-KR" sz="16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</a:t>
            </a:r>
            <a:r>
              <a:rPr lang="ko-KR" altLang="en-US" sz="16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종류의 통계 시트를 구성했습니다</a:t>
            </a:r>
            <a:r>
              <a:rPr lang="en-US" altLang="ko-KR" sz="16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2268823"/>
            <a:ext cx="5852160" cy="3843415"/>
          </a:xfrm>
          <a:prstGeom prst="roundRect">
            <a:avLst>
              <a:gd name="adj" fmla="val 3023"/>
            </a:avLst>
          </a:prstGeom>
          <a:solidFill>
            <a:srgbClr val="F8F9FB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371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EXCEL EXPORT PIPELINE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8368" y="2874120"/>
            <a:ext cx="544982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2974704"/>
            <a:ext cx="128016" cy="12801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2874120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DATA FETCH 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4종</a:t>
            </a:r>
            <a:r>
              <a:rPr lang="ko-KR" alt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류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통계 </a:t>
            </a:r>
            <a:r>
              <a:rPr lang="en-US" sz="90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일괄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en-US" sz="900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조회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58368" y="3294744"/>
            <a:ext cx="5449824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3395328"/>
            <a:ext cx="128016" cy="12801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294744"/>
            <a:ext cx="4992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WORKBOOK INIT 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SXSSFWorkbook 생성  ·  ExcelStyles 공유 인스턴스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4048" y="3742800"/>
            <a:ext cx="5449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     SHEET WRITER </a:t>
            </a:r>
            <a:r>
              <a:rPr lang="en-US" sz="900" dirty="0" err="1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시트별</a:t>
            </a:r>
            <a:r>
              <a:rPr lang="en-US" sz="90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작성 책임 분리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8368" y="398054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05369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416342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요약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13232" y="43645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039112" y="398054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12264" y="405369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93976" y="416342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 응답현황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093976" y="43645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419856" y="398054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493008" y="405369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0" y="416342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474720" y="43645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800600" y="3980544"/>
            <a:ext cx="13075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873752" y="4053696"/>
            <a:ext cx="320040" cy="731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55464" y="4163424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응답현황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855464" y="43645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7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8368" y="4821792"/>
            <a:ext cx="5449824" cy="457200"/>
          </a:xfrm>
          <a:prstGeom prst="roundRect">
            <a:avLst>
              <a:gd name="adj" fmla="val 20000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902650" y="48217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5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STREAMING  </a:t>
            </a:r>
            <a:r>
              <a:rPr lang="en-US" sz="9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SXSSFWorkbook</a:t>
            </a:r>
            <a:r>
              <a:rPr 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 ·  Row 단위 disk flush  ·  </a:t>
            </a:r>
            <a:r>
              <a:rPr lang="en-US" sz="950" b="1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대용량도 일정한 메모리로 처리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658368" y="5493813"/>
            <a:ext cx="5449824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77240" y="5585253"/>
            <a:ext cx="128016" cy="128016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05840" y="5493813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EA5EC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DELIVERY  </a:t>
            </a:r>
            <a:r>
              <a:rPr lang="en-US" sz="90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ByteArrayOutputStream → byte[]  ·  한글 파일명 인코딩 → .xlsx 반환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46520" y="2331720"/>
            <a:ext cx="52879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456F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CORE TECHNIQUES</a:t>
            </a:r>
            <a:endParaRPr lang="en-US" sz="9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446520" y="2514600"/>
            <a:ext cx="5287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핵심 설계 포인트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6446520" y="2890642"/>
            <a:ext cx="5287975" cy="852158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446519" y="2898648"/>
            <a:ext cx="54864" cy="758952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647688" y="2988296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647688" y="2988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031736" y="3048155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50" b="1" dirty="0" err="1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시트별</a:t>
            </a:r>
            <a:r>
              <a:rPr lang="ko-KR" alt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생성 책임 분리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693408" y="3402062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요약</a:t>
            </a:r>
            <a:r>
              <a:rPr lang="en-US" altLang="ko-KR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50" dirty="0" err="1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조직별</a:t>
            </a: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응답 현황</a:t>
            </a:r>
            <a:r>
              <a:rPr lang="en-US" altLang="ko-KR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응답자별 답변</a:t>
            </a:r>
            <a:r>
              <a:rPr lang="en-US" altLang="ko-KR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문항별 응답 현황을 각각 독립적으로 생성하도록 분리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6446519" y="3921489"/>
            <a:ext cx="5287975" cy="886206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6446519" y="3920726"/>
            <a:ext cx="45719" cy="837057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652260" y="4058649"/>
            <a:ext cx="310896" cy="310896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652260" y="408608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en-US" sz="10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7036308" y="4140945"/>
            <a:ext cx="3459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150" b="1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공통 스타일 재사용</a:t>
            </a:r>
            <a:endParaRPr lang="en-US" sz="11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6693408" y="4470129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제목</a:t>
            </a:r>
            <a:r>
              <a:rPr lang="en-US" altLang="ko-KR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헤더</a:t>
            </a:r>
            <a:r>
              <a:rPr lang="en-US" altLang="ko-KR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950" dirty="0">
                <a:solidFill>
                  <a:srgbClr val="45515E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본문 영역의 스타일을 공통으로 관리해 시트 간 서식을 일관되게 적용</a:t>
            </a:r>
            <a:endParaRPr lang="en-US" sz="9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기대효과</a:t>
            </a:r>
            <a:endParaRPr lang="en-US" sz="1200" dirty="0"/>
          </a:p>
        </p:txBody>
      </p:sp>
      <p:pic>
        <p:nvPicPr>
          <p:cNvPr id="3" name="Image 0" descr="Woongjin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262890"/>
            <a:ext cx="822960" cy="4800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50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기대효과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367028"/>
            <a:ext cx="11277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참여부터 설문 결과 활용까지 전반적인 개선 효과를 기대할 수 있습니다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2207934"/>
            <a:ext cx="3637178" cy="3200400"/>
          </a:xfrm>
          <a:prstGeom prst="roundRect">
            <a:avLst>
              <a:gd name="adj" fmla="val 4571"/>
            </a:avLst>
          </a:prstGeom>
          <a:solidFill>
            <a:srgbClr val="EEF4FF"/>
          </a:solidFill>
          <a:ln w="9525">
            <a:solidFill>
              <a:srgbClr val="BFDBFE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212848"/>
            <a:ext cx="3637178" cy="64008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4688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306324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결과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활용성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향상</a:t>
            </a:r>
            <a:endParaRPr lang="en-US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5800" y="3840480"/>
            <a:ext cx="317997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4088" y="4258819"/>
            <a:ext cx="91440" cy="9144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4088" y="4766311"/>
            <a:ext cx="91440" cy="91440"/>
          </a:xfrm>
          <a:prstGeom prst="ellipse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4711447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엑셀 시트 분리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·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이력 기록으로 데이터 활용성과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추적성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강화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277258" y="2303946"/>
            <a:ext cx="3637178" cy="3104388"/>
          </a:xfrm>
          <a:prstGeom prst="roundRect">
            <a:avLst>
              <a:gd name="adj" fmla="val 425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77258" y="2212848"/>
            <a:ext cx="3637178" cy="64008"/>
          </a:xfrm>
          <a:prstGeom prst="rect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05858" y="24688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05858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05858" y="306324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설문 중도 이탈 감소 기대</a:t>
            </a:r>
            <a:endParaRPr lang="en-US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505858" y="3840480"/>
            <a:ext cx="317997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24146" y="4258819"/>
            <a:ext cx="91440" cy="91440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8738" y="4203955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응답 방식 이해 부담을 줄여 설문 참여 진입장벽 완화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524146" y="4766311"/>
            <a:ext cx="91440" cy="91440"/>
          </a:xfrm>
          <a:prstGeom prst="ellipse">
            <a:avLst/>
          </a:prstGeom>
          <a:solidFill>
            <a:srgbClr val="EA5EC1"/>
          </a:solidFill>
          <a:ln w="12700">
            <a:solidFill>
              <a:srgbClr val="EA5EC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88738" y="4711447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진행률 표시와 이어하기로 중도 이탈 가능성 감소</a:t>
            </a:r>
            <a:endParaRPr lang="ko-KR" altLang="en-US" sz="120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097317" y="2212848"/>
            <a:ext cx="3637178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097317" y="2212848"/>
            <a:ext cx="3637178" cy="64008"/>
          </a:xfrm>
          <a:prstGeom prst="rect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25917" y="246888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25917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8325917" y="3063240"/>
            <a:ext cx="317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.NET </a:t>
            </a:r>
            <a:r>
              <a:rPr lang="ko-KR" altLang="en-US" b="1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레거시</a:t>
            </a:r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의존도 완화</a:t>
            </a:r>
            <a:r>
              <a:rPr lang="en-US" sz="1800" b="1" kern="0" spc="-30" dirty="0">
                <a:solidFill>
                  <a:srgbClr val="22222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	</a:t>
            </a:r>
            <a:endParaRPr lang="en-US" sz="1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325917" y="3840480"/>
            <a:ext cx="3179978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44205" y="4258819"/>
            <a:ext cx="91440" cy="91440"/>
          </a:xfrm>
          <a:prstGeom prst="ellipse">
            <a:avLst/>
          </a:prstGeom>
          <a:solidFill>
            <a:srgbClr val="18181B"/>
          </a:solidFill>
          <a:ln w="12700">
            <a:solidFill>
              <a:srgbClr val="18181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508797" y="4203955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Java/Spring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기반으로 유지보수 가능한 구조 마련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E8E9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  <p:sp>
        <p:nvSpPr>
          <p:cNvPr id="51" name="Text 14"/>
          <p:cNvSpPr/>
          <p:nvPr/>
        </p:nvSpPr>
        <p:spPr>
          <a:xfrm>
            <a:off x="868680" y="4203955"/>
            <a:ext cx="2997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통계 시각화로 설문 진행 현황과 결과를 직관적으로 파악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4301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2092</TotalTime>
  <Words>1972</Words>
  <Application>Microsoft Office PowerPoint</Application>
  <PresentationFormat>와이드스크린</PresentationFormat>
  <Paragraphs>391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Pretendard</vt:lpstr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레거시 설문조사 서비스 개선</dc:title>
  <dc:subject>PptxGenJS Presentation</dc:subject>
  <dc:creator>웅진씽크빅</dc:creator>
  <cp:lastModifiedBy>user</cp:lastModifiedBy>
  <cp:revision>104</cp:revision>
  <dcterms:created xsi:type="dcterms:W3CDTF">2026-05-18T12:01:15Z</dcterms:created>
  <dcterms:modified xsi:type="dcterms:W3CDTF">2026-05-26T08:43:38Z</dcterms:modified>
</cp:coreProperties>
</file>